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9"/>
  </p:notesMasterIdLst>
  <p:sldIdLst>
    <p:sldId id="256" r:id="rId3"/>
    <p:sldId id="307" r:id="rId4"/>
    <p:sldId id="329" r:id="rId5"/>
    <p:sldId id="345" r:id="rId6"/>
    <p:sldId id="344" r:id="rId7"/>
    <p:sldId id="346" r:id="rId8"/>
    <p:sldId id="347" r:id="rId9"/>
    <p:sldId id="348" r:id="rId10"/>
    <p:sldId id="343" r:id="rId11"/>
    <p:sldId id="323" r:id="rId12"/>
    <p:sldId id="325" r:id="rId13"/>
    <p:sldId id="331" r:id="rId14"/>
    <p:sldId id="333" r:id="rId15"/>
    <p:sldId id="354" r:id="rId16"/>
    <p:sldId id="335" r:id="rId17"/>
    <p:sldId id="352" r:id="rId18"/>
    <p:sldId id="351" r:id="rId19"/>
    <p:sldId id="353" r:id="rId20"/>
    <p:sldId id="334" r:id="rId21"/>
    <p:sldId id="336" r:id="rId22"/>
    <p:sldId id="337" r:id="rId23"/>
    <p:sldId id="338" r:id="rId24"/>
    <p:sldId id="339" r:id="rId25"/>
    <p:sldId id="312" r:id="rId26"/>
    <p:sldId id="349" r:id="rId27"/>
    <p:sldId id="35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80"/>
    <p:restoredTop sz="96327"/>
  </p:normalViewPr>
  <p:slideViewPr>
    <p:cSldViewPr snapToGrid="0">
      <p:cViewPr>
        <p:scale>
          <a:sx n="121" d="100"/>
          <a:sy n="121" d="100"/>
        </p:scale>
        <p:origin x="2720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Quantification of gene expression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RNA-seq downstream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AE1F11F6-8ED5-FF7D-28F6-D01152C7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equencing Platforms | Illumina NGS platforms">
            <a:extLst>
              <a:ext uri="{FF2B5EF4-FFF2-40B4-BE49-F238E27FC236}">
                <a16:creationId xmlns:a16="http://schemas.microsoft.com/office/drawing/2014/main" id="{4E03D524-1B0A-A825-091E-EEBABBC49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A2E228-1680-4A6C-2CCB-4966F5355EB3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1ADDBE-DF7F-6AAB-13C3-85C4DB5AB6D4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A00282-0C17-46C3-EA42-E3FEB686DADD}"/>
              </a:ext>
            </a:extLst>
          </p:cNvPr>
          <p:cNvSpPr txBox="1"/>
          <p:nvPr/>
        </p:nvSpPr>
        <p:spPr>
          <a:xfrm>
            <a:off x="5115911" y="3036903"/>
            <a:ext cx="2472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bowtie2, STAR</a:t>
            </a: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DDF849-9128-6E26-5A3B-4A49543EB987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48BD0D6-CCCF-B943-7A0E-9AF5C234A6DA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DC9CB-31AB-1C52-6101-217DF452A481}"/>
              </a:ext>
            </a:extLst>
          </p:cNvPr>
          <p:cNvSpPr txBox="1"/>
          <p:nvPr/>
        </p:nvSpPr>
        <p:spPr>
          <a:xfrm>
            <a:off x="5205382" y="4883014"/>
            <a:ext cx="50064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Transcript abundance quantification </a:t>
            </a:r>
          </a:p>
          <a:p>
            <a:r>
              <a:rPr lang="en-US" b="1" dirty="0">
                <a:solidFill>
                  <a:srgbClr val="FF0000"/>
                </a:solidFill>
              </a:rPr>
              <a:t>Differential gene expression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Gene ontology over-representation analysis</a:t>
            </a:r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AB5860-0A9E-CF2F-76EC-85DEE32EB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5"/>
          <a:stretch/>
        </p:blipFill>
        <p:spPr bwMode="auto">
          <a:xfrm>
            <a:off x="3847883" y="1017486"/>
            <a:ext cx="4496234" cy="485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816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57"/>
          <a:stretch/>
        </p:blipFill>
        <p:spPr bwMode="auto">
          <a:xfrm>
            <a:off x="6462447" y="943642"/>
            <a:ext cx="5026842" cy="1080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E5EADB0-A774-BA92-E247-C53FDE97BA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3837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Gene length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434"/>
          <a:stretch/>
        </p:blipFill>
        <p:spPr bwMode="auto">
          <a:xfrm>
            <a:off x="6462447" y="943641"/>
            <a:ext cx="5026842" cy="2724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13175D1-F5B2-E974-405B-56710FA0A7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53684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230802" cy="4883277"/>
          </a:xfrm>
        </p:spPr>
        <p:txBody>
          <a:bodyPr>
            <a:normAutofit/>
          </a:bodyPr>
          <a:lstStyle/>
          <a:p>
            <a:r>
              <a:rPr lang="en-US" sz="1600" dirty="0"/>
              <a:t>Important points when comparing gene abundance for different datasets/genes are: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Sequencing depth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Gene length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RNA composition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42BE9D-3B51-B5E1-2068-D2ACC89C3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447" y="943641"/>
            <a:ext cx="5026842" cy="5085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701F43-C881-C314-E452-6F2C29E6D5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hbctraining.github.io</a:t>
            </a:r>
            <a:r>
              <a:rPr lang="en-US" dirty="0"/>
              <a:t>/</a:t>
            </a:r>
            <a:r>
              <a:rPr lang="en-US" dirty="0" err="1"/>
              <a:t>DGE_workshop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552941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can be used to count reads overlapping a set of gene annotations.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7B20F-DB6D-94EB-FD4E-4C173521BD9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97823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# in bash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b="0" dirty="0" err="1">
                <a:effectLst/>
                <a:latin typeface="Menlo" panose="020B0609030804020204" pitchFamily="49" charset="0"/>
              </a:rPr>
              <a:t>featureCounts</a:t>
            </a:r>
            <a:r>
              <a:rPr lang="en-GB" b="0" dirty="0"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-g </a:t>
            </a:r>
            <a:r>
              <a:rPr lang="en-GB" b="0" dirty="0" err="1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gene_name</a:t>
            </a: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-s 2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-p -B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-T 16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-o data/counts/</a:t>
            </a:r>
            <a:r>
              <a:rPr lang="en-GB" b="0" dirty="0" err="1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RNAseq_counts.tsv</a:t>
            </a:r>
            <a:r>
              <a:rPr lang="en-GB" b="0" dirty="0">
                <a:solidFill>
                  <a:schemeClr val="accent2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4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-a data/counts/hg38_Gencodev41.gtf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data/mapping/RNA_ctl_2^hg38^filtered.bam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data/mapping/RNA_ctl_3^hg38^filtered.bam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data/mapping/RNA_foxj1_1^hg38^filtered.bam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b="0" dirty="0">
                <a:solidFill>
                  <a:schemeClr val="accent6">
                    <a:lumMod val="75000"/>
                  </a:schemeClr>
                </a:solidFill>
                <a:effectLst/>
                <a:latin typeface="Menlo" panose="020B0609030804020204" pitchFamily="49" charset="0"/>
              </a:rPr>
              <a:t>data/mapping/RNA_foxj1_2^hg38^filtered.bam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1834010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35997C-9AA5-642B-D3AA-F1F0C7740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123244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can be used to count reads overlapping a set of gene annotations.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Rsubread</a:t>
            </a:r>
            <a:r>
              <a:rPr lang="en-US" sz="1600" dirty="0"/>
              <a:t> is an R package which wraps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featureCounts</a:t>
            </a:r>
            <a:r>
              <a:rPr lang="en-US" sz="1600" dirty="0"/>
              <a:t> function in R. 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8C0787-C20F-79AC-D38F-4F0A569E4D5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gene/transcript abundance in RNA-seq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44B39CC-B371-A110-7AE2-00913304A8BE}"/>
              </a:ext>
            </a:extLst>
          </p:cNvPr>
          <p:cNvSpPr txBox="1">
            <a:spLocks/>
          </p:cNvSpPr>
          <p:nvPr/>
        </p:nvSpPr>
        <p:spPr>
          <a:xfrm>
            <a:off x="0" y="2208435"/>
            <a:ext cx="12192000" cy="39782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# in bash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dirty="0" err="1"/>
              <a:t>featureCounts</a:t>
            </a:r>
            <a:r>
              <a:rPr lang="en-GB" dirty="0"/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-g </a:t>
            </a:r>
            <a:r>
              <a:rPr lang="en-GB" dirty="0" err="1">
                <a:solidFill>
                  <a:schemeClr val="accent2">
                    <a:lumMod val="75000"/>
                  </a:schemeClr>
                </a:solidFill>
              </a:rPr>
              <a:t>gene_name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-s 2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-p -B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-T 16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-o data/counts/</a:t>
            </a:r>
            <a:r>
              <a:rPr lang="en-GB" dirty="0" err="1">
                <a:solidFill>
                  <a:schemeClr val="accent2">
                    <a:lumMod val="75000"/>
                  </a:schemeClr>
                </a:solidFill>
              </a:rPr>
              <a:t>RNAseq_counts.tsv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4">
                    <a:lumMod val="75000"/>
                  </a:schemeClr>
                </a:solidFill>
              </a:rPr>
              <a:t>-a data/counts/hg38_Gencodev41.gtf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data/mapping/RNA_ctl_2^hg38^filtered.bam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data/mapping/RNA_ctl_3^hg38^filtered.bam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data/mapping/RNA_foxj1_1^hg38^filtered.bam \</a:t>
            </a:r>
          </a:p>
          <a:p>
            <a:pPr marL="941388" indent="-219075">
              <a:lnSpc>
                <a:spcPct val="120000"/>
              </a:lnSpc>
              <a:spcAft>
                <a:spcPts val="0"/>
              </a:spcAft>
            </a:pP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data/mapping/RNA_foxj1_2^hg38^filtered.bam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7B20F-DB6D-94EB-FD4E-4C173521BD9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691745" y="2208435"/>
            <a:ext cx="5500255" cy="3775803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>
                <a:effectLst/>
                <a:latin typeface="Menlo" panose="020B0609030804020204" pitchFamily="49" charset="0"/>
              </a:rPr>
              <a:t># in R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endParaRPr lang="en-GB" sz="1700" dirty="0"/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 err="1">
                <a:effectLst/>
                <a:latin typeface="Menlo" panose="020B0609030804020204" pitchFamily="49" charset="0"/>
              </a:rPr>
              <a:t>cnts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&lt;- 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Rsubread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::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featureCounts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(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files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c('….bam’, '….bam'),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annot.ext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annots.gtf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',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isGTFAnnotationFile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TRUE,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GTF.featureType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</a:t>
            </a:r>
            <a:r>
              <a:rPr lang="en-GB" sz="1700" b="0" dirty="0" err="1">
                <a:effectLst/>
                <a:latin typeface="Menlo" panose="020B0609030804020204" pitchFamily="49" charset="0"/>
              </a:rPr>
              <a:t>sequence_feature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’,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GTF.attrType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'id’,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isPairedEnd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TRUE, 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1" dirty="0">
                <a:effectLst/>
                <a:latin typeface="Menlo" panose="020B0609030804020204" pitchFamily="49" charset="0"/>
              </a:rPr>
              <a:t>	  </a:t>
            </a:r>
            <a:r>
              <a:rPr lang="en-GB" sz="1700" b="1" dirty="0" err="1">
                <a:effectLst/>
                <a:latin typeface="Menlo" panose="020B0609030804020204" pitchFamily="49" charset="0"/>
              </a:rPr>
              <a:t>nthreads</a:t>
            </a:r>
            <a:r>
              <a:rPr lang="en-GB" sz="1700" b="0" dirty="0">
                <a:effectLst/>
                <a:latin typeface="Menlo" panose="020B0609030804020204" pitchFamily="49" charset="0"/>
              </a:rPr>
              <a:t> = 16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lang="en-GB" sz="1700" b="0" dirty="0">
                <a:effectLst/>
                <a:latin typeface="Menlo" panose="020B0609030804020204" pitchFamily="49" charset="0"/>
              </a:rPr>
              <a:t>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4B1D3C-6A23-0674-E098-85F7CF600305}"/>
              </a:ext>
            </a:extLst>
          </p:cNvPr>
          <p:cNvCxnSpPr/>
          <p:nvPr/>
        </p:nvCxnSpPr>
        <p:spPr>
          <a:xfrm>
            <a:off x="6691745" y="2208435"/>
            <a:ext cx="0" cy="397823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00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 </a:t>
            </a:r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4" name="Picture 2" descr="Alt SummarizedExperiment">
            <a:extLst>
              <a:ext uri="{FF2B5EF4-FFF2-40B4-BE49-F238E27FC236}">
                <a16:creationId xmlns:a16="http://schemas.microsoft.com/office/drawing/2014/main" id="{E6DF6D9E-617C-9B89-E4D3-472F79BF3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366" y="1447556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1830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8045C-B33B-70D5-D418-86A0DFA374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Huber et al., Nat. Meth. 2015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1026" name="Picture 2" descr="Alt SummarizedExperiment">
            <a:extLst>
              <a:ext uri="{FF2B5EF4-FFF2-40B4-BE49-F238E27FC236}">
                <a16:creationId xmlns:a16="http://schemas.microsoft.com/office/drawing/2014/main" id="{37B41E46-F2DC-C744-B83C-7E466631C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5075C-5B62-6640-B1EF-EAD24B8D3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821" y="2332489"/>
            <a:ext cx="5401662" cy="219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838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E4A71-6AB7-6B4D-8D6F-BAE3C0285940}"/>
              </a:ext>
            </a:extLst>
          </p:cNvPr>
          <p:cNvSpPr/>
          <p:nvPr/>
        </p:nvSpPr>
        <p:spPr>
          <a:xfrm>
            <a:off x="9797388" y="891244"/>
            <a:ext cx="1766437" cy="198797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83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6332585" y="2321411"/>
            <a:ext cx="1529852" cy="29903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1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assay(), assays(): A matrix-like or list of matrix-like objects of identical dimension</a:t>
            </a:r>
          </a:p>
          <a:p>
            <a:pPr lvl="1"/>
            <a:r>
              <a:rPr lang="en-GB" sz="1400" dirty="0"/>
              <a:t>rows: refer to </a:t>
            </a:r>
            <a:r>
              <a:rPr lang="en-GB" sz="1400" b="1" u="sng" dirty="0" err="1"/>
              <a:t>rowRanges</a:t>
            </a:r>
            <a:r>
              <a:rPr lang="en-GB" sz="1400" dirty="0"/>
              <a:t>: genes, genomic coordinates, etc.</a:t>
            </a:r>
          </a:p>
          <a:p>
            <a:pPr lvl="1"/>
            <a:r>
              <a:rPr lang="en-GB" sz="1400" dirty="0"/>
              <a:t>columns: refer to </a:t>
            </a:r>
            <a:r>
              <a:rPr lang="en-GB" sz="1400" b="1" u="sng" dirty="0" err="1"/>
              <a:t>colData</a:t>
            </a:r>
            <a:r>
              <a:rPr lang="en-GB" sz="1400" dirty="0"/>
              <a:t>: samples, cells, etc.</a:t>
            </a:r>
          </a:p>
          <a:p>
            <a:pPr lvl="1"/>
            <a:r>
              <a:rPr lang="en-GB" sz="1400" dirty="0"/>
              <a:t>Implements dim(), </a:t>
            </a:r>
            <a:r>
              <a:rPr lang="en-GB" sz="1400" dirty="0" err="1"/>
              <a:t>dimnames</a:t>
            </a:r>
            <a:r>
              <a:rPr lang="en-GB" sz="1400" dirty="0"/>
              <a:t>() and 2-dimensional [ , ]</a:t>
            </a:r>
          </a:p>
          <a:p>
            <a:pPr lvl="1"/>
            <a:r>
              <a:rPr lang="en-GB" sz="1400" b="1" dirty="0"/>
              <a:t>Can be several assays!!!</a:t>
            </a:r>
            <a:endParaRPr lang="en-GB" sz="1400" dirty="0"/>
          </a:p>
          <a:p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7770967" y="2321410"/>
            <a:ext cx="2215514" cy="343562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949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Alt SummarizedExperiment">
            <a:extLst>
              <a:ext uri="{FF2B5EF4-FFF2-40B4-BE49-F238E27FC236}">
                <a16:creationId xmlns:a16="http://schemas.microsoft.com/office/drawing/2014/main" id="{60D98193-8F1D-580A-60EF-93F36D44B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1686" y="1006231"/>
            <a:ext cx="5464628" cy="4658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4F3419-5893-3BB7-1848-79A7FB895C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12D65-F05E-8209-DA49-180F3CAA8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522908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colData</a:t>
            </a:r>
            <a:r>
              <a:rPr lang="en-GB" sz="1600" dirty="0"/>
              <a:t>(): Annotations on each column, as a </a:t>
            </a:r>
            <a:r>
              <a:rPr lang="en-GB" sz="1600" dirty="0" err="1"/>
              <a:t>DataFrame</a:t>
            </a:r>
            <a:r>
              <a:rPr lang="en-GB" sz="1600" dirty="0"/>
              <a:t>.</a:t>
            </a:r>
          </a:p>
          <a:p>
            <a:pPr lvl="1"/>
            <a:r>
              <a:rPr lang="en-GB" sz="1400" dirty="0"/>
              <a:t>E.g., description of each sample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rowData</a:t>
            </a:r>
            <a:r>
              <a:rPr lang="en-US" sz="1600" dirty="0"/>
              <a:t>/</a:t>
            </a:r>
            <a:r>
              <a:rPr lang="en-US" sz="1600" dirty="0" err="1"/>
              <a:t>rowRanges</a:t>
            </a:r>
            <a:r>
              <a:rPr lang="en-US" sz="1600" dirty="0"/>
              <a:t>(): Annotations on each row.</a:t>
            </a:r>
          </a:p>
          <a:p>
            <a:pPr lvl="1"/>
            <a:r>
              <a:rPr lang="en-US" sz="1400" dirty="0"/>
              <a:t>E.g., coordinates of gene / exons /peaks in transcripts /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assay(), assays(): A matrix-like or list of matrix-like objects of identical dimension</a:t>
            </a:r>
          </a:p>
          <a:p>
            <a:pPr lvl="1"/>
            <a:r>
              <a:rPr lang="en-GB" sz="1400" dirty="0"/>
              <a:t>rows: refer to </a:t>
            </a:r>
            <a:r>
              <a:rPr lang="en-GB" sz="1400" b="1" u="sng" dirty="0" err="1"/>
              <a:t>rowRanges</a:t>
            </a:r>
            <a:r>
              <a:rPr lang="en-GB" sz="1400" dirty="0"/>
              <a:t>: genes, genomic coordinates, etc.</a:t>
            </a:r>
          </a:p>
          <a:p>
            <a:pPr lvl="1"/>
            <a:r>
              <a:rPr lang="en-GB" sz="1400" dirty="0"/>
              <a:t>columns: refer to </a:t>
            </a:r>
            <a:r>
              <a:rPr lang="en-GB" sz="1400" b="1" u="sng" dirty="0" err="1"/>
              <a:t>colData</a:t>
            </a:r>
            <a:r>
              <a:rPr lang="en-GB" sz="1400" dirty="0"/>
              <a:t>: samples, cells, etc.</a:t>
            </a:r>
          </a:p>
          <a:p>
            <a:pPr lvl="1"/>
            <a:r>
              <a:rPr lang="en-GB" sz="1400" dirty="0"/>
              <a:t>Implements dim(), </a:t>
            </a:r>
            <a:r>
              <a:rPr lang="en-GB" sz="1400" dirty="0" err="1"/>
              <a:t>dimnames</a:t>
            </a:r>
            <a:r>
              <a:rPr lang="en-GB" sz="1400" dirty="0"/>
              <a:t>() and 2-dimensional [ , ]</a:t>
            </a:r>
          </a:p>
          <a:p>
            <a:pPr lvl="1"/>
            <a:r>
              <a:rPr lang="en-GB" sz="1400" b="1" dirty="0"/>
              <a:t>Can be several assays!!!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metadata(): List of unstructured metadata describing the overall content of the object.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77E18F-D375-42B8-C6FE-474C9DA96645}"/>
              </a:ext>
            </a:extLst>
          </p:cNvPr>
          <p:cNvSpPr/>
          <p:nvPr/>
        </p:nvSpPr>
        <p:spPr>
          <a:xfrm>
            <a:off x="9852916" y="3120219"/>
            <a:ext cx="2033671" cy="200658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22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SummarizedExperiment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0710AE-B3A1-97FD-A918-6CBD51BD0A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A3E2A1D-3F00-52E9-7E8C-EB32977BC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6" cy="4883277"/>
          </a:xfrm>
        </p:spPr>
        <p:txBody>
          <a:bodyPr>
            <a:normAutofit/>
          </a:bodyPr>
          <a:lstStyle/>
          <a:p>
            <a:pPr marL="0" indent="0"/>
            <a:r>
              <a:rPr lang="en-US" sz="1800" b="1" dirty="0" err="1"/>
              <a:t>SummarizedExperiment</a:t>
            </a:r>
            <a:r>
              <a:rPr lang="en-US" sz="1800" b="1" dirty="0"/>
              <a:t> is a key data structure in Bioconductor, reused by or modified in:</a:t>
            </a:r>
            <a:endParaRPr lang="en-US" sz="1600" b="1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clusterExperiment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SingleCellExperiment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LoomExperiment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MsExperiment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TreeSummarizedExperiment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 err="1"/>
              <a:t>SpatialExperiment</a:t>
            </a:r>
            <a:endParaRPr lang="en-US" sz="1600" dirty="0"/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1600" dirty="0"/>
              <a:t>And 100s more…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3945C4-BDE8-B4EA-A0FA-BC590E2DB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7" b="69738"/>
          <a:stretch/>
        </p:blipFill>
        <p:spPr>
          <a:xfrm>
            <a:off x="3659047" y="2045007"/>
            <a:ext cx="3752273" cy="23459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EB4EA1-22FC-DDCA-7F3C-7F316FF672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623" t="30560" r="623" b="-463"/>
          <a:stretch/>
        </p:blipFill>
        <p:spPr>
          <a:xfrm>
            <a:off x="7652041" y="827464"/>
            <a:ext cx="3752273" cy="5452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299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DE5D3B5-60F3-71AD-6649-BE12FD51AE3F}"/>
              </a:ext>
            </a:extLst>
          </p:cNvPr>
          <p:cNvSpPr/>
          <p:nvPr/>
        </p:nvSpPr>
        <p:spPr>
          <a:xfrm>
            <a:off x="2696005" y="2373918"/>
            <a:ext cx="6799990" cy="30777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(counts, design = ~ timepoint)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u="sng" dirty="0"/>
              <a:t>formula</a:t>
            </a:r>
            <a:r>
              <a:rPr lang="en-US" dirty="0"/>
              <a:t> needs to be specified 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BCBE6-4ADE-8DC1-9D86-4FFDDC9AF1E3}"/>
              </a:ext>
            </a:extLst>
          </p:cNvPr>
          <p:cNvSpPr/>
          <p:nvPr/>
        </p:nvSpPr>
        <p:spPr>
          <a:xfrm flipV="1">
            <a:off x="5887092" y="2377720"/>
            <a:ext cx="2426345" cy="33465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617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Differential </a:t>
            </a:r>
            <a:r>
              <a:rPr lang="en-US" dirty="0"/>
              <a:t>expression analysis is as simple as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pic>
        <p:nvPicPr>
          <p:cNvPr id="8194" name="Picture 2" descr="Gene-level differential expression analysis with DESeq2 | Introduction to  DGE - ARCHIVED">
            <a:extLst>
              <a:ext uri="{FF2B5EF4-FFF2-40B4-BE49-F238E27FC236}">
                <a16:creationId xmlns:a16="http://schemas.microsoft.com/office/drawing/2014/main" id="{18E8472C-36C2-BE61-25E1-3D621DBC6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643" y="2029851"/>
            <a:ext cx="2538714" cy="3842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003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B4F99-0D7E-826C-A25C-C2110DB129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DESeq2 is based on a </a:t>
            </a:r>
            <a:r>
              <a:rPr lang="en-US" dirty="0" err="1"/>
              <a:t>SummarizedExperiment</a:t>
            </a:r>
            <a:r>
              <a:rPr lang="en-US" dirty="0"/>
              <a:t> object.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u="sng" dirty="0"/>
              <a:t>formula</a:t>
            </a:r>
            <a:r>
              <a:rPr lang="en-US" dirty="0"/>
              <a:t> needs to be specified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Differential expression analysis is as simple as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  <a:endParaRPr lang="en-US" sz="2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5D3B5-60F3-71AD-6649-BE12FD51AE3F}"/>
              </a:ext>
            </a:extLst>
          </p:cNvPr>
          <p:cNvSpPr/>
          <p:nvPr/>
        </p:nvSpPr>
        <p:spPr>
          <a:xfrm>
            <a:off x="205255" y="2373918"/>
            <a:ext cx="10585867" cy="375487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(counts, design = ~ Condition + Treatment)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&lt;-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estimating size factors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estimating dispersions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gene-wise dispersion estimates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mean-dispersion relationship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final dispersion estimates</a:t>
            </a:r>
          </a:p>
          <a:p>
            <a:r>
              <a:rPr lang="en-US" sz="1400" b="1" dirty="0">
                <a:solidFill>
                  <a:schemeClr val="bg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fitting model and testing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dds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class: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DESeqDataSet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dim: 6513 10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metadata(1): version</a:t>
            </a:r>
          </a:p>
          <a:p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assays(4): counts mu H cooks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rownames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NULL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rowData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names(37): summit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peakID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... deviance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maxCooks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colnames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NULL</a:t>
            </a:r>
          </a:p>
          <a:p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colData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names(5): sample timepoint replicate bam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sizeFactor</a:t>
            </a:r>
            <a:endParaRPr lang="en-US" sz="1400" dirty="0">
              <a:solidFill>
                <a:schemeClr val="bg1">
                  <a:lumMod val="85000"/>
                </a:schemeClr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7BCBE6-4ADE-8DC1-9D86-4FFDDC9AF1E3}"/>
              </a:ext>
            </a:extLst>
          </p:cNvPr>
          <p:cNvSpPr/>
          <p:nvPr/>
        </p:nvSpPr>
        <p:spPr>
          <a:xfrm flipV="1">
            <a:off x="3396343" y="2377717"/>
            <a:ext cx="6095129" cy="33465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C427811E-66C8-CB8C-7E95-96D31B602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183634"/>
              </p:ext>
            </p:extLst>
          </p:nvPr>
        </p:nvGraphicFramePr>
        <p:xfrm>
          <a:off x="5264456" y="2795211"/>
          <a:ext cx="422701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6754">
                  <a:extLst>
                    <a:ext uri="{9D8B030D-6E8A-4147-A177-3AD203B41FA5}">
                      <a16:colId xmlns:a16="http://schemas.microsoft.com/office/drawing/2014/main" val="122011324"/>
                    </a:ext>
                  </a:extLst>
                </a:gridCol>
                <a:gridCol w="1056754">
                  <a:extLst>
                    <a:ext uri="{9D8B030D-6E8A-4147-A177-3AD203B41FA5}">
                      <a16:colId xmlns:a16="http://schemas.microsoft.com/office/drawing/2014/main" val="1673105995"/>
                    </a:ext>
                  </a:extLst>
                </a:gridCol>
                <a:gridCol w="1056754">
                  <a:extLst>
                    <a:ext uri="{9D8B030D-6E8A-4147-A177-3AD203B41FA5}">
                      <a16:colId xmlns:a16="http://schemas.microsoft.com/office/drawing/2014/main" val="1082241236"/>
                    </a:ext>
                  </a:extLst>
                </a:gridCol>
                <a:gridCol w="1056754">
                  <a:extLst>
                    <a:ext uri="{9D8B030D-6E8A-4147-A177-3AD203B41FA5}">
                      <a16:colId xmlns:a16="http://schemas.microsoft.com/office/drawing/2014/main" val="2160108371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Replicate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Treatment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554989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565343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44229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0830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618405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340480"/>
                  </a:ext>
                </a:extLst>
              </a:tr>
              <a:tr h="359003">
                <a:tc>
                  <a:txBody>
                    <a:bodyPr/>
                    <a:lstStyle/>
                    <a:p>
                      <a:r>
                        <a:rPr lang="en-US" dirty="0"/>
                        <a:t>sample6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41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320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5389F-66CB-3574-18C3-9709174DA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4204922"/>
            <a:ext cx="12192000" cy="147732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"45"</a:t>
            </a:r>
          </a:p>
        </p:txBody>
      </p:sp>
    </p:spTree>
    <p:extLst>
      <p:ext uri="{BB962C8B-B14F-4D97-AF65-F5344CB8AC3E}">
        <p14:creationId xmlns:p14="http://schemas.microsoft.com/office/powerpoint/2010/main" val="25957007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B03A7D-ACA8-1E45-D57F-31D16BE340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</p:spTree>
    <p:extLst>
      <p:ext uri="{BB962C8B-B14F-4D97-AF65-F5344CB8AC3E}">
        <p14:creationId xmlns:p14="http://schemas.microsoft.com/office/powerpoint/2010/main" val="381287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F9876B-18BF-14DD-9B96-77673F8B2C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A4E2F1-4F8E-874F-9E6D-862F673DF81B}"/>
              </a:ext>
            </a:extLst>
          </p:cNvPr>
          <p:cNvSpPr/>
          <p:nvPr/>
        </p:nvSpPr>
        <p:spPr>
          <a:xfrm flipV="1">
            <a:off x="2051425" y="2421310"/>
            <a:ext cx="1891468" cy="26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942601-7812-F84E-98F3-1A340E348DC9}"/>
              </a:ext>
            </a:extLst>
          </p:cNvPr>
          <p:cNvSpPr/>
          <p:nvPr/>
        </p:nvSpPr>
        <p:spPr>
          <a:xfrm flipV="1">
            <a:off x="1178588" y="1210481"/>
            <a:ext cx="1052548" cy="105127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2079134" y="2698401"/>
            <a:ext cx="2339247" cy="26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874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37302-AAA0-16E3-D39D-5393E1FBAA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1389282" y="3415479"/>
            <a:ext cx="1356793" cy="17664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8577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DESeq2 analysis workflow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4F125-2458-6D78-BEA2-96C9806B5C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4) Extract results</a:t>
            </a:r>
          </a:p>
          <a:p>
            <a:endParaRPr lang="en-US" dirty="0"/>
          </a:p>
          <a:p>
            <a:pPr lvl="2"/>
            <a:r>
              <a:rPr lang="en-US" sz="2400" dirty="0"/>
              <a:t>We can use </a:t>
            </a:r>
            <a:r>
              <a:rPr lang="en-GB" sz="2400" dirty="0">
                <a:solidFill>
                  <a:srgbClr val="ABB2BF"/>
                </a:solidFill>
                <a:latin typeface="Menlo" panose="020B0609030804020204" pitchFamily="49" charset="0"/>
              </a:rPr>
              <a:t>DESeq2</a:t>
            </a:r>
            <a:r>
              <a:rPr lang="en-GB" sz="2400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sz="2400" dirty="0">
                <a:solidFill>
                  <a:srgbClr val="6EA4EB"/>
                </a:solidFill>
                <a:latin typeface="Menlo" panose="020B0609030804020204" pitchFamily="49" charset="0"/>
              </a:rPr>
              <a:t>results()</a:t>
            </a:r>
            <a:endParaRPr lang="en-GB" sz="2400" dirty="0">
              <a:latin typeface="Menlo" panose="020B0609030804020204" pitchFamily="49" charset="0"/>
            </a:endParaRPr>
          </a:p>
          <a:p>
            <a:pPr lvl="2"/>
            <a:r>
              <a:rPr lang="en-GB" sz="2400" dirty="0"/>
              <a:t>DESeq2 extracts results for pairwise comparison between 2 conditions</a:t>
            </a:r>
          </a:p>
          <a:p>
            <a:pPr lvl="2"/>
            <a:endParaRPr lang="en-US" sz="24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36E94-1109-1A4C-8138-A7786C22455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675E81-B5BE-3E49-99DD-9FA24892C085}"/>
              </a:ext>
            </a:extLst>
          </p:cNvPr>
          <p:cNvSpPr/>
          <p:nvPr/>
        </p:nvSpPr>
        <p:spPr>
          <a:xfrm>
            <a:off x="0" y="931767"/>
            <a:ext cx="12192000" cy="594008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contrasts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15_v_00     30_v_00     45_v_00     60_v_00     30_v_15     45_v_15     60_v_15     45_v_30     60_v_30     60_v_45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[1,] "timepoint" "timepoint" "timepoint" "timepoint" "timepoint" "timepoint" "timepoint" "timepoint" "timepoint" "timepoint"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[2,] "15"        "30"        "45"        "60"        "30"        "45"        "60"        "45"        "60"        "60"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[3,] "00"        "00"        "00"        "00"        "15"        "15"        "15"        "30"        "30"        "45”</a:t>
            </a:r>
          </a:p>
          <a:p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&gt; results(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dds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, contrast = contrasts[, 2])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log2 fold change (MLE): timepoint 30 vs 00</a:t>
            </a:r>
          </a:p>
          <a:p>
            <a:r>
              <a:rPr lang="en-US" sz="1600" b="1" dirty="0">
                <a:solidFill>
                  <a:schemeClr val="bg1"/>
                </a:solidFill>
              </a:rPr>
              <a:t>Wald test p-value: timepoint 30 vs 00</a:t>
            </a:r>
          </a:p>
          <a:p>
            <a:r>
              <a:rPr lang="en-US" sz="1600" b="1" dirty="0" err="1">
                <a:solidFill>
                  <a:schemeClr val="bg1"/>
                </a:solidFill>
              </a:rPr>
              <a:t>DataFrame</a:t>
            </a:r>
            <a:r>
              <a:rPr lang="en-US" sz="1600" b="1" dirty="0">
                <a:solidFill>
                  <a:schemeClr val="bg1"/>
                </a:solidFill>
              </a:rPr>
              <a:t> with 6513 rows and 6 columns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baseMean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log2FoldChange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lfcSE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stat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pvalue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   </a:t>
            </a:r>
            <a:r>
              <a:rPr lang="en-US" sz="1600" dirty="0" err="1">
                <a:solidFill>
                  <a:schemeClr val="bg1">
                    <a:lumMod val="85000"/>
                  </a:schemeClr>
                </a:solidFill>
              </a:rPr>
              <a:t>padj</a:t>
            </a:r>
            <a:endParaRPr lang="en-US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     &lt;numeric&gt;      &lt;numeric&gt; &lt;numeric&gt;  &lt;numeric&gt;   &lt;numeric&gt;   &lt;numeric&gt;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1    1643.7457      -0.900131  0.225114   -3.99856 6.37297e-05 0.002809493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2     106.1707      -0.876365  0.313066   -2.79930 5.12139e-03 0.066589377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3     134.4141      -0.753498  0.311437   -2.41942 1.55451e-02 0.133487340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4     203.8053      -1.094019  0.227780   -4.80296 1.56338e-06 0.000140911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5      67.2922      -1.001061  0.336647   -2.97362 2.94309e-03 0.046569804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...        ...            ...       ...        ...         ...         ...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6509   36.1437     -0.0313828  0.417826 -0.0751098   0.9401274    0.979001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6510  603.5468     -0.4020281  0.181778 -2.2116386   0.0269916    0.185475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6511   42.8792     -0.3776449  0.378523 -0.9976807   0.3184342    0.633629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6512   15.2541     -0.5818438  0.642764 -0.9052221   0.3653477          NA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</a:rPr>
              <a:t>6513   37.8941     -0.8396196  0.427293 -1.9649731   0.0494173    0.258224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38D38-8128-1141-B244-B3BF586F4614}"/>
              </a:ext>
            </a:extLst>
          </p:cNvPr>
          <p:cNvSpPr/>
          <p:nvPr/>
        </p:nvSpPr>
        <p:spPr>
          <a:xfrm flipV="1">
            <a:off x="5650199" y="3429000"/>
            <a:ext cx="1481485" cy="17664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76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</a:t>
            </a:r>
            <a:r>
              <a:rPr lang="en-US" sz="1600"/>
              <a:t>abundance!</a:t>
            </a:r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4236105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abundance!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(regularized log) can be used to approximate gene expression levels.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22490900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BB83-5433-344C-BDB0-622BF73A0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 log counts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91CAF-4206-ABBF-1BA3-5D3D0D2C4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0570F-B803-4F4C-ACD1-264499AAA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DESeq2 is primarily designed to </a:t>
            </a:r>
            <a:r>
              <a:rPr lang="en-US" sz="1600" b="1" u="sng" dirty="0"/>
              <a:t>estimate fold-change</a:t>
            </a:r>
            <a:r>
              <a:rPr lang="en-US" sz="1600" dirty="0"/>
              <a:t> between conditions, </a:t>
            </a:r>
            <a:r>
              <a:rPr lang="en-US" sz="1600" b="1" u="sng" dirty="0"/>
              <a:t>NOT</a:t>
            </a:r>
            <a:r>
              <a:rPr lang="en-US" sz="1600" dirty="0"/>
              <a:t> actual abundance!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(regularized log) can be used to approximate gene expression levels.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Rlog</a:t>
            </a:r>
            <a:r>
              <a:rPr lang="en-US" sz="1600" dirty="0"/>
              <a:t> </a:t>
            </a:r>
            <a:r>
              <a:rPr lang="en-GB" sz="1600" dirty="0"/>
              <a:t>transforms the count data to the </a:t>
            </a:r>
            <a:r>
              <a:rPr lang="en-GB" sz="1600" b="1" u="sng" dirty="0"/>
              <a:t>log2 scale</a:t>
            </a:r>
            <a:r>
              <a:rPr lang="en-GB" sz="1600" b="1" dirty="0"/>
              <a:t> </a:t>
            </a:r>
            <a:r>
              <a:rPr lang="en-GB" sz="1600" dirty="0"/>
              <a:t>in a way which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	1) </a:t>
            </a:r>
            <a:r>
              <a:rPr lang="en-GB" sz="1600" u="sng" dirty="0"/>
              <a:t>minimizes differences between samples for rows with small counts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GB" sz="1600" dirty="0"/>
              <a:t>	2) </a:t>
            </a:r>
            <a:r>
              <a:rPr lang="en-GB" sz="1600" u="sng" dirty="0"/>
              <a:t>normalizes with respect to library size</a:t>
            </a:r>
          </a:p>
          <a:p>
            <a:pPr marL="0" indent="0">
              <a:lnSpc>
                <a:spcPct val="150000"/>
              </a:lnSpc>
              <a:buNone/>
            </a:pPr>
            <a:endParaRPr lang="en-GB" sz="1600" u="sng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/>
              <a:t>DESeq2::</a:t>
            </a:r>
            <a:r>
              <a:rPr lang="en-US" sz="1600" dirty="0" err="1"/>
              <a:t>rlog</a:t>
            </a:r>
            <a:r>
              <a:rPr lang="en-US" sz="1600" dirty="0"/>
              <a:t>()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AB3B4-0398-1A49-A6B6-7B9C52FF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Analyzing NGS data with R/Bioconductor </a:t>
            </a:r>
          </a:p>
        </p:txBody>
      </p:sp>
    </p:spTree>
    <p:extLst>
      <p:ext uri="{BB962C8B-B14F-4D97-AF65-F5344CB8AC3E}">
        <p14:creationId xmlns:p14="http://schemas.microsoft.com/office/powerpoint/2010/main" val="2008800697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2812</TotalTime>
  <Words>2879</Words>
  <Application>Microsoft Macintosh PowerPoint</Application>
  <PresentationFormat>Widescreen</PresentationFormat>
  <Paragraphs>340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Arial</vt:lpstr>
      <vt:lpstr>Avenir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Quantification of gene expression</vt:lpstr>
      <vt:lpstr>RNA-seq downstream analysis</vt:lpstr>
      <vt:lpstr>DESeq2 analysis workflow</vt:lpstr>
      <vt:lpstr>Estimating gene/transcript abundance in RNA-seq</vt:lpstr>
      <vt:lpstr>Estimating gene/transcript abundance in RNA-seq</vt:lpstr>
      <vt:lpstr>Estimating gene/transcript abundance in RNA-seq</vt:lpstr>
      <vt:lpstr>Estimating gene/transcript abundance in RNA-seq</vt:lpstr>
      <vt:lpstr>Estimating gene/transcript abundance in RNA-seq</vt:lpstr>
      <vt:lpstr>DESeq2 analysis workflow</vt:lpstr>
      <vt:lpstr>SummarizedExperiment</vt:lpstr>
      <vt:lpstr>SummarizedExperiment</vt:lpstr>
      <vt:lpstr>SummarizedExperiment</vt:lpstr>
      <vt:lpstr>SummarizedExperiment</vt:lpstr>
      <vt:lpstr>SummarizedExperiment</vt:lpstr>
      <vt:lpstr>SummarizedExperiment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DESeq2 analysis workflow</vt:lpstr>
      <vt:lpstr>Regularized log counts</vt:lpstr>
      <vt:lpstr>Regularized log counts</vt:lpstr>
      <vt:lpstr>Regularized log counts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200</cp:revision>
  <dcterms:created xsi:type="dcterms:W3CDTF">2023-06-26T07:22:32Z</dcterms:created>
  <dcterms:modified xsi:type="dcterms:W3CDTF">2026-04-13T16:07:45Z</dcterms:modified>
</cp:coreProperties>
</file>