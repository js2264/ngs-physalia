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60" r:id="rId1"/>
    <p:sldMasterId id="2147483676" r:id="rId2"/>
  </p:sldMasterIdLst>
  <p:notesMasterIdLst>
    <p:notesMasterId r:id="rId29"/>
  </p:notesMasterIdLst>
  <p:sldIdLst>
    <p:sldId id="256" r:id="rId3"/>
    <p:sldId id="307" r:id="rId4"/>
    <p:sldId id="329" r:id="rId5"/>
    <p:sldId id="345" r:id="rId6"/>
    <p:sldId id="344" r:id="rId7"/>
    <p:sldId id="346" r:id="rId8"/>
    <p:sldId id="347" r:id="rId9"/>
    <p:sldId id="348" r:id="rId10"/>
    <p:sldId id="343" r:id="rId11"/>
    <p:sldId id="323" r:id="rId12"/>
    <p:sldId id="325" r:id="rId13"/>
    <p:sldId id="331" r:id="rId14"/>
    <p:sldId id="333" r:id="rId15"/>
    <p:sldId id="354" r:id="rId16"/>
    <p:sldId id="335" r:id="rId17"/>
    <p:sldId id="352" r:id="rId18"/>
    <p:sldId id="351" r:id="rId19"/>
    <p:sldId id="353" r:id="rId20"/>
    <p:sldId id="334" r:id="rId21"/>
    <p:sldId id="336" r:id="rId22"/>
    <p:sldId id="337" r:id="rId23"/>
    <p:sldId id="338" r:id="rId24"/>
    <p:sldId id="339" r:id="rId25"/>
    <p:sldId id="312" r:id="rId26"/>
    <p:sldId id="349" r:id="rId27"/>
    <p:sldId id="350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EB4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724"/>
    <p:restoredTop sz="96327"/>
  </p:normalViewPr>
  <p:slideViewPr>
    <p:cSldViewPr snapToGrid="0">
      <p:cViewPr varScale="1">
        <p:scale>
          <a:sx n="124" d="100"/>
          <a:sy n="124" d="100"/>
        </p:scale>
        <p:origin x="79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presProps" Target="presProps.xml"/><Relationship Id="rId8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A85917-96BC-A94E-B108-436BB51A4016}" type="datetimeFigureOut">
              <a:rPr lang="en-US" smtClean="0"/>
              <a:t>4/12/25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7D7AC3-3E93-9544-BDE3-B37120F625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53113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tif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alphaModFix amt="18000"/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63910EB-624E-F321-925E-A562C9A67D9E}"/>
              </a:ext>
            </a:extLst>
          </p:cNvPr>
          <p:cNvSpPr/>
          <p:nvPr/>
        </p:nvSpPr>
        <p:spPr>
          <a:xfrm>
            <a:off x="0" y="3967089"/>
            <a:ext cx="12192000" cy="289091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02AA4C-3692-DC40-ADE0-508B5814C6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ctr"/>
          <a:lstStyle>
            <a:lvl1pPr algn="ctr">
              <a:defRPr sz="6000" b="1">
                <a:latin typeface="Comfortaa" pitchFamily="2" charset="0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C45597-59BF-184F-B29C-07C34F9562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55439"/>
            <a:ext cx="9144000" cy="250772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AE298B4-CBF1-A27B-8D25-C419C3CADF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7102" y="194835"/>
            <a:ext cx="1827329" cy="49836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42AF4F5-29E0-2B33-92C6-CE5EF5BBD02F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917596" y="-103400"/>
            <a:ext cx="2259506" cy="1129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43986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F7F50D6C-3207-323C-0510-C9484EEA4EB6}"/>
              </a:ext>
            </a:extLst>
          </p:cNvPr>
          <p:cNvSpPr txBox="1">
            <a:spLocks/>
          </p:cNvSpPr>
          <p:nvPr/>
        </p:nvSpPr>
        <p:spPr>
          <a:xfrm>
            <a:off x="0" y="6241311"/>
            <a:ext cx="12192000" cy="616689"/>
          </a:xfrm>
          <a:prstGeom prst="rect">
            <a:avLst/>
          </a:prstGeom>
          <a:solidFill>
            <a:schemeClr val="bg1">
              <a:lumMod val="85000"/>
              <a:alpha val="29804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latin typeface="Comfortaa" pitchFamily="2" charset="0"/>
                <a:ea typeface="Dotum" panose="020B0600000101010101" pitchFamily="34" charset="-127"/>
                <a:cs typeface="Menlo" panose="020B0609030804020204" pitchFamily="49" charset="0"/>
              </a:defRPr>
            </a:lvl1pPr>
          </a:lstStyle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132174-956C-CE42-AF06-2CC1F76FD1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02640"/>
          </a:xfrm>
          <a:prstGeom prst="rect">
            <a:avLst/>
          </a:prstGeom>
          <a:solidFill>
            <a:schemeClr val="bg1">
              <a:lumMod val="85000"/>
              <a:alpha val="29804"/>
            </a:schemeClr>
          </a:solidFill>
        </p:spPr>
        <p:txBody>
          <a:bodyPr anchor="ctr">
            <a:noAutofit/>
          </a:bodyPr>
          <a:lstStyle>
            <a:lvl1pPr algn="ctr">
              <a:defRPr sz="2400" b="1">
                <a:latin typeface="Comfortaa" pitchFamily="2" charset="0"/>
                <a:ea typeface="Dotum" panose="020B0600000101010101" pitchFamily="34" charset="-127"/>
                <a:cs typeface="Menlo" panose="020B0609030804020204" pitchFamily="49" charset="0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A7B3241-74CA-D249-BD38-4C57AA297F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5444" y="5872025"/>
            <a:ext cx="4288156" cy="314642"/>
          </a:xfrm>
        </p:spPr>
        <p:txBody>
          <a:bodyPr>
            <a:normAutofit/>
          </a:bodyPr>
          <a:lstStyle>
            <a:lvl1pPr>
              <a:buNone/>
              <a:defRPr lang="en-US" sz="1000" i="1" kern="120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09CD1E7-C4F0-95C5-0A44-6191CC4FBA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96400" y="6377889"/>
            <a:ext cx="2743200" cy="365125"/>
          </a:xfrm>
          <a:prstGeom prst="rect">
            <a:avLst/>
          </a:prstGeom>
        </p:spPr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1FEE8F5-8318-DF2F-E442-91BB7855E5FB}"/>
              </a:ext>
            </a:extLst>
          </p:cNvPr>
          <p:cNvCxnSpPr/>
          <p:nvPr/>
        </p:nvCxnSpPr>
        <p:spPr>
          <a:xfrm>
            <a:off x="0" y="6248400"/>
            <a:ext cx="12192000" cy="0"/>
          </a:xfrm>
          <a:prstGeom prst="line">
            <a:avLst/>
          </a:prstGeom>
          <a:ln w="63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8" name="Picture 4" descr="Institut Pasteur, Paris, France — Google Arts &amp; Culture">
            <a:extLst>
              <a:ext uri="{FF2B5EF4-FFF2-40B4-BE49-F238E27FC236}">
                <a16:creationId xmlns:a16="http://schemas.microsoft.com/office/drawing/2014/main" id="{363CF6F2-FFCC-A044-F740-D3124ECBF5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6377889"/>
            <a:ext cx="1188185" cy="3202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BCE3CA2-68AC-7035-AD06-B998211FB25A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856549" y="6279787"/>
            <a:ext cx="1207672" cy="534046"/>
          </a:xfrm>
          <a:prstGeom prst="rect">
            <a:avLst/>
          </a:prstGeom>
        </p:spPr>
      </p:pic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32967DF6-DDDE-B851-D43B-850B377AED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760" y="873761"/>
            <a:ext cx="11927840" cy="4883277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None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Font typeface="Courier New" panose="02070309020205020404" pitchFamily="49" charset="0"/>
              <a:buChar char="o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Font typeface="Wingdings" pitchFamily="2" charset="2"/>
              <a:buChar char="Ø"/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4FA3D7D2-81E0-C7BD-F826-D44EE9292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96343" y="6373284"/>
            <a:ext cx="5747657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Epigenomics Data Analysis — Physalia 2023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17610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o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132174-956C-CE42-AF06-2CC1F76FD1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02640"/>
          </a:xfrm>
          <a:prstGeom prst="rect">
            <a:avLst/>
          </a:prstGeom>
          <a:solidFill>
            <a:schemeClr val="bg1">
              <a:lumMod val="85000"/>
              <a:alpha val="29804"/>
            </a:schemeClr>
          </a:solidFill>
        </p:spPr>
        <p:txBody>
          <a:bodyPr anchor="ctr">
            <a:noAutofit/>
          </a:bodyPr>
          <a:lstStyle>
            <a:lvl1pPr algn="ctr">
              <a:defRPr sz="2400" b="1">
                <a:latin typeface="Comfortaa" pitchFamily="2" charset="0"/>
                <a:ea typeface="Dotum" panose="020B0600000101010101" pitchFamily="34" charset="-127"/>
                <a:cs typeface="Menlo" panose="020B0609030804020204" pitchFamily="49" charset="0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A7B3241-74CA-D249-BD38-4C57AA297F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5444" y="6410505"/>
            <a:ext cx="4288156" cy="314642"/>
          </a:xfrm>
        </p:spPr>
        <p:txBody>
          <a:bodyPr>
            <a:normAutofit/>
          </a:bodyPr>
          <a:lstStyle>
            <a:lvl1pPr>
              <a:buNone/>
              <a:defRPr lang="en-US" sz="1000" i="1" kern="120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32967DF6-DDDE-B851-D43B-850B377AED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760" y="873761"/>
            <a:ext cx="11927840" cy="541527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None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Font typeface="Courier New" panose="02070309020205020404" pitchFamily="49" charset="0"/>
              <a:buChar char="o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Font typeface="Wingdings" pitchFamily="2" charset="2"/>
              <a:buChar char="Ø"/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41098592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o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94140DE3-AE3F-48D6-668B-DAF0D0698C0C}"/>
              </a:ext>
            </a:extLst>
          </p:cNvPr>
          <p:cNvSpPr txBox="1">
            <a:spLocks/>
          </p:cNvSpPr>
          <p:nvPr/>
        </p:nvSpPr>
        <p:spPr>
          <a:xfrm>
            <a:off x="0" y="6248400"/>
            <a:ext cx="12192000" cy="616689"/>
          </a:xfrm>
          <a:prstGeom prst="rect">
            <a:avLst/>
          </a:prstGeom>
          <a:solidFill>
            <a:schemeClr val="bg1">
              <a:lumMod val="85000"/>
              <a:alpha val="29804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latin typeface="Comfortaa" pitchFamily="2" charset="0"/>
                <a:ea typeface="Dotum" panose="020B0600000101010101" pitchFamily="34" charset="-127"/>
                <a:cs typeface="Menlo" panose="020B0609030804020204" pitchFamily="49" charset="0"/>
              </a:defRPr>
            </a:lvl1pPr>
          </a:lstStyle>
          <a:p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DB1775B-D24B-979A-7BDF-F003D3300A08}"/>
              </a:ext>
            </a:extLst>
          </p:cNvPr>
          <p:cNvCxnSpPr/>
          <p:nvPr/>
        </p:nvCxnSpPr>
        <p:spPr>
          <a:xfrm>
            <a:off x="0" y="6248400"/>
            <a:ext cx="12192000" cy="0"/>
          </a:xfrm>
          <a:prstGeom prst="line">
            <a:avLst/>
          </a:prstGeom>
          <a:ln w="63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4" descr="Institut Pasteur, Paris, France — Google Arts &amp; Culture">
            <a:extLst>
              <a:ext uri="{FF2B5EF4-FFF2-40B4-BE49-F238E27FC236}">
                <a16:creationId xmlns:a16="http://schemas.microsoft.com/office/drawing/2014/main" id="{5C82817C-9A17-70D9-A3ED-5FF6BA77B7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6377889"/>
            <a:ext cx="1188185" cy="3202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F8AEAB8-52D6-E237-CB19-AA22E49E3315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856549" y="6279787"/>
            <a:ext cx="1207672" cy="534046"/>
          </a:xfrm>
          <a:prstGeom prst="rect">
            <a:avLst/>
          </a:prstGeom>
        </p:spPr>
      </p:pic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1156D004-53FB-9622-2593-36C9B40B0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96400" y="6377889"/>
            <a:ext cx="2743200" cy="365125"/>
          </a:xfrm>
          <a:prstGeom prst="rect">
            <a:avLst/>
          </a:prstGeom>
        </p:spPr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5878757D-A12E-AC9E-7264-3EA4BD4B9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96343" y="6373284"/>
            <a:ext cx="5747657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Epigenomics Data Analysis — Physalia 2023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66404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840962-E512-134A-8B89-5D29AB8A57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760" y="873762"/>
            <a:ext cx="11927840" cy="8155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None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Font typeface="Courier New" panose="02070309020205020404" pitchFamily="49" charset="0"/>
              <a:buChar char="o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Font typeface="Wingdings" pitchFamily="2" charset="2"/>
              <a:buChar char="Ø"/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3396AA0-6A00-40CA-3991-A57289C80267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0" y="2208435"/>
            <a:ext cx="12192000" cy="3060905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>
            <a:normAutofit/>
          </a:bodyPr>
          <a:lstStyle>
            <a:lvl1pPr>
              <a:lnSpc>
                <a:spcPct val="150000"/>
              </a:lnSpc>
              <a:spcBef>
                <a:spcPts val="0"/>
              </a:spcBef>
              <a:spcAft>
                <a:spcPts val="1800"/>
              </a:spcAft>
              <a:buNone/>
              <a:defRPr sz="2000" b="0" i="0">
                <a:solidFill>
                  <a:schemeClr val="tx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defRPr>
            </a:lvl1pPr>
            <a:lvl2pPr>
              <a:lnSpc>
                <a:spcPct val="150000"/>
              </a:lnSpc>
              <a:spcBef>
                <a:spcPts val="0"/>
              </a:spcBef>
              <a:spcAft>
                <a:spcPts val="1800"/>
              </a:spcAft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50000"/>
              </a:lnSpc>
              <a:spcBef>
                <a:spcPts val="0"/>
              </a:spcBef>
              <a:spcAft>
                <a:spcPts val="180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50000"/>
              </a:lnSpc>
              <a:spcBef>
                <a:spcPts val="0"/>
              </a:spcBef>
              <a:spcAft>
                <a:spcPts val="180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50000"/>
              </a:lnSpc>
              <a:spcBef>
                <a:spcPts val="0"/>
              </a:spcBef>
              <a:spcAft>
                <a:spcPts val="180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C984DF8B-A115-675A-61F9-8356FDECA404}"/>
              </a:ext>
            </a:extLst>
          </p:cNvPr>
          <p:cNvSpPr txBox="1">
            <a:spLocks/>
          </p:cNvSpPr>
          <p:nvPr/>
        </p:nvSpPr>
        <p:spPr>
          <a:xfrm>
            <a:off x="0" y="6248400"/>
            <a:ext cx="12192000" cy="616689"/>
          </a:xfrm>
          <a:prstGeom prst="rect">
            <a:avLst/>
          </a:prstGeom>
          <a:solidFill>
            <a:schemeClr val="bg1">
              <a:lumMod val="85000"/>
              <a:alpha val="29804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latin typeface="Comfortaa" pitchFamily="2" charset="0"/>
                <a:ea typeface="Dotum" panose="020B0600000101010101" pitchFamily="34" charset="-127"/>
                <a:cs typeface="Menlo" panose="020B0609030804020204" pitchFamily="49" charset="0"/>
              </a:defRPr>
            </a:lvl1pPr>
          </a:lstStyle>
          <a:p>
            <a:endParaRPr lang="en-US" dirty="0"/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C464067F-913B-5D2F-4D60-C68E0D113AF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85444" y="5872025"/>
            <a:ext cx="4288156" cy="314642"/>
          </a:xfrm>
        </p:spPr>
        <p:txBody>
          <a:bodyPr>
            <a:normAutofit/>
          </a:bodyPr>
          <a:lstStyle>
            <a:lvl1pPr>
              <a:buNone/>
              <a:defRPr lang="en-US" sz="1000" i="1" kern="120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BD928EA-5AB5-0522-8B22-A7613F8BD453}"/>
              </a:ext>
            </a:extLst>
          </p:cNvPr>
          <p:cNvCxnSpPr/>
          <p:nvPr/>
        </p:nvCxnSpPr>
        <p:spPr>
          <a:xfrm>
            <a:off x="0" y="6248400"/>
            <a:ext cx="12192000" cy="0"/>
          </a:xfrm>
          <a:prstGeom prst="line">
            <a:avLst/>
          </a:prstGeom>
          <a:ln w="63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4" descr="Institut Pasteur, Paris, France — Google Arts &amp; Culture">
            <a:extLst>
              <a:ext uri="{FF2B5EF4-FFF2-40B4-BE49-F238E27FC236}">
                <a16:creationId xmlns:a16="http://schemas.microsoft.com/office/drawing/2014/main" id="{E540942B-247F-A801-9F56-58FABF5C3A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6377889"/>
            <a:ext cx="1188185" cy="3202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BBBE6AF-EEDA-0260-4F7F-1540DBFC67C9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856549" y="6279787"/>
            <a:ext cx="1207672" cy="534046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21C008F8-259C-B1B6-F2C6-5E542D36FB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02640"/>
          </a:xfrm>
          <a:prstGeom prst="rect">
            <a:avLst/>
          </a:prstGeom>
          <a:solidFill>
            <a:schemeClr val="bg1">
              <a:lumMod val="85000"/>
              <a:alpha val="29804"/>
            </a:schemeClr>
          </a:solidFill>
        </p:spPr>
        <p:txBody>
          <a:bodyPr anchor="ctr">
            <a:noAutofit/>
          </a:bodyPr>
          <a:lstStyle>
            <a:lvl1pPr algn="ctr">
              <a:defRPr sz="2400" b="1">
                <a:latin typeface="Comfortaa" pitchFamily="2" charset="0"/>
                <a:ea typeface="Dotum" panose="020B0600000101010101" pitchFamily="34" charset="-127"/>
                <a:cs typeface="Menlo" panose="020B0609030804020204" pitchFamily="49" charset="0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A93BB3C8-3227-B030-E53E-4C655475F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96400" y="6377889"/>
            <a:ext cx="2743200" cy="365125"/>
          </a:xfrm>
          <a:prstGeom prst="rect">
            <a:avLst/>
          </a:prstGeom>
        </p:spPr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830055-81E6-701B-7B90-7911D8FFB6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96343" y="6373284"/>
            <a:ext cx="5747657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Epigenomics Data Analysis — Physalia 2023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052613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rea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56CDD01-E503-F840-9A2A-3783A49052F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1000"/>
          </a:blip>
          <a:stretch>
            <a:fillRect/>
          </a:stretch>
        </p:blipFill>
        <p:spPr>
          <a:xfrm>
            <a:off x="-9942" y="-1"/>
            <a:ext cx="12192000" cy="181833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10251D2-43BA-C946-A8E2-C1666250C02C}"/>
              </a:ext>
            </a:extLst>
          </p:cNvPr>
          <p:cNvSpPr txBox="1"/>
          <p:nvPr/>
        </p:nvSpPr>
        <p:spPr>
          <a:xfrm>
            <a:off x="-9939" y="0"/>
            <a:ext cx="12201939" cy="181937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4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147D1BD-9050-E74A-ACDB-B2A1C15F83C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525" y="0"/>
            <a:ext cx="12182475" cy="1817688"/>
          </a:xfrm>
        </p:spPr>
        <p:txBody>
          <a:bodyPr anchor="ctr">
            <a:normAutofit/>
          </a:bodyPr>
          <a:lstStyle>
            <a:lvl1pPr algn="ctr">
              <a:buNone/>
              <a:defRPr lang="en-GB" sz="4000" b="1" kern="1200" dirty="0" smtClean="0">
                <a:solidFill>
                  <a:schemeClr val="tx1"/>
                </a:solidFill>
                <a:latin typeface="Comfortaa" pitchFamily="2" charset="0"/>
                <a:ea typeface="Dotum" panose="020B0600000101010101" pitchFamily="34" charset="-127"/>
                <a:cs typeface="Menlo" panose="020B0609030804020204" pitchFamily="49" charset="0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94140DE3-AE3F-48D6-668B-DAF0D0698C0C}"/>
              </a:ext>
            </a:extLst>
          </p:cNvPr>
          <p:cNvSpPr txBox="1">
            <a:spLocks/>
          </p:cNvSpPr>
          <p:nvPr/>
        </p:nvSpPr>
        <p:spPr>
          <a:xfrm>
            <a:off x="0" y="6248400"/>
            <a:ext cx="12192000" cy="616689"/>
          </a:xfrm>
          <a:prstGeom prst="rect">
            <a:avLst/>
          </a:prstGeom>
          <a:solidFill>
            <a:schemeClr val="bg1">
              <a:lumMod val="85000"/>
              <a:alpha val="29804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latin typeface="Comfortaa" pitchFamily="2" charset="0"/>
                <a:ea typeface="Dotum" panose="020B0600000101010101" pitchFamily="34" charset="-127"/>
                <a:cs typeface="Menlo" panose="020B0609030804020204" pitchFamily="49" charset="0"/>
              </a:defRPr>
            </a:lvl1pPr>
          </a:lstStyle>
          <a:p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DB1775B-D24B-979A-7BDF-F003D3300A08}"/>
              </a:ext>
            </a:extLst>
          </p:cNvPr>
          <p:cNvCxnSpPr/>
          <p:nvPr/>
        </p:nvCxnSpPr>
        <p:spPr>
          <a:xfrm>
            <a:off x="0" y="6248400"/>
            <a:ext cx="12192000" cy="0"/>
          </a:xfrm>
          <a:prstGeom prst="line">
            <a:avLst/>
          </a:prstGeom>
          <a:ln w="63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4" descr="Institut Pasteur, Paris, France — Google Arts &amp; Culture">
            <a:extLst>
              <a:ext uri="{FF2B5EF4-FFF2-40B4-BE49-F238E27FC236}">
                <a16:creationId xmlns:a16="http://schemas.microsoft.com/office/drawing/2014/main" id="{5C82817C-9A17-70D9-A3ED-5FF6BA77B7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6377889"/>
            <a:ext cx="1188185" cy="3202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F8AEAB8-52D6-E237-CB19-AA22E49E3315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856549" y="6279787"/>
            <a:ext cx="1207672" cy="534046"/>
          </a:xfrm>
          <a:prstGeom prst="rect">
            <a:avLst/>
          </a:prstGeom>
        </p:spPr>
      </p:pic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1156D004-53FB-9622-2593-36C9B40B0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96400" y="6377889"/>
            <a:ext cx="2743200" cy="365125"/>
          </a:xfrm>
          <a:prstGeom prst="rect">
            <a:avLst/>
          </a:prstGeom>
        </p:spPr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5878757D-A12E-AC9E-7264-3EA4BD4B9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96343" y="6373284"/>
            <a:ext cx="5747657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Epigenomics Data Analysis — Physalia 2023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36503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707283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alphaModFix amt="18000"/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63910EB-624E-F321-925E-A562C9A67D9E}"/>
              </a:ext>
            </a:extLst>
          </p:cNvPr>
          <p:cNvSpPr/>
          <p:nvPr/>
        </p:nvSpPr>
        <p:spPr>
          <a:xfrm>
            <a:off x="0" y="3967089"/>
            <a:ext cx="12192000" cy="289091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02AA4C-3692-DC40-ADE0-508B5814C6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ctr"/>
          <a:lstStyle>
            <a:lvl1pPr algn="ctr">
              <a:defRPr sz="6000" b="1">
                <a:latin typeface="Comfortaa" pitchFamily="2" charset="0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C45597-59BF-184F-B29C-07C34F9562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55439"/>
            <a:ext cx="9144000" cy="250772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F122F163-4E41-A425-055F-31E35A8149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04189" y="5394961"/>
            <a:ext cx="2587811" cy="14565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999916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F7F50D6C-3207-323C-0510-C9484EEA4EB6}"/>
              </a:ext>
            </a:extLst>
          </p:cNvPr>
          <p:cNvSpPr txBox="1">
            <a:spLocks/>
          </p:cNvSpPr>
          <p:nvPr/>
        </p:nvSpPr>
        <p:spPr>
          <a:xfrm>
            <a:off x="0" y="6241311"/>
            <a:ext cx="12192000" cy="616689"/>
          </a:xfrm>
          <a:prstGeom prst="rect">
            <a:avLst/>
          </a:prstGeom>
          <a:solidFill>
            <a:schemeClr val="bg1">
              <a:lumMod val="85000"/>
              <a:alpha val="29804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latin typeface="Comfortaa" pitchFamily="2" charset="0"/>
                <a:ea typeface="Dotum" panose="020B0600000101010101" pitchFamily="34" charset="-127"/>
                <a:cs typeface="Menlo" panose="020B0609030804020204" pitchFamily="49" charset="0"/>
              </a:defRPr>
            </a:lvl1pPr>
          </a:lstStyle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132174-956C-CE42-AF06-2CC1F76FD1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02640"/>
          </a:xfrm>
          <a:prstGeom prst="rect">
            <a:avLst/>
          </a:prstGeom>
          <a:solidFill>
            <a:schemeClr val="bg1">
              <a:lumMod val="85000"/>
              <a:alpha val="29804"/>
            </a:schemeClr>
          </a:solidFill>
        </p:spPr>
        <p:txBody>
          <a:bodyPr anchor="ctr">
            <a:noAutofit/>
          </a:bodyPr>
          <a:lstStyle>
            <a:lvl1pPr algn="ctr">
              <a:defRPr sz="2400" b="1">
                <a:latin typeface="Comfortaa" pitchFamily="2" charset="0"/>
                <a:ea typeface="Dotum" panose="020B0600000101010101" pitchFamily="34" charset="-127"/>
                <a:cs typeface="Menlo" panose="020B0609030804020204" pitchFamily="49" charset="0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A7B3241-74CA-D249-BD38-4C57AA297F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5444" y="5872025"/>
            <a:ext cx="4288156" cy="314642"/>
          </a:xfrm>
        </p:spPr>
        <p:txBody>
          <a:bodyPr>
            <a:normAutofit/>
          </a:bodyPr>
          <a:lstStyle>
            <a:lvl1pPr>
              <a:buNone/>
              <a:defRPr lang="en-US" sz="1000" i="1" kern="120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09CD1E7-C4F0-95C5-0A44-6191CC4FBA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96400" y="6377889"/>
            <a:ext cx="2743200" cy="365125"/>
          </a:xfrm>
          <a:prstGeom prst="rect">
            <a:avLst/>
          </a:prstGeom>
        </p:spPr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1FEE8F5-8318-DF2F-E442-91BB7855E5FB}"/>
              </a:ext>
            </a:extLst>
          </p:cNvPr>
          <p:cNvCxnSpPr/>
          <p:nvPr/>
        </p:nvCxnSpPr>
        <p:spPr>
          <a:xfrm>
            <a:off x="0" y="6248400"/>
            <a:ext cx="12192000" cy="0"/>
          </a:xfrm>
          <a:prstGeom prst="line">
            <a:avLst/>
          </a:prstGeom>
          <a:ln w="63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32967DF6-DDDE-B851-D43B-850B377AED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760" y="873761"/>
            <a:ext cx="11927840" cy="4883277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None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Font typeface="Courier New" panose="02070309020205020404" pitchFamily="49" charset="0"/>
              <a:buChar char="o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Font typeface="Wingdings" pitchFamily="2" charset="2"/>
              <a:buChar char="Ø"/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4FA3D7D2-81E0-C7BD-F826-D44EE9292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96343" y="6373284"/>
            <a:ext cx="5747657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Epigenomics Data Analysis — Physalia 2023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1CE93C2-6544-85EA-AA67-941E7AC3F3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82" y="6255490"/>
            <a:ext cx="1048153" cy="5899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8113600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o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132174-956C-CE42-AF06-2CC1F76FD1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02640"/>
          </a:xfrm>
          <a:prstGeom prst="rect">
            <a:avLst/>
          </a:prstGeom>
          <a:solidFill>
            <a:schemeClr val="bg1">
              <a:lumMod val="85000"/>
              <a:alpha val="29804"/>
            </a:schemeClr>
          </a:solidFill>
        </p:spPr>
        <p:txBody>
          <a:bodyPr anchor="ctr">
            <a:noAutofit/>
          </a:bodyPr>
          <a:lstStyle>
            <a:lvl1pPr algn="ctr">
              <a:defRPr sz="2400" b="1">
                <a:latin typeface="Comfortaa" pitchFamily="2" charset="0"/>
                <a:ea typeface="Dotum" panose="020B0600000101010101" pitchFamily="34" charset="-127"/>
                <a:cs typeface="Menlo" panose="020B0609030804020204" pitchFamily="49" charset="0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A7B3241-74CA-D249-BD38-4C57AA297F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5444" y="6410505"/>
            <a:ext cx="4288156" cy="314642"/>
          </a:xfrm>
        </p:spPr>
        <p:txBody>
          <a:bodyPr>
            <a:normAutofit/>
          </a:bodyPr>
          <a:lstStyle>
            <a:lvl1pPr>
              <a:buNone/>
              <a:defRPr lang="en-US" sz="1000" i="1" kern="120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32967DF6-DDDE-B851-D43B-850B377AED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760" y="873761"/>
            <a:ext cx="11927840" cy="541527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None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Font typeface="Courier New" panose="02070309020205020404" pitchFamily="49" charset="0"/>
              <a:buChar char="o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Font typeface="Wingdings" pitchFamily="2" charset="2"/>
              <a:buChar char="Ø"/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2641190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o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94140DE3-AE3F-48D6-668B-DAF0D0698C0C}"/>
              </a:ext>
            </a:extLst>
          </p:cNvPr>
          <p:cNvSpPr txBox="1">
            <a:spLocks/>
          </p:cNvSpPr>
          <p:nvPr/>
        </p:nvSpPr>
        <p:spPr>
          <a:xfrm>
            <a:off x="0" y="6248400"/>
            <a:ext cx="12192000" cy="616689"/>
          </a:xfrm>
          <a:prstGeom prst="rect">
            <a:avLst/>
          </a:prstGeom>
          <a:solidFill>
            <a:schemeClr val="bg1">
              <a:lumMod val="85000"/>
              <a:alpha val="29804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latin typeface="Comfortaa" pitchFamily="2" charset="0"/>
                <a:ea typeface="Dotum" panose="020B0600000101010101" pitchFamily="34" charset="-127"/>
                <a:cs typeface="Menlo" panose="020B0609030804020204" pitchFamily="49" charset="0"/>
              </a:defRPr>
            </a:lvl1pPr>
          </a:lstStyle>
          <a:p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DB1775B-D24B-979A-7BDF-F003D3300A08}"/>
              </a:ext>
            </a:extLst>
          </p:cNvPr>
          <p:cNvCxnSpPr/>
          <p:nvPr/>
        </p:nvCxnSpPr>
        <p:spPr>
          <a:xfrm>
            <a:off x="0" y="6248400"/>
            <a:ext cx="12192000" cy="0"/>
          </a:xfrm>
          <a:prstGeom prst="line">
            <a:avLst/>
          </a:prstGeom>
          <a:ln w="63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1156D004-53FB-9622-2593-36C9B40B0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96400" y="6377889"/>
            <a:ext cx="2743200" cy="365125"/>
          </a:xfrm>
          <a:prstGeom prst="rect">
            <a:avLst/>
          </a:prstGeom>
        </p:spPr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5878757D-A12E-AC9E-7264-3EA4BD4B9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96343" y="6373284"/>
            <a:ext cx="5747657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Epigenomics Data Analysis — Physalia 2023</a:t>
            </a:r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ACF294A-06F4-3E28-947D-A951D1C6DB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82" y="6255490"/>
            <a:ext cx="1048153" cy="5899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57129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840962-E512-134A-8B89-5D29AB8A57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760" y="873762"/>
            <a:ext cx="11927840" cy="8155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None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Font typeface="Courier New" panose="02070309020205020404" pitchFamily="49" charset="0"/>
              <a:buChar char="o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Font typeface="Wingdings" pitchFamily="2" charset="2"/>
              <a:buChar char="v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Font typeface="Wingdings" pitchFamily="2" charset="2"/>
              <a:buChar char="Ø"/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3396AA0-6A00-40CA-3991-A57289C80267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0" y="2208435"/>
            <a:ext cx="12192000" cy="3060905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>
            <a:normAutofit/>
          </a:bodyPr>
          <a:lstStyle>
            <a:lvl1pPr>
              <a:lnSpc>
                <a:spcPct val="150000"/>
              </a:lnSpc>
              <a:spcBef>
                <a:spcPts val="0"/>
              </a:spcBef>
              <a:spcAft>
                <a:spcPts val="1800"/>
              </a:spcAft>
              <a:buNone/>
              <a:defRPr sz="2000" b="0" i="0">
                <a:solidFill>
                  <a:schemeClr val="tx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defRPr>
            </a:lvl1pPr>
            <a:lvl2pPr>
              <a:lnSpc>
                <a:spcPct val="150000"/>
              </a:lnSpc>
              <a:spcBef>
                <a:spcPts val="0"/>
              </a:spcBef>
              <a:spcAft>
                <a:spcPts val="1800"/>
              </a:spcAft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50000"/>
              </a:lnSpc>
              <a:spcBef>
                <a:spcPts val="0"/>
              </a:spcBef>
              <a:spcAft>
                <a:spcPts val="180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50000"/>
              </a:lnSpc>
              <a:spcBef>
                <a:spcPts val="0"/>
              </a:spcBef>
              <a:spcAft>
                <a:spcPts val="180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50000"/>
              </a:lnSpc>
              <a:spcBef>
                <a:spcPts val="0"/>
              </a:spcBef>
              <a:spcAft>
                <a:spcPts val="180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C984DF8B-A115-675A-61F9-8356FDECA404}"/>
              </a:ext>
            </a:extLst>
          </p:cNvPr>
          <p:cNvSpPr txBox="1">
            <a:spLocks/>
          </p:cNvSpPr>
          <p:nvPr/>
        </p:nvSpPr>
        <p:spPr>
          <a:xfrm>
            <a:off x="0" y="6248400"/>
            <a:ext cx="12192000" cy="616689"/>
          </a:xfrm>
          <a:prstGeom prst="rect">
            <a:avLst/>
          </a:prstGeom>
          <a:solidFill>
            <a:schemeClr val="bg1">
              <a:lumMod val="85000"/>
              <a:alpha val="29804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latin typeface="Comfortaa" pitchFamily="2" charset="0"/>
                <a:ea typeface="Dotum" panose="020B0600000101010101" pitchFamily="34" charset="-127"/>
                <a:cs typeface="Menlo" panose="020B0609030804020204" pitchFamily="49" charset="0"/>
              </a:defRPr>
            </a:lvl1pPr>
          </a:lstStyle>
          <a:p>
            <a:endParaRPr lang="en-US" dirty="0"/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C464067F-913B-5D2F-4D60-C68E0D113AF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85444" y="5872025"/>
            <a:ext cx="4288156" cy="314642"/>
          </a:xfrm>
        </p:spPr>
        <p:txBody>
          <a:bodyPr>
            <a:normAutofit/>
          </a:bodyPr>
          <a:lstStyle>
            <a:lvl1pPr>
              <a:buNone/>
              <a:defRPr lang="en-US" sz="1000" i="1" kern="120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BD928EA-5AB5-0522-8B22-A7613F8BD453}"/>
              </a:ext>
            </a:extLst>
          </p:cNvPr>
          <p:cNvCxnSpPr/>
          <p:nvPr/>
        </p:nvCxnSpPr>
        <p:spPr>
          <a:xfrm>
            <a:off x="0" y="6248400"/>
            <a:ext cx="12192000" cy="0"/>
          </a:xfrm>
          <a:prstGeom prst="line">
            <a:avLst/>
          </a:prstGeom>
          <a:ln w="63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itle 1">
            <a:extLst>
              <a:ext uri="{FF2B5EF4-FFF2-40B4-BE49-F238E27FC236}">
                <a16:creationId xmlns:a16="http://schemas.microsoft.com/office/drawing/2014/main" id="{21C008F8-259C-B1B6-F2C6-5E542D36FB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02640"/>
          </a:xfrm>
          <a:prstGeom prst="rect">
            <a:avLst/>
          </a:prstGeom>
          <a:solidFill>
            <a:schemeClr val="bg1">
              <a:lumMod val="85000"/>
              <a:alpha val="29804"/>
            </a:schemeClr>
          </a:solidFill>
        </p:spPr>
        <p:txBody>
          <a:bodyPr anchor="ctr">
            <a:noAutofit/>
          </a:bodyPr>
          <a:lstStyle>
            <a:lvl1pPr algn="ctr">
              <a:defRPr sz="2400" b="1">
                <a:latin typeface="Comfortaa" pitchFamily="2" charset="0"/>
                <a:ea typeface="Dotum" panose="020B0600000101010101" pitchFamily="34" charset="-127"/>
                <a:cs typeface="Menlo" panose="020B0609030804020204" pitchFamily="49" charset="0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A93BB3C8-3227-B030-E53E-4C655475F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96400" y="6377889"/>
            <a:ext cx="2743200" cy="365125"/>
          </a:xfrm>
          <a:prstGeom prst="rect">
            <a:avLst/>
          </a:prstGeom>
        </p:spPr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830055-81E6-701B-7B90-7911D8FFB6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96343" y="6373284"/>
            <a:ext cx="5747657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Epigenomics Data Analysis — Physalia 2023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7122516-0AF4-B0FD-F224-516E3D63E4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82" y="6255490"/>
            <a:ext cx="1048153" cy="5899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167682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rea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56CDD01-E503-F840-9A2A-3783A49052F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1000"/>
          </a:blip>
          <a:stretch>
            <a:fillRect/>
          </a:stretch>
        </p:blipFill>
        <p:spPr>
          <a:xfrm>
            <a:off x="-9942" y="-1"/>
            <a:ext cx="12192000" cy="181833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10251D2-43BA-C946-A8E2-C1666250C02C}"/>
              </a:ext>
            </a:extLst>
          </p:cNvPr>
          <p:cNvSpPr txBox="1"/>
          <p:nvPr/>
        </p:nvSpPr>
        <p:spPr>
          <a:xfrm>
            <a:off x="-9939" y="0"/>
            <a:ext cx="12201939" cy="181937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4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147D1BD-9050-E74A-ACDB-B2A1C15F83C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525" y="0"/>
            <a:ext cx="12182475" cy="1817688"/>
          </a:xfrm>
        </p:spPr>
        <p:txBody>
          <a:bodyPr anchor="ctr">
            <a:normAutofit/>
          </a:bodyPr>
          <a:lstStyle>
            <a:lvl1pPr algn="ctr">
              <a:buNone/>
              <a:defRPr lang="en-GB" sz="4000" b="1" kern="1200" dirty="0" smtClean="0">
                <a:solidFill>
                  <a:schemeClr val="tx1"/>
                </a:solidFill>
                <a:latin typeface="Comfortaa" pitchFamily="2" charset="0"/>
                <a:ea typeface="Dotum" panose="020B0600000101010101" pitchFamily="34" charset="-127"/>
                <a:cs typeface="Menlo" panose="020B0609030804020204" pitchFamily="49" charset="0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94140DE3-AE3F-48D6-668B-DAF0D0698C0C}"/>
              </a:ext>
            </a:extLst>
          </p:cNvPr>
          <p:cNvSpPr txBox="1">
            <a:spLocks/>
          </p:cNvSpPr>
          <p:nvPr/>
        </p:nvSpPr>
        <p:spPr>
          <a:xfrm>
            <a:off x="0" y="6248400"/>
            <a:ext cx="12192000" cy="616689"/>
          </a:xfrm>
          <a:prstGeom prst="rect">
            <a:avLst/>
          </a:prstGeom>
          <a:solidFill>
            <a:schemeClr val="bg1">
              <a:lumMod val="85000"/>
              <a:alpha val="29804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latin typeface="Comfortaa" pitchFamily="2" charset="0"/>
                <a:ea typeface="Dotum" panose="020B0600000101010101" pitchFamily="34" charset="-127"/>
                <a:cs typeface="Menlo" panose="020B0609030804020204" pitchFamily="49" charset="0"/>
              </a:defRPr>
            </a:lvl1pPr>
          </a:lstStyle>
          <a:p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DB1775B-D24B-979A-7BDF-F003D3300A08}"/>
              </a:ext>
            </a:extLst>
          </p:cNvPr>
          <p:cNvCxnSpPr/>
          <p:nvPr/>
        </p:nvCxnSpPr>
        <p:spPr>
          <a:xfrm>
            <a:off x="0" y="6248400"/>
            <a:ext cx="12192000" cy="0"/>
          </a:xfrm>
          <a:prstGeom prst="line">
            <a:avLst/>
          </a:prstGeom>
          <a:ln w="63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1156D004-53FB-9622-2593-36C9B40B0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96400" y="6377889"/>
            <a:ext cx="2743200" cy="365125"/>
          </a:xfrm>
          <a:prstGeom prst="rect">
            <a:avLst/>
          </a:prstGeom>
        </p:spPr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5878757D-A12E-AC9E-7264-3EA4BD4B9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96343" y="6373284"/>
            <a:ext cx="5747657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Epigenomics Data Analysis — Physalia 2023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CA154C1-BADA-FCD4-0D33-C98DC8B159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82" y="6255490"/>
            <a:ext cx="1048153" cy="5899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979454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4799443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0D9C0A-1549-7443-85EE-55FCCABF3C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41912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A1A869-7351-D242-86E9-79866614E9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CE2C13-B8D7-F44C-9139-6617535B90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2020/01/13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696C65-553F-C344-AE7F-E5E25FFE64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ChIP-seq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767CE44-45AC-9541-9EC5-59AD836780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19295" y="5951350"/>
            <a:ext cx="1172705" cy="9066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60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B9F28562-9D3B-E049-90B5-3EB3B52779B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47929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0.xml"/><Relationship Id="rId7" Type="http://schemas.openxmlformats.org/officeDocument/2006/relationships/slideLayout" Target="../slideLayouts/slideLayout14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slideLayout" Target="../slideLayouts/slideLayout13.xml"/><Relationship Id="rId5" Type="http://schemas.openxmlformats.org/officeDocument/2006/relationships/slideLayout" Target="../slideLayouts/slideLayout12.xml"/><Relationship Id="rId4" Type="http://schemas.openxmlformats.org/officeDocument/2006/relationships/slideLayout" Target="../slideLayouts/slideLayout11.xml"/><Relationship Id="rId9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899439E-A8C1-0147-878A-E596CBCA79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E68514-C71E-D749-B402-5599774739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529C53-DC6E-5B43-AE85-3EF6A4F76C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E34DA9-DD42-8445-BB79-DF30D799A8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Epigenomics Data Analysis — Physalia 2023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4CFCD4-3911-E943-8744-54979FE9BE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14542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3" r:id="rId2"/>
    <p:sldLayoutId id="2147483675" r:id="rId3"/>
    <p:sldLayoutId id="2147483674" r:id="rId4"/>
    <p:sldLayoutId id="2147483672" r:id="rId5"/>
    <p:sldLayoutId id="2147483664" r:id="rId6"/>
    <p:sldLayoutId id="2147483673" r:id="rId7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899439E-A8C1-0147-878A-E596CBCA79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E68514-C71E-D749-B402-5599774739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529C53-DC6E-5B43-AE85-3EF6A4F76C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E34DA9-DD42-8445-BB79-DF30D799A8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Epigenomics Data Analysis — Physalia 2023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4CFCD4-3911-E943-8744-54979FE9BE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97712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0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4D19899D-021E-02BA-CBD8-FEA50B2533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800" y="1122363"/>
            <a:ext cx="11582400" cy="2387600"/>
          </a:xfrm>
        </p:spPr>
        <p:txBody>
          <a:bodyPr>
            <a:normAutofit/>
          </a:bodyPr>
          <a:lstStyle/>
          <a:p>
            <a:r>
              <a:rPr lang="en-GB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Quantification of gene expression</a:t>
            </a:r>
            <a:endParaRPr lang="en-US" sz="3000" dirty="0"/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D07EAE9F-3B09-09D5-50EC-A51FBB06AC2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Epigenomics Data Analysis</a:t>
            </a:r>
          </a:p>
          <a:p>
            <a:r>
              <a:rPr lang="en-US" dirty="0"/>
              <a:t>Jacques </a:t>
            </a:r>
            <a:r>
              <a:rPr lang="en-US" dirty="0" err="1"/>
              <a:t>Serizay</a:t>
            </a:r>
            <a:endParaRPr lang="en-US" dirty="0"/>
          </a:p>
          <a:p>
            <a:r>
              <a:rPr lang="en-US" dirty="0" err="1"/>
              <a:t>Physalia</a:t>
            </a:r>
            <a:r>
              <a:rPr lang="en-US" dirty="0"/>
              <a:t> 2025</a:t>
            </a:r>
          </a:p>
        </p:txBody>
      </p:sp>
    </p:spTree>
    <p:extLst>
      <p:ext uri="{BB962C8B-B14F-4D97-AF65-F5344CB8AC3E}">
        <p14:creationId xmlns:p14="http://schemas.microsoft.com/office/powerpoint/2010/main" val="25345522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9B05F7-278B-CB43-9092-5566D667E4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RNA-seq downstream analysis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4BE6E7-351F-5BC0-3F21-8888A1E0510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AFD23E-0EB5-9C47-B22B-CA4393D4DA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28562-9D3B-E049-90B5-3EB3B52779B1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247E85-F0ED-8944-97A4-9BFB9B12E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ChIP-seq</a:t>
            </a:r>
          </a:p>
        </p:txBody>
      </p:sp>
      <p:sp>
        <p:nvSpPr>
          <p:cNvPr id="11" name="Google Shape;114;p3">
            <a:extLst>
              <a:ext uri="{FF2B5EF4-FFF2-40B4-BE49-F238E27FC236}">
                <a16:creationId xmlns:a16="http://schemas.microsoft.com/office/drawing/2014/main" id="{7E40E3FB-295A-EED7-870D-383C0FEA4EDB}"/>
              </a:ext>
            </a:extLst>
          </p:cNvPr>
          <p:cNvSpPr txBox="1"/>
          <p:nvPr/>
        </p:nvSpPr>
        <p:spPr>
          <a:xfrm>
            <a:off x="1196533" y="1699861"/>
            <a:ext cx="3909721" cy="388087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spcFirstLastPara="1" wrap="square" lIns="91425" tIns="64275" rIns="91425" bIns="45700" anchor="t" anchorCtr="0">
            <a:spAutoFit/>
          </a:bodyPr>
          <a:lstStyle>
            <a:defPPr>
              <a:defRPr lang="en-US"/>
            </a:defPPr>
            <a:lvl1pPr marR="0" lvl="0" indent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bg1"/>
                </a:solidFill>
                <a:latin typeface="Avenir"/>
                <a:ea typeface="Avenir"/>
                <a:cs typeface="Avenir"/>
              </a:defRPr>
            </a:lvl1pPr>
          </a:lstStyle>
          <a:p>
            <a:r>
              <a:rPr lang="en-US">
                <a:sym typeface="Avenir"/>
              </a:rPr>
              <a:t>Create fastq</a:t>
            </a:r>
            <a:r>
              <a:rPr lang="en-US" dirty="0">
                <a:sym typeface="Avenir"/>
              </a:rPr>
              <a:t> files</a:t>
            </a:r>
            <a:endParaRPr dirty="0"/>
          </a:p>
        </p:txBody>
      </p:sp>
      <p:pic>
        <p:nvPicPr>
          <p:cNvPr id="12" name="Google Shape;126;p3">
            <a:extLst>
              <a:ext uri="{FF2B5EF4-FFF2-40B4-BE49-F238E27FC236}">
                <a16:creationId xmlns:a16="http://schemas.microsoft.com/office/drawing/2014/main" id="{B1736BC8-1C14-C14A-DBD3-E2AEC981D867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t="47395"/>
          <a:stretch/>
        </p:blipFill>
        <p:spPr>
          <a:xfrm>
            <a:off x="430726" y="4958385"/>
            <a:ext cx="739821" cy="3891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27;p3">
            <a:extLst>
              <a:ext uri="{FF2B5EF4-FFF2-40B4-BE49-F238E27FC236}">
                <a16:creationId xmlns:a16="http://schemas.microsoft.com/office/drawing/2014/main" id="{F3A44324-0D51-1A2A-EA55-D316944FBE26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t="47395"/>
          <a:stretch/>
        </p:blipFill>
        <p:spPr>
          <a:xfrm>
            <a:off x="430726" y="3641934"/>
            <a:ext cx="739821" cy="3891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28;p3">
            <a:extLst>
              <a:ext uri="{FF2B5EF4-FFF2-40B4-BE49-F238E27FC236}">
                <a16:creationId xmlns:a16="http://schemas.microsoft.com/office/drawing/2014/main" id="{9033D206-AE65-AD3B-96EE-E6629532B91B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t="47395"/>
          <a:stretch/>
        </p:blipFill>
        <p:spPr>
          <a:xfrm>
            <a:off x="430726" y="4300161"/>
            <a:ext cx="739821" cy="3891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29;p3">
            <a:extLst>
              <a:ext uri="{FF2B5EF4-FFF2-40B4-BE49-F238E27FC236}">
                <a16:creationId xmlns:a16="http://schemas.microsoft.com/office/drawing/2014/main" id="{4677E878-99BF-1E7E-6E64-9948A382D0B5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t="47395"/>
          <a:stretch/>
        </p:blipFill>
        <p:spPr>
          <a:xfrm>
            <a:off x="430726" y="2983707"/>
            <a:ext cx="739821" cy="3891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30;p3">
            <a:extLst>
              <a:ext uri="{FF2B5EF4-FFF2-40B4-BE49-F238E27FC236}">
                <a16:creationId xmlns:a16="http://schemas.microsoft.com/office/drawing/2014/main" id="{7C0D2ED8-BA0F-8DCA-D5C7-6121764DB186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t="47395"/>
          <a:stretch/>
        </p:blipFill>
        <p:spPr>
          <a:xfrm>
            <a:off x="430726" y="2325480"/>
            <a:ext cx="739821" cy="3891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32;p3">
            <a:extLst>
              <a:ext uri="{FF2B5EF4-FFF2-40B4-BE49-F238E27FC236}">
                <a16:creationId xmlns:a16="http://schemas.microsoft.com/office/drawing/2014/main" id="{6F657E3A-24F0-A722-DA5C-8CD2EC06FB30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t="47395"/>
          <a:stretch/>
        </p:blipFill>
        <p:spPr>
          <a:xfrm>
            <a:off x="430726" y="1687746"/>
            <a:ext cx="739821" cy="3891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33;p3">
            <a:extLst>
              <a:ext uri="{FF2B5EF4-FFF2-40B4-BE49-F238E27FC236}">
                <a16:creationId xmlns:a16="http://schemas.microsoft.com/office/drawing/2014/main" id="{0BD1A4EC-D23E-74CC-B16D-A92EDF3A8C32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t="47395"/>
          <a:stretch/>
        </p:blipFill>
        <p:spPr>
          <a:xfrm>
            <a:off x="430726" y="1029519"/>
            <a:ext cx="739821" cy="38918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14;p3">
            <a:extLst>
              <a:ext uri="{FF2B5EF4-FFF2-40B4-BE49-F238E27FC236}">
                <a16:creationId xmlns:a16="http://schemas.microsoft.com/office/drawing/2014/main" id="{C3560A06-65A0-5C86-48B3-83400234A87A}"/>
              </a:ext>
            </a:extLst>
          </p:cNvPr>
          <p:cNvSpPr txBox="1"/>
          <p:nvPr/>
        </p:nvSpPr>
        <p:spPr>
          <a:xfrm>
            <a:off x="1196533" y="1073137"/>
            <a:ext cx="3909721" cy="388087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spcFirstLastPara="1" wrap="square" lIns="91425" tIns="64275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bg1"/>
                </a:solidFill>
                <a:latin typeface="Avenir"/>
                <a:ea typeface="Avenir"/>
                <a:cs typeface="Avenir"/>
                <a:sym typeface="Avenir"/>
              </a:rPr>
              <a:t>Get .</a:t>
            </a:r>
            <a:r>
              <a:rPr lang="en-US" sz="1800" dirty="0" err="1">
                <a:solidFill>
                  <a:schemeClr val="bg1"/>
                </a:solidFill>
                <a:latin typeface="Avenir"/>
                <a:ea typeface="Avenir"/>
                <a:cs typeface="Avenir"/>
                <a:sym typeface="Avenir"/>
              </a:rPr>
              <a:t>bcl</a:t>
            </a:r>
            <a:r>
              <a:rPr lang="en-US" sz="1800" dirty="0">
                <a:solidFill>
                  <a:schemeClr val="bg1"/>
                </a:solidFill>
                <a:latin typeface="Avenir"/>
                <a:ea typeface="Avenir"/>
                <a:cs typeface="Avenir"/>
                <a:sym typeface="Avenir"/>
              </a:rPr>
              <a:t> files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20" name="Google Shape;115;p3">
            <a:extLst>
              <a:ext uri="{FF2B5EF4-FFF2-40B4-BE49-F238E27FC236}">
                <a16:creationId xmlns:a16="http://schemas.microsoft.com/office/drawing/2014/main" id="{C00DFBBB-70D2-8614-45F4-4495569DA401}"/>
              </a:ext>
            </a:extLst>
          </p:cNvPr>
          <p:cNvSpPr txBox="1"/>
          <p:nvPr/>
        </p:nvSpPr>
        <p:spPr>
          <a:xfrm>
            <a:off x="1196534" y="2344881"/>
            <a:ext cx="3909722" cy="38804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spcFirstLastPara="1" wrap="square" lIns="91425" tIns="64275" rIns="91425" bIns="45700" anchor="t" anchorCtr="0">
            <a:spAutoFit/>
          </a:bodyPr>
          <a:lstStyle>
            <a:defPPr>
              <a:defRPr lang="en-US"/>
            </a:defPPr>
            <a:lvl1pPr marR="0" lvl="0" indent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bg1"/>
                </a:solidFill>
                <a:latin typeface="Avenir"/>
                <a:ea typeface="Avenir"/>
                <a:cs typeface="Avenir"/>
              </a:defRPr>
            </a:lvl1pPr>
          </a:lstStyle>
          <a:p>
            <a:r>
              <a:rPr lang="en-US" dirty="0">
                <a:sym typeface="Avenir"/>
              </a:rPr>
              <a:t>QC: remove/trim low quality reads</a:t>
            </a:r>
            <a:endParaRPr dirty="0"/>
          </a:p>
        </p:txBody>
      </p:sp>
      <p:sp>
        <p:nvSpPr>
          <p:cNvPr id="21" name="Google Shape;116;p3">
            <a:extLst>
              <a:ext uri="{FF2B5EF4-FFF2-40B4-BE49-F238E27FC236}">
                <a16:creationId xmlns:a16="http://schemas.microsoft.com/office/drawing/2014/main" id="{A773A373-D549-F740-B7D7-465FA71F9071}"/>
              </a:ext>
            </a:extLst>
          </p:cNvPr>
          <p:cNvSpPr txBox="1"/>
          <p:nvPr/>
        </p:nvSpPr>
        <p:spPr>
          <a:xfrm>
            <a:off x="1196533" y="3006751"/>
            <a:ext cx="3909721" cy="388087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spcFirstLastPara="1" wrap="square" lIns="91425" tIns="64275" rIns="91425" bIns="45700" anchor="t" anchorCtr="0">
            <a:spAutoFit/>
          </a:bodyPr>
          <a:lstStyle>
            <a:defPPr>
              <a:defRPr lang="en-US"/>
            </a:defPPr>
            <a:lvl1pPr marR="0" lvl="0" indent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bg1"/>
                </a:solidFill>
                <a:latin typeface="Avenir"/>
                <a:ea typeface="Avenir"/>
                <a:cs typeface="Avenir"/>
              </a:defRPr>
            </a:lvl1pPr>
          </a:lstStyle>
          <a:p>
            <a:r>
              <a:rPr lang="en-US">
                <a:sym typeface="Avenir"/>
              </a:rPr>
              <a:t>Align fastq to BAM</a:t>
            </a:r>
            <a:endParaRPr/>
          </a:p>
        </p:txBody>
      </p:sp>
      <p:sp>
        <p:nvSpPr>
          <p:cNvPr id="22" name="Google Shape;117;p3">
            <a:extLst>
              <a:ext uri="{FF2B5EF4-FFF2-40B4-BE49-F238E27FC236}">
                <a16:creationId xmlns:a16="http://schemas.microsoft.com/office/drawing/2014/main" id="{F91D9383-926B-74B6-BE56-2E5080CAEC3E}"/>
              </a:ext>
            </a:extLst>
          </p:cNvPr>
          <p:cNvSpPr txBox="1"/>
          <p:nvPr/>
        </p:nvSpPr>
        <p:spPr>
          <a:xfrm>
            <a:off x="1196533" y="3668621"/>
            <a:ext cx="3909721" cy="388087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spcFirstLastPara="1" wrap="square" lIns="91425" tIns="64275" rIns="91425" bIns="45700" anchor="t" anchorCtr="0">
            <a:spAutoFit/>
          </a:bodyPr>
          <a:lstStyle>
            <a:defPPr>
              <a:defRPr lang="en-US"/>
            </a:defPPr>
            <a:lvl1pPr marR="0" lvl="0" indent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bg1"/>
                </a:solidFill>
                <a:latin typeface="Avenir"/>
                <a:ea typeface="Avenir"/>
                <a:cs typeface="Avenir"/>
              </a:defRPr>
            </a:lvl1pPr>
          </a:lstStyle>
          <a:p>
            <a:r>
              <a:rPr lang="en-US" dirty="0">
                <a:sym typeface="Avenir"/>
              </a:rPr>
              <a:t>Filter duplicates, artifacts, …</a:t>
            </a:r>
            <a:endParaRPr dirty="0"/>
          </a:p>
        </p:txBody>
      </p:sp>
      <p:sp>
        <p:nvSpPr>
          <p:cNvPr id="23" name="Google Shape;119;p3">
            <a:extLst>
              <a:ext uri="{FF2B5EF4-FFF2-40B4-BE49-F238E27FC236}">
                <a16:creationId xmlns:a16="http://schemas.microsoft.com/office/drawing/2014/main" id="{B98315C2-A01B-DD06-6658-DCE1592E1903}"/>
              </a:ext>
            </a:extLst>
          </p:cNvPr>
          <p:cNvSpPr txBox="1"/>
          <p:nvPr/>
        </p:nvSpPr>
        <p:spPr>
          <a:xfrm>
            <a:off x="1196533" y="4330491"/>
            <a:ext cx="3909721" cy="388087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spcFirstLastPara="1" wrap="square" lIns="91425" tIns="64275" rIns="91425" bIns="45700" anchor="t" anchorCtr="0">
            <a:spAutoFit/>
          </a:bodyPr>
          <a:lstStyle>
            <a:defPPr>
              <a:defRPr lang="en-US"/>
            </a:defPPr>
            <a:lvl1pPr marR="0" lvl="0" indent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bg1"/>
                </a:solidFill>
                <a:latin typeface="Avenir"/>
                <a:ea typeface="Avenir"/>
                <a:cs typeface="Avenir"/>
              </a:defRPr>
            </a:lvl1pPr>
          </a:lstStyle>
          <a:p>
            <a:r>
              <a:rPr lang="en-US" dirty="0">
                <a:sym typeface="Avenir"/>
              </a:rPr>
              <a:t>Generate tracks</a:t>
            </a:r>
            <a:endParaRPr dirty="0"/>
          </a:p>
        </p:txBody>
      </p:sp>
      <p:sp>
        <p:nvSpPr>
          <p:cNvPr id="24" name="Google Shape;120;p3">
            <a:extLst>
              <a:ext uri="{FF2B5EF4-FFF2-40B4-BE49-F238E27FC236}">
                <a16:creationId xmlns:a16="http://schemas.microsoft.com/office/drawing/2014/main" id="{9761893E-C6B4-DDE4-8EFA-4356BC35CB3F}"/>
              </a:ext>
            </a:extLst>
          </p:cNvPr>
          <p:cNvSpPr txBox="1"/>
          <p:nvPr/>
        </p:nvSpPr>
        <p:spPr>
          <a:xfrm>
            <a:off x="1196533" y="4992362"/>
            <a:ext cx="3909721" cy="388087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91425" tIns="64275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Assay-specific downstream analysis</a:t>
            </a:r>
            <a:endParaRPr dirty="0"/>
          </a:p>
        </p:txBody>
      </p:sp>
      <p:pic>
        <p:nvPicPr>
          <p:cNvPr id="25" name="Picture 4" descr="Sequencing Platforms | Illumina NGS platforms">
            <a:extLst>
              <a:ext uri="{FF2B5EF4-FFF2-40B4-BE49-F238E27FC236}">
                <a16:creationId xmlns:a16="http://schemas.microsoft.com/office/drawing/2014/main" id="{AE1F11F6-8ED5-FF7D-28F6-D01152C703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9502" y="1039587"/>
            <a:ext cx="865476" cy="4188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Picture 4" descr="Sequencing Platforms | Illumina NGS platforms">
            <a:extLst>
              <a:ext uri="{FF2B5EF4-FFF2-40B4-BE49-F238E27FC236}">
                <a16:creationId xmlns:a16="http://schemas.microsoft.com/office/drawing/2014/main" id="{4E03D524-1B0A-A825-091E-EEBABBC49E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9502" y="1669173"/>
            <a:ext cx="865476" cy="4188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BFA2E228-1680-4A6C-2CCB-4966F5355EB3}"/>
              </a:ext>
            </a:extLst>
          </p:cNvPr>
          <p:cNvSpPr txBox="1"/>
          <p:nvPr/>
        </p:nvSpPr>
        <p:spPr>
          <a:xfrm>
            <a:off x="5564978" y="1681632"/>
            <a:ext cx="18357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Or</a:t>
            </a:r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en-US" b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bcl2fastq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21ADDBE-DF7F-6AAB-13C3-85C4DB5AB6D4}"/>
              </a:ext>
            </a:extLst>
          </p:cNvPr>
          <p:cNvSpPr txBox="1"/>
          <p:nvPr/>
        </p:nvSpPr>
        <p:spPr>
          <a:xfrm>
            <a:off x="5115911" y="2383760"/>
            <a:ext cx="17748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E.g. </a:t>
            </a:r>
            <a:r>
              <a:rPr lang="en-US" b="1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cutadapt</a:t>
            </a:r>
            <a:endParaRPr lang="en-US" b="1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9A00282-0C17-46C3-EA42-E3FEB686DADD}"/>
              </a:ext>
            </a:extLst>
          </p:cNvPr>
          <p:cNvSpPr txBox="1"/>
          <p:nvPr/>
        </p:nvSpPr>
        <p:spPr>
          <a:xfrm>
            <a:off x="5115911" y="3036903"/>
            <a:ext cx="24721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E.g. </a:t>
            </a:r>
            <a:r>
              <a:rPr lang="en-US" b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bowtie2, STAR</a:t>
            </a:r>
          </a:p>
        </p:txBody>
      </p:sp>
      <p:pic>
        <p:nvPicPr>
          <p:cNvPr id="30" name="Picture 2" descr="Green Tick Vector Art, Icons, and Graphics for Free Download">
            <a:extLst>
              <a:ext uri="{FF2B5EF4-FFF2-40B4-BE49-F238E27FC236}">
                <a16:creationId xmlns:a16="http://schemas.microsoft.com/office/drawing/2014/main" id="{494A94B7-6B10-A60F-281F-92B0BBB63D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439" y="945355"/>
            <a:ext cx="611790" cy="6117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Picture 2" descr="Green Tick Vector Art, Icons, and Graphics for Free Download">
            <a:extLst>
              <a:ext uri="{FF2B5EF4-FFF2-40B4-BE49-F238E27FC236}">
                <a16:creationId xmlns:a16="http://schemas.microsoft.com/office/drawing/2014/main" id="{540671BB-7B9D-310B-DB39-BE90410511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439" y="1595804"/>
            <a:ext cx="611790" cy="6117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Picture 2" descr="Green Tick Vector Art, Icons, and Graphics for Free Download">
            <a:extLst>
              <a:ext uri="{FF2B5EF4-FFF2-40B4-BE49-F238E27FC236}">
                <a16:creationId xmlns:a16="http://schemas.microsoft.com/office/drawing/2014/main" id="{E5A263DA-9F09-FE74-EB89-45D37C0361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439" y="2236826"/>
            <a:ext cx="611790" cy="6117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" name="Picture 2" descr="Green Tick Vector Art, Icons, and Graphics for Free Download">
            <a:extLst>
              <a:ext uri="{FF2B5EF4-FFF2-40B4-BE49-F238E27FC236}">
                <a16:creationId xmlns:a16="http://schemas.microsoft.com/office/drawing/2014/main" id="{A5A3FE37-C853-FEC3-7213-EC221B4381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439" y="2896702"/>
            <a:ext cx="611790" cy="6117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4" name="Picture 2" descr="Green Tick Vector Art, Icons, and Graphics for Free Download">
            <a:extLst>
              <a:ext uri="{FF2B5EF4-FFF2-40B4-BE49-F238E27FC236}">
                <a16:creationId xmlns:a16="http://schemas.microsoft.com/office/drawing/2014/main" id="{151AE37F-D8B2-C45F-6D60-38B3709F06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439" y="3547152"/>
            <a:ext cx="611790" cy="6117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E8DDF849-9128-6E26-5A3B-4A49543EB987}"/>
              </a:ext>
            </a:extLst>
          </p:cNvPr>
          <p:cNvSpPr txBox="1"/>
          <p:nvPr/>
        </p:nvSpPr>
        <p:spPr>
          <a:xfrm>
            <a:off x="5115911" y="3659072"/>
            <a:ext cx="17748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E.g. </a:t>
            </a:r>
            <a:r>
              <a:rPr lang="en-US" b="1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samtools</a:t>
            </a:r>
            <a:endParaRPr lang="en-US" b="1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pic>
        <p:nvPicPr>
          <p:cNvPr id="36" name="Picture 2" descr="Green Tick Vector Art, Icons, and Graphics for Free Download">
            <a:extLst>
              <a:ext uri="{FF2B5EF4-FFF2-40B4-BE49-F238E27FC236}">
                <a16:creationId xmlns:a16="http://schemas.microsoft.com/office/drawing/2014/main" id="{289280D9-26B6-5951-271C-CFA58C308F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439" y="4220921"/>
            <a:ext cx="611790" cy="6117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B48BD0D6-CCCF-B943-7A0E-9AF5C234A6DA}"/>
              </a:ext>
            </a:extLst>
          </p:cNvPr>
          <p:cNvSpPr txBox="1"/>
          <p:nvPr/>
        </p:nvSpPr>
        <p:spPr>
          <a:xfrm>
            <a:off x="5115911" y="4332841"/>
            <a:ext cx="19143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E.g. </a:t>
            </a:r>
            <a:r>
              <a:rPr lang="en-US" b="1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deepTools</a:t>
            </a:r>
            <a:endParaRPr lang="en-US" b="1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BDC9CB-31AB-1C52-6101-217DF452A481}"/>
              </a:ext>
            </a:extLst>
          </p:cNvPr>
          <p:cNvSpPr txBox="1"/>
          <p:nvPr/>
        </p:nvSpPr>
        <p:spPr>
          <a:xfrm>
            <a:off x="5205382" y="4883014"/>
            <a:ext cx="500649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Transcript abundance quantification </a:t>
            </a:r>
          </a:p>
          <a:p>
            <a:r>
              <a:rPr lang="en-US" b="1" dirty="0">
                <a:solidFill>
                  <a:srgbClr val="FF0000"/>
                </a:solidFill>
              </a:rPr>
              <a:t>Differential gene expression analysis</a:t>
            </a:r>
          </a:p>
          <a:p>
            <a:r>
              <a:rPr lang="en-US" b="1" dirty="0">
                <a:solidFill>
                  <a:srgbClr val="FF0000"/>
                </a:solidFill>
              </a:rPr>
              <a:t>Gene ontology over-representation analysis</a:t>
            </a:r>
          </a:p>
        </p:txBody>
      </p:sp>
    </p:spTree>
    <p:extLst>
      <p:ext uri="{BB962C8B-B14F-4D97-AF65-F5344CB8AC3E}">
        <p14:creationId xmlns:p14="http://schemas.microsoft.com/office/powerpoint/2010/main" val="15126738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BCBB83-5433-344C-BDB0-622BF73A0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DESeq2 analysis workflow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FB4F99-0D7E-826C-A25C-C2110DB129D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hbctraining.github.io</a:t>
            </a:r>
            <a:r>
              <a:rPr lang="en-US" dirty="0"/>
              <a:t>/</a:t>
            </a:r>
            <a:r>
              <a:rPr lang="en-US" dirty="0" err="1"/>
              <a:t>DGE_workshop</a:t>
            </a:r>
            <a:r>
              <a:rPr lang="en-US" dirty="0"/>
              <a:t>/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9AB3B4-0398-1A49-A6B6-7B9C52FF46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Analyzing NGS data with R/Bioconductor 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FAB5860-0A9E-CF2F-76EC-85DEE32EB92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325"/>
          <a:stretch/>
        </p:blipFill>
        <p:spPr bwMode="auto">
          <a:xfrm>
            <a:off x="3847883" y="1017486"/>
            <a:ext cx="4496234" cy="48545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268164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BCBB83-5433-344C-BDB0-622BF73A0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Estimating gene/transcript abundance in RNA-seq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35997C-9AA5-642B-D3AA-F1F0C77403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760" y="873761"/>
            <a:ext cx="5230802" cy="4883277"/>
          </a:xfrm>
        </p:spPr>
        <p:txBody>
          <a:bodyPr>
            <a:normAutofit/>
          </a:bodyPr>
          <a:lstStyle/>
          <a:p>
            <a:r>
              <a:rPr lang="en-US" sz="1600" dirty="0"/>
              <a:t>Important points when comparing gene abundance for different datasets/genes are: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Sequencing depth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9AB3B4-0398-1A49-A6B6-7B9C52FF46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Analyzing NGS data with R/Bioconductor </a:t>
            </a:r>
          </a:p>
        </p:txBody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id="{EE42BE9D-3B51-B5E1-2068-D2ACC89C3FE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8757"/>
          <a:stretch/>
        </p:blipFill>
        <p:spPr bwMode="auto">
          <a:xfrm>
            <a:off x="6462447" y="943642"/>
            <a:ext cx="5026842" cy="10803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2E5EADB0-A774-BA92-E247-C53FDE97BA7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5444" y="5872025"/>
            <a:ext cx="4288156" cy="314642"/>
          </a:xfrm>
        </p:spPr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hbctraining.github.io</a:t>
            </a:r>
            <a:r>
              <a:rPr lang="en-US" dirty="0"/>
              <a:t>/</a:t>
            </a:r>
            <a:r>
              <a:rPr lang="en-US" dirty="0" err="1"/>
              <a:t>DGE_workshop</a:t>
            </a:r>
            <a:r>
              <a:rPr lang="en-US" dirty="0"/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2938376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BCBB83-5433-344C-BDB0-622BF73A0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Estimating gene/transcript abundance in RNA-seq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35997C-9AA5-642B-D3AA-F1F0C77403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760" y="873761"/>
            <a:ext cx="5230802" cy="4883277"/>
          </a:xfrm>
        </p:spPr>
        <p:txBody>
          <a:bodyPr>
            <a:normAutofit/>
          </a:bodyPr>
          <a:lstStyle/>
          <a:p>
            <a:r>
              <a:rPr lang="en-US" sz="1600" dirty="0"/>
              <a:t>Important points when comparing gene abundance for different datasets/genes are: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Sequencing depth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Gene length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9AB3B4-0398-1A49-A6B6-7B9C52FF46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Analyzing NGS data with R/Bioconductor </a:t>
            </a:r>
          </a:p>
        </p:txBody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id="{EE42BE9D-3B51-B5E1-2068-D2ACC89C3FE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6434"/>
          <a:stretch/>
        </p:blipFill>
        <p:spPr bwMode="auto">
          <a:xfrm>
            <a:off x="6462447" y="943641"/>
            <a:ext cx="5026842" cy="27242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413175D1-F5B2-E974-405B-56710FA0A7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5444" y="5872025"/>
            <a:ext cx="4288156" cy="314642"/>
          </a:xfrm>
        </p:spPr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hbctraining.github.io</a:t>
            </a:r>
            <a:r>
              <a:rPr lang="en-US" dirty="0"/>
              <a:t>/</a:t>
            </a:r>
            <a:r>
              <a:rPr lang="en-US" dirty="0" err="1"/>
              <a:t>DGE_workshop</a:t>
            </a:r>
            <a:r>
              <a:rPr lang="en-US" dirty="0"/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23536848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BCBB83-5433-344C-BDB0-622BF73A0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Estimating gene/transcript abundance in RNA-seq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35997C-9AA5-642B-D3AA-F1F0C77403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760" y="873761"/>
            <a:ext cx="5230802" cy="4883277"/>
          </a:xfrm>
        </p:spPr>
        <p:txBody>
          <a:bodyPr>
            <a:normAutofit/>
          </a:bodyPr>
          <a:lstStyle/>
          <a:p>
            <a:r>
              <a:rPr lang="en-US" sz="1600" dirty="0"/>
              <a:t>Important points when comparing gene abundance for different datasets/genes are: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Sequencing depth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Gene length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RNA composition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9AB3B4-0398-1A49-A6B6-7B9C52FF46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Analyzing NGS data with R/Bioconductor </a:t>
            </a:r>
          </a:p>
        </p:txBody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id="{EE42BE9D-3B51-B5E1-2068-D2ACC89C3F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2447" y="943641"/>
            <a:ext cx="5026842" cy="50857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701F43-C881-C314-E452-6F2C29E6D55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5444" y="5872025"/>
            <a:ext cx="4288156" cy="314642"/>
          </a:xfrm>
        </p:spPr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hbctraining.github.io</a:t>
            </a:r>
            <a:r>
              <a:rPr lang="en-US" dirty="0"/>
              <a:t>/</a:t>
            </a:r>
            <a:r>
              <a:rPr lang="en-US" dirty="0" err="1"/>
              <a:t>DGE_workshop</a:t>
            </a:r>
            <a:r>
              <a:rPr lang="en-US" dirty="0"/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15529416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35997C-9AA5-642B-D3AA-F1F0C77403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featureCounts</a:t>
            </a:r>
            <a:r>
              <a:rPr lang="en-US" sz="1600" dirty="0"/>
              <a:t> can be used to count reads overlapping a set of gene annotations.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67B20F-DB6D-94EB-FD4E-4C173521BD94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0" y="2208435"/>
            <a:ext cx="12192000" cy="3978232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# in bash </a:t>
            </a: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GB" b="0" dirty="0" err="1">
                <a:effectLst/>
                <a:latin typeface="Menlo" panose="020B0609030804020204" pitchFamily="49" charset="0"/>
              </a:rPr>
              <a:t>featureCounts</a:t>
            </a:r>
            <a:r>
              <a:rPr lang="en-GB" b="0" dirty="0">
                <a:effectLst/>
                <a:latin typeface="Menlo" panose="020B0609030804020204" pitchFamily="49" charset="0"/>
              </a:rPr>
              <a:t> \</a:t>
            </a:r>
          </a:p>
          <a:p>
            <a:pPr marL="941388" indent="-219075">
              <a:lnSpc>
                <a:spcPct val="120000"/>
              </a:lnSpc>
              <a:spcAft>
                <a:spcPts val="0"/>
              </a:spcAft>
            </a:pPr>
            <a:r>
              <a:rPr lang="en-GB" b="0" dirty="0">
                <a:solidFill>
                  <a:schemeClr val="accent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-g </a:t>
            </a:r>
            <a:r>
              <a:rPr lang="en-GB" b="0" dirty="0" err="1">
                <a:solidFill>
                  <a:schemeClr val="accent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gene_name</a:t>
            </a:r>
            <a:r>
              <a:rPr lang="en-GB" b="0" dirty="0">
                <a:solidFill>
                  <a:schemeClr val="accent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\</a:t>
            </a:r>
          </a:p>
          <a:p>
            <a:pPr marL="941388" indent="-219075">
              <a:lnSpc>
                <a:spcPct val="120000"/>
              </a:lnSpc>
              <a:spcAft>
                <a:spcPts val="0"/>
              </a:spcAft>
            </a:pPr>
            <a:r>
              <a:rPr lang="en-GB" b="0" dirty="0">
                <a:solidFill>
                  <a:schemeClr val="accent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-s 2 \</a:t>
            </a:r>
          </a:p>
          <a:p>
            <a:pPr marL="941388" indent="-219075">
              <a:lnSpc>
                <a:spcPct val="120000"/>
              </a:lnSpc>
              <a:spcAft>
                <a:spcPts val="0"/>
              </a:spcAft>
            </a:pPr>
            <a:r>
              <a:rPr lang="en-GB" b="0" dirty="0">
                <a:solidFill>
                  <a:schemeClr val="accent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-p -B \</a:t>
            </a:r>
          </a:p>
          <a:p>
            <a:pPr marL="941388" indent="-219075">
              <a:lnSpc>
                <a:spcPct val="120000"/>
              </a:lnSpc>
              <a:spcAft>
                <a:spcPts val="0"/>
              </a:spcAft>
            </a:pPr>
            <a:r>
              <a:rPr lang="en-GB" b="0" dirty="0">
                <a:solidFill>
                  <a:schemeClr val="accent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-T 16 \</a:t>
            </a:r>
          </a:p>
          <a:p>
            <a:pPr marL="941388" indent="-219075">
              <a:lnSpc>
                <a:spcPct val="120000"/>
              </a:lnSpc>
              <a:spcAft>
                <a:spcPts val="0"/>
              </a:spcAft>
            </a:pPr>
            <a:r>
              <a:rPr lang="en-GB" b="0" dirty="0">
                <a:solidFill>
                  <a:schemeClr val="accent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-o data/counts/</a:t>
            </a:r>
            <a:r>
              <a:rPr lang="en-GB" b="0" dirty="0" err="1">
                <a:solidFill>
                  <a:schemeClr val="accent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RNAseq_counts.tsv</a:t>
            </a:r>
            <a:r>
              <a:rPr lang="en-GB" b="0" dirty="0">
                <a:solidFill>
                  <a:schemeClr val="accent2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 \</a:t>
            </a:r>
          </a:p>
          <a:p>
            <a:pPr marL="941388" indent="-219075">
              <a:lnSpc>
                <a:spcPct val="120000"/>
              </a:lnSpc>
              <a:spcAft>
                <a:spcPts val="0"/>
              </a:spcAft>
            </a:pPr>
            <a:r>
              <a:rPr lang="en-GB" b="0" dirty="0">
                <a:solidFill>
                  <a:schemeClr val="accent4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-a data/counts/hg38_Gencodev41.gtf \</a:t>
            </a:r>
          </a:p>
          <a:p>
            <a:pPr marL="941388" indent="-219075">
              <a:lnSpc>
                <a:spcPct val="120000"/>
              </a:lnSpc>
              <a:spcAft>
                <a:spcPts val="0"/>
              </a:spcAft>
            </a:pPr>
            <a:r>
              <a:rPr lang="en-GB" b="0" dirty="0">
                <a:solidFill>
                  <a:schemeClr val="accent6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data/mapping/RNA_ctl_1^hg38^filtered.bam \</a:t>
            </a:r>
          </a:p>
          <a:p>
            <a:pPr marL="941388" indent="-219075">
              <a:lnSpc>
                <a:spcPct val="120000"/>
              </a:lnSpc>
              <a:spcAft>
                <a:spcPts val="0"/>
              </a:spcAft>
            </a:pPr>
            <a:r>
              <a:rPr lang="en-GB" b="0" dirty="0">
                <a:solidFill>
                  <a:schemeClr val="accent6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data/mapping/RNA_ctl_2^hg38^filtered.bam \</a:t>
            </a:r>
          </a:p>
          <a:p>
            <a:pPr marL="941388" indent="-219075">
              <a:lnSpc>
                <a:spcPct val="120000"/>
              </a:lnSpc>
              <a:spcAft>
                <a:spcPts val="0"/>
              </a:spcAft>
            </a:pPr>
            <a:r>
              <a:rPr lang="en-GB" b="0" dirty="0">
                <a:solidFill>
                  <a:schemeClr val="accent6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data/mapping/RNA_ctl_3^hg38^filtered.bam \</a:t>
            </a:r>
          </a:p>
          <a:p>
            <a:pPr marL="941388" indent="-219075">
              <a:lnSpc>
                <a:spcPct val="120000"/>
              </a:lnSpc>
              <a:spcAft>
                <a:spcPts val="0"/>
              </a:spcAft>
            </a:pPr>
            <a:r>
              <a:rPr lang="en-GB" b="0" dirty="0">
                <a:solidFill>
                  <a:schemeClr val="accent6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data/mapping/RNA_foxj1_1^hg38^filtered.bam \</a:t>
            </a:r>
          </a:p>
          <a:p>
            <a:pPr marL="941388" indent="-219075">
              <a:lnSpc>
                <a:spcPct val="120000"/>
              </a:lnSpc>
              <a:spcAft>
                <a:spcPts val="0"/>
              </a:spcAft>
            </a:pPr>
            <a:r>
              <a:rPr lang="en-GB" b="0" dirty="0">
                <a:solidFill>
                  <a:schemeClr val="accent6">
                    <a:lumMod val="75000"/>
                  </a:schemeClr>
                </a:solidFill>
                <a:effectLst/>
                <a:latin typeface="Menlo" panose="020B0609030804020204" pitchFamily="49" charset="0"/>
              </a:rPr>
              <a:t>data/mapping/RNA_foxj1_2^hg38^filtered.bam</a:t>
            </a:r>
          </a:p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BCBB83-5433-344C-BDB0-622BF73A0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Estimating gene/transcript abundance in RNA-seq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9AB3B4-0398-1A49-A6B6-7B9C52FF46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Analyzing NGS data with R/Bioconductor </a:t>
            </a:r>
          </a:p>
        </p:txBody>
      </p:sp>
    </p:spTree>
    <p:extLst>
      <p:ext uri="{BB962C8B-B14F-4D97-AF65-F5344CB8AC3E}">
        <p14:creationId xmlns:p14="http://schemas.microsoft.com/office/powerpoint/2010/main" val="18340106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35997C-9AA5-642B-D3AA-F1F0C77403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760" y="873762"/>
            <a:ext cx="11927840" cy="1232440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featureCounts</a:t>
            </a:r>
            <a:r>
              <a:rPr lang="en-US" sz="1600" dirty="0"/>
              <a:t> can be used to count reads overlapping a set of gene annotations.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Rsubread</a:t>
            </a:r>
            <a:r>
              <a:rPr lang="en-US" sz="1600" dirty="0"/>
              <a:t> is an R package which wraps </a:t>
            </a:r>
            <a:r>
              <a:rPr lang="en-US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featureCounts</a:t>
            </a:r>
            <a:r>
              <a:rPr lang="en-US" sz="1600" dirty="0"/>
              <a:t> function in R.  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08C0787-C20F-79AC-D38F-4F0A569E4D5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BCBB83-5433-344C-BDB0-622BF73A0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Estimating gene/transcript abundance in RNA-seq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9AB3B4-0398-1A49-A6B6-7B9C52FF46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Analyzing NGS data with R/Bioconductor 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44B39CC-B371-A110-7AE2-00913304A8BE}"/>
              </a:ext>
            </a:extLst>
          </p:cNvPr>
          <p:cNvSpPr txBox="1">
            <a:spLocks/>
          </p:cNvSpPr>
          <p:nvPr/>
        </p:nvSpPr>
        <p:spPr>
          <a:xfrm>
            <a:off x="0" y="2208435"/>
            <a:ext cx="12192000" cy="397823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1800"/>
              </a:spcAft>
              <a:buFont typeface="Arial" panose="020B0604020202020204" pitchFamily="34" charset="0"/>
              <a:buNone/>
              <a:defRPr sz="2000" b="0" i="0" kern="1200">
                <a:solidFill>
                  <a:schemeClr val="tx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18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180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18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18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# in bash </a:t>
            </a: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GB" dirty="0" err="1"/>
              <a:t>featureCounts</a:t>
            </a:r>
            <a:r>
              <a:rPr lang="en-GB" dirty="0"/>
              <a:t> \</a:t>
            </a:r>
          </a:p>
          <a:p>
            <a:pPr marL="941388" indent="-219075">
              <a:lnSpc>
                <a:spcPct val="120000"/>
              </a:lnSpc>
              <a:spcAft>
                <a:spcPts val="0"/>
              </a:spcAft>
            </a:pPr>
            <a:r>
              <a:rPr lang="en-GB" dirty="0">
                <a:solidFill>
                  <a:schemeClr val="accent2">
                    <a:lumMod val="75000"/>
                  </a:schemeClr>
                </a:solidFill>
              </a:rPr>
              <a:t>-g </a:t>
            </a:r>
            <a:r>
              <a:rPr lang="en-GB" dirty="0" err="1">
                <a:solidFill>
                  <a:schemeClr val="accent2">
                    <a:lumMod val="75000"/>
                  </a:schemeClr>
                </a:solidFill>
              </a:rPr>
              <a:t>gene_name</a:t>
            </a:r>
            <a:r>
              <a:rPr lang="en-GB" dirty="0">
                <a:solidFill>
                  <a:schemeClr val="accent2">
                    <a:lumMod val="75000"/>
                  </a:schemeClr>
                </a:solidFill>
              </a:rPr>
              <a:t> \</a:t>
            </a:r>
          </a:p>
          <a:p>
            <a:pPr marL="941388" indent="-219075">
              <a:lnSpc>
                <a:spcPct val="120000"/>
              </a:lnSpc>
              <a:spcAft>
                <a:spcPts val="0"/>
              </a:spcAft>
            </a:pPr>
            <a:r>
              <a:rPr lang="en-GB" dirty="0">
                <a:solidFill>
                  <a:schemeClr val="accent2">
                    <a:lumMod val="75000"/>
                  </a:schemeClr>
                </a:solidFill>
              </a:rPr>
              <a:t>-s 2 \</a:t>
            </a:r>
          </a:p>
          <a:p>
            <a:pPr marL="941388" indent="-219075">
              <a:lnSpc>
                <a:spcPct val="120000"/>
              </a:lnSpc>
              <a:spcAft>
                <a:spcPts val="0"/>
              </a:spcAft>
            </a:pPr>
            <a:r>
              <a:rPr lang="en-GB" dirty="0">
                <a:solidFill>
                  <a:schemeClr val="accent2">
                    <a:lumMod val="75000"/>
                  </a:schemeClr>
                </a:solidFill>
              </a:rPr>
              <a:t>-p -B \</a:t>
            </a:r>
          </a:p>
          <a:p>
            <a:pPr marL="941388" indent="-219075">
              <a:lnSpc>
                <a:spcPct val="120000"/>
              </a:lnSpc>
              <a:spcAft>
                <a:spcPts val="0"/>
              </a:spcAft>
            </a:pPr>
            <a:r>
              <a:rPr lang="en-GB" dirty="0">
                <a:solidFill>
                  <a:schemeClr val="accent2">
                    <a:lumMod val="75000"/>
                  </a:schemeClr>
                </a:solidFill>
              </a:rPr>
              <a:t>-T 16 \</a:t>
            </a:r>
          </a:p>
          <a:p>
            <a:pPr marL="941388" indent="-219075">
              <a:lnSpc>
                <a:spcPct val="120000"/>
              </a:lnSpc>
              <a:spcAft>
                <a:spcPts val="0"/>
              </a:spcAft>
            </a:pPr>
            <a:r>
              <a:rPr lang="en-GB" dirty="0">
                <a:solidFill>
                  <a:schemeClr val="accent2">
                    <a:lumMod val="75000"/>
                  </a:schemeClr>
                </a:solidFill>
              </a:rPr>
              <a:t>-o data/counts/</a:t>
            </a:r>
            <a:r>
              <a:rPr lang="en-GB" dirty="0" err="1">
                <a:solidFill>
                  <a:schemeClr val="accent2">
                    <a:lumMod val="75000"/>
                  </a:schemeClr>
                </a:solidFill>
              </a:rPr>
              <a:t>RNAseq_counts.tsv</a:t>
            </a:r>
            <a:r>
              <a:rPr lang="en-GB" dirty="0">
                <a:solidFill>
                  <a:schemeClr val="accent2">
                    <a:lumMod val="75000"/>
                  </a:schemeClr>
                </a:solidFill>
              </a:rPr>
              <a:t> \</a:t>
            </a:r>
          </a:p>
          <a:p>
            <a:pPr marL="941388" indent="-219075">
              <a:lnSpc>
                <a:spcPct val="120000"/>
              </a:lnSpc>
              <a:spcAft>
                <a:spcPts val="0"/>
              </a:spcAft>
            </a:pPr>
            <a:r>
              <a:rPr lang="en-GB" dirty="0">
                <a:solidFill>
                  <a:schemeClr val="accent4">
                    <a:lumMod val="75000"/>
                  </a:schemeClr>
                </a:solidFill>
              </a:rPr>
              <a:t>-a data/counts/hg38_Gencodev41.gtf \</a:t>
            </a:r>
          </a:p>
          <a:p>
            <a:pPr marL="941388" indent="-219075">
              <a:lnSpc>
                <a:spcPct val="120000"/>
              </a:lnSpc>
              <a:spcAft>
                <a:spcPts val="0"/>
              </a:spcAft>
            </a:pPr>
            <a:r>
              <a:rPr lang="en-GB" dirty="0">
                <a:solidFill>
                  <a:schemeClr val="accent6">
                    <a:lumMod val="75000"/>
                  </a:schemeClr>
                </a:solidFill>
              </a:rPr>
              <a:t>data/mapping/RNA_ctl_1^hg38^filtered.bam \</a:t>
            </a:r>
          </a:p>
          <a:p>
            <a:pPr marL="941388" indent="-219075">
              <a:lnSpc>
                <a:spcPct val="120000"/>
              </a:lnSpc>
              <a:spcAft>
                <a:spcPts val="0"/>
              </a:spcAft>
            </a:pPr>
            <a:r>
              <a:rPr lang="en-GB" dirty="0">
                <a:solidFill>
                  <a:schemeClr val="accent6">
                    <a:lumMod val="75000"/>
                  </a:schemeClr>
                </a:solidFill>
              </a:rPr>
              <a:t>data/mapping/RNA_ctl_2^hg38^filtered.bam \</a:t>
            </a:r>
          </a:p>
          <a:p>
            <a:pPr marL="941388" indent="-219075">
              <a:lnSpc>
                <a:spcPct val="120000"/>
              </a:lnSpc>
              <a:spcAft>
                <a:spcPts val="0"/>
              </a:spcAft>
            </a:pPr>
            <a:r>
              <a:rPr lang="en-GB" dirty="0">
                <a:solidFill>
                  <a:schemeClr val="accent6">
                    <a:lumMod val="75000"/>
                  </a:schemeClr>
                </a:solidFill>
              </a:rPr>
              <a:t>data/mapping/RNA_ctl_3^hg38^filtered.bam \</a:t>
            </a:r>
          </a:p>
          <a:p>
            <a:pPr marL="941388" indent="-219075">
              <a:lnSpc>
                <a:spcPct val="120000"/>
              </a:lnSpc>
              <a:spcAft>
                <a:spcPts val="0"/>
              </a:spcAft>
            </a:pPr>
            <a:r>
              <a:rPr lang="en-GB" dirty="0">
                <a:solidFill>
                  <a:schemeClr val="accent6">
                    <a:lumMod val="75000"/>
                  </a:schemeClr>
                </a:solidFill>
              </a:rPr>
              <a:t>data/mapping/RNA_foxj1_1^hg38^filtered.bam \</a:t>
            </a:r>
          </a:p>
          <a:p>
            <a:pPr marL="941388" indent="-219075">
              <a:lnSpc>
                <a:spcPct val="120000"/>
              </a:lnSpc>
              <a:spcAft>
                <a:spcPts val="0"/>
              </a:spcAft>
            </a:pPr>
            <a:r>
              <a:rPr lang="en-GB" dirty="0">
                <a:solidFill>
                  <a:schemeClr val="accent6">
                    <a:lumMod val="75000"/>
                  </a:schemeClr>
                </a:solidFill>
              </a:rPr>
              <a:t>data/mapping/RNA_foxj1_2^hg38^filtered.bam</a:t>
            </a:r>
          </a:p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67B20F-DB6D-94EB-FD4E-4C173521BD94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691745" y="2208435"/>
            <a:ext cx="5500255" cy="3775803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GB" sz="1700" b="0" dirty="0">
                <a:effectLst/>
                <a:latin typeface="Menlo" panose="020B0609030804020204" pitchFamily="49" charset="0"/>
              </a:rPr>
              <a:t># in R </a:t>
            </a:r>
          </a:p>
          <a:p>
            <a:pPr>
              <a:lnSpc>
                <a:spcPct val="120000"/>
              </a:lnSpc>
              <a:spcAft>
                <a:spcPts val="0"/>
              </a:spcAft>
            </a:pPr>
            <a:endParaRPr lang="en-GB" sz="1700" dirty="0"/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GB" sz="1700" b="0" dirty="0" err="1">
                <a:effectLst/>
                <a:latin typeface="Menlo" panose="020B0609030804020204" pitchFamily="49" charset="0"/>
              </a:rPr>
              <a:t>cnts</a:t>
            </a:r>
            <a:r>
              <a:rPr lang="en-GB" sz="1700" b="0" dirty="0">
                <a:effectLst/>
                <a:latin typeface="Menlo" panose="020B0609030804020204" pitchFamily="49" charset="0"/>
              </a:rPr>
              <a:t> &lt;- </a:t>
            </a:r>
            <a:r>
              <a:rPr lang="en-GB" sz="1700" b="0" dirty="0" err="1">
                <a:effectLst/>
                <a:latin typeface="Menlo" panose="020B0609030804020204" pitchFamily="49" charset="0"/>
              </a:rPr>
              <a:t>Rsubread</a:t>
            </a:r>
            <a:r>
              <a:rPr lang="en-GB" sz="1700" b="0" dirty="0">
                <a:effectLst/>
                <a:latin typeface="Menlo" panose="020B0609030804020204" pitchFamily="49" charset="0"/>
              </a:rPr>
              <a:t>::</a:t>
            </a:r>
            <a:r>
              <a:rPr lang="en-GB" sz="1700" b="0" dirty="0" err="1">
                <a:effectLst/>
                <a:latin typeface="Menlo" panose="020B0609030804020204" pitchFamily="49" charset="0"/>
              </a:rPr>
              <a:t>featureCounts</a:t>
            </a:r>
            <a:r>
              <a:rPr lang="en-GB" sz="1700" b="0" dirty="0">
                <a:effectLst/>
                <a:latin typeface="Menlo" panose="020B0609030804020204" pitchFamily="49" charset="0"/>
              </a:rPr>
              <a:t>(</a:t>
            </a: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GB" sz="1700" b="1" dirty="0">
                <a:effectLst/>
                <a:latin typeface="Menlo" panose="020B0609030804020204" pitchFamily="49" charset="0"/>
              </a:rPr>
              <a:t>	  files</a:t>
            </a:r>
            <a:r>
              <a:rPr lang="en-GB" sz="1700" b="0" dirty="0">
                <a:effectLst/>
                <a:latin typeface="Menlo" panose="020B0609030804020204" pitchFamily="49" charset="0"/>
              </a:rPr>
              <a:t> = c('….bam’, '….bam'), </a:t>
            </a: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GB" sz="1700" b="1" dirty="0">
                <a:effectLst/>
                <a:latin typeface="Menlo" panose="020B0609030804020204" pitchFamily="49" charset="0"/>
              </a:rPr>
              <a:t>	  </a:t>
            </a:r>
            <a:r>
              <a:rPr lang="en-GB" sz="1700" b="1" dirty="0" err="1">
                <a:effectLst/>
                <a:latin typeface="Menlo" panose="020B0609030804020204" pitchFamily="49" charset="0"/>
              </a:rPr>
              <a:t>annot.ext</a:t>
            </a:r>
            <a:r>
              <a:rPr lang="en-GB" sz="1700" b="0" dirty="0">
                <a:effectLst/>
                <a:latin typeface="Menlo" panose="020B0609030804020204" pitchFamily="49" charset="0"/>
              </a:rPr>
              <a:t> = '</a:t>
            </a:r>
            <a:r>
              <a:rPr lang="en-GB" sz="1700" b="0" dirty="0" err="1">
                <a:effectLst/>
                <a:latin typeface="Menlo" panose="020B0609030804020204" pitchFamily="49" charset="0"/>
              </a:rPr>
              <a:t>annots.gtf</a:t>
            </a:r>
            <a:r>
              <a:rPr lang="en-GB" sz="1700" b="0" dirty="0">
                <a:effectLst/>
                <a:latin typeface="Menlo" panose="020B0609030804020204" pitchFamily="49" charset="0"/>
              </a:rPr>
              <a:t>', </a:t>
            </a: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GB" sz="1700" b="1" dirty="0">
                <a:effectLst/>
                <a:latin typeface="Menlo" panose="020B0609030804020204" pitchFamily="49" charset="0"/>
              </a:rPr>
              <a:t>	  </a:t>
            </a:r>
            <a:r>
              <a:rPr lang="en-GB" sz="1700" b="1" dirty="0" err="1">
                <a:effectLst/>
                <a:latin typeface="Menlo" panose="020B0609030804020204" pitchFamily="49" charset="0"/>
              </a:rPr>
              <a:t>isGTFAnnotationFile</a:t>
            </a:r>
            <a:r>
              <a:rPr lang="en-GB" sz="1700" b="0" dirty="0">
                <a:effectLst/>
                <a:latin typeface="Menlo" panose="020B0609030804020204" pitchFamily="49" charset="0"/>
              </a:rPr>
              <a:t> = TRUE, </a:t>
            </a: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GB" sz="1700" b="1" dirty="0">
                <a:effectLst/>
                <a:latin typeface="Menlo" panose="020B0609030804020204" pitchFamily="49" charset="0"/>
              </a:rPr>
              <a:t>	  </a:t>
            </a:r>
            <a:r>
              <a:rPr lang="en-GB" sz="1700" b="1" dirty="0" err="1">
                <a:effectLst/>
                <a:latin typeface="Menlo" panose="020B0609030804020204" pitchFamily="49" charset="0"/>
              </a:rPr>
              <a:t>GTF.featureType</a:t>
            </a:r>
            <a:r>
              <a:rPr lang="en-GB" sz="1700" b="0" dirty="0">
                <a:effectLst/>
                <a:latin typeface="Menlo" panose="020B0609030804020204" pitchFamily="49" charset="0"/>
              </a:rPr>
              <a:t> = '</a:t>
            </a:r>
            <a:r>
              <a:rPr lang="en-GB" sz="1700" b="0" dirty="0" err="1">
                <a:effectLst/>
                <a:latin typeface="Menlo" panose="020B0609030804020204" pitchFamily="49" charset="0"/>
              </a:rPr>
              <a:t>sequence_feature</a:t>
            </a:r>
            <a:r>
              <a:rPr lang="en-GB" sz="1700" b="0" dirty="0">
                <a:effectLst/>
                <a:latin typeface="Menlo" panose="020B0609030804020204" pitchFamily="49" charset="0"/>
              </a:rPr>
              <a:t>’, </a:t>
            </a: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GB" sz="1700" b="1" dirty="0">
                <a:effectLst/>
                <a:latin typeface="Menlo" panose="020B0609030804020204" pitchFamily="49" charset="0"/>
              </a:rPr>
              <a:t>	  </a:t>
            </a:r>
            <a:r>
              <a:rPr lang="en-GB" sz="1700" b="1" dirty="0" err="1">
                <a:effectLst/>
                <a:latin typeface="Menlo" panose="020B0609030804020204" pitchFamily="49" charset="0"/>
              </a:rPr>
              <a:t>GTF.attrType</a:t>
            </a:r>
            <a:r>
              <a:rPr lang="en-GB" sz="1700" b="0" dirty="0">
                <a:effectLst/>
                <a:latin typeface="Menlo" panose="020B0609030804020204" pitchFamily="49" charset="0"/>
              </a:rPr>
              <a:t> = 'id’, </a:t>
            </a: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GB" sz="1700" b="1" dirty="0">
                <a:effectLst/>
                <a:latin typeface="Menlo" panose="020B0609030804020204" pitchFamily="49" charset="0"/>
              </a:rPr>
              <a:t>	  </a:t>
            </a:r>
            <a:r>
              <a:rPr lang="en-GB" sz="1700" b="1" dirty="0" err="1">
                <a:effectLst/>
                <a:latin typeface="Menlo" panose="020B0609030804020204" pitchFamily="49" charset="0"/>
              </a:rPr>
              <a:t>isPairedEnd</a:t>
            </a:r>
            <a:r>
              <a:rPr lang="en-GB" sz="1700" b="0" dirty="0">
                <a:effectLst/>
                <a:latin typeface="Menlo" panose="020B0609030804020204" pitchFamily="49" charset="0"/>
              </a:rPr>
              <a:t> = TRUE, </a:t>
            </a: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GB" sz="1700" b="1" dirty="0">
                <a:effectLst/>
                <a:latin typeface="Menlo" panose="020B0609030804020204" pitchFamily="49" charset="0"/>
              </a:rPr>
              <a:t>	  </a:t>
            </a:r>
            <a:r>
              <a:rPr lang="en-GB" sz="1700" b="1" dirty="0" err="1">
                <a:effectLst/>
                <a:latin typeface="Menlo" panose="020B0609030804020204" pitchFamily="49" charset="0"/>
              </a:rPr>
              <a:t>nthreads</a:t>
            </a:r>
            <a:r>
              <a:rPr lang="en-GB" sz="1700" b="0" dirty="0">
                <a:effectLst/>
                <a:latin typeface="Menlo" panose="020B0609030804020204" pitchFamily="49" charset="0"/>
              </a:rPr>
              <a:t> = 16</a:t>
            </a: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GB" sz="1700" b="0" dirty="0">
                <a:effectLst/>
                <a:latin typeface="Menlo" panose="020B0609030804020204" pitchFamily="49" charset="0"/>
              </a:rPr>
              <a:t>)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D4B1D3C-6A23-0674-E098-85F7CF600305}"/>
              </a:ext>
            </a:extLst>
          </p:cNvPr>
          <p:cNvCxnSpPr/>
          <p:nvPr/>
        </p:nvCxnSpPr>
        <p:spPr>
          <a:xfrm>
            <a:off x="6691745" y="2208435"/>
            <a:ext cx="0" cy="3978232"/>
          </a:xfrm>
          <a:prstGeom prst="line">
            <a:avLst/>
          </a:prstGeom>
          <a:ln w="254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30079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BCBB83-5433-344C-BDB0-622BF73A0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DESeq2 analysis workflow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FB4F99-0D7E-826C-A25C-C2110DB129D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990570F-B803-4F4C-ACD1-264499AAA3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DESeq2 is based on a </a:t>
            </a:r>
            <a:r>
              <a:rPr lang="en-US" dirty="0" err="1"/>
              <a:t>SummarizedExperiment</a:t>
            </a:r>
            <a:r>
              <a:rPr lang="en-US" dirty="0"/>
              <a:t> object. </a:t>
            </a:r>
            <a:endParaRPr lang="en-US" sz="240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9AB3B4-0398-1A49-A6B6-7B9C52FF46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Analyzing NGS data with R/Bioconductor </a:t>
            </a:r>
          </a:p>
        </p:txBody>
      </p:sp>
      <p:pic>
        <p:nvPicPr>
          <p:cNvPr id="4" name="Picture 2" descr="Alt SummarizedExperiment">
            <a:extLst>
              <a:ext uri="{FF2B5EF4-FFF2-40B4-BE49-F238E27FC236}">
                <a16:creationId xmlns:a16="http://schemas.microsoft.com/office/drawing/2014/main" id="{E6DF6D9E-617C-9B89-E4D3-472F79BF3A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3366" y="1447556"/>
            <a:ext cx="5464628" cy="46580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118305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BCBB83-5433-344C-BDB0-622BF73A0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SummarizedExperiment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48045C-B33B-70D5-D418-86A0DFA3743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Huber et al., Nat. Meth. 2015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9AB3B4-0398-1A49-A6B6-7B9C52FF46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Analyzing NGS data with R/Bioconductor </a:t>
            </a:r>
          </a:p>
        </p:txBody>
      </p:sp>
      <p:pic>
        <p:nvPicPr>
          <p:cNvPr id="1026" name="Picture 2" descr="Alt SummarizedExperiment">
            <a:extLst>
              <a:ext uri="{FF2B5EF4-FFF2-40B4-BE49-F238E27FC236}">
                <a16:creationId xmlns:a16="http://schemas.microsoft.com/office/drawing/2014/main" id="{37B41E46-F2DC-C744-B83C-7E466631C1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1686" y="1006231"/>
            <a:ext cx="5464628" cy="46580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FE5075C-5B62-6640-B1EF-EAD24B8D3B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821" y="2332489"/>
            <a:ext cx="5401662" cy="2193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88386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 descr="Alt SummarizedExperiment">
            <a:extLst>
              <a:ext uri="{FF2B5EF4-FFF2-40B4-BE49-F238E27FC236}">
                <a16:creationId xmlns:a16="http://schemas.microsoft.com/office/drawing/2014/main" id="{60D98193-8F1D-580A-60EF-93F36D44B6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1686" y="1006231"/>
            <a:ext cx="5464628" cy="46580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2BCBB83-5433-344C-BDB0-622BF73A0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SummarizedExperiment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4F3419-5893-3BB7-1848-79A7FB895C1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B12D65-F05E-8209-DA49-180F3CAA8C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760" y="873761"/>
            <a:ext cx="5747657" cy="4883277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 err="1"/>
              <a:t>colData</a:t>
            </a:r>
            <a:r>
              <a:rPr lang="en-GB" sz="1600" dirty="0"/>
              <a:t>(): Annotations on each column, as a </a:t>
            </a:r>
            <a:r>
              <a:rPr lang="en-GB" sz="1600" dirty="0" err="1"/>
              <a:t>DataFrame</a:t>
            </a:r>
            <a:r>
              <a:rPr lang="en-GB" sz="1600" dirty="0"/>
              <a:t>.</a:t>
            </a:r>
          </a:p>
          <a:p>
            <a:pPr lvl="1"/>
            <a:r>
              <a:rPr lang="en-GB" sz="1400" dirty="0"/>
              <a:t>E.g., description of each sample</a:t>
            </a:r>
          </a:p>
          <a:p>
            <a:endParaRPr lang="en-US" sz="160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9AB3B4-0398-1A49-A6B6-7B9C52FF46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Analyzing NGS data with R/Bioconductor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77E4A71-6AB7-6B4D-8D6F-BAE3C0285940}"/>
              </a:ext>
            </a:extLst>
          </p:cNvPr>
          <p:cNvSpPr/>
          <p:nvPr/>
        </p:nvSpPr>
        <p:spPr>
          <a:xfrm>
            <a:off x="9797388" y="891244"/>
            <a:ext cx="1766437" cy="1987976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42834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 descr="Alt SummarizedExperiment">
            <a:extLst>
              <a:ext uri="{FF2B5EF4-FFF2-40B4-BE49-F238E27FC236}">
                <a16:creationId xmlns:a16="http://schemas.microsoft.com/office/drawing/2014/main" id="{60D98193-8F1D-580A-60EF-93F36D44B6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1686" y="1006231"/>
            <a:ext cx="5464628" cy="46580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2BCBB83-5433-344C-BDB0-622BF73A0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SummarizedExperiment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4F3419-5893-3BB7-1848-79A7FB895C1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B12D65-F05E-8209-DA49-180F3CAA8C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760" y="873761"/>
            <a:ext cx="5747657" cy="4883277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 err="1"/>
              <a:t>colData</a:t>
            </a:r>
            <a:r>
              <a:rPr lang="en-GB" sz="1600" dirty="0"/>
              <a:t>(): Annotations on each column, as a </a:t>
            </a:r>
            <a:r>
              <a:rPr lang="en-GB" sz="1600" dirty="0" err="1"/>
              <a:t>DataFrame</a:t>
            </a:r>
            <a:r>
              <a:rPr lang="en-GB" sz="1600" dirty="0"/>
              <a:t>.</a:t>
            </a:r>
          </a:p>
          <a:p>
            <a:pPr lvl="1"/>
            <a:r>
              <a:rPr lang="en-GB" sz="1400" dirty="0"/>
              <a:t>E.g., description of each sample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err="1"/>
              <a:t>rowData</a:t>
            </a:r>
            <a:r>
              <a:rPr lang="en-US" sz="1600" dirty="0"/>
              <a:t>/</a:t>
            </a:r>
            <a:r>
              <a:rPr lang="en-US" sz="1600" dirty="0" err="1"/>
              <a:t>rowRanges</a:t>
            </a:r>
            <a:r>
              <a:rPr lang="en-US" sz="1600" dirty="0"/>
              <a:t>(): Annotations on each row.</a:t>
            </a:r>
          </a:p>
          <a:p>
            <a:pPr lvl="1"/>
            <a:r>
              <a:rPr lang="en-US" sz="1400" dirty="0"/>
              <a:t>E.g., coordinates of gene / exons /peaks in transcripts / etc.</a:t>
            </a:r>
          </a:p>
          <a:p>
            <a:endParaRPr lang="en-US" sz="160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9AB3B4-0398-1A49-A6B6-7B9C52FF46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Analyzing NGS data with R/Bioconductor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077E18F-D375-42B8-C6FE-474C9DA96645}"/>
              </a:ext>
            </a:extLst>
          </p:cNvPr>
          <p:cNvSpPr/>
          <p:nvPr/>
        </p:nvSpPr>
        <p:spPr>
          <a:xfrm>
            <a:off x="6332585" y="2321411"/>
            <a:ext cx="1529852" cy="2990328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40183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 descr="Alt SummarizedExperiment">
            <a:extLst>
              <a:ext uri="{FF2B5EF4-FFF2-40B4-BE49-F238E27FC236}">
                <a16:creationId xmlns:a16="http://schemas.microsoft.com/office/drawing/2014/main" id="{60D98193-8F1D-580A-60EF-93F36D44B6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1686" y="1006231"/>
            <a:ext cx="5464628" cy="46580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2BCBB83-5433-344C-BDB0-622BF73A0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SummarizedExperiment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4F3419-5893-3BB7-1848-79A7FB895C1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B12D65-F05E-8209-DA49-180F3CAA8C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760" y="873761"/>
            <a:ext cx="5747657" cy="4883277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 err="1"/>
              <a:t>colData</a:t>
            </a:r>
            <a:r>
              <a:rPr lang="en-GB" sz="1600" dirty="0"/>
              <a:t>(): Annotations on each column, as a </a:t>
            </a:r>
            <a:r>
              <a:rPr lang="en-GB" sz="1600" dirty="0" err="1"/>
              <a:t>DataFrame</a:t>
            </a:r>
            <a:r>
              <a:rPr lang="en-GB" sz="1600" dirty="0"/>
              <a:t>.</a:t>
            </a:r>
          </a:p>
          <a:p>
            <a:pPr lvl="1"/>
            <a:r>
              <a:rPr lang="en-GB" sz="1400" dirty="0"/>
              <a:t>E.g., description of each sample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err="1"/>
              <a:t>rowData</a:t>
            </a:r>
            <a:r>
              <a:rPr lang="en-US" sz="1600" dirty="0"/>
              <a:t>/</a:t>
            </a:r>
            <a:r>
              <a:rPr lang="en-US" sz="1600" dirty="0" err="1"/>
              <a:t>rowRanges</a:t>
            </a:r>
            <a:r>
              <a:rPr lang="en-US" sz="1600" dirty="0"/>
              <a:t>(): Annotations on each row.</a:t>
            </a:r>
          </a:p>
          <a:p>
            <a:pPr lvl="1"/>
            <a:r>
              <a:rPr lang="en-US" sz="1400" dirty="0"/>
              <a:t>E.g., coordinates of gene / exons /peaks in transcripts / etc.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/>
              <a:t>assay(), assays(): A matrix-like or list of matrix-like objects of identical dimension</a:t>
            </a:r>
          </a:p>
          <a:p>
            <a:pPr lvl="1"/>
            <a:r>
              <a:rPr lang="en-GB" sz="1400" dirty="0"/>
              <a:t>rows: refer to </a:t>
            </a:r>
            <a:r>
              <a:rPr lang="en-GB" sz="1400" b="1" u="sng" dirty="0" err="1"/>
              <a:t>rowRanges</a:t>
            </a:r>
            <a:r>
              <a:rPr lang="en-GB" sz="1400" dirty="0"/>
              <a:t>: genes, genomic coordinates, etc.</a:t>
            </a:r>
          </a:p>
          <a:p>
            <a:pPr lvl="1"/>
            <a:r>
              <a:rPr lang="en-GB" sz="1400" dirty="0"/>
              <a:t>columns: refer to </a:t>
            </a:r>
            <a:r>
              <a:rPr lang="en-GB" sz="1400" b="1" u="sng" dirty="0" err="1"/>
              <a:t>colData</a:t>
            </a:r>
            <a:r>
              <a:rPr lang="en-GB" sz="1400" dirty="0"/>
              <a:t>: samples, cells, etc.</a:t>
            </a:r>
          </a:p>
          <a:p>
            <a:pPr lvl="1"/>
            <a:r>
              <a:rPr lang="en-GB" sz="1400" dirty="0"/>
              <a:t>Implements dim(), </a:t>
            </a:r>
            <a:r>
              <a:rPr lang="en-GB" sz="1400" dirty="0" err="1"/>
              <a:t>dimnames</a:t>
            </a:r>
            <a:r>
              <a:rPr lang="en-GB" sz="1400" dirty="0"/>
              <a:t>() and 2-dimensional [ , ]</a:t>
            </a:r>
          </a:p>
          <a:p>
            <a:pPr lvl="1"/>
            <a:r>
              <a:rPr lang="en-GB" sz="1400" b="1" dirty="0"/>
              <a:t>Can be several assays!!!</a:t>
            </a:r>
            <a:endParaRPr lang="en-GB" sz="1400" dirty="0"/>
          </a:p>
          <a:p>
            <a:endParaRPr lang="en-US" sz="160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9AB3B4-0398-1A49-A6B6-7B9C52FF46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Analyzing NGS data with R/Bioconductor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077E18F-D375-42B8-C6FE-474C9DA96645}"/>
              </a:ext>
            </a:extLst>
          </p:cNvPr>
          <p:cNvSpPr/>
          <p:nvPr/>
        </p:nvSpPr>
        <p:spPr>
          <a:xfrm>
            <a:off x="7770967" y="2321410"/>
            <a:ext cx="2215514" cy="3435627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29497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 descr="Alt SummarizedExperiment">
            <a:extLst>
              <a:ext uri="{FF2B5EF4-FFF2-40B4-BE49-F238E27FC236}">
                <a16:creationId xmlns:a16="http://schemas.microsoft.com/office/drawing/2014/main" id="{60D98193-8F1D-580A-60EF-93F36D44B6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1686" y="1006231"/>
            <a:ext cx="5464628" cy="46580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2BCBB83-5433-344C-BDB0-622BF73A0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SummarizedExperiment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4F3419-5893-3BB7-1848-79A7FB895C1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B12D65-F05E-8209-DA49-180F3CAA8C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760" y="873761"/>
            <a:ext cx="5747657" cy="5229088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 err="1"/>
              <a:t>colData</a:t>
            </a:r>
            <a:r>
              <a:rPr lang="en-GB" sz="1600" dirty="0"/>
              <a:t>(): Annotations on each column, as a </a:t>
            </a:r>
            <a:r>
              <a:rPr lang="en-GB" sz="1600" dirty="0" err="1"/>
              <a:t>DataFrame</a:t>
            </a:r>
            <a:r>
              <a:rPr lang="en-GB" sz="1600" dirty="0"/>
              <a:t>.</a:t>
            </a:r>
          </a:p>
          <a:p>
            <a:pPr lvl="1"/>
            <a:r>
              <a:rPr lang="en-GB" sz="1400" dirty="0"/>
              <a:t>E.g., description of each sample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err="1"/>
              <a:t>rowData</a:t>
            </a:r>
            <a:r>
              <a:rPr lang="en-US" sz="1600" dirty="0"/>
              <a:t>/</a:t>
            </a:r>
            <a:r>
              <a:rPr lang="en-US" sz="1600" dirty="0" err="1"/>
              <a:t>rowRanges</a:t>
            </a:r>
            <a:r>
              <a:rPr lang="en-US" sz="1600" dirty="0"/>
              <a:t>(): Annotations on each row.</a:t>
            </a:r>
          </a:p>
          <a:p>
            <a:pPr lvl="1"/>
            <a:r>
              <a:rPr lang="en-US" sz="1400" dirty="0"/>
              <a:t>E.g., coordinates of gene / exons /peaks in transcripts / etc.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/>
              <a:t>assay(), assays(): A matrix-like or list of matrix-like objects of identical dimension</a:t>
            </a:r>
          </a:p>
          <a:p>
            <a:pPr lvl="1"/>
            <a:r>
              <a:rPr lang="en-GB" sz="1400" dirty="0"/>
              <a:t>rows: refer to </a:t>
            </a:r>
            <a:r>
              <a:rPr lang="en-GB" sz="1400" b="1" u="sng" dirty="0" err="1"/>
              <a:t>rowRanges</a:t>
            </a:r>
            <a:r>
              <a:rPr lang="en-GB" sz="1400" dirty="0"/>
              <a:t>: genes, genomic coordinates, etc.</a:t>
            </a:r>
          </a:p>
          <a:p>
            <a:pPr lvl="1"/>
            <a:r>
              <a:rPr lang="en-GB" sz="1400" dirty="0"/>
              <a:t>columns: refer to </a:t>
            </a:r>
            <a:r>
              <a:rPr lang="en-GB" sz="1400" b="1" u="sng" dirty="0" err="1"/>
              <a:t>colData</a:t>
            </a:r>
            <a:r>
              <a:rPr lang="en-GB" sz="1400" dirty="0"/>
              <a:t>: samples, cells, etc.</a:t>
            </a:r>
          </a:p>
          <a:p>
            <a:pPr lvl="1"/>
            <a:r>
              <a:rPr lang="en-GB" sz="1400" dirty="0"/>
              <a:t>Implements dim(), </a:t>
            </a:r>
            <a:r>
              <a:rPr lang="en-GB" sz="1400" dirty="0" err="1"/>
              <a:t>dimnames</a:t>
            </a:r>
            <a:r>
              <a:rPr lang="en-GB" sz="1400" dirty="0"/>
              <a:t>() and 2-dimensional [ , ]</a:t>
            </a:r>
          </a:p>
          <a:p>
            <a:pPr lvl="1"/>
            <a:r>
              <a:rPr lang="en-GB" sz="1400" b="1" dirty="0"/>
              <a:t>Can be several assays!!!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/>
              <a:t>metadata(): List of unstructured metadata describing the overall content of the object.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9AB3B4-0398-1A49-A6B6-7B9C52FF46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Analyzing NGS data with R/Bioconductor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077E18F-D375-42B8-C6FE-474C9DA96645}"/>
              </a:ext>
            </a:extLst>
          </p:cNvPr>
          <p:cNvSpPr/>
          <p:nvPr/>
        </p:nvSpPr>
        <p:spPr>
          <a:xfrm>
            <a:off x="9852916" y="3120219"/>
            <a:ext cx="2033671" cy="2006585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21225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BCBB83-5433-344C-BDB0-622BF73A0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SummarizedExperiment</a:t>
            </a:r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660710AE-B3A1-97FD-A918-6CBD51BD0AD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5A3E2A1D-3F00-52E9-7E8C-EB32977BCE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760" y="873761"/>
            <a:ext cx="5747656" cy="4883277"/>
          </a:xfrm>
        </p:spPr>
        <p:txBody>
          <a:bodyPr>
            <a:normAutofit/>
          </a:bodyPr>
          <a:lstStyle/>
          <a:p>
            <a:pPr marL="0" indent="0"/>
            <a:r>
              <a:rPr lang="en-US" sz="1800" b="1" dirty="0" err="1"/>
              <a:t>SummarizedExperiment</a:t>
            </a:r>
            <a:r>
              <a:rPr lang="en-US" sz="1800" b="1" dirty="0"/>
              <a:t> is a key data structure in Bioconductor, reused by or modified in:</a:t>
            </a:r>
            <a:endParaRPr lang="en-US" sz="1600" b="1" dirty="0"/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1600" dirty="0" err="1"/>
              <a:t>clusterExperiment</a:t>
            </a:r>
            <a:endParaRPr lang="en-US" sz="1600" dirty="0"/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1600" dirty="0" err="1"/>
              <a:t>SingleCellExperiment</a:t>
            </a:r>
            <a:endParaRPr lang="en-US" sz="1600" dirty="0"/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1600" dirty="0" err="1"/>
              <a:t>LoomExperiment</a:t>
            </a:r>
            <a:endParaRPr lang="en-US" sz="1600" dirty="0"/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1600" dirty="0" err="1"/>
              <a:t>MsExperiment</a:t>
            </a:r>
            <a:endParaRPr lang="en-US" sz="1600" dirty="0"/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1600" dirty="0" err="1"/>
              <a:t>TreeSummarizedExperiment</a:t>
            </a:r>
            <a:endParaRPr lang="en-US" sz="1600" dirty="0"/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1600" dirty="0" err="1"/>
              <a:t>SpatialExperiment</a:t>
            </a:r>
            <a:endParaRPr lang="en-US" sz="1600" dirty="0"/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1600" dirty="0"/>
              <a:t>And 100s more…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9AB3B4-0398-1A49-A6B6-7B9C52FF46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Analyzing NGS data with R/Bioconductor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23945C4-BDE8-B4EA-A0FA-BC590E2DBBD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87" b="69738"/>
          <a:stretch/>
        </p:blipFill>
        <p:spPr>
          <a:xfrm>
            <a:off x="3659047" y="2045007"/>
            <a:ext cx="3752273" cy="234593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CEB4EA1-22FC-DDCA-7F3C-7F316FF6720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-623" t="30560" r="623" b="-463"/>
          <a:stretch/>
        </p:blipFill>
        <p:spPr>
          <a:xfrm>
            <a:off x="7652041" y="827464"/>
            <a:ext cx="3752273" cy="5452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92995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DE5D3B5-60F3-71AD-6649-BE12FD51AE3F}"/>
              </a:ext>
            </a:extLst>
          </p:cNvPr>
          <p:cNvSpPr/>
          <p:nvPr/>
        </p:nvSpPr>
        <p:spPr>
          <a:xfrm>
            <a:off x="2696005" y="2373918"/>
            <a:ext cx="6799990" cy="307777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 </a:t>
            </a:r>
            <a:r>
              <a:rPr lang="en-US" sz="1400" dirty="0" err="1">
                <a:solidFill>
                  <a:schemeClr val="bg1">
                    <a:lumMod val="8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dds</a:t>
            </a: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&lt;- </a:t>
            </a:r>
            <a:r>
              <a:rPr lang="en-US" sz="1400" dirty="0" err="1">
                <a:solidFill>
                  <a:schemeClr val="bg1">
                    <a:lumMod val="8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DESeqDataSet</a:t>
            </a: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(counts, design = ~ timepoint)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BCBB83-5433-344C-BDB0-622BF73A0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DESeq2 analysis workflow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FB4F99-0D7E-826C-A25C-C2110DB129D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990570F-B803-4F4C-ACD1-264499AAA3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DESeq2 is based on a </a:t>
            </a:r>
            <a:r>
              <a:rPr lang="en-US" dirty="0" err="1"/>
              <a:t>SummarizedExperiment</a:t>
            </a:r>
            <a:r>
              <a:rPr lang="en-US" dirty="0"/>
              <a:t> object.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A </a:t>
            </a:r>
            <a:r>
              <a:rPr lang="en-US" b="1" u="sng" dirty="0"/>
              <a:t>formula</a:t>
            </a:r>
            <a:r>
              <a:rPr lang="en-US" dirty="0"/>
              <a:t> needs to be specified </a:t>
            </a:r>
            <a:endParaRPr lang="en-US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9AB3B4-0398-1A49-A6B6-7B9C52FF46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Analyzing NGS data with R/Bioconductor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47BCBE6-4ADE-8DC1-9D86-4FFDDC9AF1E3}"/>
              </a:ext>
            </a:extLst>
          </p:cNvPr>
          <p:cNvSpPr/>
          <p:nvPr/>
        </p:nvSpPr>
        <p:spPr>
          <a:xfrm flipV="1">
            <a:off x="5887092" y="2377720"/>
            <a:ext cx="2426345" cy="334657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56176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BCBB83-5433-344C-BDB0-622BF73A0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DESeq2 analysis workflow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FB4F99-0D7E-826C-A25C-C2110DB129D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990570F-B803-4F4C-ACD1-264499AAA3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/>
              <a:t>Differential </a:t>
            </a:r>
            <a:r>
              <a:rPr lang="en-US" dirty="0"/>
              <a:t>expression analysis is as simple as </a:t>
            </a:r>
            <a:r>
              <a:rPr lang="en-US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DESeq</a:t>
            </a:r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()</a:t>
            </a:r>
            <a:endParaRPr lang="en-US" sz="24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9AB3B4-0398-1A49-A6B6-7B9C52FF46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Analyzing NGS data with R/Bioconductor </a:t>
            </a:r>
          </a:p>
        </p:txBody>
      </p:sp>
      <p:pic>
        <p:nvPicPr>
          <p:cNvPr id="8194" name="Picture 2" descr="Gene-level differential expression analysis with DESeq2 | Introduction to  DGE - ARCHIVED">
            <a:extLst>
              <a:ext uri="{FF2B5EF4-FFF2-40B4-BE49-F238E27FC236}">
                <a16:creationId xmlns:a16="http://schemas.microsoft.com/office/drawing/2014/main" id="{18E8472C-36C2-BE61-25E1-3D621DBC68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6643" y="2029851"/>
            <a:ext cx="2538714" cy="38421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370038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BCBB83-5433-344C-BDB0-622BF73A0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DESeq2 analysis workflow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FB4F99-0D7E-826C-A25C-C2110DB129D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990570F-B803-4F4C-ACD1-264499AAA3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DESeq2 is based on a </a:t>
            </a:r>
            <a:r>
              <a:rPr lang="en-US" dirty="0" err="1"/>
              <a:t>SummarizedExperiment</a:t>
            </a:r>
            <a:r>
              <a:rPr lang="en-US" dirty="0"/>
              <a:t> object.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A </a:t>
            </a:r>
            <a:r>
              <a:rPr lang="en-US" b="1" u="sng" dirty="0"/>
              <a:t>formula</a:t>
            </a:r>
            <a:r>
              <a:rPr lang="en-US" dirty="0"/>
              <a:t> needs to be specified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Differential expression analysis is as simple as </a:t>
            </a:r>
            <a:r>
              <a:rPr lang="en-US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DESeq</a:t>
            </a:r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()</a:t>
            </a:r>
            <a:endParaRPr lang="en-US" sz="24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9AB3B4-0398-1A49-A6B6-7B9C52FF46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Analyzing NGS data with R/Bioconductor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DE5D3B5-60F3-71AD-6649-BE12FD51AE3F}"/>
              </a:ext>
            </a:extLst>
          </p:cNvPr>
          <p:cNvSpPr/>
          <p:nvPr/>
        </p:nvSpPr>
        <p:spPr>
          <a:xfrm>
            <a:off x="205255" y="2373918"/>
            <a:ext cx="10585867" cy="375487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 </a:t>
            </a:r>
            <a:r>
              <a:rPr lang="en-US" sz="1400" dirty="0" err="1">
                <a:solidFill>
                  <a:schemeClr val="bg1">
                    <a:lumMod val="8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dds</a:t>
            </a: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&lt;- </a:t>
            </a:r>
            <a:r>
              <a:rPr lang="en-US" sz="1400" dirty="0" err="1">
                <a:solidFill>
                  <a:schemeClr val="bg1">
                    <a:lumMod val="8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DESeqDataSet</a:t>
            </a: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(counts, design = ~ Condition + Treatment)</a:t>
            </a:r>
          </a:p>
          <a:p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 </a:t>
            </a:r>
            <a:r>
              <a:rPr lang="en-US" sz="1400" dirty="0" err="1">
                <a:solidFill>
                  <a:schemeClr val="bg1">
                    <a:lumMod val="8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dds</a:t>
            </a: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&lt;- </a:t>
            </a:r>
            <a:r>
              <a:rPr lang="en-US" sz="1400" dirty="0" err="1">
                <a:solidFill>
                  <a:schemeClr val="bg1">
                    <a:lumMod val="8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DESeq</a:t>
            </a: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</a:t>
            </a:r>
            <a:r>
              <a:rPr lang="en-US" sz="1400" dirty="0" err="1">
                <a:solidFill>
                  <a:schemeClr val="bg1">
                    <a:lumMod val="8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dds</a:t>
            </a: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)</a:t>
            </a:r>
          </a:p>
          <a:p>
            <a:r>
              <a:rPr lang="en-US" sz="1400" b="1" dirty="0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estimating size factors</a:t>
            </a:r>
          </a:p>
          <a:p>
            <a:r>
              <a:rPr lang="en-US" sz="1400" b="1" dirty="0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estimating dispersions</a:t>
            </a:r>
          </a:p>
          <a:p>
            <a:r>
              <a:rPr lang="en-US" sz="1400" b="1" dirty="0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gene-wise dispersion estimates</a:t>
            </a:r>
          </a:p>
          <a:p>
            <a:r>
              <a:rPr lang="en-US" sz="1400" b="1" dirty="0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mean-dispersion relationship</a:t>
            </a:r>
          </a:p>
          <a:p>
            <a:r>
              <a:rPr lang="en-US" sz="1400" b="1" dirty="0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final dispersion estimates</a:t>
            </a:r>
          </a:p>
          <a:p>
            <a:r>
              <a:rPr lang="en-US" sz="1400" b="1" dirty="0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fitting model and testing</a:t>
            </a:r>
          </a:p>
          <a:p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 </a:t>
            </a:r>
            <a:r>
              <a:rPr lang="en-US" sz="1400" dirty="0" err="1">
                <a:solidFill>
                  <a:schemeClr val="bg1">
                    <a:lumMod val="8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dds</a:t>
            </a:r>
            <a:endParaRPr lang="en-US" sz="1400" dirty="0">
              <a:solidFill>
                <a:schemeClr val="bg1">
                  <a:lumMod val="85000"/>
                </a:schemeClr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class: </a:t>
            </a:r>
            <a:r>
              <a:rPr lang="en-US" sz="1400" dirty="0" err="1">
                <a:solidFill>
                  <a:schemeClr val="bg1">
                    <a:lumMod val="8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DESeqDataSet</a:t>
            </a:r>
            <a:endParaRPr lang="en-US" sz="1400" dirty="0">
              <a:solidFill>
                <a:schemeClr val="bg1">
                  <a:lumMod val="85000"/>
                </a:schemeClr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dim: 6513 10</a:t>
            </a:r>
          </a:p>
          <a:p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metadata(1): version</a:t>
            </a:r>
          </a:p>
          <a:p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assays(4): counts mu H cooks</a:t>
            </a:r>
          </a:p>
          <a:p>
            <a:r>
              <a:rPr lang="en-US" sz="1400" dirty="0" err="1">
                <a:solidFill>
                  <a:schemeClr val="bg1">
                    <a:lumMod val="8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rownames</a:t>
            </a: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: NULL</a:t>
            </a:r>
          </a:p>
          <a:p>
            <a:r>
              <a:rPr lang="en-US" sz="1400" dirty="0" err="1">
                <a:solidFill>
                  <a:schemeClr val="bg1">
                    <a:lumMod val="8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rowData</a:t>
            </a: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names(37): summit </a:t>
            </a:r>
            <a:r>
              <a:rPr lang="en-US" sz="1400" dirty="0" err="1">
                <a:solidFill>
                  <a:schemeClr val="bg1">
                    <a:lumMod val="8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peakID</a:t>
            </a: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... deviance </a:t>
            </a:r>
            <a:r>
              <a:rPr lang="en-US" sz="1400" dirty="0" err="1">
                <a:solidFill>
                  <a:schemeClr val="bg1">
                    <a:lumMod val="8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maxCooks</a:t>
            </a:r>
            <a:endParaRPr lang="en-US" sz="1400" dirty="0">
              <a:solidFill>
                <a:schemeClr val="bg1">
                  <a:lumMod val="85000"/>
                </a:schemeClr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sz="1400" dirty="0" err="1">
                <a:solidFill>
                  <a:schemeClr val="bg1">
                    <a:lumMod val="8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colnames</a:t>
            </a: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: NULL</a:t>
            </a:r>
          </a:p>
          <a:p>
            <a:r>
              <a:rPr lang="en-US" sz="1400" dirty="0" err="1">
                <a:solidFill>
                  <a:schemeClr val="bg1">
                    <a:lumMod val="8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colData</a:t>
            </a: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names(5): sample timepoint replicate bam </a:t>
            </a:r>
            <a:r>
              <a:rPr lang="en-US" sz="1400" dirty="0" err="1">
                <a:solidFill>
                  <a:schemeClr val="bg1">
                    <a:lumMod val="8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sizeFactor</a:t>
            </a:r>
            <a:endParaRPr lang="en-US" sz="1400" dirty="0">
              <a:solidFill>
                <a:schemeClr val="bg1">
                  <a:lumMod val="85000"/>
                </a:schemeClr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47BCBE6-4ADE-8DC1-9D86-4FFDDC9AF1E3}"/>
              </a:ext>
            </a:extLst>
          </p:cNvPr>
          <p:cNvSpPr/>
          <p:nvPr/>
        </p:nvSpPr>
        <p:spPr>
          <a:xfrm flipV="1">
            <a:off x="3396343" y="2377717"/>
            <a:ext cx="6095129" cy="334657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C427811E-66C8-CB8C-7E95-96D31B602A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6523281"/>
              </p:ext>
            </p:extLst>
          </p:nvPr>
        </p:nvGraphicFramePr>
        <p:xfrm>
          <a:off x="870076" y="-685863"/>
          <a:ext cx="8128000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122011324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673105995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082241236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160108371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70232314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Condition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Replicate 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Treatment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65549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sample1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 drug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85653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sample2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 drug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96442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sample3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KO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Drug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7808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sample4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KO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drug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6184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sample5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drug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53404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sample6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drug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5418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023206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BCBB83-5433-344C-BDB0-622BF73A0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DESeq2 analysis workflow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25389F-66CB-3574-18C3-9709174DA4E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990570F-B803-4F4C-ACD1-264499AAA3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4) Extract results</a:t>
            </a:r>
          </a:p>
          <a:p>
            <a:endParaRPr lang="en-US" dirty="0"/>
          </a:p>
          <a:p>
            <a:pPr lvl="2"/>
            <a:r>
              <a:rPr lang="en-US" sz="2400" dirty="0"/>
              <a:t>We can use </a:t>
            </a:r>
            <a:r>
              <a:rPr lang="en-GB" sz="2400" dirty="0">
                <a:solidFill>
                  <a:srgbClr val="ABB2BF"/>
                </a:solidFill>
                <a:latin typeface="Menlo" panose="020B0609030804020204" pitchFamily="49" charset="0"/>
              </a:rPr>
              <a:t>DESeq2</a:t>
            </a:r>
            <a:r>
              <a:rPr lang="en-GB" sz="2400" dirty="0">
                <a:solidFill>
                  <a:srgbClr val="C678DD"/>
                </a:solidFill>
                <a:latin typeface="Menlo" panose="020B0609030804020204" pitchFamily="49" charset="0"/>
              </a:rPr>
              <a:t>::</a:t>
            </a:r>
            <a:r>
              <a:rPr lang="en-GB" sz="2400" dirty="0">
                <a:solidFill>
                  <a:srgbClr val="6EA4EB"/>
                </a:solidFill>
                <a:latin typeface="Menlo" panose="020B0609030804020204" pitchFamily="49" charset="0"/>
              </a:rPr>
              <a:t>results()</a:t>
            </a:r>
            <a:endParaRPr lang="en-GB" sz="2400" dirty="0">
              <a:latin typeface="Menlo" panose="020B0609030804020204" pitchFamily="49" charset="0"/>
            </a:endParaRPr>
          </a:p>
          <a:p>
            <a:pPr lvl="2"/>
            <a:r>
              <a:rPr lang="en-GB" sz="2400" dirty="0"/>
              <a:t>DESeq2 extracts results for pairwise comparison between 2 conditions</a:t>
            </a:r>
          </a:p>
          <a:p>
            <a:pPr lvl="2"/>
            <a:endParaRPr lang="en-US" sz="240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9AB3B4-0398-1A49-A6B6-7B9C52FF46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Analyzing NGS data with R/Bioconductor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9675E81-B5BE-3E49-99DD-9FA24892C085}"/>
              </a:ext>
            </a:extLst>
          </p:cNvPr>
          <p:cNvSpPr/>
          <p:nvPr/>
        </p:nvSpPr>
        <p:spPr>
          <a:xfrm>
            <a:off x="0" y="4204922"/>
            <a:ext cx="12192000" cy="147732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&gt; contrasts</a:t>
            </a:r>
          </a:p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     15_v_00     30_v_00     45_v_00     60_v_00     30_v_15     45_v_15     60_v_15     45_v_30     60_v_30     60_v_45</a:t>
            </a:r>
          </a:p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[1,] "timepoint" "timepoint" "timepoint" "timepoint" "timepoint" "timepoint" "timepoint" "timepoint" "timepoint" "timepoint"</a:t>
            </a:r>
          </a:p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[2,] "15"        "30"        "45"        "60"        "30"        "45"        "60"        "45"        "60"        "60"</a:t>
            </a:r>
          </a:p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[3,] "00"        "00"        "00"        "00"        "15"        "15"        "15"        "30"        "30"        "45"</a:t>
            </a:r>
          </a:p>
        </p:txBody>
      </p:sp>
    </p:spTree>
    <p:extLst>
      <p:ext uri="{BB962C8B-B14F-4D97-AF65-F5344CB8AC3E}">
        <p14:creationId xmlns:p14="http://schemas.microsoft.com/office/powerpoint/2010/main" val="25957007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BCBB83-5433-344C-BDB0-622BF73A0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DESeq2 analysis workflow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B03A7D-ACA8-1E45-D57F-31D16BE3404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990570F-B803-4F4C-ACD1-264499AAA3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4) Extract results</a:t>
            </a:r>
          </a:p>
          <a:p>
            <a:endParaRPr lang="en-US" dirty="0"/>
          </a:p>
          <a:p>
            <a:pPr lvl="2"/>
            <a:r>
              <a:rPr lang="en-US" sz="2400" dirty="0"/>
              <a:t>We can use </a:t>
            </a:r>
            <a:r>
              <a:rPr lang="en-GB" sz="2400" dirty="0">
                <a:solidFill>
                  <a:srgbClr val="ABB2BF"/>
                </a:solidFill>
                <a:latin typeface="Menlo" panose="020B0609030804020204" pitchFamily="49" charset="0"/>
              </a:rPr>
              <a:t>DESeq2</a:t>
            </a:r>
            <a:r>
              <a:rPr lang="en-GB" sz="2400" dirty="0">
                <a:solidFill>
                  <a:srgbClr val="C678DD"/>
                </a:solidFill>
                <a:latin typeface="Menlo" panose="020B0609030804020204" pitchFamily="49" charset="0"/>
              </a:rPr>
              <a:t>::</a:t>
            </a:r>
            <a:r>
              <a:rPr lang="en-GB" sz="2400" dirty="0">
                <a:solidFill>
                  <a:srgbClr val="6EA4EB"/>
                </a:solidFill>
                <a:latin typeface="Menlo" panose="020B0609030804020204" pitchFamily="49" charset="0"/>
              </a:rPr>
              <a:t>results()</a:t>
            </a:r>
            <a:endParaRPr lang="en-GB" sz="2400" dirty="0">
              <a:latin typeface="Menlo" panose="020B0609030804020204" pitchFamily="49" charset="0"/>
            </a:endParaRPr>
          </a:p>
          <a:p>
            <a:pPr lvl="2"/>
            <a:r>
              <a:rPr lang="en-GB" sz="2400" dirty="0"/>
              <a:t>DESeq2 extracts results for pairwise comparison between 2 conditions</a:t>
            </a:r>
          </a:p>
          <a:p>
            <a:pPr lvl="2"/>
            <a:endParaRPr lang="en-US" sz="240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9AB3B4-0398-1A49-A6B6-7B9C52FF46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Analyzing NGS data with R/Bioconductor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236E94-1109-1A4C-8138-A7786C224555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0" y="6356350"/>
            <a:ext cx="2743200" cy="365125"/>
          </a:xfrm>
        </p:spPr>
        <p:txBody>
          <a:bodyPr/>
          <a:lstStyle/>
          <a:p>
            <a:r>
              <a:rPr lang="en-GB"/>
              <a:t>2020/01/13</a:t>
            </a: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9675E81-B5BE-3E49-99DD-9FA24892C085}"/>
              </a:ext>
            </a:extLst>
          </p:cNvPr>
          <p:cNvSpPr/>
          <p:nvPr/>
        </p:nvSpPr>
        <p:spPr>
          <a:xfrm>
            <a:off x="0" y="931767"/>
            <a:ext cx="12192000" cy="594008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bg1">
                    <a:lumMod val="85000"/>
                  </a:schemeClr>
                </a:solidFill>
              </a:rPr>
              <a:t>&gt; contrasts</a:t>
            </a:r>
          </a:p>
          <a:p>
            <a:r>
              <a:rPr lang="en-US" sz="1600" dirty="0">
                <a:solidFill>
                  <a:schemeClr val="bg1">
                    <a:lumMod val="85000"/>
                  </a:schemeClr>
                </a:solidFill>
              </a:rPr>
              <a:t>     15_v_00     30_v_00     45_v_00     60_v_00     30_v_15     45_v_15     60_v_15     45_v_30     60_v_30     60_v_45</a:t>
            </a:r>
          </a:p>
          <a:p>
            <a:r>
              <a:rPr lang="en-US" sz="1600" dirty="0">
                <a:solidFill>
                  <a:schemeClr val="bg1">
                    <a:lumMod val="85000"/>
                  </a:schemeClr>
                </a:solidFill>
              </a:rPr>
              <a:t>[1,] "timepoint" "timepoint" "timepoint" "timepoint" "timepoint" "timepoint" "timepoint" "timepoint" "timepoint" "timepoint"</a:t>
            </a:r>
          </a:p>
          <a:p>
            <a:r>
              <a:rPr lang="en-US" sz="1600" dirty="0">
                <a:solidFill>
                  <a:schemeClr val="bg1">
                    <a:lumMod val="85000"/>
                  </a:schemeClr>
                </a:solidFill>
              </a:rPr>
              <a:t>[2,] "15"        "30"        "45"        "60"        "30"        "45"        "60"        "45"        "60"        "60"</a:t>
            </a:r>
          </a:p>
          <a:p>
            <a:r>
              <a:rPr lang="en-US" sz="1600" dirty="0">
                <a:solidFill>
                  <a:schemeClr val="bg1">
                    <a:lumMod val="85000"/>
                  </a:schemeClr>
                </a:solidFill>
              </a:rPr>
              <a:t>[3,] "00"        "00"        "00"        "00"        "15"        "15"        "15"        "30"        "30"        "45”</a:t>
            </a:r>
          </a:p>
          <a:p>
            <a:endParaRPr lang="en-US" sz="1600" dirty="0">
              <a:solidFill>
                <a:schemeClr val="bg1">
                  <a:lumMod val="85000"/>
                </a:schemeClr>
              </a:solidFill>
            </a:endParaRPr>
          </a:p>
          <a:p>
            <a:r>
              <a:rPr lang="en-US" sz="1600" dirty="0">
                <a:solidFill>
                  <a:schemeClr val="bg1">
                    <a:lumMod val="85000"/>
                  </a:schemeClr>
                </a:solidFill>
              </a:rPr>
              <a:t>&gt; results(</a:t>
            </a:r>
            <a:r>
              <a:rPr lang="en-US" sz="1600" dirty="0" err="1">
                <a:solidFill>
                  <a:schemeClr val="bg1">
                    <a:lumMod val="85000"/>
                  </a:schemeClr>
                </a:solidFill>
              </a:rPr>
              <a:t>dds</a:t>
            </a:r>
            <a:r>
              <a:rPr lang="en-US" sz="1600" dirty="0">
                <a:solidFill>
                  <a:schemeClr val="bg1">
                    <a:lumMod val="85000"/>
                  </a:schemeClr>
                </a:solidFill>
              </a:rPr>
              <a:t>, contrast = contrasts[, 2])</a:t>
            </a:r>
          </a:p>
          <a:p>
            <a:r>
              <a:rPr lang="en-US" sz="1600" b="1" dirty="0">
                <a:solidFill>
                  <a:schemeClr val="bg1"/>
                </a:solidFill>
              </a:rPr>
              <a:t>log2 fold change (MLE): timepoint 30 vs 00</a:t>
            </a:r>
          </a:p>
          <a:p>
            <a:r>
              <a:rPr lang="en-US" sz="1600" b="1" dirty="0">
                <a:solidFill>
                  <a:schemeClr val="bg1"/>
                </a:solidFill>
              </a:rPr>
              <a:t>Wald test p-value: timepoint 30 vs 00</a:t>
            </a:r>
          </a:p>
          <a:p>
            <a:r>
              <a:rPr lang="en-US" sz="1600" b="1" dirty="0" err="1">
                <a:solidFill>
                  <a:schemeClr val="bg1"/>
                </a:solidFill>
              </a:rPr>
              <a:t>DataFrame</a:t>
            </a:r>
            <a:r>
              <a:rPr lang="en-US" sz="1600" b="1" dirty="0">
                <a:solidFill>
                  <a:schemeClr val="bg1"/>
                </a:solidFill>
              </a:rPr>
              <a:t> with 6513 rows and 6 columns</a:t>
            </a:r>
          </a:p>
          <a:p>
            <a:r>
              <a:rPr lang="en-US" sz="1600" dirty="0">
                <a:solidFill>
                  <a:schemeClr val="bg1">
                    <a:lumMod val="85000"/>
                  </a:schemeClr>
                </a:solidFill>
              </a:rPr>
              <a:t>      </a:t>
            </a:r>
            <a:r>
              <a:rPr lang="en-US" sz="1600" dirty="0" err="1">
                <a:solidFill>
                  <a:schemeClr val="bg1">
                    <a:lumMod val="85000"/>
                  </a:schemeClr>
                </a:solidFill>
              </a:rPr>
              <a:t>baseMean</a:t>
            </a:r>
            <a:r>
              <a:rPr lang="en-US" sz="1600" dirty="0">
                <a:solidFill>
                  <a:schemeClr val="bg1">
                    <a:lumMod val="85000"/>
                  </a:schemeClr>
                </a:solidFill>
              </a:rPr>
              <a:t> log2FoldChange     </a:t>
            </a:r>
            <a:r>
              <a:rPr lang="en-US" sz="1600" dirty="0" err="1">
                <a:solidFill>
                  <a:schemeClr val="bg1">
                    <a:lumMod val="85000"/>
                  </a:schemeClr>
                </a:solidFill>
              </a:rPr>
              <a:t>lfcSE</a:t>
            </a:r>
            <a:r>
              <a:rPr lang="en-US" sz="1600" dirty="0">
                <a:solidFill>
                  <a:schemeClr val="bg1">
                    <a:lumMod val="85000"/>
                  </a:schemeClr>
                </a:solidFill>
              </a:rPr>
              <a:t>       stat      </a:t>
            </a:r>
            <a:r>
              <a:rPr lang="en-US" sz="1600" dirty="0" err="1">
                <a:solidFill>
                  <a:schemeClr val="bg1">
                    <a:lumMod val="85000"/>
                  </a:schemeClr>
                </a:solidFill>
              </a:rPr>
              <a:t>pvalue</a:t>
            </a:r>
            <a:r>
              <a:rPr lang="en-US" sz="1600" dirty="0">
                <a:solidFill>
                  <a:schemeClr val="bg1">
                    <a:lumMod val="85000"/>
                  </a:schemeClr>
                </a:solidFill>
              </a:rPr>
              <a:t>        </a:t>
            </a:r>
            <a:r>
              <a:rPr lang="en-US" sz="1600" dirty="0" err="1">
                <a:solidFill>
                  <a:schemeClr val="bg1">
                    <a:lumMod val="85000"/>
                  </a:schemeClr>
                </a:solidFill>
              </a:rPr>
              <a:t>padj</a:t>
            </a:r>
            <a:endParaRPr lang="en-US" sz="1600" dirty="0">
              <a:solidFill>
                <a:schemeClr val="bg1">
                  <a:lumMod val="85000"/>
                </a:schemeClr>
              </a:solidFill>
            </a:endParaRPr>
          </a:p>
          <a:p>
            <a:r>
              <a:rPr lang="en-US" sz="1600" dirty="0">
                <a:solidFill>
                  <a:schemeClr val="bg1">
                    <a:lumMod val="85000"/>
                  </a:schemeClr>
                </a:solidFill>
              </a:rPr>
              <a:t>     &lt;numeric&gt;      &lt;numeric&gt; &lt;numeric&gt;  &lt;numeric&gt;   &lt;numeric&gt;   &lt;numeric&gt;</a:t>
            </a:r>
          </a:p>
          <a:p>
            <a:r>
              <a:rPr lang="en-US" sz="1600" dirty="0">
                <a:solidFill>
                  <a:schemeClr val="bg1">
                    <a:lumMod val="85000"/>
                  </a:schemeClr>
                </a:solidFill>
              </a:rPr>
              <a:t>1    1643.7457      -0.900131  0.225114   -3.99856 6.37297e-05 0.002809493</a:t>
            </a:r>
          </a:p>
          <a:p>
            <a:r>
              <a:rPr lang="en-US" sz="1600" dirty="0">
                <a:solidFill>
                  <a:schemeClr val="bg1">
                    <a:lumMod val="85000"/>
                  </a:schemeClr>
                </a:solidFill>
              </a:rPr>
              <a:t>2     106.1707      -0.876365  0.313066   -2.79930 5.12139e-03 0.066589377</a:t>
            </a:r>
          </a:p>
          <a:p>
            <a:r>
              <a:rPr lang="en-US" sz="1600" dirty="0">
                <a:solidFill>
                  <a:schemeClr val="bg1">
                    <a:lumMod val="85000"/>
                  </a:schemeClr>
                </a:solidFill>
              </a:rPr>
              <a:t>3     134.4141      -0.753498  0.311437   -2.41942 1.55451e-02 0.133487340</a:t>
            </a:r>
          </a:p>
          <a:p>
            <a:r>
              <a:rPr lang="en-US" sz="1600" dirty="0">
                <a:solidFill>
                  <a:schemeClr val="bg1">
                    <a:lumMod val="85000"/>
                  </a:schemeClr>
                </a:solidFill>
              </a:rPr>
              <a:t>4     203.8053      -1.094019  0.227780   -4.80296 1.56338e-06 0.000140911</a:t>
            </a:r>
          </a:p>
          <a:p>
            <a:r>
              <a:rPr lang="en-US" sz="1600" dirty="0">
                <a:solidFill>
                  <a:schemeClr val="bg1">
                    <a:lumMod val="85000"/>
                  </a:schemeClr>
                </a:solidFill>
              </a:rPr>
              <a:t>5      67.2922      -1.001061  0.336647   -2.97362 2.94309e-03 0.046569804</a:t>
            </a:r>
          </a:p>
          <a:p>
            <a:r>
              <a:rPr lang="en-US" sz="1600" dirty="0">
                <a:solidFill>
                  <a:schemeClr val="bg1">
                    <a:lumMod val="85000"/>
                  </a:schemeClr>
                </a:solidFill>
              </a:rPr>
              <a:t>...        ...            ...       ...        ...         ...         ...</a:t>
            </a:r>
          </a:p>
          <a:p>
            <a:r>
              <a:rPr lang="en-US" sz="1600" dirty="0">
                <a:solidFill>
                  <a:schemeClr val="bg1">
                    <a:lumMod val="85000"/>
                  </a:schemeClr>
                </a:solidFill>
              </a:rPr>
              <a:t>6509   36.1437     -0.0313828  0.417826 -0.0751098   0.9401274    0.979001</a:t>
            </a:r>
          </a:p>
          <a:p>
            <a:r>
              <a:rPr lang="en-US" sz="1600" dirty="0">
                <a:solidFill>
                  <a:schemeClr val="bg1">
                    <a:lumMod val="85000"/>
                  </a:schemeClr>
                </a:solidFill>
              </a:rPr>
              <a:t>6510  603.5468     -0.4020281  0.181778 -2.2116386   0.0269916    0.185475</a:t>
            </a:r>
          </a:p>
          <a:p>
            <a:r>
              <a:rPr lang="en-US" sz="1600" dirty="0">
                <a:solidFill>
                  <a:schemeClr val="bg1">
                    <a:lumMod val="85000"/>
                  </a:schemeClr>
                </a:solidFill>
              </a:rPr>
              <a:t>6511   42.8792     -0.3776449  0.378523 -0.9976807   0.3184342    0.633629</a:t>
            </a:r>
          </a:p>
          <a:p>
            <a:r>
              <a:rPr lang="en-US" sz="1600" dirty="0">
                <a:solidFill>
                  <a:schemeClr val="bg1">
                    <a:lumMod val="85000"/>
                  </a:schemeClr>
                </a:solidFill>
              </a:rPr>
              <a:t>6512   15.2541     -0.5818438  0.642764 -0.9052221   0.3653477          NA</a:t>
            </a:r>
          </a:p>
          <a:p>
            <a:r>
              <a:rPr lang="en-US" sz="1600" dirty="0">
                <a:solidFill>
                  <a:schemeClr val="bg1">
                    <a:lumMod val="85000"/>
                  </a:schemeClr>
                </a:solidFill>
              </a:rPr>
              <a:t>6513   37.8941     -0.8396196  0.427293 -1.9649731   0.0494173    0.258224</a:t>
            </a:r>
          </a:p>
        </p:txBody>
      </p:sp>
    </p:spTree>
    <p:extLst>
      <p:ext uri="{BB962C8B-B14F-4D97-AF65-F5344CB8AC3E}">
        <p14:creationId xmlns:p14="http://schemas.microsoft.com/office/powerpoint/2010/main" val="381287417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BCBB83-5433-344C-BDB0-622BF73A0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DESeq2 analysis workflow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F9876B-18BF-14DD-9B96-77673F8B2C7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990570F-B803-4F4C-ACD1-264499AAA3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4) Extract results</a:t>
            </a:r>
          </a:p>
          <a:p>
            <a:endParaRPr lang="en-US" dirty="0"/>
          </a:p>
          <a:p>
            <a:pPr lvl="2"/>
            <a:r>
              <a:rPr lang="en-US" sz="2400" dirty="0"/>
              <a:t>We can use </a:t>
            </a:r>
            <a:r>
              <a:rPr lang="en-GB" sz="2400" dirty="0">
                <a:solidFill>
                  <a:srgbClr val="ABB2BF"/>
                </a:solidFill>
                <a:latin typeface="Menlo" panose="020B0609030804020204" pitchFamily="49" charset="0"/>
              </a:rPr>
              <a:t>DESeq2</a:t>
            </a:r>
            <a:r>
              <a:rPr lang="en-GB" sz="2400" dirty="0">
                <a:solidFill>
                  <a:srgbClr val="C678DD"/>
                </a:solidFill>
                <a:latin typeface="Menlo" panose="020B0609030804020204" pitchFamily="49" charset="0"/>
              </a:rPr>
              <a:t>::</a:t>
            </a:r>
            <a:r>
              <a:rPr lang="en-GB" sz="2400" dirty="0">
                <a:solidFill>
                  <a:srgbClr val="6EA4EB"/>
                </a:solidFill>
                <a:latin typeface="Menlo" panose="020B0609030804020204" pitchFamily="49" charset="0"/>
              </a:rPr>
              <a:t>results()</a:t>
            </a:r>
            <a:endParaRPr lang="en-GB" sz="2400" dirty="0">
              <a:latin typeface="Menlo" panose="020B0609030804020204" pitchFamily="49" charset="0"/>
            </a:endParaRPr>
          </a:p>
          <a:p>
            <a:pPr lvl="2"/>
            <a:r>
              <a:rPr lang="en-GB" sz="2400" dirty="0"/>
              <a:t>DESeq2 extracts results for pairwise comparison between 2 conditions</a:t>
            </a:r>
          </a:p>
          <a:p>
            <a:pPr lvl="2"/>
            <a:endParaRPr lang="en-US" sz="240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9AB3B4-0398-1A49-A6B6-7B9C52FF46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Analyzing NGS data with R/Bioconductor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236E94-1109-1A4C-8138-A7786C224555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0" y="6356350"/>
            <a:ext cx="2743200" cy="365125"/>
          </a:xfrm>
        </p:spPr>
        <p:txBody>
          <a:bodyPr/>
          <a:lstStyle/>
          <a:p>
            <a:r>
              <a:rPr lang="en-GB"/>
              <a:t>2020/01/13</a:t>
            </a: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9675E81-B5BE-3E49-99DD-9FA24892C085}"/>
              </a:ext>
            </a:extLst>
          </p:cNvPr>
          <p:cNvSpPr/>
          <p:nvPr/>
        </p:nvSpPr>
        <p:spPr>
          <a:xfrm>
            <a:off x="0" y="931767"/>
            <a:ext cx="12192000" cy="594008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bg1">
                    <a:lumMod val="85000"/>
                  </a:schemeClr>
                </a:solidFill>
              </a:rPr>
              <a:t>&gt; contrasts</a:t>
            </a:r>
          </a:p>
          <a:p>
            <a:r>
              <a:rPr lang="en-US" sz="1600" dirty="0">
                <a:solidFill>
                  <a:schemeClr val="bg1">
                    <a:lumMod val="85000"/>
                  </a:schemeClr>
                </a:solidFill>
              </a:rPr>
              <a:t>     15_v_00     30_v_00     45_v_00     60_v_00     30_v_15     45_v_15     60_v_15     45_v_30     60_v_30     60_v_45</a:t>
            </a:r>
          </a:p>
          <a:p>
            <a:r>
              <a:rPr lang="en-US" sz="1600" dirty="0">
                <a:solidFill>
                  <a:schemeClr val="bg1">
                    <a:lumMod val="85000"/>
                  </a:schemeClr>
                </a:solidFill>
              </a:rPr>
              <a:t>[1,] "timepoint" "timepoint" "timepoint" "timepoint" "timepoint" "timepoint" "timepoint" "timepoint" "timepoint" "timepoint"</a:t>
            </a:r>
          </a:p>
          <a:p>
            <a:r>
              <a:rPr lang="en-US" sz="1600" dirty="0">
                <a:solidFill>
                  <a:schemeClr val="bg1">
                    <a:lumMod val="85000"/>
                  </a:schemeClr>
                </a:solidFill>
              </a:rPr>
              <a:t>[2,] "15"        "30"        "45"        "60"        "30"        "45"        "60"        "45"        "60"        "60"</a:t>
            </a:r>
          </a:p>
          <a:p>
            <a:r>
              <a:rPr lang="en-US" sz="1600" dirty="0">
                <a:solidFill>
                  <a:schemeClr val="bg1">
                    <a:lumMod val="85000"/>
                  </a:schemeClr>
                </a:solidFill>
              </a:rPr>
              <a:t>[3,] "00"        "00"        "00"        "00"        "15"        "15"        "15"        "30"        "30"        "45”</a:t>
            </a:r>
          </a:p>
          <a:p>
            <a:endParaRPr lang="en-US" sz="1600" dirty="0">
              <a:solidFill>
                <a:schemeClr val="bg1">
                  <a:lumMod val="85000"/>
                </a:schemeClr>
              </a:solidFill>
            </a:endParaRPr>
          </a:p>
          <a:p>
            <a:r>
              <a:rPr lang="en-US" sz="1600" dirty="0">
                <a:solidFill>
                  <a:schemeClr val="bg1">
                    <a:lumMod val="85000"/>
                  </a:schemeClr>
                </a:solidFill>
              </a:rPr>
              <a:t>&gt; results(</a:t>
            </a:r>
            <a:r>
              <a:rPr lang="en-US" sz="1600" dirty="0" err="1">
                <a:solidFill>
                  <a:schemeClr val="bg1">
                    <a:lumMod val="85000"/>
                  </a:schemeClr>
                </a:solidFill>
              </a:rPr>
              <a:t>dds</a:t>
            </a:r>
            <a:r>
              <a:rPr lang="en-US" sz="1600" dirty="0">
                <a:solidFill>
                  <a:schemeClr val="bg1">
                    <a:lumMod val="85000"/>
                  </a:schemeClr>
                </a:solidFill>
              </a:rPr>
              <a:t>, contrast = contrasts[, 2])</a:t>
            </a:r>
          </a:p>
          <a:p>
            <a:r>
              <a:rPr lang="en-US" sz="1600" b="1" dirty="0">
                <a:solidFill>
                  <a:schemeClr val="bg1"/>
                </a:solidFill>
              </a:rPr>
              <a:t>log2 fold change (MLE): timepoint 30 vs 00</a:t>
            </a:r>
          </a:p>
          <a:p>
            <a:r>
              <a:rPr lang="en-US" sz="1600" b="1" dirty="0">
                <a:solidFill>
                  <a:schemeClr val="bg1"/>
                </a:solidFill>
              </a:rPr>
              <a:t>Wald test p-value: timepoint 30 vs 00</a:t>
            </a:r>
          </a:p>
          <a:p>
            <a:r>
              <a:rPr lang="en-US" sz="1600" b="1" dirty="0" err="1">
                <a:solidFill>
                  <a:schemeClr val="bg1"/>
                </a:solidFill>
              </a:rPr>
              <a:t>DataFrame</a:t>
            </a:r>
            <a:r>
              <a:rPr lang="en-US" sz="1600" b="1" dirty="0">
                <a:solidFill>
                  <a:schemeClr val="bg1"/>
                </a:solidFill>
              </a:rPr>
              <a:t> with 6513 rows and 6 columns</a:t>
            </a:r>
          </a:p>
          <a:p>
            <a:r>
              <a:rPr lang="en-US" sz="1600" dirty="0">
                <a:solidFill>
                  <a:schemeClr val="bg1">
                    <a:lumMod val="85000"/>
                  </a:schemeClr>
                </a:solidFill>
              </a:rPr>
              <a:t>      </a:t>
            </a:r>
            <a:r>
              <a:rPr lang="en-US" sz="1600" dirty="0" err="1">
                <a:solidFill>
                  <a:schemeClr val="bg1">
                    <a:lumMod val="85000"/>
                  </a:schemeClr>
                </a:solidFill>
              </a:rPr>
              <a:t>baseMean</a:t>
            </a:r>
            <a:r>
              <a:rPr lang="en-US" sz="1600" dirty="0">
                <a:solidFill>
                  <a:schemeClr val="bg1">
                    <a:lumMod val="85000"/>
                  </a:schemeClr>
                </a:solidFill>
              </a:rPr>
              <a:t> log2FoldChange     </a:t>
            </a:r>
            <a:r>
              <a:rPr lang="en-US" sz="1600" dirty="0" err="1">
                <a:solidFill>
                  <a:schemeClr val="bg1">
                    <a:lumMod val="85000"/>
                  </a:schemeClr>
                </a:solidFill>
              </a:rPr>
              <a:t>lfcSE</a:t>
            </a:r>
            <a:r>
              <a:rPr lang="en-US" sz="1600" dirty="0">
                <a:solidFill>
                  <a:schemeClr val="bg1">
                    <a:lumMod val="85000"/>
                  </a:schemeClr>
                </a:solidFill>
              </a:rPr>
              <a:t>       stat      </a:t>
            </a:r>
            <a:r>
              <a:rPr lang="en-US" sz="1600" dirty="0" err="1">
                <a:solidFill>
                  <a:schemeClr val="bg1">
                    <a:lumMod val="85000"/>
                  </a:schemeClr>
                </a:solidFill>
              </a:rPr>
              <a:t>pvalue</a:t>
            </a:r>
            <a:r>
              <a:rPr lang="en-US" sz="1600" dirty="0">
                <a:solidFill>
                  <a:schemeClr val="bg1">
                    <a:lumMod val="85000"/>
                  </a:schemeClr>
                </a:solidFill>
              </a:rPr>
              <a:t>        </a:t>
            </a:r>
            <a:r>
              <a:rPr lang="en-US" sz="1600" dirty="0" err="1">
                <a:solidFill>
                  <a:schemeClr val="bg1">
                    <a:lumMod val="85000"/>
                  </a:schemeClr>
                </a:solidFill>
              </a:rPr>
              <a:t>padj</a:t>
            </a:r>
            <a:endParaRPr lang="en-US" sz="1600" dirty="0">
              <a:solidFill>
                <a:schemeClr val="bg1">
                  <a:lumMod val="85000"/>
                </a:schemeClr>
              </a:solidFill>
            </a:endParaRPr>
          </a:p>
          <a:p>
            <a:r>
              <a:rPr lang="en-US" sz="1600" dirty="0">
                <a:solidFill>
                  <a:schemeClr val="bg1">
                    <a:lumMod val="85000"/>
                  </a:schemeClr>
                </a:solidFill>
              </a:rPr>
              <a:t>     &lt;numeric&gt;      &lt;numeric&gt; &lt;numeric&gt;  &lt;numeric&gt;   &lt;numeric&gt;   &lt;numeric&gt;</a:t>
            </a:r>
          </a:p>
          <a:p>
            <a:r>
              <a:rPr lang="en-US" sz="1600" dirty="0">
                <a:solidFill>
                  <a:schemeClr val="bg1">
                    <a:lumMod val="85000"/>
                  </a:schemeClr>
                </a:solidFill>
              </a:rPr>
              <a:t>1    1643.7457      -0.900131  0.225114   -3.99856 6.37297e-05 0.002809493</a:t>
            </a:r>
          </a:p>
          <a:p>
            <a:r>
              <a:rPr lang="en-US" sz="1600" dirty="0">
                <a:solidFill>
                  <a:schemeClr val="bg1">
                    <a:lumMod val="85000"/>
                  </a:schemeClr>
                </a:solidFill>
              </a:rPr>
              <a:t>2     106.1707      -0.876365  0.313066   -2.79930 5.12139e-03 0.066589377</a:t>
            </a:r>
          </a:p>
          <a:p>
            <a:r>
              <a:rPr lang="en-US" sz="1600" dirty="0">
                <a:solidFill>
                  <a:schemeClr val="bg1">
                    <a:lumMod val="85000"/>
                  </a:schemeClr>
                </a:solidFill>
              </a:rPr>
              <a:t>3     134.4141      -0.753498  0.311437   -2.41942 1.55451e-02 0.133487340</a:t>
            </a:r>
          </a:p>
          <a:p>
            <a:r>
              <a:rPr lang="en-US" sz="1600" dirty="0">
                <a:solidFill>
                  <a:schemeClr val="bg1">
                    <a:lumMod val="85000"/>
                  </a:schemeClr>
                </a:solidFill>
              </a:rPr>
              <a:t>4     203.8053      -1.094019  0.227780   -4.80296 1.56338e-06 0.000140911</a:t>
            </a:r>
          </a:p>
          <a:p>
            <a:r>
              <a:rPr lang="en-US" sz="1600" dirty="0">
                <a:solidFill>
                  <a:schemeClr val="bg1">
                    <a:lumMod val="85000"/>
                  </a:schemeClr>
                </a:solidFill>
              </a:rPr>
              <a:t>5      67.2922      -1.001061  0.336647   -2.97362 2.94309e-03 0.046569804</a:t>
            </a:r>
          </a:p>
          <a:p>
            <a:r>
              <a:rPr lang="en-US" sz="1600" dirty="0">
                <a:solidFill>
                  <a:schemeClr val="bg1">
                    <a:lumMod val="85000"/>
                  </a:schemeClr>
                </a:solidFill>
              </a:rPr>
              <a:t>...        ...            ...       ...        ...         ...         ...</a:t>
            </a:r>
          </a:p>
          <a:p>
            <a:r>
              <a:rPr lang="en-US" sz="1600" dirty="0">
                <a:solidFill>
                  <a:schemeClr val="bg1">
                    <a:lumMod val="85000"/>
                  </a:schemeClr>
                </a:solidFill>
              </a:rPr>
              <a:t>6509   36.1437     -0.0313828  0.417826 -0.0751098   0.9401274    0.979001</a:t>
            </a:r>
          </a:p>
          <a:p>
            <a:r>
              <a:rPr lang="en-US" sz="1600" dirty="0">
                <a:solidFill>
                  <a:schemeClr val="bg1">
                    <a:lumMod val="85000"/>
                  </a:schemeClr>
                </a:solidFill>
              </a:rPr>
              <a:t>6510  603.5468     -0.4020281  0.181778 -2.2116386   0.0269916    0.185475</a:t>
            </a:r>
          </a:p>
          <a:p>
            <a:r>
              <a:rPr lang="en-US" sz="1600" dirty="0">
                <a:solidFill>
                  <a:schemeClr val="bg1">
                    <a:lumMod val="85000"/>
                  </a:schemeClr>
                </a:solidFill>
              </a:rPr>
              <a:t>6511   42.8792     -0.3776449  0.378523 -0.9976807   0.3184342    0.633629</a:t>
            </a:r>
          </a:p>
          <a:p>
            <a:r>
              <a:rPr lang="en-US" sz="1600" dirty="0">
                <a:solidFill>
                  <a:schemeClr val="bg1">
                    <a:lumMod val="85000"/>
                  </a:schemeClr>
                </a:solidFill>
              </a:rPr>
              <a:t>6512   15.2541     -0.5818438  0.642764 -0.9052221   0.3653477          NA</a:t>
            </a:r>
          </a:p>
          <a:p>
            <a:r>
              <a:rPr lang="en-US" sz="1600" dirty="0">
                <a:solidFill>
                  <a:schemeClr val="bg1">
                    <a:lumMod val="85000"/>
                  </a:schemeClr>
                </a:solidFill>
              </a:rPr>
              <a:t>6513   37.8941     -0.8396196  0.427293 -1.9649731   0.0494173    0.258224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4A4E2F1-4F8E-874F-9E6D-862F673DF81B}"/>
              </a:ext>
            </a:extLst>
          </p:cNvPr>
          <p:cNvSpPr/>
          <p:nvPr/>
        </p:nvSpPr>
        <p:spPr>
          <a:xfrm flipV="1">
            <a:off x="2051425" y="2421310"/>
            <a:ext cx="1891468" cy="266472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8942601-7812-F84E-98F3-1A340E348DC9}"/>
              </a:ext>
            </a:extLst>
          </p:cNvPr>
          <p:cNvSpPr/>
          <p:nvPr/>
        </p:nvSpPr>
        <p:spPr>
          <a:xfrm flipV="1">
            <a:off x="1178588" y="1210481"/>
            <a:ext cx="1052548" cy="1051279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3B38D38-8128-1141-B244-B3BF586F4614}"/>
              </a:ext>
            </a:extLst>
          </p:cNvPr>
          <p:cNvSpPr/>
          <p:nvPr/>
        </p:nvSpPr>
        <p:spPr>
          <a:xfrm flipV="1">
            <a:off x="2079134" y="2698401"/>
            <a:ext cx="2339247" cy="266472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8744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BCBB83-5433-344C-BDB0-622BF73A0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DESeq2 analysis workflow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F37302-AAA0-16E3-D39D-5393E1FBAAA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990570F-B803-4F4C-ACD1-264499AAA3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4) Extract results</a:t>
            </a:r>
          </a:p>
          <a:p>
            <a:endParaRPr lang="en-US" dirty="0"/>
          </a:p>
          <a:p>
            <a:pPr lvl="2"/>
            <a:r>
              <a:rPr lang="en-US" sz="2400" dirty="0"/>
              <a:t>We can use </a:t>
            </a:r>
            <a:r>
              <a:rPr lang="en-GB" sz="2400" dirty="0">
                <a:solidFill>
                  <a:srgbClr val="ABB2BF"/>
                </a:solidFill>
                <a:latin typeface="Menlo" panose="020B0609030804020204" pitchFamily="49" charset="0"/>
              </a:rPr>
              <a:t>DESeq2</a:t>
            </a:r>
            <a:r>
              <a:rPr lang="en-GB" sz="2400" dirty="0">
                <a:solidFill>
                  <a:srgbClr val="C678DD"/>
                </a:solidFill>
                <a:latin typeface="Menlo" panose="020B0609030804020204" pitchFamily="49" charset="0"/>
              </a:rPr>
              <a:t>::</a:t>
            </a:r>
            <a:r>
              <a:rPr lang="en-GB" sz="2400" dirty="0">
                <a:solidFill>
                  <a:srgbClr val="6EA4EB"/>
                </a:solidFill>
                <a:latin typeface="Menlo" panose="020B0609030804020204" pitchFamily="49" charset="0"/>
              </a:rPr>
              <a:t>results()</a:t>
            </a:r>
            <a:endParaRPr lang="en-GB" sz="2400" dirty="0">
              <a:latin typeface="Menlo" panose="020B0609030804020204" pitchFamily="49" charset="0"/>
            </a:endParaRPr>
          </a:p>
          <a:p>
            <a:pPr lvl="2"/>
            <a:r>
              <a:rPr lang="en-GB" sz="2400" dirty="0"/>
              <a:t>DESeq2 extracts results for pairwise comparison between 2 conditions</a:t>
            </a:r>
          </a:p>
          <a:p>
            <a:pPr lvl="2"/>
            <a:endParaRPr lang="en-US" sz="240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9AB3B4-0398-1A49-A6B6-7B9C52FF46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Analyzing NGS data with R/Bioconductor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236E94-1109-1A4C-8138-A7786C224555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0" y="6356350"/>
            <a:ext cx="2743200" cy="365125"/>
          </a:xfrm>
        </p:spPr>
        <p:txBody>
          <a:bodyPr/>
          <a:lstStyle/>
          <a:p>
            <a:r>
              <a:rPr lang="en-GB"/>
              <a:t>2020/01/13</a:t>
            </a: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9675E81-B5BE-3E49-99DD-9FA24892C085}"/>
              </a:ext>
            </a:extLst>
          </p:cNvPr>
          <p:cNvSpPr/>
          <p:nvPr/>
        </p:nvSpPr>
        <p:spPr>
          <a:xfrm>
            <a:off x="0" y="931767"/>
            <a:ext cx="12192000" cy="594008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bg1">
                    <a:lumMod val="85000"/>
                  </a:schemeClr>
                </a:solidFill>
              </a:rPr>
              <a:t>&gt; contrasts</a:t>
            </a:r>
          </a:p>
          <a:p>
            <a:r>
              <a:rPr lang="en-US" sz="1600" dirty="0">
                <a:solidFill>
                  <a:schemeClr val="bg1">
                    <a:lumMod val="85000"/>
                  </a:schemeClr>
                </a:solidFill>
              </a:rPr>
              <a:t>     15_v_00     30_v_00     45_v_00     60_v_00     30_v_15     45_v_15     60_v_15     45_v_30     60_v_30     60_v_45</a:t>
            </a:r>
          </a:p>
          <a:p>
            <a:r>
              <a:rPr lang="en-US" sz="1600" dirty="0">
                <a:solidFill>
                  <a:schemeClr val="bg1">
                    <a:lumMod val="85000"/>
                  </a:schemeClr>
                </a:solidFill>
              </a:rPr>
              <a:t>[1,] "timepoint" "timepoint" "timepoint" "timepoint" "timepoint" "timepoint" "timepoint" "timepoint" "timepoint" "timepoint"</a:t>
            </a:r>
          </a:p>
          <a:p>
            <a:r>
              <a:rPr lang="en-US" sz="1600" dirty="0">
                <a:solidFill>
                  <a:schemeClr val="bg1">
                    <a:lumMod val="85000"/>
                  </a:schemeClr>
                </a:solidFill>
              </a:rPr>
              <a:t>[2,] "15"        "30"        "45"        "60"        "30"        "45"        "60"        "45"        "60"        "60"</a:t>
            </a:r>
          </a:p>
          <a:p>
            <a:r>
              <a:rPr lang="en-US" sz="1600" dirty="0">
                <a:solidFill>
                  <a:schemeClr val="bg1">
                    <a:lumMod val="85000"/>
                  </a:schemeClr>
                </a:solidFill>
              </a:rPr>
              <a:t>[3,] "00"        "00"        "00"        "00"        "15"        "15"        "15"        "30"        "30"        "45”</a:t>
            </a:r>
          </a:p>
          <a:p>
            <a:endParaRPr lang="en-US" sz="1600" dirty="0">
              <a:solidFill>
                <a:schemeClr val="bg1">
                  <a:lumMod val="85000"/>
                </a:schemeClr>
              </a:solidFill>
            </a:endParaRPr>
          </a:p>
          <a:p>
            <a:r>
              <a:rPr lang="en-US" sz="1600" dirty="0">
                <a:solidFill>
                  <a:schemeClr val="bg1">
                    <a:lumMod val="85000"/>
                  </a:schemeClr>
                </a:solidFill>
              </a:rPr>
              <a:t>&gt; results(</a:t>
            </a:r>
            <a:r>
              <a:rPr lang="en-US" sz="1600" dirty="0" err="1">
                <a:solidFill>
                  <a:schemeClr val="bg1">
                    <a:lumMod val="85000"/>
                  </a:schemeClr>
                </a:solidFill>
              </a:rPr>
              <a:t>dds</a:t>
            </a:r>
            <a:r>
              <a:rPr lang="en-US" sz="1600" dirty="0">
                <a:solidFill>
                  <a:schemeClr val="bg1">
                    <a:lumMod val="85000"/>
                  </a:schemeClr>
                </a:solidFill>
              </a:rPr>
              <a:t>, contrast = contrasts[, 2])</a:t>
            </a:r>
          </a:p>
          <a:p>
            <a:r>
              <a:rPr lang="en-US" sz="1600" b="1" dirty="0">
                <a:solidFill>
                  <a:schemeClr val="bg1"/>
                </a:solidFill>
              </a:rPr>
              <a:t>log2 fold change (MLE): timepoint 30 vs 00</a:t>
            </a:r>
          </a:p>
          <a:p>
            <a:r>
              <a:rPr lang="en-US" sz="1600" b="1" dirty="0">
                <a:solidFill>
                  <a:schemeClr val="bg1"/>
                </a:solidFill>
              </a:rPr>
              <a:t>Wald test p-value: timepoint 30 vs 00</a:t>
            </a:r>
          </a:p>
          <a:p>
            <a:r>
              <a:rPr lang="en-US" sz="1600" b="1" dirty="0" err="1">
                <a:solidFill>
                  <a:schemeClr val="bg1"/>
                </a:solidFill>
              </a:rPr>
              <a:t>DataFrame</a:t>
            </a:r>
            <a:r>
              <a:rPr lang="en-US" sz="1600" b="1" dirty="0">
                <a:solidFill>
                  <a:schemeClr val="bg1"/>
                </a:solidFill>
              </a:rPr>
              <a:t> with 6513 rows and 6 columns</a:t>
            </a:r>
          </a:p>
          <a:p>
            <a:r>
              <a:rPr lang="en-US" sz="1600" dirty="0">
                <a:solidFill>
                  <a:schemeClr val="bg1">
                    <a:lumMod val="85000"/>
                  </a:schemeClr>
                </a:solidFill>
              </a:rPr>
              <a:t>      </a:t>
            </a:r>
            <a:r>
              <a:rPr lang="en-US" sz="1600" dirty="0" err="1">
                <a:solidFill>
                  <a:schemeClr val="bg1">
                    <a:lumMod val="85000"/>
                  </a:schemeClr>
                </a:solidFill>
              </a:rPr>
              <a:t>baseMean</a:t>
            </a:r>
            <a:r>
              <a:rPr lang="en-US" sz="1600" dirty="0">
                <a:solidFill>
                  <a:schemeClr val="bg1">
                    <a:lumMod val="85000"/>
                  </a:schemeClr>
                </a:solidFill>
              </a:rPr>
              <a:t> log2FoldChange     </a:t>
            </a:r>
            <a:r>
              <a:rPr lang="en-US" sz="1600" dirty="0" err="1">
                <a:solidFill>
                  <a:schemeClr val="bg1">
                    <a:lumMod val="85000"/>
                  </a:schemeClr>
                </a:solidFill>
              </a:rPr>
              <a:t>lfcSE</a:t>
            </a:r>
            <a:r>
              <a:rPr lang="en-US" sz="1600" dirty="0">
                <a:solidFill>
                  <a:schemeClr val="bg1">
                    <a:lumMod val="85000"/>
                  </a:schemeClr>
                </a:solidFill>
              </a:rPr>
              <a:t>       stat      </a:t>
            </a:r>
            <a:r>
              <a:rPr lang="en-US" sz="1600" dirty="0" err="1">
                <a:solidFill>
                  <a:schemeClr val="bg1">
                    <a:lumMod val="85000"/>
                  </a:schemeClr>
                </a:solidFill>
              </a:rPr>
              <a:t>pvalue</a:t>
            </a:r>
            <a:r>
              <a:rPr lang="en-US" sz="1600" dirty="0">
                <a:solidFill>
                  <a:schemeClr val="bg1">
                    <a:lumMod val="85000"/>
                  </a:schemeClr>
                </a:solidFill>
              </a:rPr>
              <a:t>        </a:t>
            </a:r>
            <a:r>
              <a:rPr lang="en-US" sz="1600" dirty="0" err="1">
                <a:solidFill>
                  <a:schemeClr val="bg1">
                    <a:lumMod val="85000"/>
                  </a:schemeClr>
                </a:solidFill>
              </a:rPr>
              <a:t>padj</a:t>
            </a:r>
            <a:endParaRPr lang="en-US" sz="1600" dirty="0">
              <a:solidFill>
                <a:schemeClr val="bg1">
                  <a:lumMod val="85000"/>
                </a:schemeClr>
              </a:solidFill>
            </a:endParaRPr>
          </a:p>
          <a:p>
            <a:r>
              <a:rPr lang="en-US" sz="1600" dirty="0">
                <a:solidFill>
                  <a:schemeClr val="bg1">
                    <a:lumMod val="85000"/>
                  </a:schemeClr>
                </a:solidFill>
              </a:rPr>
              <a:t>     &lt;numeric&gt;      &lt;numeric&gt; &lt;numeric&gt;  &lt;numeric&gt;   &lt;numeric&gt;   &lt;numeric&gt;</a:t>
            </a:r>
          </a:p>
          <a:p>
            <a:r>
              <a:rPr lang="en-US" sz="1600" dirty="0">
                <a:solidFill>
                  <a:schemeClr val="bg1">
                    <a:lumMod val="85000"/>
                  </a:schemeClr>
                </a:solidFill>
              </a:rPr>
              <a:t>1    1643.7457      -0.900131  0.225114   -3.99856 6.37297e-05 0.002809493</a:t>
            </a:r>
          </a:p>
          <a:p>
            <a:r>
              <a:rPr lang="en-US" sz="1600" dirty="0">
                <a:solidFill>
                  <a:schemeClr val="bg1">
                    <a:lumMod val="85000"/>
                  </a:schemeClr>
                </a:solidFill>
              </a:rPr>
              <a:t>2     106.1707      -0.876365  0.313066   -2.79930 5.12139e-03 0.066589377</a:t>
            </a:r>
          </a:p>
          <a:p>
            <a:r>
              <a:rPr lang="en-US" sz="1600" dirty="0">
                <a:solidFill>
                  <a:schemeClr val="bg1">
                    <a:lumMod val="85000"/>
                  </a:schemeClr>
                </a:solidFill>
              </a:rPr>
              <a:t>3     134.4141      -0.753498  0.311437   -2.41942 1.55451e-02 0.133487340</a:t>
            </a:r>
          </a:p>
          <a:p>
            <a:r>
              <a:rPr lang="en-US" sz="1600" dirty="0">
                <a:solidFill>
                  <a:schemeClr val="bg1">
                    <a:lumMod val="85000"/>
                  </a:schemeClr>
                </a:solidFill>
              </a:rPr>
              <a:t>4     203.8053      -1.094019  0.227780   -4.80296 1.56338e-06 0.000140911</a:t>
            </a:r>
          </a:p>
          <a:p>
            <a:r>
              <a:rPr lang="en-US" sz="1600" dirty="0">
                <a:solidFill>
                  <a:schemeClr val="bg1">
                    <a:lumMod val="85000"/>
                  </a:schemeClr>
                </a:solidFill>
              </a:rPr>
              <a:t>5      67.2922      -1.001061  0.336647   -2.97362 2.94309e-03 0.046569804</a:t>
            </a:r>
          </a:p>
          <a:p>
            <a:r>
              <a:rPr lang="en-US" sz="1600" dirty="0">
                <a:solidFill>
                  <a:schemeClr val="bg1">
                    <a:lumMod val="85000"/>
                  </a:schemeClr>
                </a:solidFill>
              </a:rPr>
              <a:t>...        ...            ...       ...        ...         ...         ...</a:t>
            </a:r>
          </a:p>
          <a:p>
            <a:r>
              <a:rPr lang="en-US" sz="1600" dirty="0">
                <a:solidFill>
                  <a:schemeClr val="bg1">
                    <a:lumMod val="85000"/>
                  </a:schemeClr>
                </a:solidFill>
              </a:rPr>
              <a:t>6509   36.1437     -0.0313828  0.417826 -0.0751098   0.9401274    0.979001</a:t>
            </a:r>
          </a:p>
          <a:p>
            <a:r>
              <a:rPr lang="en-US" sz="1600" dirty="0">
                <a:solidFill>
                  <a:schemeClr val="bg1">
                    <a:lumMod val="85000"/>
                  </a:schemeClr>
                </a:solidFill>
              </a:rPr>
              <a:t>6510  603.5468     -0.4020281  0.181778 -2.2116386   0.0269916    0.185475</a:t>
            </a:r>
          </a:p>
          <a:p>
            <a:r>
              <a:rPr lang="en-US" sz="1600" dirty="0">
                <a:solidFill>
                  <a:schemeClr val="bg1">
                    <a:lumMod val="85000"/>
                  </a:schemeClr>
                </a:solidFill>
              </a:rPr>
              <a:t>6511   42.8792     -0.3776449  0.378523 -0.9976807   0.3184342    0.633629</a:t>
            </a:r>
          </a:p>
          <a:p>
            <a:r>
              <a:rPr lang="en-US" sz="1600" dirty="0">
                <a:solidFill>
                  <a:schemeClr val="bg1">
                    <a:lumMod val="85000"/>
                  </a:schemeClr>
                </a:solidFill>
              </a:rPr>
              <a:t>6512   15.2541     -0.5818438  0.642764 -0.9052221   0.3653477          NA</a:t>
            </a:r>
          </a:p>
          <a:p>
            <a:r>
              <a:rPr lang="en-US" sz="1600" dirty="0">
                <a:solidFill>
                  <a:schemeClr val="bg1">
                    <a:lumMod val="85000"/>
                  </a:schemeClr>
                </a:solidFill>
              </a:rPr>
              <a:t>6513   37.8941     -0.8396196  0.427293 -1.9649731   0.0494173    0.258224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3B38D38-8128-1141-B244-B3BF586F4614}"/>
              </a:ext>
            </a:extLst>
          </p:cNvPr>
          <p:cNvSpPr/>
          <p:nvPr/>
        </p:nvSpPr>
        <p:spPr>
          <a:xfrm flipV="1">
            <a:off x="1389282" y="3415479"/>
            <a:ext cx="1356793" cy="1766455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885772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BCBB83-5433-344C-BDB0-622BF73A0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DESeq2 analysis workflow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24F125-2458-6D78-BEA2-96C9806B5C6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990570F-B803-4F4C-ACD1-264499AAA3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4) Extract results</a:t>
            </a:r>
          </a:p>
          <a:p>
            <a:endParaRPr lang="en-US" dirty="0"/>
          </a:p>
          <a:p>
            <a:pPr lvl="2"/>
            <a:r>
              <a:rPr lang="en-US" sz="2400" dirty="0"/>
              <a:t>We can use </a:t>
            </a:r>
            <a:r>
              <a:rPr lang="en-GB" sz="2400" dirty="0">
                <a:solidFill>
                  <a:srgbClr val="ABB2BF"/>
                </a:solidFill>
                <a:latin typeface="Menlo" panose="020B0609030804020204" pitchFamily="49" charset="0"/>
              </a:rPr>
              <a:t>DESeq2</a:t>
            </a:r>
            <a:r>
              <a:rPr lang="en-GB" sz="2400" dirty="0">
                <a:solidFill>
                  <a:srgbClr val="C678DD"/>
                </a:solidFill>
                <a:latin typeface="Menlo" panose="020B0609030804020204" pitchFamily="49" charset="0"/>
              </a:rPr>
              <a:t>::</a:t>
            </a:r>
            <a:r>
              <a:rPr lang="en-GB" sz="2400" dirty="0">
                <a:solidFill>
                  <a:srgbClr val="6EA4EB"/>
                </a:solidFill>
                <a:latin typeface="Menlo" panose="020B0609030804020204" pitchFamily="49" charset="0"/>
              </a:rPr>
              <a:t>results()</a:t>
            </a:r>
            <a:endParaRPr lang="en-GB" sz="2400" dirty="0">
              <a:latin typeface="Menlo" panose="020B0609030804020204" pitchFamily="49" charset="0"/>
            </a:endParaRPr>
          </a:p>
          <a:p>
            <a:pPr lvl="2"/>
            <a:r>
              <a:rPr lang="en-GB" sz="2400" dirty="0"/>
              <a:t>DESeq2 extracts results for pairwise comparison between 2 conditions</a:t>
            </a:r>
          </a:p>
          <a:p>
            <a:pPr lvl="2"/>
            <a:endParaRPr lang="en-US" sz="240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9AB3B4-0398-1A49-A6B6-7B9C52FF46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Analyzing NGS data with R/Bioconductor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236E94-1109-1A4C-8138-A7786C224555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0" y="6356350"/>
            <a:ext cx="2743200" cy="365125"/>
          </a:xfrm>
        </p:spPr>
        <p:txBody>
          <a:bodyPr/>
          <a:lstStyle/>
          <a:p>
            <a:r>
              <a:rPr lang="en-GB"/>
              <a:t>2020/01/13</a:t>
            </a: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9675E81-B5BE-3E49-99DD-9FA24892C085}"/>
              </a:ext>
            </a:extLst>
          </p:cNvPr>
          <p:cNvSpPr/>
          <p:nvPr/>
        </p:nvSpPr>
        <p:spPr>
          <a:xfrm>
            <a:off x="0" y="931767"/>
            <a:ext cx="12192000" cy="594008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bg1">
                    <a:lumMod val="85000"/>
                  </a:schemeClr>
                </a:solidFill>
              </a:rPr>
              <a:t>&gt; contrasts</a:t>
            </a:r>
          </a:p>
          <a:p>
            <a:r>
              <a:rPr lang="en-US" sz="1600" dirty="0">
                <a:solidFill>
                  <a:schemeClr val="bg1">
                    <a:lumMod val="85000"/>
                  </a:schemeClr>
                </a:solidFill>
              </a:rPr>
              <a:t>     15_v_00     30_v_00     45_v_00     60_v_00     30_v_15     45_v_15     60_v_15     45_v_30     60_v_30     60_v_45</a:t>
            </a:r>
          </a:p>
          <a:p>
            <a:r>
              <a:rPr lang="en-US" sz="1600" dirty="0">
                <a:solidFill>
                  <a:schemeClr val="bg1">
                    <a:lumMod val="85000"/>
                  </a:schemeClr>
                </a:solidFill>
              </a:rPr>
              <a:t>[1,] "timepoint" "timepoint" "timepoint" "timepoint" "timepoint" "timepoint" "timepoint" "timepoint" "timepoint" "timepoint"</a:t>
            </a:r>
          </a:p>
          <a:p>
            <a:r>
              <a:rPr lang="en-US" sz="1600" dirty="0">
                <a:solidFill>
                  <a:schemeClr val="bg1">
                    <a:lumMod val="85000"/>
                  </a:schemeClr>
                </a:solidFill>
              </a:rPr>
              <a:t>[2,] "15"        "30"        "45"        "60"        "30"        "45"        "60"        "45"        "60"        "60"</a:t>
            </a:r>
          </a:p>
          <a:p>
            <a:r>
              <a:rPr lang="en-US" sz="1600" dirty="0">
                <a:solidFill>
                  <a:schemeClr val="bg1">
                    <a:lumMod val="85000"/>
                  </a:schemeClr>
                </a:solidFill>
              </a:rPr>
              <a:t>[3,] "00"        "00"        "00"        "00"        "15"        "15"        "15"        "30"        "30"        "45”</a:t>
            </a:r>
          </a:p>
          <a:p>
            <a:endParaRPr lang="en-US" sz="1600" dirty="0">
              <a:solidFill>
                <a:schemeClr val="bg1">
                  <a:lumMod val="85000"/>
                </a:schemeClr>
              </a:solidFill>
            </a:endParaRPr>
          </a:p>
          <a:p>
            <a:r>
              <a:rPr lang="en-US" sz="1600" dirty="0">
                <a:solidFill>
                  <a:schemeClr val="bg1">
                    <a:lumMod val="85000"/>
                  </a:schemeClr>
                </a:solidFill>
              </a:rPr>
              <a:t>&gt; results(</a:t>
            </a:r>
            <a:r>
              <a:rPr lang="en-US" sz="1600" dirty="0" err="1">
                <a:solidFill>
                  <a:schemeClr val="bg1">
                    <a:lumMod val="85000"/>
                  </a:schemeClr>
                </a:solidFill>
              </a:rPr>
              <a:t>dds</a:t>
            </a:r>
            <a:r>
              <a:rPr lang="en-US" sz="1600" dirty="0">
                <a:solidFill>
                  <a:schemeClr val="bg1">
                    <a:lumMod val="85000"/>
                  </a:schemeClr>
                </a:solidFill>
              </a:rPr>
              <a:t>, contrast = contrasts[, 2])</a:t>
            </a:r>
          </a:p>
          <a:p>
            <a:r>
              <a:rPr lang="en-US" sz="1600" b="1" dirty="0">
                <a:solidFill>
                  <a:schemeClr val="bg1"/>
                </a:solidFill>
              </a:rPr>
              <a:t>log2 fold change (MLE): timepoint 30 vs 00</a:t>
            </a:r>
          </a:p>
          <a:p>
            <a:r>
              <a:rPr lang="en-US" sz="1600" b="1" dirty="0">
                <a:solidFill>
                  <a:schemeClr val="bg1"/>
                </a:solidFill>
              </a:rPr>
              <a:t>Wald test p-value: timepoint 30 vs 00</a:t>
            </a:r>
          </a:p>
          <a:p>
            <a:r>
              <a:rPr lang="en-US" sz="1600" b="1" dirty="0" err="1">
                <a:solidFill>
                  <a:schemeClr val="bg1"/>
                </a:solidFill>
              </a:rPr>
              <a:t>DataFrame</a:t>
            </a:r>
            <a:r>
              <a:rPr lang="en-US" sz="1600" b="1" dirty="0">
                <a:solidFill>
                  <a:schemeClr val="bg1"/>
                </a:solidFill>
              </a:rPr>
              <a:t> with 6513 rows and 6 columns</a:t>
            </a:r>
          </a:p>
          <a:p>
            <a:r>
              <a:rPr lang="en-US" sz="1600" dirty="0">
                <a:solidFill>
                  <a:schemeClr val="bg1">
                    <a:lumMod val="85000"/>
                  </a:schemeClr>
                </a:solidFill>
              </a:rPr>
              <a:t>      </a:t>
            </a:r>
            <a:r>
              <a:rPr lang="en-US" sz="1600" dirty="0" err="1">
                <a:solidFill>
                  <a:schemeClr val="bg1">
                    <a:lumMod val="85000"/>
                  </a:schemeClr>
                </a:solidFill>
              </a:rPr>
              <a:t>baseMean</a:t>
            </a:r>
            <a:r>
              <a:rPr lang="en-US" sz="1600" dirty="0">
                <a:solidFill>
                  <a:schemeClr val="bg1">
                    <a:lumMod val="85000"/>
                  </a:schemeClr>
                </a:solidFill>
              </a:rPr>
              <a:t> log2FoldChange     </a:t>
            </a:r>
            <a:r>
              <a:rPr lang="en-US" sz="1600" dirty="0" err="1">
                <a:solidFill>
                  <a:schemeClr val="bg1">
                    <a:lumMod val="85000"/>
                  </a:schemeClr>
                </a:solidFill>
              </a:rPr>
              <a:t>lfcSE</a:t>
            </a:r>
            <a:r>
              <a:rPr lang="en-US" sz="1600" dirty="0">
                <a:solidFill>
                  <a:schemeClr val="bg1">
                    <a:lumMod val="85000"/>
                  </a:schemeClr>
                </a:solidFill>
              </a:rPr>
              <a:t>       stat      </a:t>
            </a:r>
            <a:r>
              <a:rPr lang="en-US" sz="1600" dirty="0" err="1">
                <a:solidFill>
                  <a:schemeClr val="bg1">
                    <a:lumMod val="85000"/>
                  </a:schemeClr>
                </a:solidFill>
              </a:rPr>
              <a:t>pvalue</a:t>
            </a:r>
            <a:r>
              <a:rPr lang="en-US" sz="1600" dirty="0">
                <a:solidFill>
                  <a:schemeClr val="bg1">
                    <a:lumMod val="85000"/>
                  </a:schemeClr>
                </a:solidFill>
              </a:rPr>
              <a:t>        </a:t>
            </a:r>
            <a:r>
              <a:rPr lang="en-US" sz="1600" dirty="0" err="1">
                <a:solidFill>
                  <a:schemeClr val="bg1">
                    <a:lumMod val="85000"/>
                  </a:schemeClr>
                </a:solidFill>
              </a:rPr>
              <a:t>padj</a:t>
            </a:r>
            <a:endParaRPr lang="en-US" sz="1600" dirty="0">
              <a:solidFill>
                <a:schemeClr val="bg1">
                  <a:lumMod val="85000"/>
                </a:schemeClr>
              </a:solidFill>
            </a:endParaRPr>
          </a:p>
          <a:p>
            <a:r>
              <a:rPr lang="en-US" sz="1600" dirty="0">
                <a:solidFill>
                  <a:schemeClr val="bg1">
                    <a:lumMod val="85000"/>
                  </a:schemeClr>
                </a:solidFill>
              </a:rPr>
              <a:t>     &lt;numeric&gt;      &lt;numeric&gt; &lt;numeric&gt;  &lt;numeric&gt;   &lt;numeric&gt;   &lt;numeric&gt;</a:t>
            </a:r>
          </a:p>
          <a:p>
            <a:r>
              <a:rPr lang="en-US" sz="1600" dirty="0">
                <a:solidFill>
                  <a:schemeClr val="bg1">
                    <a:lumMod val="85000"/>
                  </a:schemeClr>
                </a:solidFill>
              </a:rPr>
              <a:t>1    1643.7457      -0.900131  0.225114   -3.99856 6.37297e-05 0.002809493</a:t>
            </a:r>
          </a:p>
          <a:p>
            <a:r>
              <a:rPr lang="en-US" sz="1600" dirty="0">
                <a:solidFill>
                  <a:schemeClr val="bg1">
                    <a:lumMod val="85000"/>
                  </a:schemeClr>
                </a:solidFill>
              </a:rPr>
              <a:t>2     106.1707      -0.876365  0.313066   -2.79930 5.12139e-03 0.066589377</a:t>
            </a:r>
          </a:p>
          <a:p>
            <a:r>
              <a:rPr lang="en-US" sz="1600" dirty="0">
                <a:solidFill>
                  <a:schemeClr val="bg1">
                    <a:lumMod val="85000"/>
                  </a:schemeClr>
                </a:solidFill>
              </a:rPr>
              <a:t>3     134.4141      -0.753498  0.311437   -2.41942 1.55451e-02 0.133487340</a:t>
            </a:r>
          </a:p>
          <a:p>
            <a:r>
              <a:rPr lang="en-US" sz="1600" dirty="0">
                <a:solidFill>
                  <a:schemeClr val="bg1">
                    <a:lumMod val="85000"/>
                  </a:schemeClr>
                </a:solidFill>
              </a:rPr>
              <a:t>4     203.8053      -1.094019  0.227780   -4.80296 1.56338e-06 0.000140911</a:t>
            </a:r>
          </a:p>
          <a:p>
            <a:r>
              <a:rPr lang="en-US" sz="1600" dirty="0">
                <a:solidFill>
                  <a:schemeClr val="bg1">
                    <a:lumMod val="85000"/>
                  </a:schemeClr>
                </a:solidFill>
              </a:rPr>
              <a:t>5      67.2922      -1.001061  0.336647   -2.97362 2.94309e-03 0.046569804</a:t>
            </a:r>
          </a:p>
          <a:p>
            <a:r>
              <a:rPr lang="en-US" sz="1600" dirty="0">
                <a:solidFill>
                  <a:schemeClr val="bg1">
                    <a:lumMod val="85000"/>
                  </a:schemeClr>
                </a:solidFill>
              </a:rPr>
              <a:t>...        ...            ...       ...        ...         ...         ...</a:t>
            </a:r>
          </a:p>
          <a:p>
            <a:r>
              <a:rPr lang="en-US" sz="1600" dirty="0">
                <a:solidFill>
                  <a:schemeClr val="bg1">
                    <a:lumMod val="85000"/>
                  </a:schemeClr>
                </a:solidFill>
              </a:rPr>
              <a:t>6509   36.1437     -0.0313828  0.417826 -0.0751098   0.9401274    0.979001</a:t>
            </a:r>
          </a:p>
          <a:p>
            <a:r>
              <a:rPr lang="en-US" sz="1600" dirty="0">
                <a:solidFill>
                  <a:schemeClr val="bg1">
                    <a:lumMod val="85000"/>
                  </a:schemeClr>
                </a:solidFill>
              </a:rPr>
              <a:t>6510  603.5468     -0.4020281  0.181778 -2.2116386   0.0269916    0.185475</a:t>
            </a:r>
          </a:p>
          <a:p>
            <a:r>
              <a:rPr lang="en-US" sz="1600" dirty="0">
                <a:solidFill>
                  <a:schemeClr val="bg1">
                    <a:lumMod val="85000"/>
                  </a:schemeClr>
                </a:solidFill>
              </a:rPr>
              <a:t>6511   42.8792     -0.3776449  0.378523 -0.9976807   0.3184342    0.633629</a:t>
            </a:r>
          </a:p>
          <a:p>
            <a:r>
              <a:rPr lang="en-US" sz="1600" dirty="0">
                <a:solidFill>
                  <a:schemeClr val="bg1">
                    <a:lumMod val="85000"/>
                  </a:schemeClr>
                </a:solidFill>
              </a:rPr>
              <a:t>6512   15.2541     -0.5818438  0.642764 -0.9052221   0.3653477          NA</a:t>
            </a:r>
          </a:p>
          <a:p>
            <a:r>
              <a:rPr lang="en-US" sz="1600" dirty="0">
                <a:solidFill>
                  <a:schemeClr val="bg1">
                    <a:lumMod val="85000"/>
                  </a:schemeClr>
                </a:solidFill>
              </a:rPr>
              <a:t>6513   37.8941     -0.8396196  0.427293 -1.9649731   0.0494173    0.258224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3B38D38-8128-1141-B244-B3BF586F4614}"/>
              </a:ext>
            </a:extLst>
          </p:cNvPr>
          <p:cNvSpPr/>
          <p:nvPr/>
        </p:nvSpPr>
        <p:spPr>
          <a:xfrm flipV="1">
            <a:off x="5650199" y="3429000"/>
            <a:ext cx="1481485" cy="1766455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357669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BCBB83-5433-344C-BDB0-622BF73A0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Regularized log counts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F91CAF-4206-ABBF-1BA3-5D3D0D2C402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990570F-B803-4F4C-ACD1-264499AAA3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DESeq2 is primarily designed to </a:t>
            </a:r>
            <a:r>
              <a:rPr lang="en-US" sz="1600" b="1" u="sng" dirty="0"/>
              <a:t>estimate fold-change</a:t>
            </a:r>
            <a:r>
              <a:rPr lang="en-US" sz="1600" dirty="0"/>
              <a:t> between conditions, </a:t>
            </a:r>
            <a:r>
              <a:rPr lang="en-US" sz="1600" b="1" u="sng" dirty="0"/>
              <a:t>NOT</a:t>
            </a:r>
            <a:r>
              <a:rPr lang="en-US" sz="1600" dirty="0"/>
              <a:t> actual </a:t>
            </a:r>
            <a:r>
              <a:rPr lang="en-US" sz="1600"/>
              <a:t>abundance!</a:t>
            </a:r>
            <a:endParaRPr lang="en-US" sz="160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9AB3B4-0398-1A49-A6B6-7B9C52FF46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Analyzing NGS data with R/Bioconductor </a:t>
            </a:r>
          </a:p>
        </p:txBody>
      </p:sp>
    </p:spTree>
    <p:extLst>
      <p:ext uri="{BB962C8B-B14F-4D97-AF65-F5344CB8AC3E}">
        <p14:creationId xmlns:p14="http://schemas.microsoft.com/office/powerpoint/2010/main" val="423610560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BCBB83-5433-344C-BDB0-622BF73A0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Regularized log counts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F91CAF-4206-ABBF-1BA3-5D3D0D2C402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990570F-B803-4F4C-ACD1-264499AAA3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DESeq2 is primarily designed to </a:t>
            </a:r>
            <a:r>
              <a:rPr lang="en-US" sz="1600" b="1" u="sng" dirty="0"/>
              <a:t>estimate fold-change</a:t>
            </a:r>
            <a:r>
              <a:rPr lang="en-US" sz="1600" dirty="0"/>
              <a:t> between conditions, </a:t>
            </a:r>
            <a:r>
              <a:rPr lang="en-US" sz="1600" b="1" u="sng" dirty="0"/>
              <a:t>NOT</a:t>
            </a:r>
            <a:r>
              <a:rPr lang="en-US" sz="1600" dirty="0"/>
              <a:t> actual abundance!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 err="1"/>
              <a:t>Rlog</a:t>
            </a:r>
            <a:r>
              <a:rPr lang="en-US" sz="1600" dirty="0"/>
              <a:t> (regularized log) can be used to approximate gene expression levels.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9AB3B4-0398-1A49-A6B6-7B9C52FF46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Analyzing NGS data with R/Bioconductor </a:t>
            </a:r>
          </a:p>
        </p:txBody>
      </p:sp>
    </p:spTree>
    <p:extLst>
      <p:ext uri="{BB962C8B-B14F-4D97-AF65-F5344CB8AC3E}">
        <p14:creationId xmlns:p14="http://schemas.microsoft.com/office/powerpoint/2010/main" val="224909001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BCBB83-5433-344C-BDB0-622BF73A0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Regularized log counts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F91CAF-4206-ABBF-1BA3-5D3D0D2C402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990570F-B803-4F4C-ACD1-264499AAA3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DESeq2 is primarily designed to </a:t>
            </a:r>
            <a:r>
              <a:rPr lang="en-US" sz="1600" b="1" u="sng" dirty="0"/>
              <a:t>estimate fold-change</a:t>
            </a:r>
            <a:r>
              <a:rPr lang="en-US" sz="1600" dirty="0"/>
              <a:t> between conditions, </a:t>
            </a:r>
            <a:r>
              <a:rPr lang="en-US" sz="1600" b="1" u="sng" dirty="0"/>
              <a:t>NOT</a:t>
            </a:r>
            <a:r>
              <a:rPr lang="en-US" sz="1600" dirty="0"/>
              <a:t> actual abundance!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 err="1"/>
              <a:t>Rlog</a:t>
            </a:r>
            <a:r>
              <a:rPr lang="en-US" sz="1600" dirty="0"/>
              <a:t> (regularized log) can be used to approximate gene expression levels.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 err="1"/>
              <a:t>Rlog</a:t>
            </a:r>
            <a:r>
              <a:rPr lang="en-US" sz="1600" dirty="0"/>
              <a:t> </a:t>
            </a:r>
            <a:r>
              <a:rPr lang="en-GB" sz="1600" dirty="0"/>
              <a:t>transforms the count data to the </a:t>
            </a:r>
            <a:r>
              <a:rPr lang="en-GB" sz="1600" b="1" u="sng" dirty="0"/>
              <a:t>log2 scale</a:t>
            </a:r>
            <a:r>
              <a:rPr lang="en-GB" sz="1600" b="1" dirty="0"/>
              <a:t> </a:t>
            </a:r>
            <a:r>
              <a:rPr lang="en-GB" sz="1600" dirty="0"/>
              <a:t>in a way which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1600" dirty="0"/>
              <a:t>	1) </a:t>
            </a:r>
            <a:r>
              <a:rPr lang="en-GB" sz="1600" u="sng" dirty="0"/>
              <a:t>minimizes differences between samples for rows with small counts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1600" dirty="0"/>
              <a:t>	2) </a:t>
            </a:r>
            <a:r>
              <a:rPr lang="en-GB" sz="1600" u="sng" dirty="0"/>
              <a:t>normalizes with respect to library size</a:t>
            </a:r>
          </a:p>
          <a:p>
            <a:pPr marL="0" indent="0">
              <a:lnSpc>
                <a:spcPct val="150000"/>
              </a:lnSpc>
              <a:buNone/>
            </a:pPr>
            <a:endParaRPr lang="en-GB" sz="1600" u="sng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600" dirty="0"/>
              <a:t>DESeq2::</a:t>
            </a:r>
            <a:r>
              <a:rPr lang="en-US" sz="1600" dirty="0" err="1"/>
              <a:t>rlog</a:t>
            </a:r>
            <a:r>
              <a:rPr lang="en-US" sz="1600" dirty="0"/>
              <a:t>()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60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9AB3B4-0398-1A49-A6B6-7B9C52FF46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Analyzing NGS data with R/Bioconductor </a:t>
            </a:r>
          </a:p>
        </p:txBody>
      </p:sp>
    </p:spTree>
    <p:extLst>
      <p:ext uri="{BB962C8B-B14F-4D97-AF65-F5344CB8AC3E}">
        <p14:creationId xmlns:p14="http://schemas.microsoft.com/office/powerpoint/2010/main" val="2008800697"/>
      </p:ext>
    </p:extLst>
  </p:cSld>
  <p:clrMapOvr>
    <a:masterClrMapping/>
  </p:clrMapOvr>
</p:sld>
</file>

<file path=ppt/theme/theme1.xml><?xml version="1.0" encoding="utf-8"?>
<a:theme xmlns:a="http://schemas.openxmlformats.org/drawingml/2006/main" name="PasteurIbens">
  <a:themeElements>
    <a:clrScheme name="Paper">
      <a:dk1>
        <a:sysClr val="windowText" lastClr="000000"/>
      </a:dk1>
      <a:lt1>
        <a:sysClr val="window" lastClr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 w="25400"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asteurIbens" id="{082BC117-FEE3-ED4F-B66F-EAD8503ADF60}" vid="{75DD1838-2F74-B64C-8F9C-677C1FFB48A5}"/>
    </a:ext>
  </a:extLst>
</a:theme>
</file>

<file path=ppt/theme/theme2.xml><?xml version="1.0" encoding="utf-8"?>
<a:theme xmlns:a="http://schemas.openxmlformats.org/drawingml/2006/main" name="Physalia">
  <a:themeElements>
    <a:clrScheme name="Paper">
      <a:dk1>
        <a:sysClr val="windowText" lastClr="000000"/>
      </a:dk1>
      <a:lt1>
        <a:sysClr val="window" lastClr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 w="25400"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hysalia" id="{69934CF8-A18F-7247-8F23-6766B46F796C}" vid="{9CED6D7E-FF7E-C647-8158-BDC011F06FE3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PasteurIbens</Template>
  <TotalTime>2780</TotalTime>
  <Words>2879</Words>
  <Application>Microsoft Macintosh PowerPoint</Application>
  <PresentationFormat>Widescreen</PresentationFormat>
  <Paragraphs>340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26</vt:i4>
      </vt:variant>
    </vt:vector>
  </HeadingPairs>
  <TitlesOfParts>
    <vt:vector size="36" baseType="lpstr">
      <vt:lpstr>Arial</vt:lpstr>
      <vt:lpstr>Avenir</vt:lpstr>
      <vt:lpstr>Calibri</vt:lpstr>
      <vt:lpstr>Comfortaa</vt:lpstr>
      <vt:lpstr>Courier New</vt:lpstr>
      <vt:lpstr>Menlo</vt:lpstr>
      <vt:lpstr>Open Sans</vt:lpstr>
      <vt:lpstr>Wingdings</vt:lpstr>
      <vt:lpstr>PasteurIbens</vt:lpstr>
      <vt:lpstr>Physalia</vt:lpstr>
      <vt:lpstr>Quantification of gene expression</vt:lpstr>
      <vt:lpstr>RNA-seq downstream analysis</vt:lpstr>
      <vt:lpstr>DESeq2 analysis workflow</vt:lpstr>
      <vt:lpstr>Estimating gene/transcript abundance in RNA-seq</vt:lpstr>
      <vt:lpstr>Estimating gene/transcript abundance in RNA-seq</vt:lpstr>
      <vt:lpstr>Estimating gene/transcript abundance in RNA-seq</vt:lpstr>
      <vt:lpstr>Estimating gene/transcript abundance in RNA-seq</vt:lpstr>
      <vt:lpstr>Estimating gene/transcript abundance in RNA-seq</vt:lpstr>
      <vt:lpstr>DESeq2 analysis workflow</vt:lpstr>
      <vt:lpstr>SummarizedExperiment</vt:lpstr>
      <vt:lpstr>SummarizedExperiment</vt:lpstr>
      <vt:lpstr>SummarizedExperiment</vt:lpstr>
      <vt:lpstr>SummarizedExperiment</vt:lpstr>
      <vt:lpstr>SummarizedExperiment</vt:lpstr>
      <vt:lpstr>SummarizedExperiment</vt:lpstr>
      <vt:lpstr>DESeq2 analysis workflow</vt:lpstr>
      <vt:lpstr>DESeq2 analysis workflow</vt:lpstr>
      <vt:lpstr>DESeq2 analysis workflow</vt:lpstr>
      <vt:lpstr>DESeq2 analysis workflow</vt:lpstr>
      <vt:lpstr>DESeq2 analysis workflow</vt:lpstr>
      <vt:lpstr>DESeq2 analysis workflow</vt:lpstr>
      <vt:lpstr>DESeq2 analysis workflow</vt:lpstr>
      <vt:lpstr>DESeq2 analysis workflow</vt:lpstr>
      <vt:lpstr>Regularized log counts</vt:lpstr>
      <vt:lpstr>Regularized log counts</vt:lpstr>
      <vt:lpstr>Regularized log counts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Jacques  SERIZAY</dc:creator>
  <cp:lastModifiedBy>Jacques Serizay</cp:lastModifiedBy>
  <cp:revision>198</cp:revision>
  <dcterms:created xsi:type="dcterms:W3CDTF">2023-06-26T07:22:32Z</dcterms:created>
  <dcterms:modified xsi:type="dcterms:W3CDTF">2025-04-12T19:03:39Z</dcterms:modified>
</cp:coreProperties>
</file>