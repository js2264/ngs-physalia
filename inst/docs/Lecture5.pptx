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5"/>
  </p:notesMasterIdLst>
  <p:sldIdLst>
    <p:sldId id="256" r:id="rId3"/>
    <p:sldId id="257" r:id="rId4"/>
    <p:sldId id="261" r:id="rId5"/>
    <p:sldId id="269" r:id="rId6"/>
    <p:sldId id="270" r:id="rId7"/>
    <p:sldId id="271" r:id="rId8"/>
    <p:sldId id="307" r:id="rId9"/>
    <p:sldId id="286" r:id="rId10"/>
    <p:sldId id="290" r:id="rId11"/>
    <p:sldId id="291" r:id="rId12"/>
    <p:sldId id="292" r:id="rId13"/>
    <p:sldId id="260" r:id="rId14"/>
    <p:sldId id="264" r:id="rId15"/>
    <p:sldId id="265" r:id="rId16"/>
    <p:sldId id="293" r:id="rId17"/>
    <p:sldId id="263" r:id="rId18"/>
    <p:sldId id="267" r:id="rId19"/>
    <p:sldId id="296" r:id="rId20"/>
    <p:sldId id="308" r:id="rId21"/>
    <p:sldId id="295" r:id="rId22"/>
    <p:sldId id="266" r:id="rId23"/>
    <p:sldId id="29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05"/>
    <p:restoredTop sz="96327"/>
  </p:normalViewPr>
  <p:slideViewPr>
    <p:cSldViewPr snapToGrid="0">
      <p:cViewPr varScale="1">
        <p:scale>
          <a:sx n="124" d="100"/>
          <a:sy n="124" d="100"/>
        </p:scale>
        <p:origin x="8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 err="1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ChIP-seq</a:t>
            </a:r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 analysis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dirty="0"/>
              <a:t>Physalia 2026</a:t>
            </a:r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19AF-7542-5CE2-4947-E2765261B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immunoprecipitation: an old tool rejuvenated by high-throughput sequencing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E6250-A393-A2C9-9791-5B1CE4E764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F0CD9-6E73-ABEC-CAD0-69709A1E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E98708-15BE-216F-CD65-4E49E8C9C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Chromatin IP is not a new approach. It has been around for the past three decades 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97E00-D738-5BA1-BF45-51A5306B7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D1C700-6A29-BC23-17A8-AAB2AEFDE5A5}"/>
              </a:ext>
            </a:extLst>
          </p:cNvPr>
          <p:cNvSpPr/>
          <p:nvPr/>
        </p:nvSpPr>
        <p:spPr>
          <a:xfrm>
            <a:off x="2085975" y="1714392"/>
            <a:ext cx="9933654" cy="3847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dirty="0">
                <a:solidFill>
                  <a:srgbClr val="0EA7E4"/>
                </a:solidFill>
                <a:latin typeface="Helvetica" pitchFamily="2" charset="0"/>
              </a:rPr>
              <a:t>Summary</a:t>
            </a:r>
          </a:p>
          <a:p>
            <a:r>
              <a:rPr lang="en-GB" dirty="0"/>
              <a:t>We have used </a:t>
            </a:r>
            <a:r>
              <a:rPr lang="en-GB" dirty="0">
                <a:highlight>
                  <a:srgbClr val="FFFF00"/>
                </a:highlight>
              </a:rPr>
              <a:t>formaldehyde-mediated </a:t>
            </a:r>
            <a:r>
              <a:rPr lang="en-GB" dirty="0" err="1">
                <a:highlight>
                  <a:srgbClr val="FFFF00"/>
                </a:highlight>
              </a:rPr>
              <a:t>proteinDNA</a:t>
            </a:r>
            <a:r>
              <a:rPr lang="en-GB" dirty="0">
                <a:highlight>
                  <a:srgbClr val="FFFF00"/>
                </a:highlight>
              </a:rPr>
              <a:t> crosslinking </a:t>
            </a:r>
            <a:r>
              <a:rPr lang="en-GB" dirty="0"/>
              <a:t>within intact cells to examine the </a:t>
            </a:r>
            <a:r>
              <a:rPr lang="en-GB" dirty="0">
                <a:highlight>
                  <a:srgbClr val="FFFF00"/>
                </a:highlight>
              </a:rPr>
              <a:t>in vivo chromatin structure of the D. melanogaster heat shock protein 70 ( </a:t>
            </a:r>
            <a:r>
              <a:rPr lang="en-GB" i="1" dirty="0">
                <a:highlight>
                  <a:srgbClr val="FFFF00"/>
                </a:highlight>
              </a:rPr>
              <a:t>hsp70</a:t>
            </a:r>
            <a:r>
              <a:rPr lang="en-GB" dirty="0">
                <a:highlight>
                  <a:srgbClr val="FFFF00"/>
                </a:highlight>
              </a:rPr>
              <a:t>) genes</a:t>
            </a:r>
            <a:r>
              <a:rPr lang="en-GB" dirty="0"/>
              <a:t>. In agreement with previous in vitro studies, we find that the heat </a:t>
            </a:r>
            <a:r>
              <a:rPr lang="en-GB" dirty="0" err="1"/>
              <a:t>shockmediated</a:t>
            </a:r>
            <a:r>
              <a:rPr lang="en-GB" dirty="0"/>
              <a:t> transcriptional induction of the </a:t>
            </a:r>
            <a:r>
              <a:rPr lang="en-GB" i="1" dirty="0"/>
              <a:t>hsp70</a:t>
            </a:r>
            <a:r>
              <a:rPr lang="en-GB" dirty="0"/>
              <a:t> genes perturbs their chromatin structure, resulting in </a:t>
            </a:r>
            <a:r>
              <a:rPr lang="en-GB" dirty="0">
                <a:highlight>
                  <a:srgbClr val="FFFF00"/>
                </a:highlight>
              </a:rPr>
              <a:t>fewer </a:t>
            </a:r>
            <a:r>
              <a:rPr lang="en-GB" dirty="0" err="1">
                <a:highlight>
                  <a:srgbClr val="FFFF00"/>
                </a:highlight>
              </a:rPr>
              <a:t>proteinDNA</a:t>
            </a:r>
            <a:r>
              <a:rPr lang="en-GB" dirty="0">
                <a:highlight>
                  <a:srgbClr val="FFFF00"/>
                </a:highlight>
              </a:rPr>
              <a:t> contacts </a:t>
            </a:r>
            <a:r>
              <a:rPr lang="en-GB" dirty="0" err="1">
                <a:highlight>
                  <a:srgbClr val="FFFF00"/>
                </a:highlight>
              </a:rPr>
              <a:t>crosslinkable</a:t>
            </a:r>
            <a:r>
              <a:rPr lang="en-GB" dirty="0">
                <a:highlight>
                  <a:srgbClr val="FFFF00"/>
                </a:highlight>
              </a:rPr>
              <a:t> in vivo by formaldehyde</a:t>
            </a:r>
            <a:r>
              <a:rPr lang="en-GB" dirty="0"/>
              <a:t>. However, contrary to earlier in vitro evidence that histones may be absent from actively transcribed genes, we show directly, by </a:t>
            </a:r>
            <a:r>
              <a:rPr lang="en-GB" dirty="0">
                <a:highlight>
                  <a:srgbClr val="FFFF00"/>
                </a:highlight>
              </a:rPr>
              <a:t>immunoprecipitation of in </a:t>
            </a:r>
            <a:r>
              <a:rPr lang="en-GB" dirty="0" err="1">
                <a:highlight>
                  <a:srgbClr val="FFFF00"/>
                </a:highlight>
              </a:rPr>
              <a:t>vivocrosslinked</a:t>
            </a:r>
            <a:r>
              <a:rPr lang="en-GB" dirty="0">
                <a:highlight>
                  <a:srgbClr val="FFFF00"/>
                </a:highlight>
              </a:rPr>
              <a:t> chromatin fragments, that at least histone H4 remains bound to </a:t>
            </a:r>
            <a:r>
              <a:rPr lang="en-GB" i="1" dirty="0">
                <a:highlight>
                  <a:srgbClr val="FFFF00"/>
                </a:highlight>
              </a:rPr>
              <a:t>hsp70</a:t>
            </a:r>
            <a:r>
              <a:rPr lang="en-GB" dirty="0">
                <a:highlight>
                  <a:srgbClr val="FFFF00"/>
                </a:highlight>
              </a:rPr>
              <a:t> DNA in vivo</a:t>
            </a:r>
            <a:r>
              <a:rPr lang="en-GB" dirty="0"/>
              <a:t>, irrespective of its rate of transcription. The formaldehyde-based in vivo mapping techniques described in this work are generally applicable, and can be used both to probe </a:t>
            </a:r>
            <a:r>
              <a:rPr lang="en-GB" dirty="0" err="1"/>
              <a:t>proteinDNA</a:t>
            </a:r>
            <a:r>
              <a:rPr lang="en-GB" dirty="0"/>
              <a:t> interactions within specific genes and to determine the genomic location of specific chromosomal proteins.</a:t>
            </a:r>
          </a:p>
          <a:p>
            <a:br>
              <a:rPr lang="en-GB" dirty="0">
                <a:solidFill>
                  <a:srgbClr val="505050"/>
                </a:solidFill>
                <a:latin typeface="Helvetica" pitchFamily="2" charset="0"/>
              </a:rPr>
            </a:br>
            <a:endParaRPr lang="en-GB" dirty="0">
              <a:solidFill>
                <a:srgbClr val="505050"/>
              </a:solidFill>
              <a:latin typeface="Helvetic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2F4D7C-66AA-C080-754A-55BA69D0D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4392"/>
            <a:ext cx="19431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immunoprecipitation: an old </a:t>
            </a:r>
            <a:r>
              <a:rPr lang="en-US"/>
              <a:t>tool rejuvenated </a:t>
            </a:r>
            <a:r>
              <a:rPr lang="en-US" dirty="0"/>
              <a:t>by high-throughput sequencing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24DBF-4542-01F7-75FE-7D5990BAE7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gained a lot of traction when high-throughput sequencing emerged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561FE0-AD5C-B845-B265-A70365411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499" y="1796084"/>
            <a:ext cx="5281613" cy="367055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1D9F46F-4979-804C-972C-2DBB1F8557C6}"/>
              </a:ext>
            </a:extLst>
          </p:cNvPr>
          <p:cNvSpPr/>
          <p:nvPr/>
        </p:nvSpPr>
        <p:spPr>
          <a:xfrm flipH="1">
            <a:off x="2114549" y="2000949"/>
            <a:ext cx="3981450" cy="1314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712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ChIP-seq approaches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1A22A-3C8F-EFAF-345B-2C8BDEC529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ChIP-seq</a:t>
            </a:r>
          </a:p>
          <a:p>
            <a:r>
              <a:rPr lang="en-US" dirty="0"/>
              <a:t>Low input ChIP-seq</a:t>
            </a:r>
          </a:p>
          <a:p>
            <a:r>
              <a:rPr lang="en-US" dirty="0"/>
              <a:t>Native ChIP-seq</a:t>
            </a:r>
          </a:p>
          <a:p>
            <a:r>
              <a:rPr lang="en-US" dirty="0"/>
              <a:t>Indirect ChIP-seq with </a:t>
            </a:r>
            <a:r>
              <a:rPr lang="en-US" dirty="0" err="1"/>
              <a:t>DamID</a:t>
            </a:r>
            <a:endParaRPr lang="en-US" dirty="0"/>
          </a:p>
          <a:p>
            <a:r>
              <a:rPr lang="en-US" dirty="0"/>
              <a:t>ChIP-seq with chemical-based fragmentation</a:t>
            </a:r>
          </a:p>
          <a:p>
            <a:r>
              <a:rPr lang="en-US" dirty="0" err="1"/>
              <a:t>Cut&amp;Run</a:t>
            </a:r>
            <a:r>
              <a:rPr lang="en-US" dirty="0"/>
              <a:t>, </a:t>
            </a:r>
            <a:r>
              <a:rPr lang="en-US" dirty="0" err="1"/>
              <a:t>Cut&amp;Tag</a:t>
            </a:r>
            <a:endParaRPr lang="en-US" dirty="0"/>
          </a:p>
          <a:p>
            <a:r>
              <a:rPr lang="en-US" dirty="0"/>
              <a:t>Single-cell ChIP-seq</a:t>
            </a:r>
          </a:p>
          <a:p>
            <a:r>
              <a:rPr lang="en-US" dirty="0"/>
              <a:t>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</p:spTree>
    <p:extLst>
      <p:ext uri="{BB962C8B-B14F-4D97-AF65-F5344CB8AC3E}">
        <p14:creationId xmlns:p14="http://schemas.microsoft.com/office/powerpoint/2010/main" val="1989314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ChIP-seq approaches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47812-2270-1D39-35B4-57812ACDF0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Zentner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&amp;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Henikoff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Nat. Rev. Genet. 2014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b="1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84281B-301C-0247-AC85-D6F0F33D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 approaches</a:t>
            </a:r>
          </a:p>
        </p:txBody>
      </p:sp>
      <p:pic>
        <p:nvPicPr>
          <p:cNvPr id="5124" name="Picture 4" descr="figure2">
            <a:extLst>
              <a:ext uri="{FF2B5EF4-FFF2-40B4-BE49-F238E27FC236}">
                <a16:creationId xmlns:a16="http://schemas.microsoft.com/office/drawing/2014/main" id="{321C1A91-0E2F-8549-B92C-DF415C300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052" y="897864"/>
            <a:ext cx="5885878" cy="518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6964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ChIP-seq approaches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b="1"/>
          </a:p>
        </p:txBody>
      </p:sp>
      <p:pic>
        <p:nvPicPr>
          <p:cNvPr id="5122" name="Picture 2" descr="Fig. 2">
            <a:extLst>
              <a:ext uri="{FF2B5EF4-FFF2-40B4-BE49-F238E27FC236}">
                <a16:creationId xmlns:a16="http://schemas.microsoft.com/office/drawing/2014/main" id="{66C9DAC3-825A-E947-9D8B-D83A9A51F5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36577" y="873125"/>
            <a:ext cx="7077571" cy="488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72F66425-967C-C899-DA63-E406DC2230EF}"/>
              </a:ext>
            </a:extLst>
          </p:cNvPr>
          <p:cNvSpPr txBox="1">
            <a:spLocks/>
          </p:cNvSpPr>
          <p:nvPr/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Indirect </a:t>
            </a:r>
            <a:r>
              <a:rPr lang="en-US" dirty="0"/>
              <a:t>approaches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0A30F9-F174-05B9-69A3-2E2D7D60A0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Klein &amp; Hainer, Chromosome Research 2020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882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ChIP</a:t>
            </a:r>
            <a:r>
              <a:rPr lang="en-US" dirty="0"/>
              <a:t>-seq downstream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AE1F11F6-8ED5-FF7D-28F6-D01152C7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equencing Platforms | Illumina NGS platforms">
            <a:extLst>
              <a:ext uri="{FF2B5EF4-FFF2-40B4-BE49-F238E27FC236}">
                <a16:creationId xmlns:a16="http://schemas.microsoft.com/office/drawing/2014/main" id="{4E03D524-1B0A-A825-091E-EEBABBC49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A2E228-1680-4A6C-2CCB-4966F5355EB3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1ADDBE-DF7F-6AAB-13C3-85C4DB5AB6D4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A00282-0C17-46C3-EA42-E3FEB686DADD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DDF849-9128-6E26-5A3B-4A49543EB987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48BD0D6-CCCF-B943-7A0E-9AF5C234A6DA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DC9CB-31AB-1C52-6101-217DF452A481}"/>
              </a:ext>
            </a:extLst>
          </p:cNvPr>
          <p:cNvSpPr txBox="1"/>
          <p:nvPr/>
        </p:nvSpPr>
        <p:spPr>
          <a:xfrm>
            <a:off x="5205382" y="4883014"/>
            <a:ext cx="335220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Peak calling</a:t>
            </a:r>
          </a:p>
          <a:p>
            <a:r>
              <a:rPr lang="en-US" b="1" dirty="0">
                <a:solidFill>
                  <a:srgbClr val="FF0000"/>
                </a:solidFill>
              </a:rPr>
              <a:t>Differential peak analysis</a:t>
            </a:r>
          </a:p>
          <a:p>
            <a:r>
              <a:rPr lang="en-US" b="1" dirty="0">
                <a:solidFill>
                  <a:srgbClr val="FF0000"/>
                </a:solidFill>
              </a:rPr>
              <a:t>Motif finding </a:t>
            </a:r>
          </a:p>
          <a:p>
            <a:r>
              <a:rPr lang="en-US" b="1" dirty="0">
                <a:solidFill>
                  <a:srgbClr val="FF0000"/>
                </a:solidFill>
                <a:sym typeface="Wingdings" pitchFamily="2" charset="2"/>
              </a:rPr>
              <a:t>Peak co-occurrence analysis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BF2E38-DF48-8633-6E5F-0C9E4AEFD9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Park et al., Nat. Rev. Genet. 2009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76CE2-8567-CC82-04ED-D1D1A841A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8F8E82F-BD15-2F49-B6C0-D3FB3B742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25FDAB-356B-0845-824B-D9E114763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757" y="1080860"/>
            <a:ext cx="5632232" cy="474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5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CF4D89-7EB6-7F57-245A-F729B69F4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Subramanian et al.,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Genetics 2013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b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23881-F8A2-094C-0649-B93183A13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pPr lvl="1"/>
            <a:r>
              <a:rPr lang="en-US" dirty="0"/>
              <a:t>Can also be aligned at genomic features of interest (e.g. TSSs) </a:t>
            </a:r>
          </a:p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4E00CC0-3D15-2943-B1BA-29F17E85844F}"/>
              </a:ext>
            </a:extLst>
          </p:cNvPr>
          <p:cNvGrpSpPr/>
          <p:nvPr/>
        </p:nvGrpSpPr>
        <p:grpSpPr>
          <a:xfrm>
            <a:off x="5982821" y="2442151"/>
            <a:ext cx="5823735" cy="3587195"/>
            <a:chOff x="3193255" y="2685134"/>
            <a:chExt cx="6774559" cy="417286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028A70B-81AC-AF46-8BC9-B9B433F82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255" y="2731293"/>
              <a:ext cx="6774559" cy="4126707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32B7E1-E28B-594F-B0B6-D7E36334DEF2}"/>
                </a:ext>
              </a:extLst>
            </p:cNvPr>
            <p:cNvSpPr/>
            <p:nvPr/>
          </p:nvSpPr>
          <p:spPr>
            <a:xfrm>
              <a:off x="3193255" y="2685134"/>
              <a:ext cx="528637" cy="4143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9C43659-022D-4749-B55D-D4C5C71B568C}"/>
                </a:ext>
              </a:extLst>
            </p:cNvPr>
            <p:cNvSpPr/>
            <p:nvPr/>
          </p:nvSpPr>
          <p:spPr>
            <a:xfrm>
              <a:off x="7450930" y="2685134"/>
              <a:ext cx="528637" cy="4143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656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CF4D89-7EB6-7F57-245A-F729B69F4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Subramanian et al.,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Genetics 2013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b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23881-F8A2-094C-0649-B93183A13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</p:spPr>
        <p:txBody>
          <a:bodyPr/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pPr lvl="1"/>
            <a:r>
              <a:rPr lang="en-US" dirty="0"/>
              <a:t>Can also be aligned at genomic features of interest (e.g. TSSs)</a:t>
            </a:r>
          </a:p>
          <a:p>
            <a:pPr marL="9525" lvl="1" indent="0">
              <a:buNone/>
            </a:pPr>
            <a:r>
              <a:rPr lang="en-US" dirty="0"/>
              <a:t>Peak sets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5FE877-7CAC-2CAB-1C4A-96A428649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1927" y="3259699"/>
            <a:ext cx="3133695" cy="26146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68E017-03BF-3330-F554-940FC9043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174" y="2825393"/>
            <a:ext cx="3222675" cy="3125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76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figure4">
            <a:extLst>
              <a:ext uri="{FF2B5EF4-FFF2-40B4-BE49-F238E27FC236}">
                <a16:creationId xmlns:a16="http://schemas.microsoft.com/office/drawing/2014/main" id="{FB22E15C-433F-3604-75DA-22F040B2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1088" y="2065562"/>
            <a:ext cx="4660470" cy="414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b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23881-F8A2-094C-0649-B93183A13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7337004" cy="5869253"/>
          </a:xfrm>
        </p:spPr>
        <p:txBody>
          <a:bodyPr>
            <a:normAutofit/>
          </a:bodyPr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pPr lvl="1"/>
            <a:r>
              <a:rPr lang="en-US" dirty="0"/>
              <a:t>Can also be aligned at genomic features of interest (e.g. TSSs)</a:t>
            </a:r>
          </a:p>
          <a:p>
            <a:pPr marL="9525" lvl="1" indent="0">
              <a:buNone/>
            </a:pPr>
            <a:r>
              <a:rPr lang="en-US" dirty="0"/>
              <a:t>Peak sets </a:t>
            </a:r>
          </a:p>
          <a:p>
            <a:pPr marL="9525" lvl="1" indent="0">
              <a:buNone/>
            </a:pPr>
            <a:r>
              <a:rPr lang="en-US" dirty="0"/>
              <a:t>And more from downstream analyses, according to the biological question: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DNA binding motifs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Differential binding of a factor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Cooperation between factors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Biological functions in which a factor is involved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Temporal dynamics of factor binding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00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“peaks”?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36B6A1-D219-986C-4C50-918952317D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ChIP-seq libraries show uneven genomic coverage: loci with high local coverage compared to neighboring environment are “peaks”.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5BE84F-E431-4C47-A800-CDBEDFDC48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7769"/>
          <a:stretch/>
        </p:blipFill>
        <p:spPr>
          <a:xfrm>
            <a:off x="0" y="2836546"/>
            <a:ext cx="12192000" cy="21843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82C2CD-07B2-324C-9CDC-69AE95EA4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9876" b="-596"/>
          <a:stretch/>
        </p:blipFill>
        <p:spPr>
          <a:xfrm>
            <a:off x="0" y="4995231"/>
            <a:ext cx="12192000" cy="37629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D90D02-53E9-A54E-AE51-6ECFA5C05458}"/>
              </a:ext>
            </a:extLst>
          </p:cNvPr>
          <p:cNvSpPr/>
          <p:nvPr/>
        </p:nvSpPr>
        <p:spPr>
          <a:xfrm>
            <a:off x="3868188" y="2836546"/>
            <a:ext cx="532015" cy="2603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960478-A690-B546-B4FA-D7C28F3F02C6}"/>
              </a:ext>
            </a:extLst>
          </p:cNvPr>
          <p:cNvSpPr/>
          <p:nvPr/>
        </p:nvSpPr>
        <p:spPr>
          <a:xfrm>
            <a:off x="8041177" y="2836546"/>
            <a:ext cx="532015" cy="2603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421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Inherent ChIP-seq artefacts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5EAC7-7292-3E29-6573-A527AF7A88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Potential sources of artefacts in ChIP-seq experiments are: </a:t>
            </a:r>
          </a:p>
          <a:p>
            <a:pPr lvl="1"/>
            <a:r>
              <a:rPr lang="en-GB" dirty="0"/>
              <a:t>DNA shearing: not uniform across genome, which results in more reads in open chromatin regions.</a:t>
            </a:r>
          </a:p>
          <a:p>
            <a:pPr lvl="1"/>
            <a:r>
              <a:rPr lang="en-GB" dirty="0"/>
              <a:t>Amplification bias (GC content)</a:t>
            </a:r>
          </a:p>
          <a:p>
            <a:pPr lvl="1"/>
            <a:r>
              <a:rPr lang="en-GB" dirty="0"/>
              <a:t>Repetitive regions might appear enriched due to underestimated repeat copies in the reference genome</a:t>
            </a:r>
          </a:p>
          <a:p>
            <a:pPr lvl="1"/>
            <a:r>
              <a:rPr lang="en-GB" dirty="0"/>
              <a:t>Sequencing depth may be too low, resulting in noisy peaks</a:t>
            </a:r>
          </a:p>
          <a:p>
            <a:pPr lvl="1"/>
            <a:endParaRPr lang="en-GB" dirty="0"/>
          </a:p>
          <a:p>
            <a:r>
              <a:rPr lang="en-GB" dirty="0"/>
              <a:t>This impedes straightforward identification of peaks in ChIP-seq data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</p:spTree>
    <p:extLst>
      <p:ext uri="{BB962C8B-B14F-4D97-AF65-F5344CB8AC3E}">
        <p14:creationId xmlns:p14="http://schemas.microsoft.com/office/powerpoint/2010/main" val="1162101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ChIP-seq artefacts: using an “input” sample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22107-932E-D69C-D059-21E662E6DC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Input control: DNA is isolated from cells that have been cross-linked and fragmented under the same conditions as the immunoprecipitated DNA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4B61165-58BA-BA46-A169-054E3F577F4D}"/>
              </a:ext>
            </a:extLst>
          </p:cNvPr>
          <p:cNvSpPr txBox="1">
            <a:spLocks/>
          </p:cNvSpPr>
          <p:nvPr/>
        </p:nvSpPr>
        <p:spPr>
          <a:xfrm>
            <a:off x="0" y="4237754"/>
            <a:ext cx="12192000" cy="17135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43DF87-F14D-2B4B-BCE8-1D6EA2FDD4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-3182"/>
          <a:stretch/>
        </p:blipFill>
        <p:spPr>
          <a:xfrm>
            <a:off x="0" y="2836546"/>
            <a:ext cx="12192000" cy="36217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78E3DDD-64CE-B64B-99C1-09C22558735B}"/>
              </a:ext>
            </a:extLst>
          </p:cNvPr>
          <p:cNvSpPr/>
          <p:nvPr/>
        </p:nvSpPr>
        <p:spPr>
          <a:xfrm>
            <a:off x="3868188" y="2836546"/>
            <a:ext cx="532015" cy="3621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F61CA3-6349-1D45-A3F2-A7B7D9A3A63F}"/>
              </a:ext>
            </a:extLst>
          </p:cNvPr>
          <p:cNvSpPr/>
          <p:nvPr/>
        </p:nvSpPr>
        <p:spPr>
          <a:xfrm>
            <a:off x="8041177" y="2836546"/>
            <a:ext cx="532015" cy="3621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516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</a:t>
            </a:r>
            <a:r>
              <a:rPr lang="en-US"/>
              <a:t>in ChIP-seq (1)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063904-BABF-6A7C-86F7-4F33D27AC3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Park, Nat. Rev. Genetics 2009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b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953400" cy="4883277"/>
          </a:xfrm>
        </p:spPr>
        <p:txBody>
          <a:bodyPr/>
          <a:lstStyle/>
          <a:p>
            <a:r>
              <a:rPr lang="en-US" dirty="0"/>
              <a:t>General workflow relies on comparing local read coverage to the input </a:t>
            </a:r>
          </a:p>
        </p:txBody>
      </p:sp>
      <p:pic>
        <p:nvPicPr>
          <p:cNvPr id="1028" name="Picture 4" descr="figure5">
            <a:extLst>
              <a:ext uri="{FF2B5EF4-FFF2-40B4-BE49-F238E27FC236}">
                <a16:creationId xmlns:a16="http://schemas.microsoft.com/office/drawing/2014/main" id="{CDD9B229-FDEE-DD48-9D2F-3B71404358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9254" y="873761"/>
            <a:ext cx="3222179" cy="5312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14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(2)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69DFF-BFB9-3CB3-436D-4D8835C4D4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Wilbanks and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Faccioti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One 2010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b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27368" cy="4883277"/>
          </a:xfrm>
        </p:spPr>
        <p:txBody>
          <a:bodyPr/>
          <a:lstStyle/>
          <a:p>
            <a:r>
              <a:rPr lang="en-US" dirty="0"/>
              <a:t>MACS2 finds a model estimating how to </a:t>
            </a:r>
            <a:r>
              <a:rPr lang="en-US" b="1" dirty="0"/>
              <a:t>shift </a:t>
            </a:r>
            <a:r>
              <a:rPr lang="en-US" u="sng" dirty="0"/>
              <a:t>sense and antisense</a:t>
            </a:r>
            <a:r>
              <a:rPr lang="en-US" dirty="0"/>
              <a:t> reads towards a central position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u="sng" dirty="0"/>
              <a:t>Note</a:t>
            </a:r>
            <a:r>
              <a:rPr lang="en-US" dirty="0"/>
              <a:t>: this step is specific to single-end libraries, as paired-end libraries do not have this bias.</a:t>
            </a:r>
            <a:endParaRPr lang="en-US" u="sng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6CAA3F-D1F1-8742-9384-5E3745E9B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7244" y="1158262"/>
            <a:ext cx="5387629" cy="4886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058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FB359F-489D-D940-96B5-D85FA214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(3)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40A703-0ACF-8863-EE61-A4BCC7FB6D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Zhang et al., Genome Biol. 2008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b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59" y="873761"/>
            <a:ext cx="5782301" cy="4883277"/>
          </a:xfrm>
        </p:spPr>
        <p:txBody>
          <a:bodyPr>
            <a:normAutofit/>
          </a:bodyPr>
          <a:lstStyle/>
          <a:p>
            <a:r>
              <a:rPr lang="en-US" dirty="0"/>
              <a:t>Then MACS2 </a:t>
            </a:r>
            <a:r>
              <a:rPr lang="en-GB" dirty="0"/>
              <a:t>scans the genome again using a window size which is twice the fragment length. </a:t>
            </a:r>
          </a:p>
          <a:p>
            <a:r>
              <a:rPr lang="en-GB" dirty="0"/>
              <a:t>For each peak, MACS2 calculates a p-value using a dynamic Poisson distribution to capture local biases in read background levels. </a:t>
            </a:r>
          </a:p>
          <a:p>
            <a:r>
              <a:rPr lang="en-GB" dirty="0"/>
              <a:t>If a control sample is available, it is used to calculate the local background.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165B6-E8A8-184E-8EF4-21A675C39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940" y="1100962"/>
            <a:ext cx="5181706" cy="46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178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3414033"/>
          </a:xfrm>
        </p:spPr>
        <p:txBody>
          <a:bodyPr>
            <a:normAutofit/>
          </a:bodyPr>
          <a:lstStyle/>
          <a:p>
            <a:r>
              <a:rPr lang="en-US" dirty="0"/>
              <a:t>Then MACS2 </a:t>
            </a:r>
            <a:r>
              <a:rPr lang="en-GB" dirty="0"/>
              <a:t>scans the genome again using a window size which is twice the fragment length. </a:t>
            </a:r>
          </a:p>
          <a:p>
            <a:r>
              <a:rPr lang="en-GB" dirty="0"/>
              <a:t>For each peak, MACS2 calculates a p-value using a dynamic Poisson distribution to capture local biases in read background levels.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6B757-5670-93D5-EC27-08DAA8C7E0D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892735"/>
            <a:ext cx="12192000" cy="306090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600" dirty="0">
                <a:solidFill>
                  <a:srgbClr val="606C71"/>
                </a:solidFill>
              </a:rPr>
              <a:t>macs2 </a:t>
            </a:r>
            <a:r>
              <a:rPr lang="en-US" sz="1600" dirty="0" err="1">
                <a:solidFill>
                  <a:srgbClr val="606C71"/>
                </a:solidFill>
              </a:rPr>
              <a:t>callpeak</a:t>
            </a:r>
            <a:r>
              <a:rPr lang="en-US" sz="1600" dirty="0">
                <a:solidFill>
                  <a:srgbClr val="606C71"/>
                </a:solidFill>
              </a:rPr>
              <a:t> </a:t>
            </a:r>
            <a:r>
              <a:rPr lang="en-US" dirty="0">
                <a:solidFill>
                  <a:srgbClr val="000080"/>
                </a:solidFill>
              </a:rPr>
              <a:t>--treatment ….bam</a:t>
            </a:r>
            <a:endParaRPr lang="en-US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dirty="0"/>
              <a:t>	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A37545-4DDB-69C4-EC33-D21C044D7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FB359F-489D-D940-96B5-D85FA214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(3)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59275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3414033"/>
          </a:xfrm>
        </p:spPr>
        <p:txBody>
          <a:bodyPr>
            <a:normAutofit/>
          </a:bodyPr>
          <a:lstStyle/>
          <a:p>
            <a:r>
              <a:rPr lang="en-US" dirty="0"/>
              <a:t>Then MACS2 </a:t>
            </a:r>
            <a:r>
              <a:rPr lang="en-GB" dirty="0"/>
              <a:t>scans the genome again using a window size which is twice the fragment length. </a:t>
            </a:r>
          </a:p>
          <a:p>
            <a:r>
              <a:rPr lang="en-GB" dirty="0"/>
              <a:t>For each peak, MACS2 calculates a p-value using a dynamic Poisson distribution to capture local biases in read background levels. </a:t>
            </a:r>
          </a:p>
          <a:p>
            <a:r>
              <a:rPr lang="en-GB" b="1" dirty="0"/>
              <a:t>If a control sample is available, it is used to calculate the local background. 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6B757-5670-93D5-EC27-08DAA8C7E0D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892735"/>
            <a:ext cx="12192000" cy="306090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600" dirty="0">
                <a:solidFill>
                  <a:srgbClr val="606C71"/>
                </a:solidFill>
              </a:rPr>
              <a:t>macs2 </a:t>
            </a:r>
            <a:r>
              <a:rPr lang="en-US" sz="1600" dirty="0" err="1">
                <a:solidFill>
                  <a:srgbClr val="606C71"/>
                </a:solidFill>
              </a:rPr>
              <a:t>callpeak</a:t>
            </a:r>
            <a:r>
              <a:rPr lang="en-US" sz="1600" dirty="0">
                <a:solidFill>
                  <a:srgbClr val="606C71"/>
                </a:solidFill>
              </a:rPr>
              <a:t> </a:t>
            </a:r>
            <a:r>
              <a:rPr lang="en-US" dirty="0">
                <a:solidFill>
                  <a:srgbClr val="000080"/>
                </a:solidFill>
              </a:rPr>
              <a:t>--treatment ….bam </a:t>
            </a:r>
            <a:r>
              <a:rPr lang="en-US" b="1" dirty="0">
                <a:solidFill>
                  <a:srgbClr val="FF0000"/>
                </a:solidFill>
              </a:rPr>
              <a:t>--control ….bam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dirty="0"/>
              <a:t>	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A37545-4DDB-69C4-EC33-D21C044D7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FB359F-489D-D940-96B5-D85FA214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(3)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19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27939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The easiest approach it to take overlapping peak calls across replicates.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replicates to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20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70E98-F1F2-8E87-1A07-E61A508105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06C6339-5773-2D4B-9AFA-AADBBAB02390}"/>
              </a:ext>
            </a:extLst>
          </p:cNvPr>
          <p:cNvGrpSpPr/>
          <p:nvPr/>
        </p:nvGrpSpPr>
        <p:grpSpPr>
          <a:xfrm>
            <a:off x="4281956" y="2465857"/>
            <a:ext cx="3628087" cy="2068530"/>
            <a:chOff x="3524036" y="2137025"/>
            <a:chExt cx="3628087" cy="206853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CD09268-ECD1-4126-EF25-E6D0C0A7DC11}"/>
                </a:ext>
              </a:extLst>
            </p:cNvPr>
            <p:cNvSpPr/>
            <p:nvPr/>
          </p:nvSpPr>
          <p:spPr>
            <a:xfrm>
              <a:off x="4027470" y="2137025"/>
              <a:ext cx="2068530" cy="2068530"/>
            </a:xfrm>
            <a:prstGeom prst="ellipse">
              <a:avLst/>
            </a:prstGeom>
            <a:solidFill>
              <a:schemeClr val="accent4">
                <a:lumMod val="75000"/>
                <a:alpha val="25725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75C2886-FBD0-D35D-A797-CFC1D786E01F}"/>
                </a:ext>
              </a:extLst>
            </p:cNvPr>
            <p:cNvSpPr/>
            <p:nvPr/>
          </p:nvSpPr>
          <p:spPr>
            <a:xfrm>
              <a:off x="4510356" y="2137025"/>
              <a:ext cx="2068530" cy="2068530"/>
            </a:xfrm>
            <a:prstGeom prst="ellipse">
              <a:avLst/>
            </a:prstGeom>
            <a:solidFill>
              <a:schemeClr val="accent4">
                <a:lumMod val="75000"/>
                <a:alpha val="25725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7A22DAF-838A-AC53-7910-D79268BB50CA}"/>
                </a:ext>
              </a:extLst>
            </p:cNvPr>
            <p:cNvSpPr txBox="1"/>
            <p:nvPr/>
          </p:nvSpPr>
          <p:spPr>
            <a:xfrm>
              <a:off x="6287784" y="2137025"/>
              <a:ext cx="86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Rep. 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086E46D-DABC-298A-4648-7E098D178E37}"/>
                </a:ext>
              </a:extLst>
            </p:cNvPr>
            <p:cNvSpPr txBox="1"/>
            <p:nvPr/>
          </p:nvSpPr>
          <p:spPr>
            <a:xfrm>
              <a:off x="3524036" y="2137025"/>
              <a:ext cx="86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Rep. 1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8CD915-B8D9-32BD-3383-35023AA99103}"/>
                </a:ext>
              </a:extLst>
            </p:cNvPr>
            <p:cNvSpPr txBox="1"/>
            <p:nvPr/>
          </p:nvSpPr>
          <p:spPr>
            <a:xfrm>
              <a:off x="4693761" y="3014354"/>
              <a:ext cx="1241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Combined peaks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2751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The easiest approach it to take overlapping peak calls across replicates. </a:t>
            </a:r>
          </a:p>
          <a:p>
            <a:r>
              <a:rPr lang="en-GB" dirty="0"/>
              <a:t>For more advanced users, there are more complex methods that employ statistical testing and evaluate the reproducibility between replicates. </a:t>
            </a:r>
          </a:p>
          <a:p>
            <a:r>
              <a:rPr lang="en-GB" dirty="0"/>
              <a:t>The standard approach to leverage replicates is the IDR (Irreproducibility Discovery Rate) approach.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E00D75C-38E9-CCAF-1BD5-1F996BB7B3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Qi et al., The Annals of Applied Statistics 2011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replicates to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21</a:t>
            </a:fld>
            <a:endParaRPr lang="en-US" b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3AE9E2-628F-BCAC-410C-14E5F905E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9371" y="2707621"/>
            <a:ext cx="5993258" cy="347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7853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The easiest approach it to take overlapping peak calls across replicates. </a:t>
            </a:r>
          </a:p>
          <a:p>
            <a:r>
              <a:rPr lang="en-GB" dirty="0"/>
              <a:t>For more advanced users, there are more complex methods that employ statistical testing and evaluate the reproducibility between replicates. </a:t>
            </a:r>
          </a:p>
          <a:p>
            <a:r>
              <a:rPr lang="en-GB" dirty="0"/>
              <a:t>The standard approach to leverage replicates is the IDR (Irreproducibility Discovery Rate) approach.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2FB49C3-C27C-F6BD-6372-E41633ED8B3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3112869"/>
            <a:ext cx="12192000" cy="2367858"/>
          </a:xfrm>
        </p:spPr>
        <p:txBody>
          <a:bodyPr>
            <a:normAutofit/>
          </a:bodyPr>
          <a:lstStyle/>
          <a:p>
            <a:pPr algn="l">
              <a:spcAft>
                <a:spcPts val="0"/>
              </a:spcAft>
            </a:pPr>
            <a:r>
              <a:rPr lang="en-GB" sz="1600" b="0" i="0" dirty="0" err="1">
                <a:solidFill>
                  <a:srgbClr val="606C71"/>
                </a:solidFill>
                <a:effectLst/>
              </a:rPr>
              <a:t>idr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--samples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rep1.narrowPeak rep2.narrowPeak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--input-file-type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narrowPeak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--rank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p.value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--output-file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idr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--plot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b="0" i="0" dirty="0">
                <a:solidFill>
                  <a:srgbClr val="000080"/>
                </a:solidFill>
                <a:effectLst/>
              </a:rPr>
              <a:t>	--log-output-file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idr.log</a:t>
            </a:r>
            <a:endParaRPr lang="en-GB" sz="1600" b="0" i="0" dirty="0">
              <a:solidFill>
                <a:srgbClr val="606C71"/>
              </a:solidFill>
              <a:effectLst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E00D75C-38E9-CCAF-1BD5-1F996BB7B3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Qi et al., The Annals of Applied Statistics 2011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replicates to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22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714737236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916</TotalTime>
  <Words>1125</Words>
  <Application>Microsoft Macintosh PowerPoint</Application>
  <PresentationFormat>Widescreen</PresentationFormat>
  <Paragraphs>154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Arial</vt:lpstr>
      <vt:lpstr>Avenir</vt:lpstr>
      <vt:lpstr>Calibri</vt:lpstr>
      <vt:lpstr>Comfortaa</vt:lpstr>
      <vt:lpstr>Courier New</vt:lpstr>
      <vt:lpstr>Helvetica</vt:lpstr>
      <vt:lpstr>Menlo</vt:lpstr>
      <vt:lpstr>Open Sans</vt:lpstr>
      <vt:lpstr>Wingdings</vt:lpstr>
      <vt:lpstr>PasteurIbens</vt:lpstr>
      <vt:lpstr>Physalia</vt:lpstr>
      <vt:lpstr>ChIP-seq analysis</vt:lpstr>
      <vt:lpstr>Chromatin immunoprecipitation: an old tool rejuvenated by high-throughput sequencing</vt:lpstr>
      <vt:lpstr>Chromatin immunoprecipitation: an old tool rejuvenated by high-throughput sequencing</vt:lpstr>
      <vt:lpstr>Current ChIP-seq approaches</vt:lpstr>
      <vt:lpstr>Current ChIP-seq approaches</vt:lpstr>
      <vt:lpstr>Current ChIP-seq approaches</vt:lpstr>
      <vt:lpstr>ChIP-seq downstream analysis</vt:lpstr>
      <vt:lpstr>ChIP-seq outputs</vt:lpstr>
      <vt:lpstr>ChIP-seq outputs</vt:lpstr>
      <vt:lpstr>ChIP-seq outputs</vt:lpstr>
      <vt:lpstr>ChIP-seq outputs</vt:lpstr>
      <vt:lpstr>What are “peaks”? </vt:lpstr>
      <vt:lpstr>Inherent ChIP-seq artefacts</vt:lpstr>
      <vt:lpstr>Dealing with ChIP-seq artefacts: using an “input” sample</vt:lpstr>
      <vt:lpstr>Finding peaks in ChIP-seq (1)</vt:lpstr>
      <vt:lpstr>Finding peaks in ChIP-seq (2)</vt:lpstr>
      <vt:lpstr>Finding peaks in ChIP-seq (3)</vt:lpstr>
      <vt:lpstr>Finding peaks in ChIP-seq (3)</vt:lpstr>
      <vt:lpstr>Finding peaks in ChIP-seq (3)</vt:lpstr>
      <vt:lpstr>Using replicates to peaks</vt:lpstr>
      <vt:lpstr>Using replicates to peaks</vt:lpstr>
      <vt:lpstr>Using replicates to peaks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183</cp:revision>
  <dcterms:created xsi:type="dcterms:W3CDTF">2023-06-26T07:22:32Z</dcterms:created>
  <dcterms:modified xsi:type="dcterms:W3CDTF">2026-04-07T08:33:02Z</dcterms:modified>
</cp:coreProperties>
</file>