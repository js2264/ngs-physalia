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60" r:id="rId1"/>
    <p:sldMasterId id="2147483676" r:id="rId2"/>
  </p:sldMasterIdLst>
  <p:notesMasterIdLst>
    <p:notesMasterId r:id="rId25"/>
  </p:notesMasterIdLst>
  <p:sldIdLst>
    <p:sldId id="256" r:id="rId3"/>
    <p:sldId id="257" r:id="rId4"/>
    <p:sldId id="261" r:id="rId5"/>
    <p:sldId id="269" r:id="rId6"/>
    <p:sldId id="270" r:id="rId7"/>
    <p:sldId id="271" r:id="rId8"/>
    <p:sldId id="307" r:id="rId9"/>
    <p:sldId id="286" r:id="rId10"/>
    <p:sldId id="290" r:id="rId11"/>
    <p:sldId id="291" r:id="rId12"/>
    <p:sldId id="292" r:id="rId13"/>
    <p:sldId id="260" r:id="rId14"/>
    <p:sldId id="264" r:id="rId15"/>
    <p:sldId id="265" r:id="rId16"/>
    <p:sldId id="293" r:id="rId17"/>
    <p:sldId id="263" r:id="rId18"/>
    <p:sldId id="267" r:id="rId19"/>
    <p:sldId id="296" r:id="rId20"/>
    <p:sldId id="308" r:id="rId21"/>
    <p:sldId id="295" r:id="rId22"/>
    <p:sldId id="266" r:id="rId23"/>
    <p:sldId id="294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EB4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505"/>
    <p:restoredTop sz="96327"/>
  </p:normalViewPr>
  <p:slideViewPr>
    <p:cSldViewPr snapToGrid="0">
      <p:cViewPr varScale="1">
        <p:scale>
          <a:sx n="124" d="100"/>
          <a:sy n="124" d="100"/>
        </p:scale>
        <p:origin x="80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A85917-96BC-A94E-B108-436BB51A4016}" type="datetimeFigureOut">
              <a:rPr lang="en-US" smtClean="0"/>
              <a:t>4/15/26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7D7AC3-3E93-9544-BDE3-B37120F625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3113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tif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alphaModFix amt="18000"/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63910EB-624E-F321-925E-A562C9A67D9E}"/>
              </a:ext>
            </a:extLst>
          </p:cNvPr>
          <p:cNvSpPr/>
          <p:nvPr/>
        </p:nvSpPr>
        <p:spPr>
          <a:xfrm>
            <a:off x="0" y="3967089"/>
            <a:ext cx="12192000" cy="289091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02AA4C-3692-DC40-ADE0-508B5814C6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ctr"/>
          <a:lstStyle>
            <a:lvl1pPr algn="ctr">
              <a:defRPr sz="6000" b="1">
                <a:latin typeface="Comfortaa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C45597-59BF-184F-B29C-07C34F95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5439"/>
            <a:ext cx="9144000" cy="250772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AE298B4-CBF1-A27B-8D25-C419C3CADF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7102" y="194835"/>
            <a:ext cx="1827329" cy="49836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42AF4F5-29E0-2B33-92C6-CE5EF5BBD02F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917596" y="-103400"/>
            <a:ext cx="2259506" cy="1129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3986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F7F50D6C-3207-323C-0510-C9484EEA4EB6}"/>
              </a:ext>
            </a:extLst>
          </p:cNvPr>
          <p:cNvSpPr txBox="1">
            <a:spLocks/>
          </p:cNvSpPr>
          <p:nvPr/>
        </p:nvSpPr>
        <p:spPr>
          <a:xfrm>
            <a:off x="0" y="6241311"/>
            <a:ext cx="12192000" cy="616689"/>
          </a:xfrm>
          <a:prstGeom prst="rect">
            <a:avLst/>
          </a:prstGeom>
          <a:solidFill>
            <a:schemeClr val="bg1">
              <a:lumMod val="85000"/>
              <a:alpha val="29804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Comfortaa" pitchFamily="2" charset="0"/>
                <a:ea typeface="Dotum" panose="020B0600000101010101" pitchFamily="34" charset="-127"/>
                <a:cs typeface="Menlo" panose="020B0609030804020204" pitchFamily="49" charset="0"/>
              </a:defRPr>
            </a:lvl1pPr>
          </a:lstStyle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132174-956C-CE42-AF06-2CC1F76FD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02640"/>
          </a:xfrm>
          <a:prstGeom prst="rect">
            <a:avLst/>
          </a:prstGeom>
          <a:solidFill>
            <a:schemeClr val="bg1">
              <a:lumMod val="85000"/>
              <a:alpha val="29804"/>
            </a:schemeClr>
          </a:solidFill>
        </p:spPr>
        <p:txBody>
          <a:bodyPr anchor="ctr">
            <a:noAutofit/>
          </a:bodyPr>
          <a:lstStyle>
            <a:lvl1pPr algn="ctr">
              <a:defRPr sz="2400" b="1">
                <a:latin typeface="Comfortaa" pitchFamily="2" charset="0"/>
                <a:ea typeface="Dotum" panose="020B0600000101010101" pitchFamily="34" charset="-127"/>
                <a:cs typeface="Menlo" panose="020B0609030804020204" pitchFamily="49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A7B3241-74CA-D249-BD38-4C57AA297F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5444" y="5872025"/>
            <a:ext cx="4288156" cy="314642"/>
          </a:xfrm>
        </p:spPr>
        <p:txBody>
          <a:bodyPr>
            <a:normAutofit/>
          </a:bodyPr>
          <a:lstStyle>
            <a:lvl1pPr>
              <a:buNone/>
              <a:defRPr lang="en-US" sz="1000" i="1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09CD1E7-C4F0-95C5-0A44-6191CC4FB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377889"/>
            <a:ext cx="2743200" cy="365125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1FEE8F5-8318-DF2F-E442-91BB7855E5FB}"/>
              </a:ext>
            </a:extLst>
          </p:cNvPr>
          <p:cNvCxnSpPr/>
          <p:nvPr/>
        </p:nvCxnSpPr>
        <p:spPr>
          <a:xfrm>
            <a:off x="0" y="6248400"/>
            <a:ext cx="12192000" cy="0"/>
          </a:xfrm>
          <a:prstGeom prst="line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 descr="Institut Pasteur, Paris, France — Google Arts &amp; Culture">
            <a:extLst>
              <a:ext uri="{FF2B5EF4-FFF2-40B4-BE49-F238E27FC236}">
                <a16:creationId xmlns:a16="http://schemas.microsoft.com/office/drawing/2014/main" id="{363CF6F2-FFCC-A044-F740-D3124ECBF5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6377889"/>
            <a:ext cx="1188185" cy="320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BCE3CA2-68AC-7035-AD06-B998211FB25A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856549" y="6279787"/>
            <a:ext cx="1207672" cy="534046"/>
          </a:xfrm>
          <a:prstGeom prst="rect">
            <a:avLst/>
          </a:prstGeom>
        </p:spPr>
      </p:pic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32967DF6-DDDE-B851-D43B-850B377AED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" y="873761"/>
            <a:ext cx="11927840" cy="488327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None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Courier New" panose="02070309020205020404" pitchFamily="49" charset="0"/>
              <a:buChar char="o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Wingdings" pitchFamily="2" charset="2"/>
              <a:buChar char="Ø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4FA3D7D2-81E0-C7BD-F826-D44EE9292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96343" y="6373284"/>
            <a:ext cx="5747657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Epigenomics Data Analysis — Physalia 2026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17610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o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32174-956C-CE42-AF06-2CC1F76FD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02640"/>
          </a:xfrm>
          <a:prstGeom prst="rect">
            <a:avLst/>
          </a:prstGeom>
          <a:solidFill>
            <a:schemeClr val="bg1">
              <a:lumMod val="85000"/>
              <a:alpha val="29804"/>
            </a:schemeClr>
          </a:solidFill>
        </p:spPr>
        <p:txBody>
          <a:bodyPr anchor="ctr">
            <a:noAutofit/>
          </a:bodyPr>
          <a:lstStyle>
            <a:lvl1pPr algn="ctr">
              <a:defRPr sz="2400" b="1">
                <a:latin typeface="Comfortaa" pitchFamily="2" charset="0"/>
                <a:ea typeface="Dotum" panose="020B0600000101010101" pitchFamily="34" charset="-127"/>
                <a:cs typeface="Menlo" panose="020B0609030804020204" pitchFamily="49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A7B3241-74CA-D249-BD38-4C57AA297F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5444" y="6410505"/>
            <a:ext cx="4288156" cy="314642"/>
          </a:xfrm>
        </p:spPr>
        <p:txBody>
          <a:bodyPr>
            <a:normAutofit/>
          </a:bodyPr>
          <a:lstStyle>
            <a:lvl1pPr>
              <a:buNone/>
              <a:defRPr lang="en-US" sz="1000" i="1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32967DF6-DDDE-B851-D43B-850B377AED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" y="873761"/>
            <a:ext cx="11927840" cy="541527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None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Courier New" panose="02070309020205020404" pitchFamily="49" charset="0"/>
              <a:buChar char="o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Wingdings" pitchFamily="2" charset="2"/>
              <a:buChar char="Ø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41098592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o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4140DE3-AE3F-48D6-668B-DAF0D0698C0C}"/>
              </a:ext>
            </a:extLst>
          </p:cNvPr>
          <p:cNvSpPr txBox="1">
            <a:spLocks/>
          </p:cNvSpPr>
          <p:nvPr/>
        </p:nvSpPr>
        <p:spPr>
          <a:xfrm>
            <a:off x="0" y="6248400"/>
            <a:ext cx="12192000" cy="616689"/>
          </a:xfrm>
          <a:prstGeom prst="rect">
            <a:avLst/>
          </a:prstGeom>
          <a:solidFill>
            <a:schemeClr val="bg1">
              <a:lumMod val="85000"/>
              <a:alpha val="29804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Comfortaa" pitchFamily="2" charset="0"/>
                <a:ea typeface="Dotum" panose="020B0600000101010101" pitchFamily="34" charset="-127"/>
                <a:cs typeface="Menlo" panose="020B0609030804020204" pitchFamily="49" charset="0"/>
              </a:defRPr>
            </a:lvl1pPr>
          </a:lstStyle>
          <a:p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DB1775B-D24B-979A-7BDF-F003D3300A08}"/>
              </a:ext>
            </a:extLst>
          </p:cNvPr>
          <p:cNvCxnSpPr/>
          <p:nvPr/>
        </p:nvCxnSpPr>
        <p:spPr>
          <a:xfrm>
            <a:off x="0" y="6248400"/>
            <a:ext cx="12192000" cy="0"/>
          </a:xfrm>
          <a:prstGeom prst="line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4" descr="Institut Pasteur, Paris, France — Google Arts &amp; Culture">
            <a:extLst>
              <a:ext uri="{FF2B5EF4-FFF2-40B4-BE49-F238E27FC236}">
                <a16:creationId xmlns:a16="http://schemas.microsoft.com/office/drawing/2014/main" id="{5C82817C-9A17-70D9-A3ED-5FF6BA77B7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6377889"/>
            <a:ext cx="1188185" cy="320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F8AEAB8-52D6-E237-CB19-AA22E49E3315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856549" y="6279787"/>
            <a:ext cx="1207672" cy="534046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156D004-53FB-9622-2593-36C9B40B0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377889"/>
            <a:ext cx="2743200" cy="365125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878757D-A12E-AC9E-7264-3EA4BD4B9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96343" y="6373284"/>
            <a:ext cx="5747657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Epigenomics Data Analysis — Physalia 2026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66404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40962-E512-134A-8B89-5D29AB8A57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" y="873762"/>
            <a:ext cx="11927840" cy="8155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None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Courier New" panose="02070309020205020404" pitchFamily="49" charset="0"/>
              <a:buChar char="o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Wingdings" pitchFamily="2" charset="2"/>
              <a:buChar char="Ø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3396AA0-6A00-40CA-3991-A57289C8026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0" y="2208435"/>
            <a:ext cx="12192000" cy="306090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>
            <a:normAutofit/>
          </a:bodyPr>
          <a:lstStyle>
            <a:lvl1pPr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buNone/>
              <a:defRPr sz="2000" b="0" i="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defRPr>
            </a:lvl1pPr>
            <a:lvl2pPr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984DF8B-A115-675A-61F9-8356FDECA404}"/>
              </a:ext>
            </a:extLst>
          </p:cNvPr>
          <p:cNvSpPr txBox="1">
            <a:spLocks/>
          </p:cNvSpPr>
          <p:nvPr/>
        </p:nvSpPr>
        <p:spPr>
          <a:xfrm>
            <a:off x="0" y="6248400"/>
            <a:ext cx="12192000" cy="616689"/>
          </a:xfrm>
          <a:prstGeom prst="rect">
            <a:avLst/>
          </a:prstGeom>
          <a:solidFill>
            <a:schemeClr val="bg1">
              <a:lumMod val="85000"/>
              <a:alpha val="29804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Comfortaa" pitchFamily="2" charset="0"/>
                <a:ea typeface="Dotum" panose="020B0600000101010101" pitchFamily="34" charset="-127"/>
                <a:cs typeface="Menlo" panose="020B0609030804020204" pitchFamily="49" charset="0"/>
              </a:defRPr>
            </a:lvl1pPr>
          </a:lstStyle>
          <a:p>
            <a:endParaRPr lang="en-US" dirty="0"/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C464067F-913B-5D2F-4D60-C68E0D113AF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5444" y="5872025"/>
            <a:ext cx="4288156" cy="314642"/>
          </a:xfrm>
        </p:spPr>
        <p:txBody>
          <a:bodyPr>
            <a:normAutofit/>
          </a:bodyPr>
          <a:lstStyle>
            <a:lvl1pPr>
              <a:buNone/>
              <a:defRPr lang="en-US" sz="1000" i="1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BD928EA-5AB5-0522-8B22-A7613F8BD453}"/>
              </a:ext>
            </a:extLst>
          </p:cNvPr>
          <p:cNvCxnSpPr/>
          <p:nvPr/>
        </p:nvCxnSpPr>
        <p:spPr>
          <a:xfrm>
            <a:off x="0" y="6248400"/>
            <a:ext cx="12192000" cy="0"/>
          </a:xfrm>
          <a:prstGeom prst="line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4" descr="Institut Pasteur, Paris, France — Google Arts &amp; Culture">
            <a:extLst>
              <a:ext uri="{FF2B5EF4-FFF2-40B4-BE49-F238E27FC236}">
                <a16:creationId xmlns:a16="http://schemas.microsoft.com/office/drawing/2014/main" id="{E540942B-247F-A801-9F56-58FABF5C3A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6377889"/>
            <a:ext cx="1188185" cy="320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BBBE6AF-EEDA-0260-4F7F-1540DBFC67C9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856549" y="6279787"/>
            <a:ext cx="1207672" cy="534046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21C008F8-259C-B1B6-F2C6-5E542D36F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02640"/>
          </a:xfrm>
          <a:prstGeom prst="rect">
            <a:avLst/>
          </a:prstGeom>
          <a:solidFill>
            <a:schemeClr val="bg1">
              <a:lumMod val="85000"/>
              <a:alpha val="29804"/>
            </a:schemeClr>
          </a:solidFill>
        </p:spPr>
        <p:txBody>
          <a:bodyPr anchor="ctr">
            <a:noAutofit/>
          </a:bodyPr>
          <a:lstStyle>
            <a:lvl1pPr algn="ctr">
              <a:defRPr sz="2400" b="1">
                <a:latin typeface="Comfortaa" pitchFamily="2" charset="0"/>
                <a:ea typeface="Dotum" panose="020B0600000101010101" pitchFamily="34" charset="-127"/>
                <a:cs typeface="Menlo" panose="020B0609030804020204" pitchFamily="49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A93BB3C8-3227-B030-E53E-4C655475F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377889"/>
            <a:ext cx="2743200" cy="365125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830055-81E6-701B-7B90-7911D8FFB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96343" y="6373284"/>
            <a:ext cx="5747657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Epigenomics Data Analysis — Physalia 2026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05261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rea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56CDD01-E503-F840-9A2A-3783A49052F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1000"/>
          </a:blip>
          <a:stretch>
            <a:fillRect/>
          </a:stretch>
        </p:blipFill>
        <p:spPr>
          <a:xfrm>
            <a:off x="-9942" y="-1"/>
            <a:ext cx="12192000" cy="181833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10251D2-43BA-C946-A8E2-C1666250C02C}"/>
              </a:ext>
            </a:extLst>
          </p:cNvPr>
          <p:cNvSpPr txBox="1"/>
          <p:nvPr/>
        </p:nvSpPr>
        <p:spPr>
          <a:xfrm>
            <a:off x="-9939" y="0"/>
            <a:ext cx="12201939" cy="181937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4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147D1BD-9050-E74A-ACDB-B2A1C15F83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525" y="0"/>
            <a:ext cx="12182475" cy="1817688"/>
          </a:xfrm>
        </p:spPr>
        <p:txBody>
          <a:bodyPr anchor="ctr">
            <a:normAutofit/>
          </a:bodyPr>
          <a:lstStyle>
            <a:lvl1pPr algn="ctr">
              <a:buNone/>
              <a:defRPr lang="en-GB" sz="4000" b="1" kern="1200" dirty="0" smtClean="0">
                <a:solidFill>
                  <a:schemeClr val="tx1"/>
                </a:solidFill>
                <a:latin typeface="Comfortaa" pitchFamily="2" charset="0"/>
                <a:ea typeface="Dotum" panose="020B0600000101010101" pitchFamily="34" charset="-127"/>
                <a:cs typeface="Menlo" panose="020B0609030804020204" pitchFamily="49" charset="0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4140DE3-AE3F-48D6-668B-DAF0D0698C0C}"/>
              </a:ext>
            </a:extLst>
          </p:cNvPr>
          <p:cNvSpPr txBox="1">
            <a:spLocks/>
          </p:cNvSpPr>
          <p:nvPr/>
        </p:nvSpPr>
        <p:spPr>
          <a:xfrm>
            <a:off x="0" y="6248400"/>
            <a:ext cx="12192000" cy="616689"/>
          </a:xfrm>
          <a:prstGeom prst="rect">
            <a:avLst/>
          </a:prstGeom>
          <a:solidFill>
            <a:schemeClr val="bg1">
              <a:lumMod val="85000"/>
              <a:alpha val="29804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Comfortaa" pitchFamily="2" charset="0"/>
                <a:ea typeface="Dotum" panose="020B0600000101010101" pitchFamily="34" charset="-127"/>
                <a:cs typeface="Menlo" panose="020B0609030804020204" pitchFamily="49" charset="0"/>
              </a:defRPr>
            </a:lvl1pPr>
          </a:lstStyle>
          <a:p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DB1775B-D24B-979A-7BDF-F003D3300A08}"/>
              </a:ext>
            </a:extLst>
          </p:cNvPr>
          <p:cNvCxnSpPr/>
          <p:nvPr/>
        </p:nvCxnSpPr>
        <p:spPr>
          <a:xfrm>
            <a:off x="0" y="6248400"/>
            <a:ext cx="12192000" cy="0"/>
          </a:xfrm>
          <a:prstGeom prst="line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4" descr="Institut Pasteur, Paris, France — Google Arts &amp; Culture">
            <a:extLst>
              <a:ext uri="{FF2B5EF4-FFF2-40B4-BE49-F238E27FC236}">
                <a16:creationId xmlns:a16="http://schemas.microsoft.com/office/drawing/2014/main" id="{5C82817C-9A17-70D9-A3ED-5FF6BA77B7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6377889"/>
            <a:ext cx="1188185" cy="320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F8AEAB8-52D6-E237-CB19-AA22E49E3315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856549" y="6279787"/>
            <a:ext cx="1207672" cy="534046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156D004-53FB-9622-2593-36C9B40B0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377889"/>
            <a:ext cx="2743200" cy="365125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878757D-A12E-AC9E-7264-3EA4BD4B9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96343" y="6373284"/>
            <a:ext cx="5747657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Epigenomics Data Analysis — Physalia 2026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36503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07283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alphaModFix amt="18000"/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63910EB-624E-F321-925E-A562C9A67D9E}"/>
              </a:ext>
            </a:extLst>
          </p:cNvPr>
          <p:cNvSpPr/>
          <p:nvPr/>
        </p:nvSpPr>
        <p:spPr>
          <a:xfrm>
            <a:off x="0" y="3967089"/>
            <a:ext cx="12192000" cy="289091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02AA4C-3692-DC40-ADE0-508B5814C6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ctr"/>
          <a:lstStyle>
            <a:lvl1pPr algn="ctr">
              <a:defRPr sz="6000" b="1">
                <a:latin typeface="Comfortaa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C45597-59BF-184F-B29C-07C34F95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5439"/>
            <a:ext cx="9144000" cy="250772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F122F163-4E41-A425-055F-31E35A8149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4189" y="5394961"/>
            <a:ext cx="2587811" cy="1456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99916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F7F50D6C-3207-323C-0510-C9484EEA4EB6}"/>
              </a:ext>
            </a:extLst>
          </p:cNvPr>
          <p:cNvSpPr txBox="1">
            <a:spLocks/>
          </p:cNvSpPr>
          <p:nvPr/>
        </p:nvSpPr>
        <p:spPr>
          <a:xfrm>
            <a:off x="0" y="6241311"/>
            <a:ext cx="12192000" cy="616689"/>
          </a:xfrm>
          <a:prstGeom prst="rect">
            <a:avLst/>
          </a:prstGeom>
          <a:solidFill>
            <a:schemeClr val="bg1">
              <a:lumMod val="85000"/>
              <a:alpha val="29804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Comfortaa" pitchFamily="2" charset="0"/>
                <a:ea typeface="Dotum" panose="020B0600000101010101" pitchFamily="34" charset="-127"/>
                <a:cs typeface="Menlo" panose="020B0609030804020204" pitchFamily="49" charset="0"/>
              </a:defRPr>
            </a:lvl1pPr>
          </a:lstStyle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132174-956C-CE42-AF06-2CC1F76FD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02640"/>
          </a:xfrm>
          <a:prstGeom prst="rect">
            <a:avLst/>
          </a:prstGeom>
          <a:solidFill>
            <a:schemeClr val="bg1">
              <a:lumMod val="85000"/>
              <a:alpha val="29804"/>
            </a:schemeClr>
          </a:solidFill>
        </p:spPr>
        <p:txBody>
          <a:bodyPr anchor="ctr">
            <a:noAutofit/>
          </a:bodyPr>
          <a:lstStyle>
            <a:lvl1pPr algn="ctr">
              <a:defRPr sz="2400" b="1">
                <a:latin typeface="Comfortaa" pitchFamily="2" charset="0"/>
                <a:ea typeface="Dotum" panose="020B0600000101010101" pitchFamily="34" charset="-127"/>
                <a:cs typeface="Menlo" panose="020B0609030804020204" pitchFamily="49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A7B3241-74CA-D249-BD38-4C57AA297F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5444" y="5872025"/>
            <a:ext cx="4288156" cy="314642"/>
          </a:xfrm>
        </p:spPr>
        <p:txBody>
          <a:bodyPr>
            <a:normAutofit/>
          </a:bodyPr>
          <a:lstStyle>
            <a:lvl1pPr>
              <a:buNone/>
              <a:defRPr lang="en-US" sz="1000" i="1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09CD1E7-C4F0-95C5-0A44-6191CC4FB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377889"/>
            <a:ext cx="2743200" cy="365125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1FEE8F5-8318-DF2F-E442-91BB7855E5FB}"/>
              </a:ext>
            </a:extLst>
          </p:cNvPr>
          <p:cNvCxnSpPr/>
          <p:nvPr/>
        </p:nvCxnSpPr>
        <p:spPr>
          <a:xfrm>
            <a:off x="0" y="6248400"/>
            <a:ext cx="12192000" cy="0"/>
          </a:xfrm>
          <a:prstGeom prst="line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32967DF6-DDDE-B851-D43B-850B377AED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" y="873761"/>
            <a:ext cx="11927840" cy="488327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None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Courier New" panose="02070309020205020404" pitchFamily="49" charset="0"/>
              <a:buChar char="o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Wingdings" pitchFamily="2" charset="2"/>
              <a:buChar char="Ø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4FA3D7D2-81E0-C7BD-F826-D44EE9292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96343" y="6373284"/>
            <a:ext cx="5747657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Epigenomics Data Analysis — Physalia 2026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1CE93C2-6544-85EA-AA67-941E7AC3F3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82" y="6255490"/>
            <a:ext cx="1048153" cy="589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11360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o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32174-956C-CE42-AF06-2CC1F76FD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02640"/>
          </a:xfrm>
          <a:prstGeom prst="rect">
            <a:avLst/>
          </a:prstGeom>
          <a:solidFill>
            <a:schemeClr val="bg1">
              <a:lumMod val="85000"/>
              <a:alpha val="29804"/>
            </a:schemeClr>
          </a:solidFill>
        </p:spPr>
        <p:txBody>
          <a:bodyPr anchor="ctr">
            <a:noAutofit/>
          </a:bodyPr>
          <a:lstStyle>
            <a:lvl1pPr algn="ctr">
              <a:defRPr sz="2400" b="1">
                <a:latin typeface="Comfortaa" pitchFamily="2" charset="0"/>
                <a:ea typeface="Dotum" panose="020B0600000101010101" pitchFamily="34" charset="-127"/>
                <a:cs typeface="Menlo" panose="020B0609030804020204" pitchFamily="49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A7B3241-74CA-D249-BD38-4C57AA297F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5444" y="6410505"/>
            <a:ext cx="4288156" cy="314642"/>
          </a:xfrm>
        </p:spPr>
        <p:txBody>
          <a:bodyPr>
            <a:normAutofit/>
          </a:bodyPr>
          <a:lstStyle>
            <a:lvl1pPr>
              <a:buNone/>
              <a:defRPr lang="en-US" sz="1000" i="1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32967DF6-DDDE-B851-D43B-850B377AED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" y="873761"/>
            <a:ext cx="11927840" cy="541527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None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Courier New" panose="02070309020205020404" pitchFamily="49" charset="0"/>
              <a:buChar char="o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Wingdings" pitchFamily="2" charset="2"/>
              <a:buChar char="Ø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2641190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o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4140DE3-AE3F-48D6-668B-DAF0D0698C0C}"/>
              </a:ext>
            </a:extLst>
          </p:cNvPr>
          <p:cNvSpPr txBox="1">
            <a:spLocks/>
          </p:cNvSpPr>
          <p:nvPr/>
        </p:nvSpPr>
        <p:spPr>
          <a:xfrm>
            <a:off x="0" y="6248400"/>
            <a:ext cx="12192000" cy="616689"/>
          </a:xfrm>
          <a:prstGeom prst="rect">
            <a:avLst/>
          </a:prstGeom>
          <a:solidFill>
            <a:schemeClr val="bg1">
              <a:lumMod val="85000"/>
              <a:alpha val="29804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Comfortaa" pitchFamily="2" charset="0"/>
                <a:ea typeface="Dotum" panose="020B0600000101010101" pitchFamily="34" charset="-127"/>
                <a:cs typeface="Menlo" panose="020B0609030804020204" pitchFamily="49" charset="0"/>
              </a:defRPr>
            </a:lvl1pPr>
          </a:lstStyle>
          <a:p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DB1775B-D24B-979A-7BDF-F003D3300A08}"/>
              </a:ext>
            </a:extLst>
          </p:cNvPr>
          <p:cNvCxnSpPr/>
          <p:nvPr/>
        </p:nvCxnSpPr>
        <p:spPr>
          <a:xfrm>
            <a:off x="0" y="6248400"/>
            <a:ext cx="12192000" cy="0"/>
          </a:xfrm>
          <a:prstGeom prst="line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156D004-53FB-9622-2593-36C9B40B0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377889"/>
            <a:ext cx="2743200" cy="365125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878757D-A12E-AC9E-7264-3EA4BD4B9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96343" y="6373284"/>
            <a:ext cx="5747657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Epigenomics Data Analysis — Physalia 2026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ACF294A-06F4-3E28-947D-A951D1C6DB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82" y="6255490"/>
            <a:ext cx="1048153" cy="589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57129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40962-E512-134A-8B89-5D29AB8A57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" y="873762"/>
            <a:ext cx="11927840" cy="8155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None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Courier New" panose="02070309020205020404" pitchFamily="49" charset="0"/>
              <a:buChar char="o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Wingdings" pitchFamily="2" charset="2"/>
              <a:buChar char="Ø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3396AA0-6A00-40CA-3991-A57289C8026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0" y="2208435"/>
            <a:ext cx="12192000" cy="306090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>
            <a:normAutofit/>
          </a:bodyPr>
          <a:lstStyle>
            <a:lvl1pPr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buNone/>
              <a:defRPr sz="2000" b="0" i="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defRPr>
            </a:lvl1pPr>
            <a:lvl2pPr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984DF8B-A115-675A-61F9-8356FDECA404}"/>
              </a:ext>
            </a:extLst>
          </p:cNvPr>
          <p:cNvSpPr txBox="1">
            <a:spLocks/>
          </p:cNvSpPr>
          <p:nvPr/>
        </p:nvSpPr>
        <p:spPr>
          <a:xfrm>
            <a:off x="0" y="6248400"/>
            <a:ext cx="12192000" cy="616689"/>
          </a:xfrm>
          <a:prstGeom prst="rect">
            <a:avLst/>
          </a:prstGeom>
          <a:solidFill>
            <a:schemeClr val="bg1">
              <a:lumMod val="85000"/>
              <a:alpha val="29804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Comfortaa" pitchFamily="2" charset="0"/>
                <a:ea typeface="Dotum" panose="020B0600000101010101" pitchFamily="34" charset="-127"/>
                <a:cs typeface="Menlo" panose="020B0609030804020204" pitchFamily="49" charset="0"/>
              </a:defRPr>
            </a:lvl1pPr>
          </a:lstStyle>
          <a:p>
            <a:endParaRPr lang="en-US" dirty="0"/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C464067F-913B-5D2F-4D60-C68E0D113AF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5444" y="5872025"/>
            <a:ext cx="4288156" cy="314642"/>
          </a:xfrm>
        </p:spPr>
        <p:txBody>
          <a:bodyPr>
            <a:normAutofit/>
          </a:bodyPr>
          <a:lstStyle>
            <a:lvl1pPr>
              <a:buNone/>
              <a:defRPr lang="en-US" sz="1000" i="1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BD928EA-5AB5-0522-8B22-A7613F8BD453}"/>
              </a:ext>
            </a:extLst>
          </p:cNvPr>
          <p:cNvCxnSpPr/>
          <p:nvPr/>
        </p:nvCxnSpPr>
        <p:spPr>
          <a:xfrm>
            <a:off x="0" y="6248400"/>
            <a:ext cx="12192000" cy="0"/>
          </a:xfrm>
          <a:prstGeom prst="line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le 1">
            <a:extLst>
              <a:ext uri="{FF2B5EF4-FFF2-40B4-BE49-F238E27FC236}">
                <a16:creationId xmlns:a16="http://schemas.microsoft.com/office/drawing/2014/main" id="{21C008F8-259C-B1B6-F2C6-5E542D36F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02640"/>
          </a:xfrm>
          <a:prstGeom prst="rect">
            <a:avLst/>
          </a:prstGeom>
          <a:solidFill>
            <a:schemeClr val="bg1">
              <a:lumMod val="85000"/>
              <a:alpha val="29804"/>
            </a:schemeClr>
          </a:solidFill>
        </p:spPr>
        <p:txBody>
          <a:bodyPr anchor="ctr">
            <a:noAutofit/>
          </a:bodyPr>
          <a:lstStyle>
            <a:lvl1pPr algn="ctr">
              <a:defRPr sz="2400" b="1">
                <a:latin typeface="Comfortaa" pitchFamily="2" charset="0"/>
                <a:ea typeface="Dotum" panose="020B0600000101010101" pitchFamily="34" charset="-127"/>
                <a:cs typeface="Menlo" panose="020B0609030804020204" pitchFamily="49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A93BB3C8-3227-B030-E53E-4C655475F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377889"/>
            <a:ext cx="2743200" cy="365125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830055-81E6-701B-7B90-7911D8FFB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96343" y="6373284"/>
            <a:ext cx="5747657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Epigenomics Data Analysis — Physalia 2026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122516-0AF4-B0FD-F224-516E3D63E4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82" y="6255490"/>
            <a:ext cx="1048153" cy="589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67682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rea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56CDD01-E503-F840-9A2A-3783A49052F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1000"/>
          </a:blip>
          <a:stretch>
            <a:fillRect/>
          </a:stretch>
        </p:blipFill>
        <p:spPr>
          <a:xfrm>
            <a:off x="-9942" y="-1"/>
            <a:ext cx="12192000" cy="181833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10251D2-43BA-C946-A8E2-C1666250C02C}"/>
              </a:ext>
            </a:extLst>
          </p:cNvPr>
          <p:cNvSpPr txBox="1"/>
          <p:nvPr/>
        </p:nvSpPr>
        <p:spPr>
          <a:xfrm>
            <a:off x="-9939" y="0"/>
            <a:ext cx="12201939" cy="181937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4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147D1BD-9050-E74A-ACDB-B2A1C15F83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525" y="0"/>
            <a:ext cx="12182475" cy="1817688"/>
          </a:xfrm>
        </p:spPr>
        <p:txBody>
          <a:bodyPr anchor="ctr">
            <a:normAutofit/>
          </a:bodyPr>
          <a:lstStyle>
            <a:lvl1pPr algn="ctr">
              <a:buNone/>
              <a:defRPr lang="en-GB" sz="4000" b="1" kern="1200" dirty="0" smtClean="0">
                <a:solidFill>
                  <a:schemeClr val="tx1"/>
                </a:solidFill>
                <a:latin typeface="Comfortaa" pitchFamily="2" charset="0"/>
                <a:ea typeface="Dotum" panose="020B0600000101010101" pitchFamily="34" charset="-127"/>
                <a:cs typeface="Menlo" panose="020B0609030804020204" pitchFamily="49" charset="0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4140DE3-AE3F-48D6-668B-DAF0D0698C0C}"/>
              </a:ext>
            </a:extLst>
          </p:cNvPr>
          <p:cNvSpPr txBox="1">
            <a:spLocks/>
          </p:cNvSpPr>
          <p:nvPr/>
        </p:nvSpPr>
        <p:spPr>
          <a:xfrm>
            <a:off x="0" y="6248400"/>
            <a:ext cx="12192000" cy="616689"/>
          </a:xfrm>
          <a:prstGeom prst="rect">
            <a:avLst/>
          </a:prstGeom>
          <a:solidFill>
            <a:schemeClr val="bg1">
              <a:lumMod val="85000"/>
              <a:alpha val="29804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Comfortaa" pitchFamily="2" charset="0"/>
                <a:ea typeface="Dotum" panose="020B0600000101010101" pitchFamily="34" charset="-127"/>
                <a:cs typeface="Menlo" panose="020B0609030804020204" pitchFamily="49" charset="0"/>
              </a:defRPr>
            </a:lvl1pPr>
          </a:lstStyle>
          <a:p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DB1775B-D24B-979A-7BDF-F003D3300A08}"/>
              </a:ext>
            </a:extLst>
          </p:cNvPr>
          <p:cNvCxnSpPr/>
          <p:nvPr/>
        </p:nvCxnSpPr>
        <p:spPr>
          <a:xfrm>
            <a:off x="0" y="6248400"/>
            <a:ext cx="12192000" cy="0"/>
          </a:xfrm>
          <a:prstGeom prst="line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156D004-53FB-9622-2593-36C9B40B0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377889"/>
            <a:ext cx="2743200" cy="365125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878757D-A12E-AC9E-7264-3EA4BD4B9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96343" y="6373284"/>
            <a:ext cx="5747657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Epigenomics Data Analysis — Physalia 2026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A154C1-BADA-FCD4-0D33-C98DC8B159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82" y="6255490"/>
            <a:ext cx="1048153" cy="589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79454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79944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D9C0A-1549-7443-85EE-55FCCABF3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41912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A1A869-7351-D242-86E9-79866614E9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CE2C13-B8D7-F44C-9139-6617535B9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696C65-553F-C344-AE7F-E5E25FFE6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Epigenomics Data Analysis — Physalia 2026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767CE44-45AC-9541-9EC5-59AD836780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19295" y="5951350"/>
            <a:ext cx="1172705" cy="906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60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B9F28562-9D3B-E049-90B5-3EB3B52779B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47929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1.xml"/><Relationship Id="rId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99439E-A8C1-0147-878A-E596CBCA79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E68514-C71E-D749-B402-5599774739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529C53-DC6E-5B43-AE85-3EF6A4F76C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E34DA9-DD42-8445-BB79-DF30D799A8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Epigenomics Data Analysis — Physalia 2026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4CFCD4-3911-E943-8744-54979FE9BE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1454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75" r:id="rId3"/>
    <p:sldLayoutId id="2147483674" r:id="rId4"/>
    <p:sldLayoutId id="2147483672" r:id="rId5"/>
    <p:sldLayoutId id="2147483664" r:id="rId6"/>
    <p:sldLayoutId id="2147483673" r:id="rId7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99439E-A8C1-0147-878A-E596CBCA79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E68514-C71E-D749-B402-5599774739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529C53-DC6E-5B43-AE85-3EF6A4F76C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E34DA9-DD42-8445-BB79-DF30D799A8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Epigenomics Data Analysis — Physalia 2026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4CFCD4-3911-E943-8744-54979FE9BE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97712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4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D19899D-021E-02BA-CBD8-FEA50B2533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0" y="1122363"/>
            <a:ext cx="11582400" cy="2387600"/>
          </a:xfrm>
        </p:spPr>
        <p:txBody>
          <a:bodyPr>
            <a:normAutofit/>
          </a:bodyPr>
          <a:lstStyle/>
          <a:p>
            <a:r>
              <a:rPr lang="en-GB" i="0" dirty="0" err="1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ChIP-seq</a:t>
            </a:r>
            <a:r>
              <a:rPr lang="en-GB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 analysis</a:t>
            </a:r>
            <a:endParaRPr lang="en-US" sz="3000" dirty="0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D07EAE9F-3B09-09D5-50EC-A51FBB06AC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Epigenomics Data Analysis</a:t>
            </a:r>
          </a:p>
          <a:p>
            <a:r>
              <a:rPr lang="en-US" dirty="0"/>
              <a:t>Jacques </a:t>
            </a:r>
            <a:r>
              <a:rPr lang="en-US" dirty="0" err="1"/>
              <a:t>Serizay</a:t>
            </a:r>
            <a:endParaRPr lang="en-US" dirty="0"/>
          </a:p>
          <a:p>
            <a:r>
              <a:rPr lang="en-US" dirty="0"/>
              <a:t>Physalia 2026</a:t>
            </a:r>
          </a:p>
        </p:txBody>
      </p:sp>
    </p:spTree>
    <p:extLst>
      <p:ext uri="{BB962C8B-B14F-4D97-AF65-F5344CB8AC3E}">
        <p14:creationId xmlns:p14="http://schemas.microsoft.com/office/powerpoint/2010/main" val="25345522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019AF-7542-5CE2-4947-E2765261B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Chromatin immunoprecipitation: an old tool rejuvenated by high-throughput sequencing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3E6250-A393-A2C9-9791-5B1CE4E764F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7F0CD9-6E73-ABEC-CAD0-69709A1E2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2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3E98708-15BE-216F-CD65-4E49E8C9C8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Chromatin IP is not a new approach. It has been around for the past three decades </a:t>
            </a:r>
          </a:p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D97E00-D738-5BA1-BF45-51A5306B7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Epigenomics Data Analysis — Physalia 2026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9D1C700-6A29-BC23-17A8-AAB2AEFDE5A5}"/>
              </a:ext>
            </a:extLst>
          </p:cNvPr>
          <p:cNvSpPr/>
          <p:nvPr/>
        </p:nvSpPr>
        <p:spPr>
          <a:xfrm>
            <a:off x="2085975" y="1714392"/>
            <a:ext cx="9933654" cy="38472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800" b="1" dirty="0">
                <a:solidFill>
                  <a:srgbClr val="0EA7E4"/>
                </a:solidFill>
                <a:latin typeface="Helvetica" pitchFamily="2" charset="0"/>
              </a:rPr>
              <a:t>Summary</a:t>
            </a:r>
          </a:p>
          <a:p>
            <a:r>
              <a:rPr lang="en-GB" dirty="0"/>
              <a:t>We have used </a:t>
            </a:r>
            <a:r>
              <a:rPr lang="en-GB" dirty="0">
                <a:highlight>
                  <a:srgbClr val="FFFF00"/>
                </a:highlight>
              </a:rPr>
              <a:t>formaldehyde-mediated </a:t>
            </a:r>
            <a:r>
              <a:rPr lang="en-GB" dirty="0" err="1">
                <a:highlight>
                  <a:srgbClr val="FFFF00"/>
                </a:highlight>
              </a:rPr>
              <a:t>proteinDNA</a:t>
            </a:r>
            <a:r>
              <a:rPr lang="en-GB" dirty="0">
                <a:highlight>
                  <a:srgbClr val="FFFF00"/>
                </a:highlight>
              </a:rPr>
              <a:t> crosslinking </a:t>
            </a:r>
            <a:r>
              <a:rPr lang="en-GB" dirty="0"/>
              <a:t>within intact cells to examine the </a:t>
            </a:r>
            <a:r>
              <a:rPr lang="en-GB" dirty="0">
                <a:highlight>
                  <a:srgbClr val="FFFF00"/>
                </a:highlight>
              </a:rPr>
              <a:t>in vivo chromatin structure of the D. melanogaster heat shock protein 70 ( </a:t>
            </a:r>
            <a:r>
              <a:rPr lang="en-GB" i="1" dirty="0">
                <a:highlight>
                  <a:srgbClr val="FFFF00"/>
                </a:highlight>
              </a:rPr>
              <a:t>hsp70</a:t>
            </a:r>
            <a:r>
              <a:rPr lang="en-GB" dirty="0">
                <a:highlight>
                  <a:srgbClr val="FFFF00"/>
                </a:highlight>
              </a:rPr>
              <a:t>) genes</a:t>
            </a:r>
            <a:r>
              <a:rPr lang="en-GB" dirty="0"/>
              <a:t>. In agreement with previous in vitro studies, we find that the heat </a:t>
            </a:r>
            <a:r>
              <a:rPr lang="en-GB" dirty="0" err="1"/>
              <a:t>shockmediated</a:t>
            </a:r>
            <a:r>
              <a:rPr lang="en-GB" dirty="0"/>
              <a:t> transcriptional induction of the </a:t>
            </a:r>
            <a:r>
              <a:rPr lang="en-GB" i="1" dirty="0"/>
              <a:t>hsp70</a:t>
            </a:r>
            <a:r>
              <a:rPr lang="en-GB" dirty="0"/>
              <a:t> genes perturbs their chromatin structure, resulting in </a:t>
            </a:r>
            <a:r>
              <a:rPr lang="en-GB" dirty="0">
                <a:highlight>
                  <a:srgbClr val="FFFF00"/>
                </a:highlight>
              </a:rPr>
              <a:t>fewer </a:t>
            </a:r>
            <a:r>
              <a:rPr lang="en-GB" dirty="0" err="1">
                <a:highlight>
                  <a:srgbClr val="FFFF00"/>
                </a:highlight>
              </a:rPr>
              <a:t>proteinDNA</a:t>
            </a:r>
            <a:r>
              <a:rPr lang="en-GB" dirty="0">
                <a:highlight>
                  <a:srgbClr val="FFFF00"/>
                </a:highlight>
              </a:rPr>
              <a:t> contacts </a:t>
            </a:r>
            <a:r>
              <a:rPr lang="en-GB" dirty="0" err="1">
                <a:highlight>
                  <a:srgbClr val="FFFF00"/>
                </a:highlight>
              </a:rPr>
              <a:t>crosslinkable</a:t>
            </a:r>
            <a:r>
              <a:rPr lang="en-GB" dirty="0">
                <a:highlight>
                  <a:srgbClr val="FFFF00"/>
                </a:highlight>
              </a:rPr>
              <a:t> in vivo by formaldehyde</a:t>
            </a:r>
            <a:r>
              <a:rPr lang="en-GB" dirty="0"/>
              <a:t>. However, contrary to earlier in vitro evidence that histones may be absent from actively transcribed genes, we show directly, by </a:t>
            </a:r>
            <a:r>
              <a:rPr lang="en-GB" dirty="0">
                <a:highlight>
                  <a:srgbClr val="FFFF00"/>
                </a:highlight>
              </a:rPr>
              <a:t>immunoprecipitation of in </a:t>
            </a:r>
            <a:r>
              <a:rPr lang="en-GB" dirty="0" err="1">
                <a:highlight>
                  <a:srgbClr val="FFFF00"/>
                </a:highlight>
              </a:rPr>
              <a:t>vivocrosslinked</a:t>
            </a:r>
            <a:r>
              <a:rPr lang="en-GB" dirty="0">
                <a:highlight>
                  <a:srgbClr val="FFFF00"/>
                </a:highlight>
              </a:rPr>
              <a:t> chromatin fragments, that at least histone H4 remains bound to </a:t>
            </a:r>
            <a:r>
              <a:rPr lang="en-GB" i="1" dirty="0">
                <a:highlight>
                  <a:srgbClr val="FFFF00"/>
                </a:highlight>
              </a:rPr>
              <a:t>hsp70</a:t>
            </a:r>
            <a:r>
              <a:rPr lang="en-GB" dirty="0">
                <a:highlight>
                  <a:srgbClr val="FFFF00"/>
                </a:highlight>
              </a:rPr>
              <a:t> DNA in vivo</a:t>
            </a:r>
            <a:r>
              <a:rPr lang="en-GB" dirty="0"/>
              <a:t>, irrespective of its rate of transcription. The formaldehyde-based in vivo mapping techniques described in this work are generally applicable, and can be used both to probe </a:t>
            </a:r>
            <a:r>
              <a:rPr lang="en-GB" dirty="0" err="1"/>
              <a:t>proteinDNA</a:t>
            </a:r>
            <a:r>
              <a:rPr lang="en-GB" dirty="0"/>
              <a:t> interactions within specific genes and to determine the genomic location of specific chromosomal proteins.</a:t>
            </a:r>
          </a:p>
          <a:p>
            <a:br>
              <a:rPr lang="en-GB" dirty="0">
                <a:solidFill>
                  <a:srgbClr val="505050"/>
                </a:solidFill>
                <a:latin typeface="Helvetica" pitchFamily="2" charset="0"/>
              </a:rPr>
            </a:br>
            <a:endParaRPr lang="en-GB" dirty="0">
              <a:solidFill>
                <a:srgbClr val="505050"/>
              </a:solidFill>
              <a:latin typeface="Helvetica" pitchFamily="2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32F4D7C-66AA-C080-754A-55BA69D0DA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14392"/>
            <a:ext cx="1943100" cy="74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352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CBB83-5433-344C-BDB0-622BF73A0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Chromatin immunoprecipitation: an old </a:t>
            </a:r>
            <a:r>
              <a:rPr lang="en-US"/>
              <a:t>tool rejuvenated </a:t>
            </a:r>
            <a:r>
              <a:rPr lang="en-US" dirty="0"/>
              <a:t>by high-throughput sequencing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224DBF-4542-01F7-75FE-7D5990BAE7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949C03-C5B6-E94F-8188-53F7E2FF3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28562-9D3B-E049-90B5-3EB3B52779B1}" type="slidenum">
              <a:rPr lang="en-US" smtClean="0"/>
              <a:pPr/>
              <a:t>3</a:t>
            </a:fld>
            <a:endParaRPr lang="en-US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3ABC47-DC7F-154A-99D0-C0299824E6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gained a lot of traction when high-throughput sequencing emerged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9AB3B4-0398-1A49-A6B6-7B9C52FF4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Epigenomics Data Analysis — Physalia 2026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7561FE0-AD5C-B845-B265-A70365411A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9499" y="1796084"/>
            <a:ext cx="5281613" cy="367055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1D9F46F-4979-804C-972C-2DBB1F8557C6}"/>
              </a:ext>
            </a:extLst>
          </p:cNvPr>
          <p:cNvSpPr/>
          <p:nvPr/>
        </p:nvSpPr>
        <p:spPr>
          <a:xfrm flipH="1">
            <a:off x="2114549" y="2000949"/>
            <a:ext cx="3981450" cy="13144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7121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CBB83-5433-344C-BDB0-622BF73A0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ChIP-seq approaches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01A22A-3C8F-EFAF-345B-2C8BDEC5298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949C03-C5B6-E94F-8188-53F7E2FF3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28562-9D3B-E049-90B5-3EB3B52779B1}" type="slidenum">
              <a:rPr lang="en-US" smtClean="0"/>
              <a:pPr/>
              <a:t>4</a:t>
            </a:fld>
            <a:endParaRPr lang="en-US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3ABC47-DC7F-154A-99D0-C0299824E6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ChIP-seq</a:t>
            </a:r>
          </a:p>
          <a:p>
            <a:r>
              <a:rPr lang="en-US" dirty="0"/>
              <a:t>Low input ChIP-seq</a:t>
            </a:r>
          </a:p>
          <a:p>
            <a:r>
              <a:rPr lang="en-US" dirty="0"/>
              <a:t>Native ChIP-seq</a:t>
            </a:r>
          </a:p>
          <a:p>
            <a:r>
              <a:rPr lang="en-US" dirty="0"/>
              <a:t>Indirect ChIP-seq with </a:t>
            </a:r>
            <a:r>
              <a:rPr lang="en-US" dirty="0" err="1"/>
              <a:t>DamID</a:t>
            </a:r>
            <a:endParaRPr lang="en-US" dirty="0"/>
          </a:p>
          <a:p>
            <a:r>
              <a:rPr lang="en-US" dirty="0"/>
              <a:t>ChIP-seq with chemical-based fragmentation</a:t>
            </a:r>
          </a:p>
          <a:p>
            <a:r>
              <a:rPr lang="en-US" dirty="0" err="1"/>
              <a:t>Cut&amp;Run</a:t>
            </a:r>
            <a:r>
              <a:rPr lang="en-US" dirty="0"/>
              <a:t>, </a:t>
            </a:r>
            <a:r>
              <a:rPr lang="en-US" dirty="0" err="1"/>
              <a:t>Cut&amp;Tag</a:t>
            </a:r>
            <a:endParaRPr lang="en-US" dirty="0"/>
          </a:p>
          <a:p>
            <a:r>
              <a:rPr lang="en-US" dirty="0"/>
              <a:t>Single-cell ChIP-seq</a:t>
            </a:r>
          </a:p>
          <a:p>
            <a:r>
              <a:rPr lang="en-US" dirty="0"/>
              <a:t>…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9AB3B4-0398-1A49-A6B6-7B9C52FF4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Epigenomics Data Analysis — Physalia 2026</a:t>
            </a:r>
          </a:p>
        </p:txBody>
      </p:sp>
    </p:spTree>
    <p:extLst>
      <p:ext uri="{BB962C8B-B14F-4D97-AF65-F5344CB8AC3E}">
        <p14:creationId xmlns:p14="http://schemas.microsoft.com/office/powerpoint/2010/main" val="19893142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CBB83-5433-344C-BDB0-622BF73A0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ChIP-seq approaches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447812-2270-1D39-35B4-57812ACDF07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1000" i="1" dirty="0" err="1">
                <a:solidFill>
                  <a:schemeClr val="bg1">
                    <a:lumMod val="65000"/>
                  </a:schemeClr>
                </a:solidFill>
              </a:rPr>
              <a:t>Zentner</a:t>
            </a:r>
            <a:r>
              <a:rPr lang="en-US" sz="1000" i="1" dirty="0">
                <a:solidFill>
                  <a:schemeClr val="bg1">
                    <a:lumMod val="65000"/>
                  </a:schemeClr>
                </a:solidFill>
              </a:rPr>
              <a:t> &amp; </a:t>
            </a:r>
            <a:r>
              <a:rPr lang="en-US" sz="1000" i="1" dirty="0" err="1">
                <a:solidFill>
                  <a:schemeClr val="bg1">
                    <a:lumMod val="65000"/>
                  </a:schemeClr>
                </a:solidFill>
              </a:rPr>
              <a:t>Henikoff</a:t>
            </a:r>
            <a:r>
              <a:rPr lang="en-US" sz="1000" i="1" dirty="0">
                <a:solidFill>
                  <a:schemeClr val="bg1">
                    <a:lumMod val="65000"/>
                  </a:schemeClr>
                </a:solidFill>
              </a:rPr>
              <a:t>, Nat. Rev. Genet. 2014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949C03-C5B6-E94F-8188-53F7E2FF3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28562-9D3B-E049-90B5-3EB3B52779B1}" type="slidenum">
              <a:rPr lang="en-US" smtClean="0"/>
              <a:pPr/>
              <a:t>5</a:t>
            </a:fld>
            <a:endParaRPr lang="en-US" b="1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984281B-301C-0247-AC85-D6F0F33D84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Direct approaches</a:t>
            </a:r>
          </a:p>
        </p:txBody>
      </p:sp>
      <p:pic>
        <p:nvPicPr>
          <p:cNvPr id="5124" name="Picture 4" descr="figure2">
            <a:extLst>
              <a:ext uri="{FF2B5EF4-FFF2-40B4-BE49-F238E27FC236}">
                <a16:creationId xmlns:a16="http://schemas.microsoft.com/office/drawing/2014/main" id="{321C1A91-0E2F-8549-B92C-DF415C3007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7052" y="897864"/>
            <a:ext cx="5885878" cy="51817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2C9187-2969-B3DE-E994-50146A297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Epigenomics Data Analysis — Physalia 2026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69644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CBB83-5433-344C-BDB0-622BF73A0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ChIP-seq approaches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949C03-C5B6-E94F-8188-53F7E2FF3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28562-9D3B-E049-90B5-3EB3B52779B1}" type="slidenum">
              <a:rPr lang="en-US" smtClean="0"/>
              <a:pPr/>
              <a:t>6</a:t>
            </a:fld>
            <a:endParaRPr lang="en-US" b="1"/>
          </a:p>
        </p:txBody>
      </p:sp>
      <p:pic>
        <p:nvPicPr>
          <p:cNvPr id="5122" name="Picture 2" descr="Fig. 2">
            <a:extLst>
              <a:ext uri="{FF2B5EF4-FFF2-40B4-BE49-F238E27FC236}">
                <a16:creationId xmlns:a16="http://schemas.microsoft.com/office/drawing/2014/main" id="{66C9DAC3-825A-E947-9D8B-D83A9A51F53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536577" y="873125"/>
            <a:ext cx="7077571" cy="4883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ontent Placeholder 8">
            <a:extLst>
              <a:ext uri="{FF2B5EF4-FFF2-40B4-BE49-F238E27FC236}">
                <a16:creationId xmlns:a16="http://schemas.microsoft.com/office/drawing/2014/main" id="{72F66425-967C-C899-DA63-E406DC2230EF}"/>
              </a:ext>
            </a:extLst>
          </p:cNvPr>
          <p:cNvSpPr txBox="1">
            <a:spLocks/>
          </p:cNvSpPr>
          <p:nvPr/>
        </p:nvSpPr>
        <p:spPr>
          <a:xfrm>
            <a:off x="111760" y="873761"/>
            <a:ext cx="11927840" cy="48832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Wingdings" pitchFamily="2" charset="2"/>
              <a:buChar char="v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Wingdings" pitchFamily="2" charset="2"/>
              <a:buChar char="Ø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Indirect </a:t>
            </a:r>
            <a:r>
              <a:rPr lang="en-US" dirty="0"/>
              <a:t>approaches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40A30F9-F174-05B9-69A3-2E2D7D60A0F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1000" i="1" dirty="0">
                <a:solidFill>
                  <a:schemeClr val="bg1">
                    <a:lumMod val="65000"/>
                  </a:schemeClr>
                </a:solidFill>
              </a:rPr>
              <a:t>Klein &amp; Hainer, Chromosome Research 2020</a:t>
            </a:r>
          </a:p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D81EC8-9ED7-3685-72E7-B0D43C309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Epigenomics Data Analysis — Physalia 2026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18826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B05F7-278B-CB43-9092-5566D667E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ChIP</a:t>
            </a:r>
            <a:r>
              <a:rPr lang="en-US" dirty="0"/>
              <a:t>-seq downstream analysis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4BE6E7-351F-5BC0-3F21-8888A1E051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AFD23E-0EB5-9C47-B22B-CA4393D4D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28562-9D3B-E049-90B5-3EB3B52779B1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247E85-F0ED-8944-97A4-9BFB9B12E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Epigenomics Data Analysis — Physalia 2026</a:t>
            </a:r>
          </a:p>
        </p:txBody>
      </p:sp>
      <p:sp>
        <p:nvSpPr>
          <p:cNvPr id="11" name="Google Shape;114;p3">
            <a:extLst>
              <a:ext uri="{FF2B5EF4-FFF2-40B4-BE49-F238E27FC236}">
                <a16:creationId xmlns:a16="http://schemas.microsoft.com/office/drawing/2014/main" id="{7E40E3FB-295A-EED7-870D-383C0FEA4EDB}"/>
              </a:ext>
            </a:extLst>
          </p:cNvPr>
          <p:cNvSpPr txBox="1"/>
          <p:nvPr/>
        </p:nvSpPr>
        <p:spPr>
          <a:xfrm>
            <a:off x="1196533" y="1699861"/>
            <a:ext cx="3909721" cy="38808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64275" rIns="91425" bIns="45700" anchor="t" anchorCtr="0">
            <a:spAutoFit/>
          </a:bodyPr>
          <a:lstStyle>
            <a:defPPr>
              <a:defRPr lang="en-US"/>
            </a:defPPr>
            <a:lvl1pPr marR="0" lvl="0" indent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1"/>
                </a:solidFill>
                <a:latin typeface="Avenir"/>
                <a:ea typeface="Avenir"/>
                <a:cs typeface="Avenir"/>
              </a:defRPr>
            </a:lvl1pPr>
          </a:lstStyle>
          <a:p>
            <a:r>
              <a:rPr lang="en-US">
                <a:sym typeface="Avenir"/>
              </a:rPr>
              <a:t>Create fastq</a:t>
            </a:r>
            <a:r>
              <a:rPr lang="en-US" dirty="0">
                <a:sym typeface="Avenir"/>
              </a:rPr>
              <a:t> files</a:t>
            </a:r>
            <a:endParaRPr dirty="0"/>
          </a:p>
        </p:txBody>
      </p:sp>
      <p:pic>
        <p:nvPicPr>
          <p:cNvPr id="12" name="Google Shape;126;p3">
            <a:extLst>
              <a:ext uri="{FF2B5EF4-FFF2-40B4-BE49-F238E27FC236}">
                <a16:creationId xmlns:a16="http://schemas.microsoft.com/office/drawing/2014/main" id="{B1736BC8-1C14-C14A-DBD3-E2AEC981D86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47395"/>
          <a:stretch/>
        </p:blipFill>
        <p:spPr>
          <a:xfrm>
            <a:off x="430726" y="4958385"/>
            <a:ext cx="739821" cy="389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27;p3">
            <a:extLst>
              <a:ext uri="{FF2B5EF4-FFF2-40B4-BE49-F238E27FC236}">
                <a16:creationId xmlns:a16="http://schemas.microsoft.com/office/drawing/2014/main" id="{F3A44324-0D51-1A2A-EA55-D316944FBE2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47395"/>
          <a:stretch/>
        </p:blipFill>
        <p:spPr>
          <a:xfrm>
            <a:off x="430726" y="3641934"/>
            <a:ext cx="739821" cy="389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28;p3">
            <a:extLst>
              <a:ext uri="{FF2B5EF4-FFF2-40B4-BE49-F238E27FC236}">
                <a16:creationId xmlns:a16="http://schemas.microsoft.com/office/drawing/2014/main" id="{9033D206-AE65-AD3B-96EE-E6629532B91B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47395"/>
          <a:stretch/>
        </p:blipFill>
        <p:spPr>
          <a:xfrm>
            <a:off x="430726" y="4300161"/>
            <a:ext cx="739821" cy="389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29;p3">
            <a:extLst>
              <a:ext uri="{FF2B5EF4-FFF2-40B4-BE49-F238E27FC236}">
                <a16:creationId xmlns:a16="http://schemas.microsoft.com/office/drawing/2014/main" id="{4677E878-99BF-1E7E-6E64-9948A382D0B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47395"/>
          <a:stretch/>
        </p:blipFill>
        <p:spPr>
          <a:xfrm>
            <a:off x="430726" y="2983707"/>
            <a:ext cx="739821" cy="389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30;p3">
            <a:extLst>
              <a:ext uri="{FF2B5EF4-FFF2-40B4-BE49-F238E27FC236}">
                <a16:creationId xmlns:a16="http://schemas.microsoft.com/office/drawing/2014/main" id="{7C0D2ED8-BA0F-8DCA-D5C7-6121764DB18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47395"/>
          <a:stretch/>
        </p:blipFill>
        <p:spPr>
          <a:xfrm>
            <a:off x="430726" y="2325480"/>
            <a:ext cx="739821" cy="389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32;p3">
            <a:extLst>
              <a:ext uri="{FF2B5EF4-FFF2-40B4-BE49-F238E27FC236}">
                <a16:creationId xmlns:a16="http://schemas.microsoft.com/office/drawing/2014/main" id="{6F657E3A-24F0-A722-DA5C-8CD2EC06FB3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47395"/>
          <a:stretch/>
        </p:blipFill>
        <p:spPr>
          <a:xfrm>
            <a:off x="430726" y="1687746"/>
            <a:ext cx="739821" cy="389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33;p3">
            <a:extLst>
              <a:ext uri="{FF2B5EF4-FFF2-40B4-BE49-F238E27FC236}">
                <a16:creationId xmlns:a16="http://schemas.microsoft.com/office/drawing/2014/main" id="{0BD1A4EC-D23E-74CC-B16D-A92EDF3A8C3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47395"/>
          <a:stretch/>
        </p:blipFill>
        <p:spPr>
          <a:xfrm>
            <a:off x="430726" y="1029519"/>
            <a:ext cx="739821" cy="38918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14;p3">
            <a:extLst>
              <a:ext uri="{FF2B5EF4-FFF2-40B4-BE49-F238E27FC236}">
                <a16:creationId xmlns:a16="http://schemas.microsoft.com/office/drawing/2014/main" id="{C3560A06-65A0-5C86-48B3-83400234A87A}"/>
              </a:ext>
            </a:extLst>
          </p:cNvPr>
          <p:cNvSpPr txBox="1"/>
          <p:nvPr/>
        </p:nvSpPr>
        <p:spPr>
          <a:xfrm>
            <a:off x="1196533" y="1073137"/>
            <a:ext cx="3909721" cy="38808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64275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bg1"/>
                </a:solidFill>
                <a:latin typeface="Avenir"/>
                <a:ea typeface="Avenir"/>
                <a:cs typeface="Avenir"/>
                <a:sym typeface="Avenir"/>
              </a:rPr>
              <a:t>Get .</a:t>
            </a:r>
            <a:r>
              <a:rPr lang="en-US" sz="1800" dirty="0" err="1">
                <a:solidFill>
                  <a:schemeClr val="bg1"/>
                </a:solidFill>
                <a:latin typeface="Avenir"/>
                <a:ea typeface="Avenir"/>
                <a:cs typeface="Avenir"/>
                <a:sym typeface="Avenir"/>
              </a:rPr>
              <a:t>bcl</a:t>
            </a:r>
            <a:r>
              <a:rPr lang="en-US" sz="1800" dirty="0">
                <a:solidFill>
                  <a:schemeClr val="bg1"/>
                </a:solidFill>
                <a:latin typeface="Avenir"/>
                <a:ea typeface="Avenir"/>
                <a:cs typeface="Avenir"/>
                <a:sym typeface="Avenir"/>
              </a:rPr>
              <a:t> files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20" name="Google Shape;115;p3">
            <a:extLst>
              <a:ext uri="{FF2B5EF4-FFF2-40B4-BE49-F238E27FC236}">
                <a16:creationId xmlns:a16="http://schemas.microsoft.com/office/drawing/2014/main" id="{C00DFBBB-70D2-8614-45F4-4495569DA401}"/>
              </a:ext>
            </a:extLst>
          </p:cNvPr>
          <p:cNvSpPr txBox="1"/>
          <p:nvPr/>
        </p:nvSpPr>
        <p:spPr>
          <a:xfrm>
            <a:off x="1196534" y="2344881"/>
            <a:ext cx="3909722" cy="38804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64275" rIns="91425" bIns="45700" anchor="t" anchorCtr="0">
            <a:spAutoFit/>
          </a:bodyPr>
          <a:lstStyle>
            <a:defPPr>
              <a:defRPr lang="en-US"/>
            </a:defPPr>
            <a:lvl1pPr marR="0" lvl="0" indent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1"/>
                </a:solidFill>
                <a:latin typeface="Avenir"/>
                <a:ea typeface="Avenir"/>
                <a:cs typeface="Avenir"/>
              </a:defRPr>
            </a:lvl1pPr>
          </a:lstStyle>
          <a:p>
            <a:r>
              <a:rPr lang="en-US" dirty="0">
                <a:sym typeface="Avenir"/>
              </a:rPr>
              <a:t>QC: remove/trim low quality reads</a:t>
            </a:r>
            <a:endParaRPr dirty="0"/>
          </a:p>
        </p:txBody>
      </p:sp>
      <p:sp>
        <p:nvSpPr>
          <p:cNvPr id="21" name="Google Shape;116;p3">
            <a:extLst>
              <a:ext uri="{FF2B5EF4-FFF2-40B4-BE49-F238E27FC236}">
                <a16:creationId xmlns:a16="http://schemas.microsoft.com/office/drawing/2014/main" id="{A773A373-D549-F740-B7D7-465FA71F9071}"/>
              </a:ext>
            </a:extLst>
          </p:cNvPr>
          <p:cNvSpPr txBox="1"/>
          <p:nvPr/>
        </p:nvSpPr>
        <p:spPr>
          <a:xfrm>
            <a:off x="1196533" y="3006751"/>
            <a:ext cx="3909721" cy="38808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64275" rIns="91425" bIns="45700" anchor="t" anchorCtr="0">
            <a:spAutoFit/>
          </a:bodyPr>
          <a:lstStyle>
            <a:defPPr>
              <a:defRPr lang="en-US"/>
            </a:defPPr>
            <a:lvl1pPr marR="0" lvl="0" indent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1"/>
                </a:solidFill>
                <a:latin typeface="Avenir"/>
                <a:ea typeface="Avenir"/>
                <a:cs typeface="Avenir"/>
              </a:defRPr>
            </a:lvl1pPr>
          </a:lstStyle>
          <a:p>
            <a:r>
              <a:rPr lang="en-US">
                <a:sym typeface="Avenir"/>
              </a:rPr>
              <a:t>Align fastq to BAM</a:t>
            </a:r>
            <a:endParaRPr/>
          </a:p>
        </p:txBody>
      </p:sp>
      <p:sp>
        <p:nvSpPr>
          <p:cNvPr id="22" name="Google Shape;117;p3">
            <a:extLst>
              <a:ext uri="{FF2B5EF4-FFF2-40B4-BE49-F238E27FC236}">
                <a16:creationId xmlns:a16="http://schemas.microsoft.com/office/drawing/2014/main" id="{F91D9383-926B-74B6-BE56-2E5080CAEC3E}"/>
              </a:ext>
            </a:extLst>
          </p:cNvPr>
          <p:cNvSpPr txBox="1"/>
          <p:nvPr/>
        </p:nvSpPr>
        <p:spPr>
          <a:xfrm>
            <a:off x="1196533" y="3668621"/>
            <a:ext cx="3909721" cy="38808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64275" rIns="91425" bIns="45700" anchor="t" anchorCtr="0">
            <a:spAutoFit/>
          </a:bodyPr>
          <a:lstStyle>
            <a:defPPr>
              <a:defRPr lang="en-US"/>
            </a:defPPr>
            <a:lvl1pPr marR="0" lvl="0" indent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1"/>
                </a:solidFill>
                <a:latin typeface="Avenir"/>
                <a:ea typeface="Avenir"/>
                <a:cs typeface="Avenir"/>
              </a:defRPr>
            </a:lvl1pPr>
          </a:lstStyle>
          <a:p>
            <a:r>
              <a:rPr lang="en-US" dirty="0">
                <a:sym typeface="Avenir"/>
              </a:rPr>
              <a:t>Filter duplicates, artifacts, …</a:t>
            </a:r>
            <a:endParaRPr dirty="0"/>
          </a:p>
        </p:txBody>
      </p:sp>
      <p:sp>
        <p:nvSpPr>
          <p:cNvPr id="23" name="Google Shape;119;p3">
            <a:extLst>
              <a:ext uri="{FF2B5EF4-FFF2-40B4-BE49-F238E27FC236}">
                <a16:creationId xmlns:a16="http://schemas.microsoft.com/office/drawing/2014/main" id="{B98315C2-A01B-DD06-6658-DCE1592E1903}"/>
              </a:ext>
            </a:extLst>
          </p:cNvPr>
          <p:cNvSpPr txBox="1"/>
          <p:nvPr/>
        </p:nvSpPr>
        <p:spPr>
          <a:xfrm>
            <a:off x="1196533" y="4330491"/>
            <a:ext cx="3909721" cy="38808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64275" rIns="91425" bIns="45700" anchor="t" anchorCtr="0">
            <a:spAutoFit/>
          </a:bodyPr>
          <a:lstStyle>
            <a:defPPr>
              <a:defRPr lang="en-US"/>
            </a:defPPr>
            <a:lvl1pPr marR="0" lvl="0" indent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1"/>
                </a:solidFill>
                <a:latin typeface="Avenir"/>
                <a:ea typeface="Avenir"/>
                <a:cs typeface="Avenir"/>
              </a:defRPr>
            </a:lvl1pPr>
          </a:lstStyle>
          <a:p>
            <a:r>
              <a:rPr lang="en-US" dirty="0">
                <a:sym typeface="Avenir"/>
              </a:rPr>
              <a:t>Generate tracks</a:t>
            </a:r>
            <a:endParaRPr dirty="0"/>
          </a:p>
        </p:txBody>
      </p:sp>
      <p:sp>
        <p:nvSpPr>
          <p:cNvPr id="24" name="Google Shape;120;p3">
            <a:extLst>
              <a:ext uri="{FF2B5EF4-FFF2-40B4-BE49-F238E27FC236}">
                <a16:creationId xmlns:a16="http://schemas.microsoft.com/office/drawing/2014/main" id="{9761893E-C6B4-DDE4-8EFA-4356BC35CB3F}"/>
              </a:ext>
            </a:extLst>
          </p:cNvPr>
          <p:cNvSpPr txBox="1"/>
          <p:nvPr/>
        </p:nvSpPr>
        <p:spPr>
          <a:xfrm>
            <a:off x="1196533" y="4992362"/>
            <a:ext cx="3909721" cy="388087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64275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Assay-specific downstream analysis</a:t>
            </a:r>
            <a:endParaRPr dirty="0"/>
          </a:p>
        </p:txBody>
      </p:sp>
      <p:pic>
        <p:nvPicPr>
          <p:cNvPr id="25" name="Picture 4" descr="Sequencing Platforms | Illumina NGS platforms">
            <a:extLst>
              <a:ext uri="{FF2B5EF4-FFF2-40B4-BE49-F238E27FC236}">
                <a16:creationId xmlns:a16="http://schemas.microsoft.com/office/drawing/2014/main" id="{AE1F11F6-8ED5-FF7D-28F6-D01152C703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9502" y="1039587"/>
            <a:ext cx="865476" cy="418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4" descr="Sequencing Platforms | Illumina NGS platforms">
            <a:extLst>
              <a:ext uri="{FF2B5EF4-FFF2-40B4-BE49-F238E27FC236}">
                <a16:creationId xmlns:a16="http://schemas.microsoft.com/office/drawing/2014/main" id="{4E03D524-1B0A-A825-091E-EEBABBC49E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9502" y="1669173"/>
            <a:ext cx="865476" cy="418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BFA2E228-1680-4A6C-2CCB-4966F5355EB3}"/>
              </a:ext>
            </a:extLst>
          </p:cNvPr>
          <p:cNvSpPr txBox="1"/>
          <p:nvPr/>
        </p:nvSpPr>
        <p:spPr>
          <a:xfrm>
            <a:off x="5564978" y="1681632"/>
            <a:ext cx="18357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bcl2fastq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21ADDBE-DF7F-6AAB-13C3-85C4DB5AB6D4}"/>
              </a:ext>
            </a:extLst>
          </p:cNvPr>
          <p:cNvSpPr txBox="1"/>
          <p:nvPr/>
        </p:nvSpPr>
        <p:spPr>
          <a:xfrm>
            <a:off x="5115911" y="2383760"/>
            <a:ext cx="17748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E.g. </a:t>
            </a:r>
            <a:r>
              <a:rPr lang="en-US" b="1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cutadapt</a:t>
            </a:r>
            <a:endParaRPr lang="en-US" b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9A00282-0C17-46C3-EA42-E3FEB686DADD}"/>
              </a:ext>
            </a:extLst>
          </p:cNvPr>
          <p:cNvSpPr txBox="1"/>
          <p:nvPr/>
        </p:nvSpPr>
        <p:spPr>
          <a:xfrm>
            <a:off x="5115911" y="3036903"/>
            <a:ext cx="16353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E.g</a:t>
            </a:r>
            <a:r>
              <a:rPr lang="en-US"/>
              <a:t>. </a:t>
            </a:r>
            <a:r>
              <a:rPr lang="en-US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bowtie2</a:t>
            </a:r>
          </a:p>
        </p:txBody>
      </p:sp>
      <p:pic>
        <p:nvPicPr>
          <p:cNvPr id="30" name="Picture 2" descr="Green Tick Vector Art, Icons, and Graphics for Free Download">
            <a:extLst>
              <a:ext uri="{FF2B5EF4-FFF2-40B4-BE49-F238E27FC236}">
                <a16:creationId xmlns:a16="http://schemas.microsoft.com/office/drawing/2014/main" id="{494A94B7-6B10-A60F-281F-92B0BBB63D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439" y="945355"/>
            <a:ext cx="611790" cy="611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2" descr="Green Tick Vector Art, Icons, and Graphics for Free Download">
            <a:extLst>
              <a:ext uri="{FF2B5EF4-FFF2-40B4-BE49-F238E27FC236}">
                <a16:creationId xmlns:a16="http://schemas.microsoft.com/office/drawing/2014/main" id="{540671BB-7B9D-310B-DB39-BE90410511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439" y="1595804"/>
            <a:ext cx="611790" cy="611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2" descr="Green Tick Vector Art, Icons, and Graphics for Free Download">
            <a:extLst>
              <a:ext uri="{FF2B5EF4-FFF2-40B4-BE49-F238E27FC236}">
                <a16:creationId xmlns:a16="http://schemas.microsoft.com/office/drawing/2014/main" id="{E5A263DA-9F09-FE74-EB89-45D37C0361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439" y="2236826"/>
            <a:ext cx="611790" cy="611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2" descr="Green Tick Vector Art, Icons, and Graphics for Free Download">
            <a:extLst>
              <a:ext uri="{FF2B5EF4-FFF2-40B4-BE49-F238E27FC236}">
                <a16:creationId xmlns:a16="http://schemas.microsoft.com/office/drawing/2014/main" id="{A5A3FE37-C853-FEC3-7213-EC221B4381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439" y="2896702"/>
            <a:ext cx="611790" cy="611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2" descr="Green Tick Vector Art, Icons, and Graphics for Free Download">
            <a:extLst>
              <a:ext uri="{FF2B5EF4-FFF2-40B4-BE49-F238E27FC236}">
                <a16:creationId xmlns:a16="http://schemas.microsoft.com/office/drawing/2014/main" id="{151AE37F-D8B2-C45F-6D60-38B3709F06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439" y="3547152"/>
            <a:ext cx="611790" cy="611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E8DDF849-9128-6E26-5A3B-4A49543EB987}"/>
              </a:ext>
            </a:extLst>
          </p:cNvPr>
          <p:cNvSpPr txBox="1"/>
          <p:nvPr/>
        </p:nvSpPr>
        <p:spPr>
          <a:xfrm>
            <a:off x="5115911" y="3659072"/>
            <a:ext cx="17748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E.g. </a:t>
            </a:r>
            <a:r>
              <a:rPr lang="en-US" b="1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samtools</a:t>
            </a:r>
            <a:endParaRPr lang="en-US" b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pic>
        <p:nvPicPr>
          <p:cNvPr id="36" name="Picture 2" descr="Green Tick Vector Art, Icons, and Graphics for Free Download">
            <a:extLst>
              <a:ext uri="{FF2B5EF4-FFF2-40B4-BE49-F238E27FC236}">
                <a16:creationId xmlns:a16="http://schemas.microsoft.com/office/drawing/2014/main" id="{289280D9-26B6-5951-271C-CFA58C308F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439" y="4220921"/>
            <a:ext cx="611790" cy="611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B48BD0D6-CCCF-B943-7A0E-9AF5C234A6DA}"/>
              </a:ext>
            </a:extLst>
          </p:cNvPr>
          <p:cNvSpPr txBox="1"/>
          <p:nvPr/>
        </p:nvSpPr>
        <p:spPr>
          <a:xfrm>
            <a:off x="5115911" y="4332841"/>
            <a:ext cx="19143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E.g. </a:t>
            </a:r>
            <a:r>
              <a:rPr lang="en-US" b="1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deepTools</a:t>
            </a:r>
            <a:endParaRPr lang="en-US" b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BDC9CB-31AB-1C52-6101-217DF452A481}"/>
              </a:ext>
            </a:extLst>
          </p:cNvPr>
          <p:cNvSpPr txBox="1"/>
          <p:nvPr/>
        </p:nvSpPr>
        <p:spPr>
          <a:xfrm>
            <a:off x="5205382" y="4883014"/>
            <a:ext cx="335220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Peak calling</a:t>
            </a:r>
          </a:p>
          <a:p>
            <a:r>
              <a:rPr lang="en-US" b="1" dirty="0">
                <a:solidFill>
                  <a:srgbClr val="FF0000"/>
                </a:solidFill>
              </a:rPr>
              <a:t>Differential peak analysis</a:t>
            </a:r>
          </a:p>
          <a:p>
            <a:r>
              <a:rPr lang="en-US" b="1" dirty="0">
                <a:solidFill>
                  <a:srgbClr val="FF0000"/>
                </a:solidFill>
              </a:rPr>
              <a:t>Motif finding </a:t>
            </a:r>
          </a:p>
          <a:p>
            <a:r>
              <a:rPr lang="en-US" b="1" dirty="0">
                <a:solidFill>
                  <a:srgbClr val="FF0000"/>
                </a:solidFill>
                <a:sym typeface="Wingdings" pitchFamily="2" charset="2"/>
              </a:rPr>
              <a:t>Peak co-occurrence analysis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26738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CBB83-5433-344C-BDB0-622BF73A0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ChIP-seq outputs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BF2E38-DF48-8633-6E5F-0C9E4AEFD9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sz="1000" i="1" dirty="0">
                <a:solidFill>
                  <a:schemeClr val="bg1">
                    <a:lumMod val="65000"/>
                  </a:schemeClr>
                </a:solidFill>
              </a:rPr>
              <a:t>Park et al., Nat. Rev. Genet. 2009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949C03-C5B6-E94F-8188-53F7E2FF3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28562-9D3B-E049-90B5-3EB3B52779B1}" type="slidenum">
              <a:rPr lang="en-US" smtClean="0"/>
              <a:pPr/>
              <a:t>8</a:t>
            </a:fld>
            <a:endParaRPr lang="en-US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276CE2-8567-CC82-04ED-D1D1A841AC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Genome-wide coverage tracks</a:t>
            </a:r>
          </a:p>
          <a:p>
            <a:pPr lvl="1"/>
            <a:r>
              <a:rPr lang="en-US" dirty="0"/>
              <a:t>Can be directly viewed in a genome browser</a:t>
            </a:r>
          </a:p>
          <a:p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8F8E82F-BD15-2F49-B6C0-D3FB3B742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Epigenomics Data Analysis — Physalia 2026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25FDAB-356B-0845-824B-D9E114763F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7757" y="1080860"/>
            <a:ext cx="5632232" cy="4747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61545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CBB83-5433-344C-BDB0-622BF73A0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ChIP-seq outputs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7CF4D89-7EB6-7F57-245A-F729B69F492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1000" i="1" dirty="0">
                <a:solidFill>
                  <a:schemeClr val="bg1">
                    <a:lumMod val="65000"/>
                  </a:schemeClr>
                </a:solidFill>
              </a:rPr>
              <a:t>Subramanian et al., </a:t>
            </a:r>
            <a:r>
              <a:rPr lang="en-US" sz="1000" i="1" dirty="0" err="1">
                <a:solidFill>
                  <a:schemeClr val="bg1">
                    <a:lumMod val="65000"/>
                  </a:schemeClr>
                </a:solidFill>
              </a:rPr>
              <a:t>PLoS</a:t>
            </a:r>
            <a:r>
              <a:rPr lang="en-US" sz="1000" i="1" dirty="0">
                <a:solidFill>
                  <a:schemeClr val="bg1">
                    <a:lumMod val="65000"/>
                  </a:schemeClr>
                </a:solidFill>
              </a:rPr>
              <a:t> Genetics 2013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949C03-C5B6-E94F-8188-53F7E2FF3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28562-9D3B-E049-90B5-3EB3B52779B1}" type="slidenum">
              <a:rPr lang="en-US" smtClean="0"/>
              <a:pPr/>
              <a:t>9</a:t>
            </a:fld>
            <a:endParaRPr lang="en-US" b="1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F23881-F8A2-094C-0649-B93183A13B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Genome-wide coverage tracks</a:t>
            </a:r>
          </a:p>
          <a:p>
            <a:pPr lvl="1"/>
            <a:r>
              <a:rPr lang="en-US" dirty="0"/>
              <a:t>Can be directly viewed in a genome browser</a:t>
            </a:r>
          </a:p>
          <a:p>
            <a:pPr lvl="1"/>
            <a:r>
              <a:rPr lang="en-US" dirty="0"/>
              <a:t>Can also be aligned at genomic features of interest (e.g. TSSs) </a:t>
            </a:r>
          </a:p>
          <a:p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4E00CC0-3D15-2943-B1BA-29F17E85844F}"/>
              </a:ext>
            </a:extLst>
          </p:cNvPr>
          <p:cNvGrpSpPr/>
          <p:nvPr/>
        </p:nvGrpSpPr>
        <p:grpSpPr>
          <a:xfrm>
            <a:off x="5982821" y="2442151"/>
            <a:ext cx="5823735" cy="3587195"/>
            <a:chOff x="3193255" y="2685134"/>
            <a:chExt cx="6774559" cy="4172866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B028A70B-81AC-AF46-8BC9-B9B433F8237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93255" y="2731293"/>
              <a:ext cx="6774559" cy="4126707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C32B7E1-E28B-594F-B0B6-D7E36334DEF2}"/>
                </a:ext>
              </a:extLst>
            </p:cNvPr>
            <p:cNvSpPr/>
            <p:nvPr/>
          </p:nvSpPr>
          <p:spPr>
            <a:xfrm>
              <a:off x="3193255" y="2685134"/>
              <a:ext cx="528637" cy="4143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9C43659-022D-4749-B55D-D4C5C71B568C}"/>
                </a:ext>
              </a:extLst>
            </p:cNvPr>
            <p:cNvSpPr/>
            <p:nvPr/>
          </p:nvSpPr>
          <p:spPr>
            <a:xfrm>
              <a:off x="7450930" y="2685134"/>
              <a:ext cx="528637" cy="4143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203D801-FC44-9E9A-C7C4-BF755D21D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Epigenomics Data Analysis — Physalia 2026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65658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CBB83-5433-344C-BDB0-622BF73A0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ChIP-seq outputs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7CF4D89-7EB6-7F57-245A-F729B69F492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1000" i="1" dirty="0">
                <a:solidFill>
                  <a:schemeClr val="bg1">
                    <a:lumMod val="65000"/>
                  </a:schemeClr>
                </a:solidFill>
              </a:rPr>
              <a:t>Subramanian et al., </a:t>
            </a:r>
            <a:r>
              <a:rPr lang="en-US" sz="1000" i="1" dirty="0" err="1">
                <a:solidFill>
                  <a:schemeClr val="bg1">
                    <a:lumMod val="65000"/>
                  </a:schemeClr>
                </a:solidFill>
              </a:rPr>
              <a:t>PLoS</a:t>
            </a:r>
            <a:r>
              <a:rPr lang="en-US" sz="1000" i="1" dirty="0">
                <a:solidFill>
                  <a:schemeClr val="bg1">
                    <a:lumMod val="65000"/>
                  </a:schemeClr>
                </a:solidFill>
              </a:rPr>
              <a:t> Genetics 2013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949C03-C5B6-E94F-8188-53F7E2FF3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28562-9D3B-E049-90B5-3EB3B52779B1}" type="slidenum">
              <a:rPr lang="en-US" smtClean="0"/>
              <a:pPr/>
              <a:t>10</a:t>
            </a:fld>
            <a:endParaRPr lang="en-US" b="1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F23881-F8A2-094C-0649-B93183A13B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" y="873761"/>
            <a:ext cx="11927840" cy="4883277"/>
          </a:xfrm>
        </p:spPr>
        <p:txBody>
          <a:bodyPr/>
          <a:lstStyle/>
          <a:p>
            <a:r>
              <a:rPr lang="en-US" dirty="0"/>
              <a:t>Genome-wide coverage tracks</a:t>
            </a:r>
          </a:p>
          <a:p>
            <a:pPr lvl="1"/>
            <a:r>
              <a:rPr lang="en-US" dirty="0"/>
              <a:t>Can be directly viewed in a genome browser</a:t>
            </a:r>
          </a:p>
          <a:p>
            <a:pPr lvl="1"/>
            <a:r>
              <a:rPr lang="en-US" dirty="0"/>
              <a:t>Can also be aligned at genomic features of interest (e.g. TSSs)</a:t>
            </a:r>
          </a:p>
          <a:p>
            <a:pPr marL="9525" lvl="1" indent="0">
              <a:buNone/>
            </a:pPr>
            <a:r>
              <a:rPr lang="en-US" dirty="0"/>
              <a:t>Peak sets 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5FE877-7CAC-2CAB-1C4A-96A4286499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1927" y="3259699"/>
            <a:ext cx="3133695" cy="261461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B68E017-03BF-3330-F554-940FC90431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9174" y="2825393"/>
            <a:ext cx="3222675" cy="3125956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26D486-8410-2564-2E7C-2034EFFBF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Epigenomics Data Analysis — Physalia 2026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31764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 descr="figure4">
            <a:extLst>
              <a:ext uri="{FF2B5EF4-FFF2-40B4-BE49-F238E27FC236}">
                <a16:creationId xmlns:a16="http://schemas.microsoft.com/office/drawing/2014/main" id="{FB22E15C-433F-3604-75DA-22F040B2A5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1088" y="2065562"/>
            <a:ext cx="4660470" cy="4147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BCBB83-5433-344C-BDB0-622BF73A0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ChIP-seq outputs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949C03-C5B6-E94F-8188-53F7E2FF3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28562-9D3B-E049-90B5-3EB3B52779B1}" type="slidenum">
              <a:rPr lang="en-US" smtClean="0"/>
              <a:pPr/>
              <a:t>11</a:t>
            </a:fld>
            <a:endParaRPr lang="en-US" b="1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F23881-F8A2-094C-0649-B93183A13B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" y="873761"/>
            <a:ext cx="7337004" cy="5869253"/>
          </a:xfrm>
        </p:spPr>
        <p:txBody>
          <a:bodyPr>
            <a:normAutofit/>
          </a:bodyPr>
          <a:lstStyle/>
          <a:p>
            <a:r>
              <a:rPr lang="en-US" dirty="0"/>
              <a:t>Genome-wide coverage tracks</a:t>
            </a:r>
          </a:p>
          <a:p>
            <a:pPr lvl="1"/>
            <a:r>
              <a:rPr lang="en-US" dirty="0"/>
              <a:t>Can be directly viewed in a genome browser</a:t>
            </a:r>
          </a:p>
          <a:p>
            <a:pPr lvl="1"/>
            <a:r>
              <a:rPr lang="en-US" dirty="0"/>
              <a:t>Can also be aligned at genomic features of interest (e.g. TSSs)</a:t>
            </a:r>
          </a:p>
          <a:p>
            <a:pPr marL="9525" lvl="1" indent="0">
              <a:buNone/>
            </a:pPr>
            <a:r>
              <a:rPr lang="en-US" dirty="0"/>
              <a:t>Peak sets </a:t>
            </a:r>
          </a:p>
          <a:p>
            <a:pPr marL="9525" lvl="1" indent="0">
              <a:buNone/>
            </a:pPr>
            <a:r>
              <a:rPr lang="en-US" dirty="0"/>
              <a:t>And more from downstream analyses, according to the biological question:</a:t>
            </a:r>
          </a:p>
          <a:p>
            <a:pPr lvl="1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DNA binding motifs</a:t>
            </a:r>
          </a:p>
          <a:p>
            <a:pPr lvl="1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Differential binding of a factor</a:t>
            </a:r>
          </a:p>
          <a:p>
            <a:pPr lvl="1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Cooperation between factors</a:t>
            </a:r>
          </a:p>
          <a:p>
            <a:pPr lvl="1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Biological functions in which a factor is involved</a:t>
            </a:r>
          </a:p>
          <a:p>
            <a:pPr lvl="1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Temporal dynamics of factor binding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87C1BF-280F-1ABB-FD6A-D523C75FE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Epigenomics Data Analysis — Physalia 2026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40029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CBB83-5433-344C-BDB0-622BF73A0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“peaks”?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36B6A1-D219-986C-4C50-918952317D6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949C03-C5B6-E94F-8188-53F7E2FF3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28562-9D3B-E049-90B5-3EB3B52779B1}" type="slidenum">
              <a:rPr lang="en-US" smtClean="0"/>
              <a:pPr/>
              <a:t>12</a:t>
            </a:fld>
            <a:endParaRPr lang="en-US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3ABC47-DC7F-154A-99D0-C0299824E6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ChIP-seq libraries show uneven genomic coverage: loci with high local coverage compared to neighboring environment are “peaks”. 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35BE84F-E431-4C47-A800-CDBEDFDC48A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37769"/>
          <a:stretch/>
        </p:blipFill>
        <p:spPr>
          <a:xfrm>
            <a:off x="0" y="2836546"/>
            <a:ext cx="12192000" cy="218434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382C2CD-07B2-324C-9CDC-69AE95EA4AA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9876" b="-596"/>
          <a:stretch/>
        </p:blipFill>
        <p:spPr>
          <a:xfrm>
            <a:off x="0" y="4995231"/>
            <a:ext cx="12192000" cy="37629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ED90D02-53E9-A54E-AE51-6ECFA5C05458}"/>
              </a:ext>
            </a:extLst>
          </p:cNvPr>
          <p:cNvSpPr/>
          <p:nvPr/>
        </p:nvSpPr>
        <p:spPr>
          <a:xfrm>
            <a:off x="3868188" y="2836546"/>
            <a:ext cx="532015" cy="260357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2960478-A690-B546-B4FA-D7C28F3F02C6}"/>
              </a:ext>
            </a:extLst>
          </p:cNvPr>
          <p:cNvSpPr/>
          <p:nvPr/>
        </p:nvSpPr>
        <p:spPr>
          <a:xfrm>
            <a:off x="8041177" y="2836546"/>
            <a:ext cx="532015" cy="260357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AF8729-4CAF-0947-7F0B-72073732D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Epigenomics Data Analysis — Physalia 2026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94212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CBB83-5433-344C-BDB0-622BF73A0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Inherent ChIP-seq artefacts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65EAC7-7292-3E29-6573-A527AF7A883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949C03-C5B6-E94F-8188-53F7E2FF3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28562-9D3B-E049-90B5-3EB3B52779B1}" type="slidenum">
              <a:rPr lang="en-US" smtClean="0"/>
              <a:pPr/>
              <a:t>13</a:t>
            </a:fld>
            <a:endParaRPr lang="en-US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3ABC47-DC7F-154A-99D0-C0299824E6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Potential sources of artefacts in ChIP-seq experiments are: </a:t>
            </a:r>
          </a:p>
          <a:p>
            <a:pPr lvl="1"/>
            <a:r>
              <a:rPr lang="en-GB" dirty="0"/>
              <a:t>DNA shearing: not uniform across genome, which results in more reads in open chromatin regions.</a:t>
            </a:r>
          </a:p>
          <a:p>
            <a:pPr lvl="1"/>
            <a:r>
              <a:rPr lang="en-GB" dirty="0"/>
              <a:t>Amplification bias (GC content)</a:t>
            </a:r>
          </a:p>
          <a:p>
            <a:pPr lvl="1"/>
            <a:r>
              <a:rPr lang="en-GB" dirty="0"/>
              <a:t>Repetitive regions might appear enriched due to underestimated repeat copies in the reference genome</a:t>
            </a:r>
          </a:p>
          <a:p>
            <a:pPr lvl="1"/>
            <a:r>
              <a:rPr lang="en-GB" dirty="0"/>
              <a:t>Sequencing depth may be too low, resulting in noisy peaks</a:t>
            </a:r>
          </a:p>
          <a:p>
            <a:pPr lvl="1"/>
            <a:endParaRPr lang="en-GB" dirty="0"/>
          </a:p>
          <a:p>
            <a:r>
              <a:rPr lang="en-GB" dirty="0"/>
              <a:t>This impedes straightforward identification of peaks in ChIP-seq data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9AB3B4-0398-1A49-A6B6-7B9C52FF4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Epigenomics Data Analysis — Physalia 2026</a:t>
            </a:r>
          </a:p>
        </p:txBody>
      </p:sp>
    </p:spTree>
    <p:extLst>
      <p:ext uri="{BB962C8B-B14F-4D97-AF65-F5344CB8AC3E}">
        <p14:creationId xmlns:p14="http://schemas.microsoft.com/office/powerpoint/2010/main" val="11621015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CBB83-5433-344C-BDB0-622BF73A0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Dealing with ChIP-seq artefacts: using an “input” sample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F22107-932E-D69C-D059-21E662E6DC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949C03-C5B6-E94F-8188-53F7E2FF3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28562-9D3B-E049-90B5-3EB3B52779B1}" type="slidenum">
              <a:rPr lang="en-US" smtClean="0"/>
              <a:pPr/>
              <a:t>14</a:t>
            </a:fld>
            <a:endParaRPr lang="en-US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3ABC47-DC7F-154A-99D0-C0299824E6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Input control: DNA is isolated from cells that have been cross-linked and fragmented under the same conditions as the immunoprecipitated DNA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4B61165-58BA-BA46-A169-054E3F577F4D}"/>
              </a:ext>
            </a:extLst>
          </p:cNvPr>
          <p:cNvSpPr txBox="1">
            <a:spLocks/>
          </p:cNvSpPr>
          <p:nvPr/>
        </p:nvSpPr>
        <p:spPr>
          <a:xfrm>
            <a:off x="0" y="4237754"/>
            <a:ext cx="12192000" cy="17135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143DF87-F14D-2B4B-BCE8-1D6EA2FDD41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" b="-3182"/>
          <a:stretch/>
        </p:blipFill>
        <p:spPr>
          <a:xfrm>
            <a:off x="0" y="2836546"/>
            <a:ext cx="12192000" cy="3621725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378E3DDD-64CE-B64B-99C1-09C22558735B}"/>
              </a:ext>
            </a:extLst>
          </p:cNvPr>
          <p:cNvSpPr/>
          <p:nvPr/>
        </p:nvSpPr>
        <p:spPr>
          <a:xfrm>
            <a:off x="3868188" y="2836546"/>
            <a:ext cx="532015" cy="362172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7F61CA3-6349-1D45-A3F2-A7B7D9A3A63F}"/>
              </a:ext>
            </a:extLst>
          </p:cNvPr>
          <p:cNvSpPr/>
          <p:nvPr/>
        </p:nvSpPr>
        <p:spPr>
          <a:xfrm>
            <a:off x="8041177" y="2836546"/>
            <a:ext cx="532015" cy="362172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ED8441-3E40-8CC0-4D06-E2762DFB0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Epigenomics Data Analysis — Physalia 2026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65163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CBB83-5433-344C-BDB0-622BF73A0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peaks </a:t>
            </a:r>
            <a:r>
              <a:rPr lang="en-US"/>
              <a:t>in ChIP-seq (1)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063904-BABF-6A7C-86F7-4F33D27AC3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1000" i="1" dirty="0">
                <a:solidFill>
                  <a:schemeClr val="bg1">
                    <a:lumMod val="65000"/>
                  </a:schemeClr>
                </a:solidFill>
              </a:rPr>
              <a:t>Park, Nat. Rev. Genetics 2009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949C03-C5B6-E94F-8188-53F7E2FF3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28562-9D3B-E049-90B5-3EB3B52779B1}" type="slidenum">
              <a:rPr lang="en-US" smtClean="0"/>
              <a:pPr/>
              <a:t>15</a:t>
            </a:fld>
            <a:endParaRPr lang="en-US" b="1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B12CEFD-77D8-3849-BB96-F363006203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" y="873761"/>
            <a:ext cx="4953400" cy="4883277"/>
          </a:xfrm>
        </p:spPr>
        <p:txBody>
          <a:bodyPr/>
          <a:lstStyle/>
          <a:p>
            <a:r>
              <a:rPr lang="en-US" dirty="0"/>
              <a:t>General workflow relies on comparing local read coverage to the input </a:t>
            </a:r>
          </a:p>
        </p:txBody>
      </p:sp>
      <p:pic>
        <p:nvPicPr>
          <p:cNvPr id="1028" name="Picture 4" descr="figure5">
            <a:extLst>
              <a:ext uri="{FF2B5EF4-FFF2-40B4-BE49-F238E27FC236}">
                <a16:creationId xmlns:a16="http://schemas.microsoft.com/office/drawing/2014/main" id="{CDD9B229-FDEE-DD48-9D2F-3B71404358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9254" y="873761"/>
            <a:ext cx="3222179" cy="5312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7737C6-9C52-F649-B610-DF3CE05B7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Epigenomics Data Analysis — Physalia 2026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31453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CBB83-5433-344C-BDB0-622BF73A0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peaks in ChIP-seq (2)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E69DFF-BFB9-3CB3-436D-4D8835C4D40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1000" i="1" dirty="0">
                <a:solidFill>
                  <a:schemeClr val="bg1">
                    <a:lumMod val="65000"/>
                  </a:schemeClr>
                </a:solidFill>
              </a:rPr>
              <a:t>Wilbanks and </a:t>
            </a:r>
            <a:r>
              <a:rPr lang="en-US" sz="1000" i="1" dirty="0" err="1">
                <a:solidFill>
                  <a:schemeClr val="bg1">
                    <a:lumMod val="65000"/>
                  </a:schemeClr>
                </a:solidFill>
              </a:rPr>
              <a:t>Faccioti</a:t>
            </a:r>
            <a:r>
              <a:rPr lang="en-US" sz="1000" i="1" dirty="0">
                <a:solidFill>
                  <a:schemeClr val="bg1">
                    <a:lumMod val="65000"/>
                  </a:schemeClr>
                </a:solidFill>
              </a:rPr>
              <a:t>, </a:t>
            </a:r>
            <a:r>
              <a:rPr lang="en-US" sz="1000" i="1" dirty="0" err="1">
                <a:solidFill>
                  <a:schemeClr val="bg1">
                    <a:lumMod val="65000"/>
                  </a:schemeClr>
                </a:solidFill>
              </a:rPr>
              <a:t>PLoS</a:t>
            </a:r>
            <a:r>
              <a:rPr lang="en-US" sz="1000" i="1" dirty="0">
                <a:solidFill>
                  <a:schemeClr val="bg1">
                    <a:lumMod val="65000"/>
                  </a:schemeClr>
                </a:solidFill>
              </a:rPr>
              <a:t> One 2010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949C03-C5B6-E94F-8188-53F7E2FF3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28562-9D3B-E049-90B5-3EB3B52779B1}" type="slidenum">
              <a:rPr lang="en-US" smtClean="0"/>
              <a:pPr/>
              <a:t>16</a:t>
            </a:fld>
            <a:endParaRPr lang="en-US" b="1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B12CEFD-77D8-3849-BB96-F363006203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" y="873761"/>
            <a:ext cx="4727368" cy="4883277"/>
          </a:xfrm>
        </p:spPr>
        <p:txBody>
          <a:bodyPr/>
          <a:lstStyle/>
          <a:p>
            <a:r>
              <a:rPr lang="en-US" dirty="0"/>
              <a:t>MACS2 finds a model estimating how to </a:t>
            </a:r>
            <a:r>
              <a:rPr lang="en-US" b="1" dirty="0"/>
              <a:t>shift </a:t>
            </a:r>
            <a:r>
              <a:rPr lang="en-US" u="sng" dirty="0"/>
              <a:t>sense and antisense</a:t>
            </a:r>
            <a:r>
              <a:rPr lang="en-US" dirty="0"/>
              <a:t> reads towards a central position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u="sng" dirty="0"/>
              <a:t>Note</a:t>
            </a:r>
            <a:r>
              <a:rPr lang="en-US" dirty="0"/>
              <a:t>: this step is specific to single-end libraries, as paired-end libraries do not have this bias.</a:t>
            </a:r>
            <a:endParaRPr lang="en-US" u="sng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6CAA3F-D1F1-8742-9384-5E3745E9B7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7244" y="1158262"/>
            <a:ext cx="5387629" cy="4886886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67F149-B833-23E8-BD48-944E42E6C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Epigenomics Data Analysis — Physalia 2026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90582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EFFB359F-489D-D940-96B5-D85FA2148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peaks in ChIP-seq (3)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A40A703-0ACF-8863-EE61-A4BCC7FB6D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1000" i="1" dirty="0">
                <a:solidFill>
                  <a:schemeClr val="bg1">
                    <a:lumMod val="65000"/>
                  </a:schemeClr>
                </a:solidFill>
              </a:rPr>
              <a:t>Zhang et al., Genome Biol. 2008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949C03-C5B6-E94F-8188-53F7E2FF3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28562-9D3B-E049-90B5-3EB3B52779B1}" type="slidenum">
              <a:rPr lang="en-US" smtClean="0"/>
              <a:pPr/>
              <a:t>17</a:t>
            </a:fld>
            <a:endParaRPr lang="en-US" b="1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B12CEFD-77D8-3849-BB96-F363006203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59" y="873761"/>
            <a:ext cx="5782301" cy="4883277"/>
          </a:xfrm>
        </p:spPr>
        <p:txBody>
          <a:bodyPr>
            <a:normAutofit/>
          </a:bodyPr>
          <a:lstStyle/>
          <a:p>
            <a:r>
              <a:rPr lang="en-US" dirty="0"/>
              <a:t>Then MACS2 </a:t>
            </a:r>
            <a:r>
              <a:rPr lang="en-GB" dirty="0"/>
              <a:t>scans the genome again using a window size which is twice the fragment length. </a:t>
            </a:r>
          </a:p>
          <a:p>
            <a:r>
              <a:rPr lang="en-GB" dirty="0"/>
              <a:t>For each peak, MACS2 calculates a p-value using a dynamic Poisson distribution to capture local biases in read background levels. </a:t>
            </a:r>
          </a:p>
          <a:p>
            <a:r>
              <a:rPr lang="en-GB" dirty="0"/>
              <a:t>If a control sample is available, it is used to calculate the local background. 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BA165B6-E8A8-184E-8EF4-21A675C396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7940" y="1100962"/>
            <a:ext cx="5181706" cy="4680250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C2DCE6-75F2-825A-97E8-29A3C508E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Epigenomics Data Analysis — Physalia 2026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21786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B12CEFD-77D8-3849-BB96-F363006203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" y="873761"/>
            <a:ext cx="11927840" cy="3414033"/>
          </a:xfrm>
        </p:spPr>
        <p:txBody>
          <a:bodyPr>
            <a:normAutofit/>
          </a:bodyPr>
          <a:lstStyle/>
          <a:p>
            <a:r>
              <a:rPr lang="en-US" dirty="0"/>
              <a:t>Then MACS2 </a:t>
            </a:r>
            <a:r>
              <a:rPr lang="en-GB" dirty="0"/>
              <a:t>scans the genome again using a window size which is twice the fragment length. </a:t>
            </a:r>
          </a:p>
          <a:p>
            <a:r>
              <a:rPr lang="en-GB" dirty="0"/>
              <a:t>For each peak, MACS2 calculates a p-value using a dynamic Poisson distribution to capture local biases in read background levels.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16B757-5670-93D5-EC27-08DAA8C7E0D0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0" y="2892735"/>
            <a:ext cx="12192000" cy="3060905"/>
          </a:xfrm>
        </p:spPr>
        <p:txBody>
          <a:bodyPr/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sz="1600" dirty="0">
                <a:solidFill>
                  <a:srgbClr val="606C71"/>
                </a:solidFill>
              </a:rPr>
              <a:t>macs2 </a:t>
            </a:r>
            <a:r>
              <a:rPr lang="en-US" sz="1600" dirty="0" err="1">
                <a:solidFill>
                  <a:srgbClr val="606C71"/>
                </a:solidFill>
              </a:rPr>
              <a:t>callpeak</a:t>
            </a:r>
            <a:r>
              <a:rPr lang="en-US" sz="1600" dirty="0">
                <a:solidFill>
                  <a:srgbClr val="606C71"/>
                </a:solidFill>
              </a:rPr>
              <a:t> </a:t>
            </a:r>
            <a:r>
              <a:rPr lang="en-US" dirty="0">
                <a:solidFill>
                  <a:srgbClr val="000080"/>
                </a:solidFill>
              </a:rPr>
              <a:t>--treatment ….bam</a:t>
            </a:r>
            <a:endParaRPr lang="en-US" dirty="0"/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dirty="0"/>
              <a:t>	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A37545-4DDB-69C4-EC33-D21C044D764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EFFB359F-489D-D940-96B5-D85FA2148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peaks in ChIP-seq (3)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949C03-C5B6-E94F-8188-53F7E2FF3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28562-9D3B-E049-90B5-3EB3B52779B1}" type="slidenum">
              <a:rPr lang="en-US" smtClean="0"/>
              <a:pPr/>
              <a:t>18</a:t>
            </a:fld>
            <a:endParaRPr lang="en-US" b="1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945A97A-5739-BEA6-ADAF-CC2EE7386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Epigenomics Data Analysis — Physalia 2026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92751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B12CEFD-77D8-3849-BB96-F363006203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" y="873761"/>
            <a:ext cx="11927840" cy="3414033"/>
          </a:xfrm>
        </p:spPr>
        <p:txBody>
          <a:bodyPr>
            <a:normAutofit/>
          </a:bodyPr>
          <a:lstStyle/>
          <a:p>
            <a:r>
              <a:rPr lang="en-US" dirty="0"/>
              <a:t>Then MACS2 </a:t>
            </a:r>
            <a:r>
              <a:rPr lang="en-GB" dirty="0"/>
              <a:t>scans the genome again using a window size which is twice the fragment length. </a:t>
            </a:r>
          </a:p>
          <a:p>
            <a:r>
              <a:rPr lang="en-GB" dirty="0"/>
              <a:t>For each peak, MACS2 calculates a p-value using a dynamic Poisson distribution to capture local biases in read background levels. </a:t>
            </a:r>
          </a:p>
          <a:p>
            <a:r>
              <a:rPr lang="en-GB" b="1" dirty="0"/>
              <a:t>If a control sample is available, it is used to calculate the local background. </a:t>
            </a:r>
            <a:endParaRPr lang="en-US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16B757-5670-93D5-EC27-08DAA8C7E0D0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0" y="2892735"/>
            <a:ext cx="12192000" cy="3060905"/>
          </a:xfrm>
        </p:spPr>
        <p:txBody>
          <a:bodyPr/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sz="1600" dirty="0">
                <a:solidFill>
                  <a:srgbClr val="606C71"/>
                </a:solidFill>
              </a:rPr>
              <a:t>macs2 </a:t>
            </a:r>
            <a:r>
              <a:rPr lang="en-US" sz="1600" dirty="0" err="1">
                <a:solidFill>
                  <a:srgbClr val="606C71"/>
                </a:solidFill>
              </a:rPr>
              <a:t>callpeak</a:t>
            </a:r>
            <a:r>
              <a:rPr lang="en-US" sz="1600" dirty="0">
                <a:solidFill>
                  <a:srgbClr val="606C71"/>
                </a:solidFill>
              </a:rPr>
              <a:t> </a:t>
            </a:r>
            <a:r>
              <a:rPr lang="en-US" dirty="0">
                <a:solidFill>
                  <a:srgbClr val="000080"/>
                </a:solidFill>
              </a:rPr>
              <a:t>--treatment ….bam </a:t>
            </a:r>
            <a:r>
              <a:rPr lang="en-US" b="1" dirty="0">
                <a:solidFill>
                  <a:srgbClr val="FF0000"/>
                </a:solidFill>
              </a:rPr>
              <a:t>--control ….bam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dirty="0"/>
              <a:t>	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A37545-4DDB-69C4-EC33-D21C044D764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EFFB359F-489D-D940-96B5-D85FA2148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peaks in ChIP-seq (3)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949C03-C5B6-E94F-8188-53F7E2FF3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28562-9D3B-E049-90B5-3EB3B52779B1}" type="slidenum">
              <a:rPr lang="en-US" smtClean="0"/>
              <a:pPr/>
              <a:t>19</a:t>
            </a:fld>
            <a:endParaRPr lang="en-US" b="1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6BB3CB7-D4C4-38B1-7CB0-E2822E47B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Epigenomics Data Analysis — Physalia 2026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93993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B12CEFD-77D8-3849-BB96-F363006203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" y="873762"/>
            <a:ext cx="11927840" cy="2555238"/>
          </a:xfrm>
        </p:spPr>
        <p:txBody>
          <a:bodyPr>
            <a:normAutofit/>
          </a:bodyPr>
          <a:lstStyle/>
          <a:p>
            <a:r>
              <a:rPr lang="en-GB" dirty="0"/>
              <a:t>The easiest approach it to take overlapping peak calls across replicates.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BCBB83-5433-344C-BDB0-622BF73A0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replicates to peaks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949C03-C5B6-E94F-8188-53F7E2FF3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28562-9D3B-E049-90B5-3EB3B52779B1}" type="slidenum">
              <a:rPr lang="en-US" smtClean="0"/>
              <a:pPr/>
              <a:t>20</a:t>
            </a:fld>
            <a:endParaRPr lang="en-US" b="1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370E98-F1F2-8E87-1A07-E61A508105E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06C6339-5773-2D4B-9AFA-AADBBAB02390}"/>
              </a:ext>
            </a:extLst>
          </p:cNvPr>
          <p:cNvGrpSpPr/>
          <p:nvPr/>
        </p:nvGrpSpPr>
        <p:grpSpPr>
          <a:xfrm>
            <a:off x="4281956" y="2465857"/>
            <a:ext cx="3628087" cy="2068530"/>
            <a:chOff x="3524036" y="2137025"/>
            <a:chExt cx="3628087" cy="2068530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ECD09268-ECD1-4126-EF25-E6D0C0A7DC11}"/>
                </a:ext>
              </a:extLst>
            </p:cNvPr>
            <p:cNvSpPr/>
            <p:nvPr/>
          </p:nvSpPr>
          <p:spPr>
            <a:xfrm>
              <a:off x="4027470" y="2137025"/>
              <a:ext cx="2068530" cy="2068530"/>
            </a:xfrm>
            <a:prstGeom prst="ellipse">
              <a:avLst/>
            </a:prstGeom>
            <a:solidFill>
              <a:schemeClr val="accent4">
                <a:lumMod val="75000"/>
                <a:alpha val="25725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F75C2886-FBD0-D35D-A797-CFC1D786E01F}"/>
                </a:ext>
              </a:extLst>
            </p:cNvPr>
            <p:cNvSpPr/>
            <p:nvPr/>
          </p:nvSpPr>
          <p:spPr>
            <a:xfrm>
              <a:off x="4510356" y="2137025"/>
              <a:ext cx="2068530" cy="2068530"/>
            </a:xfrm>
            <a:prstGeom prst="ellipse">
              <a:avLst/>
            </a:prstGeom>
            <a:solidFill>
              <a:schemeClr val="accent4">
                <a:lumMod val="75000"/>
                <a:alpha val="25725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7A22DAF-838A-AC53-7910-D79268BB50CA}"/>
                </a:ext>
              </a:extLst>
            </p:cNvPr>
            <p:cNvSpPr txBox="1"/>
            <p:nvPr/>
          </p:nvSpPr>
          <p:spPr>
            <a:xfrm>
              <a:off x="6287784" y="2137025"/>
              <a:ext cx="8643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Rep. 2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086E46D-DABC-298A-4648-7E098D178E37}"/>
                </a:ext>
              </a:extLst>
            </p:cNvPr>
            <p:cNvSpPr txBox="1"/>
            <p:nvPr/>
          </p:nvSpPr>
          <p:spPr>
            <a:xfrm>
              <a:off x="3524036" y="2137025"/>
              <a:ext cx="8643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Rep. 1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48CD915-B8D9-32BD-3383-35023AA99103}"/>
                </a:ext>
              </a:extLst>
            </p:cNvPr>
            <p:cNvSpPr txBox="1"/>
            <p:nvPr/>
          </p:nvSpPr>
          <p:spPr>
            <a:xfrm>
              <a:off x="4693761" y="3014354"/>
              <a:ext cx="12416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Combined peaks</a:t>
              </a:r>
            </a:p>
          </p:txBody>
        </p:sp>
      </p:grp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21113A-6D89-D0A8-4781-2D9AAD112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Epigenomics Data Analysis — Physalia 2026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27511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B12CEFD-77D8-3849-BB96-F363006203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" y="873762"/>
            <a:ext cx="11927840" cy="2555238"/>
          </a:xfrm>
        </p:spPr>
        <p:txBody>
          <a:bodyPr>
            <a:normAutofit/>
          </a:bodyPr>
          <a:lstStyle/>
          <a:p>
            <a:r>
              <a:rPr lang="en-GB" dirty="0"/>
              <a:t>The easiest approach it to take overlapping peak calls across replicates. </a:t>
            </a:r>
          </a:p>
          <a:p>
            <a:r>
              <a:rPr lang="en-GB" dirty="0"/>
              <a:t>For more advanced users, there are more complex methods that employ statistical testing and evaluate the reproducibility between replicates. </a:t>
            </a:r>
          </a:p>
          <a:p>
            <a:r>
              <a:rPr lang="en-GB" dirty="0"/>
              <a:t>The standard approach to leverage replicates is the IDR (Irreproducibility Discovery Rate) approach.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E00D75C-38E9-CCAF-1BD5-1F996BB7B3E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Qi et al., The Annals of Applied Statistics 2011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BCBB83-5433-344C-BDB0-622BF73A0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replicates to peaks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949C03-C5B6-E94F-8188-53F7E2FF3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28562-9D3B-E049-90B5-3EB3B52779B1}" type="slidenum">
              <a:rPr lang="en-US" smtClean="0"/>
              <a:pPr/>
              <a:t>21</a:t>
            </a:fld>
            <a:endParaRPr lang="en-US" b="1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F3AE9E2-628F-BCAC-410C-14E5F905E7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9371" y="2707621"/>
            <a:ext cx="5993258" cy="34790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6C21F5-D868-C3E2-9B70-9C2CA1A58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Epigenomics Data Analysis — Physalia 2026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78534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B12CEFD-77D8-3849-BB96-F363006203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" y="873762"/>
            <a:ext cx="11927840" cy="2555238"/>
          </a:xfrm>
        </p:spPr>
        <p:txBody>
          <a:bodyPr>
            <a:normAutofit/>
          </a:bodyPr>
          <a:lstStyle/>
          <a:p>
            <a:r>
              <a:rPr lang="en-GB" dirty="0"/>
              <a:t>The easiest approach it to take overlapping peak calls across replicates. </a:t>
            </a:r>
          </a:p>
          <a:p>
            <a:r>
              <a:rPr lang="en-GB" dirty="0"/>
              <a:t>For more advanced users, there are more complex methods that employ statistical testing and evaluate the reproducibility between replicates. </a:t>
            </a:r>
          </a:p>
          <a:p>
            <a:r>
              <a:rPr lang="en-GB" dirty="0"/>
              <a:t>The standard approach to leverage replicates is the IDR (Irreproducibility Discovery Rate) approach.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C2FB49C3-C27C-F6BD-6372-E41633ED8B3F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0" y="3112869"/>
            <a:ext cx="12192000" cy="2367858"/>
          </a:xfrm>
        </p:spPr>
        <p:txBody>
          <a:bodyPr>
            <a:normAutofit/>
          </a:bodyPr>
          <a:lstStyle/>
          <a:p>
            <a:pPr algn="l">
              <a:spcAft>
                <a:spcPts val="0"/>
              </a:spcAft>
            </a:pPr>
            <a:r>
              <a:rPr lang="en-GB" sz="1600" b="0" i="0" dirty="0" err="1">
                <a:solidFill>
                  <a:srgbClr val="606C71"/>
                </a:solidFill>
                <a:effectLst/>
              </a:rPr>
              <a:t>idr</a:t>
            </a:r>
            <a:r>
              <a:rPr lang="en-GB" sz="1600" b="0" i="0" dirty="0">
                <a:solidFill>
                  <a:srgbClr val="606C71"/>
                </a:solidFill>
                <a:effectLst/>
              </a:rPr>
              <a:t> </a:t>
            </a:r>
            <a:r>
              <a:rPr lang="en-GB" sz="1600" b="0" i="0" dirty="0">
                <a:solidFill>
                  <a:srgbClr val="000080"/>
                </a:solidFill>
                <a:effectLst/>
              </a:rPr>
              <a:t>--samples</a:t>
            </a:r>
            <a:r>
              <a:rPr lang="en-GB" sz="1600" b="0" i="0" dirty="0">
                <a:solidFill>
                  <a:srgbClr val="606C71"/>
                </a:solidFill>
                <a:effectLst/>
              </a:rPr>
              <a:t> rep1.narrowPeak rep2.narrowPeak </a:t>
            </a:r>
            <a:r>
              <a:rPr lang="en-GB" sz="1600" b="0" i="0" dirty="0">
                <a:solidFill>
                  <a:srgbClr val="DD1144"/>
                </a:solidFill>
                <a:effectLst/>
              </a:rPr>
              <a:t>\</a:t>
            </a:r>
            <a:r>
              <a:rPr lang="en-GB" sz="1600" b="0" i="0" dirty="0">
                <a:solidFill>
                  <a:srgbClr val="606C71"/>
                </a:solidFill>
                <a:effectLst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lang="en-GB" sz="1600" dirty="0">
                <a:solidFill>
                  <a:srgbClr val="606C71"/>
                </a:solidFill>
              </a:rPr>
              <a:t>	</a:t>
            </a:r>
            <a:r>
              <a:rPr lang="en-GB" sz="1600" b="0" i="0" dirty="0">
                <a:solidFill>
                  <a:srgbClr val="000080"/>
                </a:solidFill>
                <a:effectLst/>
              </a:rPr>
              <a:t>--input-file-type</a:t>
            </a:r>
            <a:r>
              <a:rPr lang="en-GB" sz="1600" b="0" i="0" dirty="0">
                <a:solidFill>
                  <a:srgbClr val="606C71"/>
                </a:solidFill>
                <a:effectLst/>
              </a:rPr>
              <a:t> </a:t>
            </a:r>
            <a:r>
              <a:rPr lang="en-GB" sz="1600" b="0" i="0" dirty="0" err="1">
                <a:solidFill>
                  <a:srgbClr val="606C71"/>
                </a:solidFill>
                <a:effectLst/>
              </a:rPr>
              <a:t>narrowPeak</a:t>
            </a:r>
            <a:r>
              <a:rPr lang="en-GB" sz="1600" b="0" i="0" dirty="0">
                <a:solidFill>
                  <a:srgbClr val="606C71"/>
                </a:solidFill>
                <a:effectLst/>
              </a:rPr>
              <a:t> </a:t>
            </a:r>
            <a:r>
              <a:rPr lang="en-GB" sz="1600" b="0" i="0" dirty="0">
                <a:solidFill>
                  <a:srgbClr val="DD1144"/>
                </a:solidFill>
                <a:effectLst/>
              </a:rPr>
              <a:t>\</a:t>
            </a:r>
            <a:r>
              <a:rPr lang="en-GB" sz="1600" b="0" i="0" dirty="0">
                <a:solidFill>
                  <a:srgbClr val="606C71"/>
                </a:solidFill>
                <a:effectLst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lang="en-GB" sz="1600" dirty="0">
                <a:solidFill>
                  <a:srgbClr val="606C71"/>
                </a:solidFill>
              </a:rPr>
              <a:t>	</a:t>
            </a:r>
            <a:r>
              <a:rPr lang="en-GB" sz="1600" b="0" i="0" dirty="0">
                <a:solidFill>
                  <a:srgbClr val="000080"/>
                </a:solidFill>
                <a:effectLst/>
              </a:rPr>
              <a:t>--rank</a:t>
            </a:r>
            <a:r>
              <a:rPr lang="en-GB" sz="1600" b="0" i="0" dirty="0">
                <a:solidFill>
                  <a:srgbClr val="606C71"/>
                </a:solidFill>
                <a:effectLst/>
              </a:rPr>
              <a:t> </a:t>
            </a:r>
            <a:r>
              <a:rPr lang="en-GB" sz="1600" b="0" i="0" dirty="0" err="1">
                <a:solidFill>
                  <a:srgbClr val="606C71"/>
                </a:solidFill>
                <a:effectLst/>
              </a:rPr>
              <a:t>p.value</a:t>
            </a:r>
            <a:r>
              <a:rPr lang="en-GB" sz="1600" b="0" i="0" dirty="0">
                <a:solidFill>
                  <a:srgbClr val="606C71"/>
                </a:solidFill>
                <a:effectLst/>
              </a:rPr>
              <a:t> </a:t>
            </a:r>
            <a:r>
              <a:rPr lang="en-GB" sz="1600" b="0" i="0" dirty="0">
                <a:solidFill>
                  <a:srgbClr val="DD1144"/>
                </a:solidFill>
                <a:effectLst/>
              </a:rPr>
              <a:t>\</a:t>
            </a:r>
            <a:r>
              <a:rPr lang="en-GB" sz="1600" b="0" i="0" dirty="0">
                <a:solidFill>
                  <a:srgbClr val="606C71"/>
                </a:solidFill>
                <a:effectLst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lang="en-GB" sz="1600" dirty="0">
                <a:solidFill>
                  <a:srgbClr val="606C71"/>
                </a:solidFill>
              </a:rPr>
              <a:t>	</a:t>
            </a:r>
            <a:r>
              <a:rPr lang="en-GB" sz="1600" b="0" i="0" dirty="0">
                <a:solidFill>
                  <a:srgbClr val="000080"/>
                </a:solidFill>
                <a:effectLst/>
              </a:rPr>
              <a:t>--output-file</a:t>
            </a:r>
            <a:r>
              <a:rPr lang="en-GB" sz="1600" b="0" i="0" dirty="0">
                <a:solidFill>
                  <a:srgbClr val="606C71"/>
                </a:solidFill>
                <a:effectLst/>
              </a:rPr>
              <a:t> </a:t>
            </a:r>
            <a:r>
              <a:rPr lang="en-GB" sz="1600" b="0" i="0" dirty="0" err="1">
                <a:solidFill>
                  <a:srgbClr val="606C71"/>
                </a:solidFill>
                <a:effectLst/>
              </a:rPr>
              <a:t>idr</a:t>
            </a:r>
            <a:r>
              <a:rPr lang="en-GB" sz="1600" b="0" i="0" dirty="0">
                <a:solidFill>
                  <a:srgbClr val="606C71"/>
                </a:solidFill>
                <a:effectLst/>
              </a:rPr>
              <a:t> </a:t>
            </a:r>
            <a:r>
              <a:rPr lang="en-GB" sz="1600" b="0" i="0" dirty="0">
                <a:solidFill>
                  <a:srgbClr val="DD1144"/>
                </a:solidFill>
                <a:effectLst/>
              </a:rPr>
              <a:t>\</a:t>
            </a:r>
            <a:r>
              <a:rPr lang="en-GB" sz="1600" b="0" i="0" dirty="0">
                <a:solidFill>
                  <a:srgbClr val="606C71"/>
                </a:solidFill>
                <a:effectLst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lang="en-GB" sz="1600" dirty="0">
                <a:solidFill>
                  <a:srgbClr val="606C71"/>
                </a:solidFill>
              </a:rPr>
              <a:t>	</a:t>
            </a:r>
            <a:r>
              <a:rPr lang="en-GB" sz="1600" b="0" i="0" dirty="0">
                <a:solidFill>
                  <a:srgbClr val="000080"/>
                </a:solidFill>
                <a:effectLst/>
              </a:rPr>
              <a:t>--plot</a:t>
            </a:r>
            <a:r>
              <a:rPr lang="en-GB" sz="1600" b="0" i="0" dirty="0">
                <a:solidFill>
                  <a:srgbClr val="606C71"/>
                </a:solidFill>
                <a:effectLst/>
              </a:rPr>
              <a:t> </a:t>
            </a:r>
            <a:r>
              <a:rPr lang="en-GB" sz="1600" b="0" i="0" dirty="0">
                <a:solidFill>
                  <a:srgbClr val="DD1144"/>
                </a:solidFill>
                <a:effectLst/>
              </a:rPr>
              <a:t>\</a:t>
            </a:r>
            <a:r>
              <a:rPr lang="en-GB" sz="1600" b="0" i="0" dirty="0">
                <a:solidFill>
                  <a:srgbClr val="606C71"/>
                </a:solidFill>
                <a:effectLst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lang="en-GB" sz="1600" b="0" i="0" dirty="0">
                <a:solidFill>
                  <a:srgbClr val="000080"/>
                </a:solidFill>
                <a:effectLst/>
              </a:rPr>
              <a:t>	--log-output-file </a:t>
            </a:r>
            <a:r>
              <a:rPr lang="en-GB" sz="1600" b="0" i="0" dirty="0" err="1">
                <a:solidFill>
                  <a:srgbClr val="606C71"/>
                </a:solidFill>
                <a:effectLst/>
              </a:rPr>
              <a:t>idr.log</a:t>
            </a:r>
            <a:endParaRPr lang="en-GB" sz="1600" b="0" i="0" dirty="0">
              <a:solidFill>
                <a:srgbClr val="606C71"/>
              </a:solidFill>
              <a:effectLst/>
            </a:endParaRP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E00D75C-38E9-CCAF-1BD5-1F996BB7B3E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Qi et al., The Annals of Applied Statistics 2011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BCBB83-5433-344C-BDB0-622BF73A0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replicates to peaks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949C03-C5B6-E94F-8188-53F7E2FF3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28562-9D3B-E049-90B5-3EB3B52779B1}" type="slidenum">
              <a:rPr lang="en-US" smtClean="0"/>
              <a:pPr/>
              <a:t>22</a:t>
            </a:fld>
            <a:endParaRPr lang="en-US" b="1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3EC366-1666-90AC-81D3-579CA6302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Epigenomics Data Analysis — Physalia 2026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4737236"/>
      </p:ext>
    </p:extLst>
  </p:cSld>
  <p:clrMapOvr>
    <a:masterClrMapping/>
  </p:clrMapOvr>
</p:sld>
</file>

<file path=ppt/theme/theme1.xml><?xml version="1.0" encoding="utf-8"?>
<a:theme xmlns:a="http://schemas.openxmlformats.org/drawingml/2006/main" name="PasteurIbens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2540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asteurIbens" id="{082BC117-FEE3-ED4F-B66F-EAD8503ADF60}" vid="{75DD1838-2F74-B64C-8F9C-677C1FFB48A5}"/>
    </a:ext>
  </a:extLst>
</a:theme>
</file>

<file path=ppt/theme/theme2.xml><?xml version="1.0" encoding="utf-8"?>
<a:theme xmlns:a="http://schemas.openxmlformats.org/drawingml/2006/main" name="Physalia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2540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hysalia" id="{69934CF8-A18F-7247-8F23-6766B46F796C}" vid="{9CED6D7E-FF7E-C647-8158-BDC011F06FE3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PasteurIbens</Template>
  <TotalTime>916</TotalTime>
  <Words>1229</Words>
  <Application>Microsoft Macintosh PowerPoint</Application>
  <PresentationFormat>Widescreen</PresentationFormat>
  <Paragraphs>168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22</vt:i4>
      </vt:variant>
    </vt:vector>
  </HeadingPairs>
  <TitlesOfParts>
    <vt:vector size="33" baseType="lpstr">
      <vt:lpstr>Arial</vt:lpstr>
      <vt:lpstr>Avenir</vt:lpstr>
      <vt:lpstr>Calibri</vt:lpstr>
      <vt:lpstr>Comfortaa</vt:lpstr>
      <vt:lpstr>Courier New</vt:lpstr>
      <vt:lpstr>Helvetica</vt:lpstr>
      <vt:lpstr>Menlo</vt:lpstr>
      <vt:lpstr>Open Sans</vt:lpstr>
      <vt:lpstr>Wingdings</vt:lpstr>
      <vt:lpstr>PasteurIbens</vt:lpstr>
      <vt:lpstr>Physalia</vt:lpstr>
      <vt:lpstr>ChIP-seq analysis</vt:lpstr>
      <vt:lpstr>Chromatin immunoprecipitation: an old tool rejuvenated by high-throughput sequencing</vt:lpstr>
      <vt:lpstr>Chromatin immunoprecipitation: an old tool rejuvenated by high-throughput sequencing</vt:lpstr>
      <vt:lpstr>Current ChIP-seq approaches</vt:lpstr>
      <vt:lpstr>Current ChIP-seq approaches</vt:lpstr>
      <vt:lpstr>Current ChIP-seq approaches</vt:lpstr>
      <vt:lpstr>ChIP-seq downstream analysis</vt:lpstr>
      <vt:lpstr>ChIP-seq outputs</vt:lpstr>
      <vt:lpstr>ChIP-seq outputs</vt:lpstr>
      <vt:lpstr>ChIP-seq outputs</vt:lpstr>
      <vt:lpstr>ChIP-seq outputs</vt:lpstr>
      <vt:lpstr>What are “peaks”? </vt:lpstr>
      <vt:lpstr>Inherent ChIP-seq artefacts</vt:lpstr>
      <vt:lpstr>Dealing with ChIP-seq artefacts: using an “input” sample</vt:lpstr>
      <vt:lpstr>Finding peaks in ChIP-seq (1)</vt:lpstr>
      <vt:lpstr>Finding peaks in ChIP-seq (2)</vt:lpstr>
      <vt:lpstr>Finding peaks in ChIP-seq (3)</vt:lpstr>
      <vt:lpstr>Finding peaks in ChIP-seq (3)</vt:lpstr>
      <vt:lpstr>Finding peaks in ChIP-seq (3)</vt:lpstr>
      <vt:lpstr>Using replicates to peaks</vt:lpstr>
      <vt:lpstr>Using replicates to peaks</vt:lpstr>
      <vt:lpstr>Using replicates to peaks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Jacques  SERIZAY</dc:creator>
  <cp:lastModifiedBy>Jacques Serizay</cp:lastModifiedBy>
  <cp:revision>184</cp:revision>
  <dcterms:created xsi:type="dcterms:W3CDTF">2023-06-26T07:22:32Z</dcterms:created>
  <dcterms:modified xsi:type="dcterms:W3CDTF">2026-04-15T06:47:08Z</dcterms:modified>
</cp:coreProperties>
</file>