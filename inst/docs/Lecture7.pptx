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60" r:id="rId1"/>
    <p:sldMasterId id="2147483676" r:id="rId2"/>
  </p:sldMasterIdLst>
  <p:notesMasterIdLst>
    <p:notesMasterId r:id="rId25"/>
  </p:notesMasterIdLst>
  <p:sldIdLst>
    <p:sldId id="256" r:id="rId3"/>
    <p:sldId id="307" r:id="rId4"/>
    <p:sldId id="333" r:id="rId5"/>
    <p:sldId id="334" r:id="rId6"/>
    <p:sldId id="336" r:id="rId7"/>
    <p:sldId id="335" r:id="rId8"/>
    <p:sldId id="337" r:id="rId9"/>
    <p:sldId id="338" r:id="rId10"/>
    <p:sldId id="331" r:id="rId11"/>
    <p:sldId id="330" r:id="rId12"/>
    <p:sldId id="332" r:id="rId13"/>
    <p:sldId id="339" r:id="rId14"/>
    <p:sldId id="346" r:id="rId15"/>
    <p:sldId id="340" r:id="rId16"/>
    <p:sldId id="341" r:id="rId17"/>
    <p:sldId id="343" r:id="rId18"/>
    <p:sldId id="342" r:id="rId19"/>
    <p:sldId id="344" r:id="rId20"/>
    <p:sldId id="345" r:id="rId21"/>
    <p:sldId id="347" r:id="rId22"/>
    <p:sldId id="348" r:id="rId23"/>
    <p:sldId id="34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B4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17"/>
    <p:restoredTop sz="96327"/>
  </p:normalViewPr>
  <p:slideViewPr>
    <p:cSldViewPr snapToGrid="0">
      <p:cViewPr varScale="1">
        <p:scale>
          <a:sx n="124" d="100"/>
          <a:sy n="124" d="100"/>
        </p:scale>
        <p:origin x="8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85917-96BC-A94E-B108-436BB51A4016}" type="datetimeFigureOut">
              <a:rPr lang="en-US" smtClean="0"/>
              <a:t>4/12/25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7D7AC3-3E93-9544-BDE3-B37120F62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311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tif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alphaModFix amt="18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3910EB-624E-F321-925E-A562C9A67D9E}"/>
              </a:ext>
            </a:extLst>
          </p:cNvPr>
          <p:cNvSpPr/>
          <p:nvPr/>
        </p:nvSpPr>
        <p:spPr>
          <a:xfrm>
            <a:off x="0" y="3967089"/>
            <a:ext cx="12192000" cy="28909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2AA4C-3692-DC40-ADE0-508B5814C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ctr"/>
          <a:lstStyle>
            <a:lvl1pPr algn="ctr">
              <a:defRPr sz="6000" b="1">
                <a:latin typeface="Comfortaa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C45597-59BF-184F-B29C-07C34F95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5439"/>
            <a:ext cx="9144000" cy="2507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E298B4-CBF1-A27B-8D25-C419C3CAD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102" y="194835"/>
            <a:ext cx="1827329" cy="4983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2AF4F5-29E0-2B33-92C6-CE5EF5BBD02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17596" y="-103400"/>
            <a:ext cx="2259506" cy="1129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3986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7F50D6C-3207-323C-0510-C9484EEA4EB6}"/>
              </a:ext>
            </a:extLst>
          </p:cNvPr>
          <p:cNvSpPr txBox="1">
            <a:spLocks/>
          </p:cNvSpPr>
          <p:nvPr/>
        </p:nvSpPr>
        <p:spPr>
          <a:xfrm>
            <a:off x="0" y="6241311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132174-956C-CE42-AF06-2CC1F76F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7B3241-74CA-D249-BD38-4C57AA29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587202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09CD1E7-C4F0-95C5-0A44-6191CC4FB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FEE8F5-8318-DF2F-E442-91BB7855E5FB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Institut Pasteur, Paris, France — Google Arts &amp; Culture">
            <a:extLst>
              <a:ext uri="{FF2B5EF4-FFF2-40B4-BE49-F238E27FC236}">
                <a16:creationId xmlns:a16="http://schemas.microsoft.com/office/drawing/2014/main" id="{363CF6F2-FFCC-A044-F740-D3124ECBF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377889"/>
            <a:ext cx="1188185" cy="32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BCE3CA2-68AC-7035-AD06-B998211FB25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56549" y="6279787"/>
            <a:ext cx="1207672" cy="534046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2967DF6-DDDE-B851-D43B-850B377AE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927840" cy="488327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FA3D7D2-81E0-C7BD-F826-D44EE9292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Introduction to Hi-C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7610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32174-956C-CE42-AF06-2CC1F76F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7B3241-74CA-D249-BD38-4C57AA29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641050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2967DF6-DDDE-B851-D43B-850B377AE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927840" cy="54152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09859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4140DE3-AE3F-48D6-668B-DAF0D0698C0C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B1775B-D24B-979A-7BDF-F003D3300A08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Institut Pasteur, Paris, France — Google Arts &amp; Culture">
            <a:extLst>
              <a:ext uri="{FF2B5EF4-FFF2-40B4-BE49-F238E27FC236}">
                <a16:creationId xmlns:a16="http://schemas.microsoft.com/office/drawing/2014/main" id="{5C82817C-9A17-70D9-A3ED-5FF6BA77B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377889"/>
            <a:ext cx="1188185" cy="32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8AEAB8-52D6-E237-CB19-AA22E49E331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56549" y="6279787"/>
            <a:ext cx="1207672" cy="534046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156D004-53FB-9622-2593-36C9B40B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878757D-A12E-AC9E-7264-3EA4BD4B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Introduction to Hi-C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640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40962-E512-134A-8B89-5D29AB8A5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2"/>
            <a:ext cx="11927840" cy="8155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396AA0-6A00-40CA-3991-A57289C8026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0" y="2208435"/>
            <a:ext cx="12192000" cy="306090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None/>
              <a:defRPr sz="2000" b="0" i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984DF8B-A115-675A-61F9-8356FDECA404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C464067F-913B-5D2F-4D60-C68E0D113A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5444" y="587202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D928EA-5AB5-0522-8B22-A7613F8BD453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4" descr="Institut Pasteur, Paris, France — Google Arts &amp; Culture">
            <a:extLst>
              <a:ext uri="{FF2B5EF4-FFF2-40B4-BE49-F238E27FC236}">
                <a16:creationId xmlns:a16="http://schemas.microsoft.com/office/drawing/2014/main" id="{E540942B-247F-A801-9F56-58FABF5C3A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377889"/>
            <a:ext cx="1188185" cy="32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BBBE6AF-EEDA-0260-4F7F-1540DBFC67C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56549" y="6279787"/>
            <a:ext cx="1207672" cy="534046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21C008F8-259C-B1B6-F2C6-5E542D36F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93BB3C8-3227-B030-E53E-4C655475F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30055-81E6-701B-7B90-7911D8FFB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Introduction to Hi-C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5261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rea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56CDD01-E503-F840-9A2A-3783A49052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-9942" y="-1"/>
            <a:ext cx="12192000" cy="18183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0251D2-43BA-C946-A8E2-C1666250C02C}"/>
              </a:ext>
            </a:extLst>
          </p:cNvPr>
          <p:cNvSpPr txBox="1"/>
          <p:nvPr/>
        </p:nvSpPr>
        <p:spPr>
          <a:xfrm>
            <a:off x="-9939" y="0"/>
            <a:ext cx="12201939" cy="18193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47D1BD-9050-E74A-ACDB-B2A1C15F83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" y="0"/>
            <a:ext cx="12182475" cy="1817688"/>
          </a:xfrm>
        </p:spPr>
        <p:txBody>
          <a:bodyPr anchor="ctr">
            <a:normAutofit/>
          </a:bodyPr>
          <a:lstStyle>
            <a:lvl1pPr algn="ctr">
              <a:buNone/>
              <a:defRPr lang="en-GB" sz="4000" b="1" kern="1200" dirty="0" smtClean="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4140DE3-AE3F-48D6-668B-DAF0D0698C0C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B1775B-D24B-979A-7BDF-F003D3300A08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Institut Pasteur, Paris, France — Google Arts &amp; Culture">
            <a:extLst>
              <a:ext uri="{FF2B5EF4-FFF2-40B4-BE49-F238E27FC236}">
                <a16:creationId xmlns:a16="http://schemas.microsoft.com/office/drawing/2014/main" id="{5C82817C-9A17-70D9-A3ED-5FF6BA77B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377889"/>
            <a:ext cx="1188185" cy="32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8AEAB8-52D6-E237-CB19-AA22E49E331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56549" y="6279787"/>
            <a:ext cx="1207672" cy="534046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156D004-53FB-9622-2593-36C9B40B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878757D-A12E-AC9E-7264-3EA4BD4B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Introduction to Hi-C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650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0728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alphaModFix amt="18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3910EB-624E-F321-925E-A562C9A67D9E}"/>
              </a:ext>
            </a:extLst>
          </p:cNvPr>
          <p:cNvSpPr/>
          <p:nvPr/>
        </p:nvSpPr>
        <p:spPr>
          <a:xfrm>
            <a:off x="0" y="3967089"/>
            <a:ext cx="12192000" cy="28909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2AA4C-3692-DC40-ADE0-508B5814C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ctr"/>
          <a:lstStyle>
            <a:lvl1pPr algn="ctr">
              <a:defRPr sz="6000" b="1">
                <a:latin typeface="Comfortaa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C45597-59BF-184F-B29C-07C34F95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5439"/>
            <a:ext cx="9144000" cy="2507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122F163-4E41-A425-055F-31E35A814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189" y="5394961"/>
            <a:ext cx="2587811" cy="145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9991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7F50D6C-3207-323C-0510-C9484EEA4EB6}"/>
              </a:ext>
            </a:extLst>
          </p:cNvPr>
          <p:cNvSpPr txBox="1">
            <a:spLocks/>
          </p:cNvSpPr>
          <p:nvPr/>
        </p:nvSpPr>
        <p:spPr>
          <a:xfrm>
            <a:off x="0" y="6241311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132174-956C-CE42-AF06-2CC1F76F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7B3241-74CA-D249-BD38-4C57AA29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587202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09CD1E7-C4F0-95C5-0A44-6191CC4FB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FEE8F5-8318-DF2F-E442-91BB7855E5FB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2967DF6-DDDE-B851-D43B-850B377AE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927840" cy="488327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FA3D7D2-81E0-C7BD-F826-D44EE9292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Introduction to Hi-C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CE93C2-6544-85EA-AA67-941E7AC3F3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2" y="6255490"/>
            <a:ext cx="1048153" cy="58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1360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32174-956C-CE42-AF06-2CC1F76F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7B3241-74CA-D249-BD38-4C57AA29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641050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2967DF6-DDDE-B851-D43B-850B377AE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927840" cy="54152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2641190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4140DE3-AE3F-48D6-668B-DAF0D0698C0C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B1775B-D24B-979A-7BDF-F003D3300A08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156D004-53FB-9622-2593-36C9B40B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878757D-A12E-AC9E-7264-3EA4BD4B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Introduction to Hi-C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CF294A-06F4-3E28-947D-A951D1C6D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2" y="6255490"/>
            <a:ext cx="1048153" cy="58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57129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40962-E512-134A-8B89-5D29AB8A5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2"/>
            <a:ext cx="11927840" cy="8155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396AA0-6A00-40CA-3991-A57289C8026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0" y="2208435"/>
            <a:ext cx="12192000" cy="306090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None/>
              <a:defRPr sz="2000" b="0" i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984DF8B-A115-675A-61F9-8356FDECA404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C464067F-913B-5D2F-4D60-C68E0D113A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5444" y="587202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D928EA-5AB5-0522-8B22-A7613F8BD453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21C008F8-259C-B1B6-F2C6-5E542D36F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93BB3C8-3227-B030-E53E-4C655475F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30055-81E6-701B-7B90-7911D8FFB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Introduction to Hi-C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122516-0AF4-B0FD-F224-516E3D63E4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2" y="6255490"/>
            <a:ext cx="1048153" cy="58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6768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rea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56CDD01-E503-F840-9A2A-3783A49052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-9942" y="-1"/>
            <a:ext cx="12192000" cy="18183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0251D2-43BA-C946-A8E2-C1666250C02C}"/>
              </a:ext>
            </a:extLst>
          </p:cNvPr>
          <p:cNvSpPr txBox="1"/>
          <p:nvPr/>
        </p:nvSpPr>
        <p:spPr>
          <a:xfrm>
            <a:off x="-9939" y="0"/>
            <a:ext cx="12201939" cy="18193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47D1BD-9050-E74A-ACDB-B2A1C15F83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" y="0"/>
            <a:ext cx="12182475" cy="1817688"/>
          </a:xfrm>
        </p:spPr>
        <p:txBody>
          <a:bodyPr anchor="ctr">
            <a:normAutofit/>
          </a:bodyPr>
          <a:lstStyle>
            <a:lvl1pPr algn="ctr">
              <a:buNone/>
              <a:defRPr lang="en-GB" sz="4000" b="1" kern="1200" dirty="0" smtClean="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4140DE3-AE3F-48D6-668B-DAF0D0698C0C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B1775B-D24B-979A-7BDF-F003D3300A08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156D004-53FB-9622-2593-36C9B40B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878757D-A12E-AC9E-7264-3EA4BD4B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Introduction to Hi-C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A154C1-BADA-FCD4-0D33-C98DC8B15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2" y="6255490"/>
            <a:ext cx="1048153" cy="58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7945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7994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D9C0A-1549-7443-85EE-55FCCABF3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4191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1A869-7351-D242-86E9-79866614E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E2C13-B8D7-F44C-9139-6617535B9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96C65-553F-C344-AE7F-E5E25FFE6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Hi-C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767CE44-45AC-9541-9EC5-59AD836780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19295" y="5951350"/>
            <a:ext cx="1172705" cy="906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0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9F28562-9D3B-E049-90B5-3EB3B52779B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792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99439E-A8C1-0147-878A-E596CBCA7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68514-C71E-D749-B402-559977473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29C53-DC6E-5B43-AE85-3EF6A4F76C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34DA9-DD42-8445-BB79-DF30D799A8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Introduction to Hi-C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CFCD4-3911-E943-8744-54979FE9BE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454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75" r:id="rId3"/>
    <p:sldLayoutId id="2147483674" r:id="rId4"/>
    <p:sldLayoutId id="2147483672" r:id="rId5"/>
    <p:sldLayoutId id="2147483664" r:id="rId6"/>
    <p:sldLayoutId id="2147483673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99439E-A8C1-0147-878A-E596CBCA7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68514-C71E-D749-B402-559977473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29C53-DC6E-5B43-AE85-3EF6A4F76C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34DA9-DD42-8445-BB79-DF30D799A8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Introduction to Hi-C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CFCD4-3911-E943-8744-54979FE9BE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771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github.com/open2c/" TargetMode="Externa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pairtools.readthedocs.io/en/latest/" TargetMode="Externa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pairtools.readthedocs.io/en/latest/" TargetMode="Externa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cooler.readthedocs.io/en/latest/" TargetMode="Externa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cooler.readthedocs.io/en/latest/" TargetMode="Externa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www.nature.com/articles/s41467-024-44761-x" TargetMode="Externa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D19899D-021E-02BA-CBD8-FEA50B253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1122363"/>
            <a:ext cx="11582400" cy="2387600"/>
          </a:xfrm>
        </p:spPr>
        <p:txBody>
          <a:bodyPr>
            <a:normAutofit/>
          </a:bodyPr>
          <a:lstStyle/>
          <a:p>
            <a:r>
              <a:rPr lang="en-GB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Hi-C processing</a:t>
            </a:r>
            <a:endParaRPr lang="en-US" sz="3000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07EAE9F-3B09-09D5-50EC-A51FBB06AC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Epigenomics Data Analysis</a:t>
            </a:r>
          </a:p>
          <a:p>
            <a:r>
              <a:rPr lang="en-US" dirty="0"/>
              <a:t>Jacques </a:t>
            </a:r>
            <a:r>
              <a:rPr lang="en-US" dirty="0" err="1"/>
              <a:t>Serizay</a:t>
            </a:r>
            <a:endParaRPr lang="en-US" dirty="0"/>
          </a:p>
          <a:p>
            <a:r>
              <a:rPr lang="en-US" dirty="0" err="1"/>
              <a:t>Physalia</a:t>
            </a:r>
            <a:r>
              <a:rPr lang="en-US" dirty="0"/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2534552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B05F7-278B-CB43-9092-5566D667E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Hi-C experimental workflow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BE6E7-351F-5BC0-3F21-8888A1E051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Belton et al., Methods 2012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FD23E-0EB5-9C47-B22B-CA4393D4D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47E85-F0ED-8944-97A4-9BFB9B12E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Hi-C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F8B24F-4033-4B56-9D26-C4A4E1123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6216" y="1175817"/>
            <a:ext cx="6479568" cy="450636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94DCBB9-98E5-79F7-EE01-36D4C0E94BCE}"/>
              </a:ext>
            </a:extLst>
          </p:cNvPr>
          <p:cNvSpPr/>
          <p:nvPr/>
        </p:nvSpPr>
        <p:spPr>
          <a:xfrm>
            <a:off x="2856216" y="4130211"/>
            <a:ext cx="400692" cy="3184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A9BEE8-DB85-6D33-797C-5046DFCFCA31}"/>
              </a:ext>
            </a:extLst>
          </p:cNvPr>
          <p:cNvSpPr/>
          <p:nvPr/>
        </p:nvSpPr>
        <p:spPr>
          <a:xfrm>
            <a:off x="5517222" y="5147353"/>
            <a:ext cx="2044557" cy="5348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673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Read pairs missing an alignment on one or both sides">
            <a:extLst>
              <a:ext uri="{FF2B5EF4-FFF2-40B4-BE49-F238E27FC236}">
                <a16:creationId xmlns:a16="http://schemas.microsoft.com/office/drawing/2014/main" id="{B432CC29-F52E-B503-7FF1-C072245D76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208"/>
          <a:stretch/>
        </p:blipFill>
        <p:spPr bwMode="auto">
          <a:xfrm>
            <a:off x="4042881" y="4164541"/>
            <a:ext cx="4376791" cy="1628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9B05F7-278B-CB43-9092-5566D667E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Hi-C computational workflow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BE6E7-351F-5BC0-3F21-8888A1E051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Open2C et al., </a:t>
            </a:r>
            <a:r>
              <a:rPr lang="en-GB" dirty="0" err="1"/>
              <a:t>Biorxiv</a:t>
            </a:r>
            <a:r>
              <a:rPr lang="en-GB" dirty="0"/>
              <a:t> 2023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FD23E-0EB5-9C47-B22B-CA4393D4D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47E85-F0ED-8944-97A4-9BFB9B12E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Hi-C</a:t>
            </a:r>
          </a:p>
        </p:txBody>
      </p:sp>
      <p:pic>
        <p:nvPicPr>
          <p:cNvPr id="3" name="Picture 4" descr="Parsing sequence alignments into Hi-C pairs — pairtools 1.0.2 documentation">
            <a:extLst>
              <a:ext uri="{FF2B5EF4-FFF2-40B4-BE49-F238E27FC236}">
                <a16:creationId xmlns:a16="http://schemas.microsoft.com/office/drawing/2014/main" id="{C2B9D8E5-6680-67CE-768A-F91D00E996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14"/>
          <a:stretch/>
        </p:blipFill>
        <p:spPr bwMode="auto">
          <a:xfrm>
            <a:off x="3970961" y="1064592"/>
            <a:ext cx="4250077" cy="2218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8C9898B-51A0-274E-3CA8-46C353C29C72}"/>
              </a:ext>
            </a:extLst>
          </p:cNvPr>
          <p:cNvSpPr/>
          <p:nvPr/>
        </p:nvSpPr>
        <p:spPr>
          <a:xfrm>
            <a:off x="7726166" y="2968186"/>
            <a:ext cx="693506" cy="6038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39F633-0162-7E26-6779-557E78A6D0D3}"/>
              </a:ext>
            </a:extLst>
          </p:cNvPr>
          <p:cNvSpPr/>
          <p:nvPr/>
        </p:nvSpPr>
        <p:spPr>
          <a:xfrm>
            <a:off x="7527532" y="5465331"/>
            <a:ext cx="693506" cy="6038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294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B05F7-278B-CB43-9092-5566D667E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Hi-C computational workflow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BE6E7-351F-5BC0-3F21-8888A1E051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Open2C et al., </a:t>
            </a:r>
            <a:r>
              <a:rPr lang="en-GB" dirty="0" err="1"/>
              <a:t>Biorxiv</a:t>
            </a:r>
            <a:r>
              <a:rPr lang="en-GB" dirty="0"/>
              <a:t> 2023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FD23E-0EB5-9C47-B22B-CA4393D4D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47E85-F0ED-8944-97A4-9BFB9B12E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Hi-C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5DD1C4-37B2-07BB-9016-8D0AA15E10F6}"/>
              </a:ext>
            </a:extLst>
          </p:cNvPr>
          <p:cNvSpPr/>
          <p:nvPr/>
        </p:nvSpPr>
        <p:spPr>
          <a:xfrm>
            <a:off x="4628627" y="5352835"/>
            <a:ext cx="865560" cy="802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6CD612-ED83-8892-4A7D-B9C17B3B1D65}"/>
              </a:ext>
            </a:extLst>
          </p:cNvPr>
          <p:cNvSpPr/>
          <p:nvPr/>
        </p:nvSpPr>
        <p:spPr>
          <a:xfrm>
            <a:off x="8974596" y="893850"/>
            <a:ext cx="865560" cy="802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4" descr="Parsing sequence alignments into Hi-C pairs — pairtools 1.0.2 documentation">
            <a:extLst>
              <a:ext uri="{FF2B5EF4-FFF2-40B4-BE49-F238E27FC236}">
                <a16:creationId xmlns:a16="http://schemas.microsoft.com/office/drawing/2014/main" id="{98DBF045-F5B7-B43B-39D8-7C3BA49ACE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14"/>
          <a:stretch/>
        </p:blipFill>
        <p:spPr bwMode="auto">
          <a:xfrm>
            <a:off x="1023946" y="2809732"/>
            <a:ext cx="2372397" cy="1238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CD9838A-37E8-876C-FB32-0C5A1DC8C412}"/>
              </a:ext>
            </a:extLst>
          </p:cNvPr>
          <p:cNvSpPr/>
          <p:nvPr/>
        </p:nvSpPr>
        <p:spPr>
          <a:xfrm>
            <a:off x="3118082" y="3756793"/>
            <a:ext cx="865560" cy="802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646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B05F7-278B-CB43-9092-5566D667E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Hi-C computational workflow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BE6E7-351F-5BC0-3F21-8888A1E051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Open2C et al., </a:t>
            </a:r>
            <a:r>
              <a:rPr lang="en-GB" dirty="0" err="1"/>
              <a:t>Biorxiv</a:t>
            </a:r>
            <a:r>
              <a:rPr lang="en-GB" dirty="0"/>
              <a:t> 2023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FD23E-0EB5-9C47-B22B-CA4393D4D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47E85-F0ED-8944-97A4-9BFB9B12E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Hi-C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5DD1C4-37B2-07BB-9016-8D0AA15E10F6}"/>
              </a:ext>
            </a:extLst>
          </p:cNvPr>
          <p:cNvSpPr/>
          <p:nvPr/>
        </p:nvSpPr>
        <p:spPr>
          <a:xfrm>
            <a:off x="4628627" y="5352835"/>
            <a:ext cx="865560" cy="802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6CD612-ED83-8892-4A7D-B9C17B3B1D65}"/>
              </a:ext>
            </a:extLst>
          </p:cNvPr>
          <p:cNvSpPr/>
          <p:nvPr/>
        </p:nvSpPr>
        <p:spPr>
          <a:xfrm>
            <a:off x="8974596" y="893850"/>
            <a:ext cx="865560" cy="802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4" descr="Parsing sequence alignments into Hi-C pairs — pairtools 1.0.2 documentation">
            <a:extLst>
              <a:ext uri="{FF2B5EF4-FFF2-40B4-BE49-F238E27FC236}">
                <a16:creationId xmlns:a16="http://schemas.microsoft.com/office/drawing/2014/main" id="{98DBF045-F5B7-B43B-39D8-7C3BA49ACE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14"/>
          <a:stretch/>
        </p:blipFill>
        <p:spPr bwMode="auto">
          <a:xfrm>
            <a:off x="1023946" y="2809732"/>
            <a:ext cx="2372397" cy="1238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CD9838A-37E8-876C-FB32-0C5A1DC8C412}"/>
              </a:ext>
            </a:extLst>
          </p:cNvPr>
          <p:cNvSpPr/>
          <p:nvPr/>
        </p:nvSpPr>
        <p:spPr>
          <a:xfrm>
            <a:off x="3118082" y="3756793"/>
            <a:ext cx="865560" cy="802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9D723217-657C-D4F0-4CCF-24E2EC7527F5}"/>
              </a:ext>
            </a:extLst>
          </p:cNvPr>
          <p:cNvSpPr/>
          <p:nvPr/>
        </p:nvSpPr>
        <p:spPr>
          <a:xfrm rot="5400000">
            <a:off x="1584672" y="3543430"/>
            <a:ext cx="802640" cy="1180095"/>
          </a:xfrm>
          <a:prstGeom prst="arc">
            <a:avLst>
              <a:gd name="adj1" fmla="val 16200000"/>
              <a:gd name="adj2" fmla="val 5454584"/>
            </a:avLst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212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B05F7-278B-CB43-9092-5566D667E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Hi-C computational workflow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BE6E7-351F-5BC0-3F21-8888A1E051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Open2C et al., </a:t>
            </a:r>
            <a:r>
              <a:rPr lang="en-GB" dirty="0" err="1"/>
              <a:t>Biorxiv</a:t>
            </a:r>
            <a:r>
              <a:rPr lang="en-GB" dirty="0"/>
              <a:t> 2023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FD23E-0EB5-9C47-B22B-CA4393D4D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47E85-F0ED-8944-97A4-9BFB9B12E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Hi-C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1C76A9-B10B-1270-526A-3338686B3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0301" y="2146690"/>
            <a:ext cx="3683000" cy="3683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4" descr="Parsing sequence alignments into Hi-C pairs — pairtools 1.0.2 documentation">
            <a:extLst>
              <a:ext uri="{FF2B5EF4-FFF2-40B4-BE49-F238E27FC236}">
                <a16:creationId xmlns:a16="http://schemas.microsoft.com/office/drawing/2014/main" id="{D8D28C83-3B2B-3275-FFF8-BC6D2BD747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14" t="55969"/>
          <a:stretch/>
        </p:blipFill>
        <p:spPr bwMode="auto">
          <a:xfrm flipV="1">
            <a:off x="5817822" y="1250608"/>
            <a:ext cx="3765479" cy="874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Parsing sequence alignments into Hi-C pairs — pairtools 1.0.2 documentation">
            <a:extLst>
              <a:ext uri="{FF2B5EF4-FFF2-40B4-BE49-F238E27FC236}">
                <a16:creationId xmlns:a16="http://schemas.microsoft.com/office/drawing/2014/main" id="{B730C608-85E5-A567-775A-55092EE914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14" t="55969"/>
          <a:stretch/>
        </p:blipFill>
        <p:spPr bwMode="auto">
          <a:xfrm rot="5400000">
            <a:off x="3533124" y="3518659"/>
            <a:ext cx="3765479" cy="865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55DD1C4-37B2-07BB-9016-8D0AA15E10F6}"/>
              </a:ext>
            </a:extLst>
          </p:cNvPr>
          <p:cNvSpPr/>
          <p:nvPr/>
        </p:nvSpPr>
        <p:spPr>
          <a:xfrm>
            <a:off x="4628627" y="5352835"/>
            <a:ext cx="865560" cy="802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6CD612-ED83-8892-4A7D-B9C17B3B1D65}"/>
              </a:ext>
            </a:extLst>
          </p:cNvPr>
          <p:cNvSpPr/>
          <p:nvPr/>
        </p:nvSpPr>
        <p:spPr>
          <a:xfrm>
            <a:off x="8974596" y="893850"/>
            <a:ext cx="865560" cy="802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4" descr="Parsing sequence alignments into Hi-C pairs — pairtools 1.0.2 documentation">
            <a:extLst>
              <a:ext uri="{FF2B5EF4-FFF2-40B4-BE49-F238E27FC236}">
                <a16:creationId xmlns:a16="http://schemas.microsoft.com/office/drawing/2014/main" id="{98DBF045-F5B7-B43B-39D8-7C3BA49ACE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14"/>
          <a:stretch/>
        </p:blipFill>
        <p:spPr bwMode="auto">
          <a:xfrm>
            <a:off x="1023946" y="2809732"/>
            <a:ext cx="2372397" cy="1238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CD9838A-37E8-876C-FB32-0C5A1DC8C412}"/>
              </a:ext>
            </a:extLst>
          </p:cNvPr>
          <p:cNvSpPr/>
          <p:nvPr/>
        </p:nvSpPr>
        <p:spPr>
          <a:xfrm>
            <a:off x="3118082" y="3756793"/>
            <a:ext cx="865560" cy="802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9D723217-657C-D4F0-4CCF-24E2EC7527F5}"/>
              </a:ext>
            </a:extLst>
          </p:cNvPr>
          <p:cNvSpPr/>
          <p:nvPr/>
        </p:nvSpPr>
        <p:spPr>
          <a:xfrm rot="5400000">
            <a:off x="1584672" y="3543430"/>
            <a:ext cx="802640" cy="1180095"/>
          </a:xfrm>
          <a:prstGeom prst="arc">
            <a:avLst>
              <a:gd name="adj1" fmla="val 16200000"/>
              <a:gd name="adj2" fmla="val 5454584"/>
            </a:avLst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13047D48-0988-CAC4-66F4-2C0EE6DC34FB}"/>
              </a:ext>
            </a:extLst>
          </p:cNvPr>
          <p:cNvSpPr/>
          <p:nvPr/>
        </p:nvSpPr>
        <p:spPr>
          <a:xfrm rot="10800000">
            <a:off x="4525683" y="2638584"/>
            <a:ext cx="737987" cy="1896213"/>
          </a:xfrm>
          <a:prstGeom prst="arc">
            <a:avLst>
              <a:gd name="adj1" fmla="val 16200000"/>
              <a:gd name="adj2" fmla="val 5454584"/>
            </a:avLst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7CE18DF8-F104-0947-048D-66492857837F}"/>
              </a:ext>
            </a:extLst>
          </p:cNvPr>
          <p:cNvSpPr/>
          <p:nvPr/>
        </p:nvSpPr>
        <p:spPr>
          <a:xfrm rot="16200000">
            <a:off x="6985855" y="243726"/>
            <a:ext cx="737987" cy="1896213"/>
          </a:xfrm>
          <a:prstGeom prst="arc">
            <a:avLst>
              <a:gd name="adj1" fmla="val 16200000"/>
              <a:gd name="adj2" fmla="val 5454584"/>
            </a:avLst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84EE40A-3792-C816-B11B-E1EAC8A60A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942" y="2189023"/>
            <a:ext cx="736600" cy="368300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CE3CA39-F993-1FF3-0358-1A18127B4D79}"/>
              </a:ext>
            </a:extLst>
          </p:cNvPr>
          <p:cNvSpPr txBox="1"/>
          <p:nvPr/>
        </p:nvSpPr>
        <p:spPr>
          <a:xfrm rot="16200000">
            <a:off x="10616743" y="3766773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Contact counts</a:t>
            </a:r>
          </a:p>
        </p:txBody>
      </p:sp>
    </p:spTree>
    <p:extLst>
      <p:ext uri="{BB962C8B-B14F-4D97-AF65-F5344CB8AC3E}">
        <p14:creationId xmlns:p14="http://schemas.microsoft.com/office/powerpoint/2010/main" val="3849455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B05F7-278B-CB43-9092-5566D667E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Hi-C computational workflow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BE6E7-351F-5BC0-3F21-8888A1E051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Open2C et al., </a:t>
            </a:r>
            <a:r>
              <a:rPr lang="en-GB" dirty="0" err="1"/>
              <a:t>Biorxiv</a:t>
            </a:r>
            <a:r>
              <a:rPr lang="en-GB" dirty="0"/>
              <a:t> 2023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FD23E-0EB5-9C47-B22B-CA4393D4D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47E85-F0ED-8944-97A4-9BFB9B12E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Hi-C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1C76A9-B10B-1270-526A-3338686B3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0301" y="2146690"/>
            <a:ext cx="3683000" cy="3683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4" descr="Parsing sequence alignments into Hi-C pairs — pairtools 1.0.2 documentation">
            <a:extLst>
              <a:ext uri="{FF2B5EF4-FFF2-40B4-BE49-F238E27FC236}">
                <a16:creationId xmlns:a16="http://schemas.microsoft.com/office/drawing/2014/main" id="{D8D28C83-3B2B-3275-FFF8-BC6D2BD747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14" t="55969"/>
          <a:stretch/>
        </p:blipFill>
        <p:spPr bwMode="auto">
          <a:xfrm flipV="1">
            <a:off x="5817822" y="1250608"/>
            <a:ext cx="3765479" cy="874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Parsing sequence alignments into Hi-C pairs — pairtools 1.0.2 documentation">
            <a:extLst>
              <a:ext uri="{FF2B5EF4-FFF2-40B4-BE49-F238E27FC236}">
                <a16:creationId xmlns:a16="http://schemas.microsoft.com/office/drawing/2014/main" id="{B730C608-85E5-A567-775A-55092EE914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14" t="55969"/>
          <a:stretch/>
        </p:blipFill>
        <p:spPr bwMode="auto">
          <a:xfrm rot="5400000">
            <a:off x="3533124" y="3518659"/>
            <a:ext cx="3765479" cy="865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55DD1C4-37B2-07BB-9016-8D0AA15E10F6}"/>
              </a:ext>
            </a:extLst>
          </p:cNvPr>
          <p:cNvSpPr/>
          <p:nvPr/>
        </p:nvSpPr>
        <p:spPr>
          <a:xfrm>
            <a:off x="4628627" y="5352835"/>
            <a:ext cx="865560" cy="802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6CD612-ED83-8892-4A7D-B9C17B3B1D65}"/>
              </a:ext>
            </a:extLst>
          </p:cNvPr>
          <p:cNvSpPr/>
          <p:nvPr/>
        </p:nvSpPr>
        <p:spPr>
          <a:xfrm>
            <a:off x="8974596" y="893850"/>
            <a:ext cx="865560" cy="802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4" descr="Parsing sequence alignments into Hi-C pairs — pairtools 1.0.2 documentation">
            <a:extLst>
              <a:ext uri="{FF2B5EF4-FFF2-40B4-BE49-F238E27FC236}">
                <a16:creationId xmlns:a16="http://schemas.microsoft.com/office/drawing/2014/main" id="{98DBF045-F5B7-B43B-39D8-7C3BA49ACE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14"/>
          <a:stretch/>
        </p:blipFill>
        <p:spPr bwMode="auto">
          <a:xfrm>
            <a:off x="1023946" y="2809732"/>
            <a:ext cx="2372397" cy="1238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CD9838A-37E8-876C-FB32-0C5A1DC8C412}"/>
              </a:ext>
            </a:extLst>
          </p:cNvPr>
          <p:cNvSpPr/>
          <p:nvPr/>
        </p:nvSpPr>
        <p:spPr>
          <a:xfrm>
            <a:off x="3118082" y="3756793"/>
            <a:ext cx="865560" cy="802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9D723217-657C-D4F0-4CCF-24E2EC7527F5}"/>
              </a:ext>
            </a:extLst>
          </p:cNvPr>
          <p:cNvSpPr/>
          <p:nvPr/>
        </p:nvSpPr>
        <p:spPr>
          <a:xfrm rot="5400000">
            <a:off x="1584672" y="3543430"/>
            <a:ext cx="802640" cy="1180095"/>
          </a:xfrm>
          <a:prstGeom prst="arc">
            <a:avLst>
              <a:gd name="adj1" fmla="val 16200000"/>
              <a:gd name="adj2" fmla="val 5454584"/>
            </a:avLst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13047D48-0988-CAC4-66F4-2C0EE6DC34FB}"/>
              </a:ext>
            </a:extLst>
          </p:cNvPr>
          <p:cNvSpPr/>
          <p:nvPr/>
        </p:nvSpPr>
        <p:spPr>
          <a:xfrm rot="10800000">
            <a:off x="4525683" y="2638584"/>
            <a:ext cx="737987" cy="1896213"/>
          </a:xfrm>
          <a:prstGeom prst="arc">
            <a:avLst>
              <a:gd name="adj1" fmla="val 16200000"/>
              <a:gd name="adj2" fmla="val 5454584"/>
            </a:avLst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7CE18DF8-F104-0947-048D-66492857837F}"/>
              </a:ext>
            </a:extLst>
          </p:cNvPr>
          <p:cNvSpPr/>
          <p:nvPr/>
        </p:nvSpPr>
        <p:spPr>
          <a:xfrm rot="16200000">
            <a:off x="6985855" y="243726"/>
            <a:ext cx="737987" cy="1896213"/>
          </a:xfrm>
          <a:prstGeom prst="arc">
            <a:avLst>
              <a:gd name="adj1" fmla="val 16200000"/>
              <a:gd name="adj2" fmla="val 5454584"/>
            </a:avLst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AABDCD3-1E69-33B4-EAF4-DA76D25B201D}"/>
              </a:ext>
            </a:extLst>
          </p:cNvPr>
          <p:cNvSpPr/>
          <p:nvPr/>
        </p:nvSpPr>
        <p:spPr>
          <a:xfrm>
            <a:off x="8141383" y="2585143"/>
            <a:ext cx="193594" cy="193594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CD123B1-CB3E-6245-2DBC-EE0BFD2CE409}"/>
              </a:ext>
            </a:extLst>
          </p:cNvPr>
          <p:cNvCxnSpPr/>
          <p:nvPr/>
        </p:nvCxnSpPr>
        <p:spPr>
          <a:xfrm>
            <a:off x="5900301" y="2676684"/>
            <a:ext cx="2202982" cy="0"/>
          </a:xfrm>
          <a:prstGeom prst="line">
            <a:avLst/>
          </a:prstGeom>
          <a:ln w="254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67E46D-6D4E-0CB4-6B2A-242C832FE41B}"/>
              </a:ext>
            </a:extLst>
          </p:cNvPr>
          <p:cNvCxnSpPr>
            <a:cxnSpLocks/>
          </p:cNvCxnSpPr>
          <p:nvPr/>
        </p:nvCxnSpPr>
        <p:spPr>
          <a:xfrm>
            <a:off x="8232021" y="2150904"/>
            <a:ext cx="0" cy="434239"/>
          </a:xfrm>
          <a:prstGeom prst="line">
            <a:avLst/>
          </a:prstGeom>
          <a:ln w="254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87EA1509-B553-A3CE-BE2A-FA7F1EC97A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942" y="2189023"/>
            <a:ext cx="736600" cy="368300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9D270BC-5A5E-32A1-6ECA-C48CB46E2B99}"/>
              </a:ext>
            </a:extLst>
          </p:cNvPr>
          <p:cNvSpPr txBox="1"/>
          <p:nvPr/>
        </p:nvSpPr>
        <p:spPr>
          <a:xfrm rot="16200000">
            <a:off x="10616743" y="3766773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Contact counts</a:t>
            </a:r>
          </a:p>
        </p:txBody>
      </p:sp>
    </p:spTree>
    <p:extLst>
      <p:ext uri="{BB962C8B-B14F-4D97-AF65-F5344CB8AC3E}">
        <p14:creationId xmlns:p14="http://schemas.microsoft.com/office/powerpoint/2010/main" val="589861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B05F7-278B-CB43-9092-5566D667E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Hi-C computational workflow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BE6E7-351F-5BC0-3F21-8888A1E051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Open2C et al., </a:t>
            </a:r>
            <a:r>
              <a:rPr lang="en-GB" dirty="0" err="1"/>
              <a:t>Biorxiv</a:t>
            </a:r>
            <a:r>
              <a:rPr lang="en-GB" dirty="0"/>
              <a:t> 2023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FD23E-0EB5-9C47-B22B-CA4393D4D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47E85-F0ED-8944-97A4-9BFB9B12E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Hi-C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1C76A9-B10B-1270-526A-3338686B3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0301" y="2146690"/>
            <a:ext cx="3683000" cy="3683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4" descr="Parsing sequence alignments into Hi-C pairs — pairtools 1.0.2 documentation">
            <a:extLst>
              <a:ext uri="{FF2B5EF4-FFF2-40B4-BE49-F238E27FC236}">
                <a16:creationId xmlns:a16="http://schemas.microsoft.com/office/drawing/2014/main" id="{D8D28C83-3B2B-3275-FFF8-BC6D2BD747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14" t="55969"/>
          <a:stretch/>
        </p:blipFill>
        <p:spPr bwMode="auto">
          <a:xfrm flipV="1">
            <a:off x="5817822" y="1250608"/>
            <a:ext cx="3765479" cy="874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Parsing sequence alignments into Hi-C pairs — pairtools 1.0.2 documentation">
            <a:extLst>
              <a:ext uri="{FF2B5EF4-FFF2-40B4-BE49-F238E27FC236}">
                <a16:creationId xmlns:a16="http://schemas.microsoft.com/office/drawing/2014/main" id="{B730C608-85E5-A567-775A-55092EE914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14" t="55969"/>
          <a:stretch/>
        </p:blipFill>
        <p:spPr bwMode="auto">
          <a:xfrm rot="5400000">
            <a:off x="3533124" y="3518659"/>
            <a:ext cx="3765479" cy="865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55DD1C4-37B2-07BB-9016-8D0AA15E10F6}"/>
              </a:ext>
            </a:extLst>
          </p:cNvPr>
          <p:cNvSpPr/>
          <p:nvPr/>
        </p:nvSpPr>
        <p:spPr>
          <a:xfrm>
            <a:off x="4628627" y="5352835"/>
            <a:ext cx="865560" cy="802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6CD612-ED83-8892-4A7D-B9C17B3B1D65}"/>
              </a:ext>
            </a:extLst>
          </p:cNvPr>
          <p:cNvSpPr/>
          <p:nvPr/>
        </p:nvSpPr>
        <p:spPr>
          <a:xfrm>
            <a:off x="8974596" y="893850"/>
            <a:ext cx="865560" cy="802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4" descr="Parsing sequence alignments into Hi-C pairs — pairtools 1.0.2 documentation">
            <a:extLst>
              <a:ext uri="{FF2B5EF4-FFF2-40B4-BE49-F238E27FC236}">
                <a16:creationId xmlns:a16="http://schemas.microsoft.com/office/drawing/2014/main" id="{98DBF045-F5B7-B43B-39D8-7C3BA49ACE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14"/>
          <a:stretch/>
        </p:blipFill>
        <p:spPr bwMode="auto">
          <a:xfrm>
            <a:off x="1023946" y="2809732"/>
            <a:ext cx="2372397" cy="1238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CD9838A-37E8-876C-FB32-0C5A1DC8C412}"/>
              </a:ext>
            </a:extLst>
          </p:cNvPr>
          <p:cNvSpPr/>
          <p:nvPr/>
        </p:nvSpPr>
        <p:spPr>
          <a:xfrm>
            <a:off x="3118082" y="3756793"/>
            <a:ext cx="865560" cy="802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9D723217-657C-D4F0-4CCF-24E2EC7527F5}"/>
              </a:ext>
            </a:extLst>
          </p:cNvPr>
          <p:cNvSpPr/>
          <p:nvPr/>
        </p:nvSpPr>
        <p:spPr>
          <a:xfrm rot="5400000">
            <a:off x="1584672" y="3543430"/>
            <a:ext cx="802640" cy="1180095"/>
          </a:xfrm>
          <a:prstGeom prst="arc">
            <a:avLst>
              <a:gd name="adj1" fmla="val 16200000"/>
              <a:gd name="adj2" fmla="val 5454584"/>
            </a:avLst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13047D48-0988-CAC4-66F4-2C0EE6DC34FB}"/>
              </a:ext>
            </a:extLst>
          </p:cNvPr>
          <p:cNvSpPr/>
          <p:nvPr/>
        </p:nvSpPr>
        <p:spPr>
          <a:xfrm rot="10800000">
            <a:off x="4525683" y="2638584"/>
            <a:ext cx="737987" cy="1896213"/>
          </a:xfrm>
          <a:prstGeom prst="arc">
            <a:avLst>
              <a:gd name="adj1" fmla="val 16200000"/>
              <a:gd name="adj2" fmla="val 5454584"/>
            </a:avLst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7CE18DF8-F104-0947-048D-66492857837F}"/>
              </a:ext>
            </a:extLst>
          </p:cNvPr>
          <p:cNvSpPr/>
          <p:nvPr/>
        </p:nvSpPr>
        <p:spPr>
          <a:xfrm rot="16200000">
            <a:off x="6985855" y="243726"/>
            <a:ext cx="737987" cy="1896213"/>
          </a:xfrm>
          <a:prstGeom prst="arc">
            <a:avLst>
              <a:gd name="adj1" fmla="val 16200000"/>
              <a:gd name="adj2" fmla="val 5454584"/>
            </a:avLst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CA42D3B-A054-0948-6309-22003D3123D1}"/>
              </a:ext>
            </a:extLst>
          </p:cNvPr>
          <p:cNvGrpSpPr/>
          <p:nvPr/>
        </p:nvGrpSpPr>
        <p:grpSpPr>
          <a:xfrm rot="5400000" flipV="1">
            <a:off x="4994915" y="3052077"/>
            <a:ext cx="2434676" cy="623903"/>
            <a:chOff x="5900301" y="2150904"/>
            <a:chExt cx="2434676" cy="627833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AABDCD3-1E69-33B4-EAF4-DA76D25B201D}"/>
                </a:ext>
              </a:extLst>
            </p:cNvPr>
            <p:cNvSpPr/>
            <p:nvPr/>
          </p:nvSpPr>
          <p:spPr>
            <a:xfrm>
              <a:off x="8141383" y="2585143"/>
              <a:ext cx="193594" cy="193594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CD123B1-CB3E-6245-2DBC-EE0BFD2CE409}"/>
                </a:ext>
              </a:extLst>
            </p:cNvPr>
            <p:cNvCxnSpPr/>
            <p:nvPr/>
          </p:nvCxnSpPr>
          <p:spPr>
            <a:xfrm>
              <a:off x="5900301" y="2676684"/>
              <a:ext cx="2202982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267E46D-6D4E-0CB4-6B2A-242C832FE41B}"/>
                </a:ext>
              </a:extLst>
            </p:cNvPr>
            <p:cNvCxnSpPr>
              <a:cxnSpLocks/>
            </p:cNvCxnSpPr>
            <p:nvPr/>
          </p:nvCxnSpPr>
          <p:spPr>
            <a:xfrm>
              <a:off x="8232021" y="2150904"/>
              <a:ext cx="0" cy="434239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53F15448-3DBA-36C7-66E5-F2034BD56281}"/>
              </a:ext>
            </a:extLst>
          </p:cNvPr>
          <p:cNvSpPr/>
          <p:nvPr/>
        </p:nvSpPr>
        <p:spPr>
          <a:xfrm>
            <a:off x="8141383" y="2585143"/>
            <a:ext cx="193594" cy="193594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7141C9D-F37C-B1E4-D518-F28E92F59B2F}"/>
              </a:ext>
            </a:extLst>
          </p:cNvPr>
          <p:cNvCxnSpPr/>
          <p:nvPr/>
        </p:nvCxnSpPr>
        <p:spPr>
          <a:xfrm>
            <a:off x="5900301" y="2676684"/>
            <a:ext cx="2202982" cy="0"/>
          </a:xfrm>
          <a:prstGeom prst="line">
            <a:avLst/>
          </a:prstGeom>
          <a:ln w="254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743C00C-B968-8865-1745-61E4F0240117}"/>
              </a:ext>
            </a:extLst>
          </p:cNvPr>
          <p:cNvCxnSpPr>
            <a:cxnSpLocks/>
          </p:cNvCxnSpPr>
          <p:nvPr/>
        </p:nvCxnSpPr>
        <p:spPr>
          <a:xfrm>
            <a:off x="8232021" y="2150904"/>
            <a:ext cx="0" cy="434239"/>
          </a:xfrm>
          <a:prstGeom prst="line">
            <a:avLst/>
          </a:prstGeom>
          <a:ln w="254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0DAD00A3-8DCF-CDCA-9006-6C544E1E0C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942" y="2189023"/>
            <a:ext cx="736600" cy="368300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07B68F0-5B4D-5502-8DFC-B979894A11C2}"/>
              </a:ext>
            </a:extLst>
          </p:cNvPr>
          <p:cNvSpPr txBox="1"/>
          <p:nvPr/>
        </p:nvSpPr>
        <p:spPr>
          <a:xfrm rot="16200000">
            <a:off x="10616743" y="3766773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Contact counts</a:t>
            </a:r>
          </a:p>
        </p:txBody>
      </p:sp>
    </p:spTree>
    <p:extLst>
      <p:ext uri="{BB962C8B-B14F-4D97-AF65-F5344CB8AC3E}">
        <p14:creationId xmlns:p14="http://schemas.microsoft.com/office/powerpoint/2010/main" val="187126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B05F7-278B-CB43-9092-5566D667E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Hi-C pipeline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BE6E7-351F-5BC0-3F21-8888A1E051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FD23E-0EB5-9C47-B22B-CA4393D4D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47E85-F0ED-8944-97A4-9BFB9B12E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Hi-C</a:t>
            </a:r>
          </a:p>
        </p:txBody>
      </p:sp>
      <p:sp>
        <p:nvSpPr>
          <p:cNvPr id="11" name="Google Shape;114;p3">
            <a:extLst>
              <a:ext uri="{FF2B5EF4-FFF2-40B4-BE49-F238E27FC236}">
                <a16:creationId xmlns:a16="http://schemas.microsoft.com/office/drawing/2014/main" id="{7E40E3FB-295A-EED7-870D-383C0FEA4EDB}"/>
              </a:ext>
            </a:extLst>
          </p:cNvPr>
          <p:cNvSpPr txBox="1"/>
          <p:nvPr/>
        </p:nvSpPr>
        <p:spPr>
          <a:xfrm>
            <a:off x="1196533" y="1699861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>
                <a:sym typeface="Avenir"/>
              </a:rPr>
              <a:t>Create fastq</a:t>
            </a:r>
            <a:r>
              <a:rPr lang="en-US" dirty="0">
                <a:sym typeface="Avenir"/>
              </a:rPr>
              <a:t> files</a:t>
            </a:r>
            <a:endParaRPr dirty="0"/>
          </a:p>
        </p:txBody>
      </p:sp>
      <p:pic>
        <p:nvPicPr>
          <p:cNvPr id="12" name="Google Shape;126;p3">
            <a:extLst>
              <a:ext uri="{FF2B5EF4-FFF2-40B4-BE49-F238E27FC236}">
                <a16:creationId xmlns:a16="http://schemas.microsoft.com/office/drawing/2014/main" id="{B1736BC8-1C14-C14A-DBD3-E2AEC981D86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4958385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27;p3">
            <a:extLst>
              <a:ext uri="{FF2B5EF4-FFF2-40B4-BE49-F238E27FC236}">
                <a16:creationId xmlns:a16="http://schemas.microsoft.com/office/drawing/2014/main" id="{F3A44324-0D51-1A2A-EA55-D316944FBE2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3641934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28;p3">
            <a:extLst>
              <a:ext uri="{FF2B5EF4-FFF2-40B4-BE49-F238E27FC236}">
                <a16:creationId xmlns:a16="http://schemas.microsoft.com/office/drawing/2014/main" id="{9033D206-AE65-AD3B-96EE-E6629532B91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4300161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29;p3">
            <a:extLst>
              <a:ext uri="{FF2B5EF4-FFF2-40B4-BE49-F238E27FC236}">
                <a16:creationId xmlns:a16="http://schemas.microsoft.com/office/drawing/2014/main" id="{4677E878-99BF-1E7E-6E64-9948A382D0B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2983707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30;p3">
            <a:extLst>
              <a:ext uri="{FF2B5EF4-FFF2-40B4-BE49-F238E27FC236}">
                <a16:creationId xmlns:a16="http://schemas.microsoft.com/office/drawing/2014/main" id="{7C0D2ED8-BA0F-8DCA-D5C7-6121764DB18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2325480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32;p3">
            <a:extLst>
              <a:ext uri="{FF2B5EF4-FFF2-40B4-BE49-F238E27FC236}">
                <a16:creationId xmlns:a16="http://schemas.microsoft.com/office/drawing/2014/main" id="{6F657E3A-24F0-A722-DA5C-8CD2EC06FB3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1687746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33;p3">
            <a:extLst>
              <a:ext uri="{FF2B5EF4-FFF2-40B4-BE49-F238E27FC236}">
                <a16:creationId xmlns:a16="http://schemas.microsoft.com/office/drawing/2014/main" id="{0BD1A4EC-D23E-74CC-B16D-A92EDF3A8C3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1029519"/>
            <a:ext cx="739821" cy="38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14;p3">
            <a:extLst>
              <a:ext uri="{FF2B5EF4-FFF2-40B4-BE49-F238E27FC236}">
                <a16:creationId xmlns:a16="http://schemas.microsoft.com/office/drawing/2014/main" id="{C3560A06-65A0-5C86-48B3-83400234A87A}"/>
              </a:ext>
            </a:extLst>
          </p:cNvPr>
          <p:cNvSpPr txBox="1"/>
          <p:nvPr/>
        </p:nvSpPr>
        <p:spPr>
          <a:xfrm>
            <a:off x="1196533" y="1073137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Get .</a:t>
            </a:r>
            <a:r>
              <a:rPr lang="en-US" sz="1800" dirty="0" err="1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bcl</a:t>
            </a:r>
            <a:r>
              <a:rPr lang="en-US" sz="1800" dirty="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 files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0" name="Google Shape;115;p3">
            <a:extLst>
              <a:ext uri="{FF2B5EF4-FFF2-40B4-BE49-F238E27FC236}">
                <a16:creationId xmlns:a16="http://schemas.microsoft.com/office/drawing/2014/main" id="{C00DFBBB-70D2-8614-45F4-4495569DA401}"/>
              </a:ext>
            </a:extLst>
          </p:cNvPr>
          <p:cNvSpPr txBox="1"/>
          <p:nvPr/>
        </p:nvSpPr>
        <p:spPr>
          <a:xfrm>
            <a:off x="1196534" y="2344881"/>
            <a:ext cx="3909722" cy="38804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 dirty="0">
                <a:sym typeface="Avenir"/>
              </a:rPr>
              <a:t>QC: remove/trim low quality reads</a:t>
            </a:r>
            <a:endParaRPr dirty="0"/>
          </a:p>
        </p:txBody>
      </p:sp>
      <p:sp>
        <p:nvSpPr>
          <p:cNvPr id="21" name="Google Shape;116;p3">
            <a:extLst>
              <a:ext uri="{FF2B5EF4-FFF2-40B4-BE49-F238E27FC236}">
                <a16:creationId xmlns:a16="http://schemas.microsoft.com/office/drawing/2014/main" id="{A773A373-D549-F740-B7D7-465FA71F9071}"/>
              </a:ext>
            </a:extLst>
          </p:cNvPr>
          <p:cNvSpPr txBox="1"/>
          <p:nvPr/>
        </p:nvSpPr>
        <p:spPr>
          <a:xfrm>
            <a:off x="1196533" y="3006751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>
                <a:sym typeface="Avenir"/>
              </a:rPr>
              <a:t>Align fastq to BAM</a:t>
            </a:r>
            <a:endParaRPr/>
          </a:p>
        </p:txBody>
      </p:sp>
      <p:sp>
        <p:nvSpPr>
          <p:cNvPr id="22" name="Google Shape;117;p3">
            <a:extLst>
              <a:ext uri="{FF2B5EF4-FFF2-40B4-BE49-F238E27FC236}">
                <a16:creationId xmlns:a16="http://schemas.microsoft.com/office/drawing/2014/main" id="{F91D9383-926B-74B6-BE56-2E5080CAEC3E}"/>
              </a:ext>
            </a:extLst>
          </p:cNvPr>
          <p:cNvSpPr txBox="1"/>
          <p:nvPr/>
        </p:nvSpPr>
        <p:spPr>
          <a:xfrm>
            <a:off x="1196533" y="3668621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 dirty="0">
                <a:sym typeface="Avenir"/>
              </a:rPr>
              <a:t>Filter duplicates, artifacts, …</a:t>
            </a:r>
            <a:endParaRPr dirty="0"/>
          </a:p>
        </p:txBody>
      </p:sp>
      <p:sp>
        <p:nvSpPr>
          <p:cNvPr id="23" name="Google Shape;119;p3">
            <a:extLst>
              <a:ext uri="{FF2B5EF4-FFF2-40B4-BE49-F238E27FC236}">
                <a16:creationId xmlns:a16="http://schemas.microsoft.com/office/drawing/2014/main" id="{B98315C2-A01B-DD06-6658-DCE1592E1903}"/>
              </a:ext>
            </a:extLst>
          </p:cNvPr>
          <p:cNvSpPr txBox="1"/>
          <p:nvPr/>
        </p:nvSpPr>
        <p:spPr>
          <a:xfrm>
            <a:off x="1196533" y="4330491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 dirty="0">
                <a:sym typeface="Avenir"/>
              </a:rPr>
              <a:t>Generate tracks</a:t>
            </a:r>
            <a:endParaRPr dirty="0"/>
          </a:p>
        </p:txBody>
      </p:sp>
      <p:sp>
        <p:nvSpPr>
          <p:cNvPr id="24" name="Google Shape;120;p3">
            <a:extLst>
              <a:ext uri="{FF2B5EF4-FFF2-40B4-BE49-F238E27FC236}">
                <a16:creationId xmlns:a16="http://schemas.microsoft.com/office/drawing/2014/main" id="{9761893E-C6B4-DDE4-8EFA-4356BC35CB3F}"/>
              </a:ext>
            </a:extLst>
          </p:cNvPr>
          <p:cNvSpPr txBox="1"/>
          <p:nvPr/>
        </p:nvSpPr>
        <p:spPr>
          <a:xfrm>
            <a:off x="1196533" y="4992362"/>
            <a:ext cx="3909721" cy="3880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Assay-specific downstream analysis</a:t>
            </a:r>
            <a:endParaRPr dirty="0"/>
          </a:p>
        </p:txBody>
      </p:sp>
      <p:pic>
        <p:nvPicPr>
          <p:cNvPr id="30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494A94B7-6B10-A60F-281F-92B0BBB63D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945355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540671BB-7B9D-310B-DB39-BE9041051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1595804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E5A263DA-9F09-FE74-EB89-45D37C036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2236826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A5A3FE37-C853-FEC3-7213-EC221B4381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2896702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151AE37F-D8B2-C45F-6D60-38B3709F0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3547152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289280D9-26B6-5951-271C-CFA58C308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4220921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9646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B05F7-278B-CB43-9092-5566D667E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Hi-C pipeline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BE6E7-351F-5BC0-3F21-8888A1E051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FD23E-0EB5-9C47-B22B-CA4393D4D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47E85-F0ED-8944-97A4-9BFB9B12E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Hi-C</a:t>
            </a:r>
          </a:p>
        </p:txBody>
      </p:sp>
      <p:sp>
        <p:nvSpPr>
          <p:cNvPr id="11" name="Google Shape;114;p3">
            <a:extLst>
              <a:ext uri="{FF2B5EF4-FFF2-40B4-BE49-F238E27FC236}">
                <a16:creationId xmlns:a16="http://schemas.microsoft.com/office/drawing/2014/main" id="{7E40E3FB-295A-EED7-870D-383C0FEA4EDB}"/>
              </a:ext>
            </a:extLst>
          </p:cNvPr>
          <p:cNvSpPr txBox="1"/>
          <p:nvPr/>
        </p:nvSpPr>
        <p:spPr>
          <a:xfrm>
            <a:off x="1196533" y="1699861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>
                <a:sym typeface="Avenir"/>
              </a:rPr>
              <a:t>Create fastq</a:t>
            </a:r>
            <a:r>
              <a:rPr lang="en-US" dirty="0">
                <a:sym typeface="Avenir"/>
              </a:rPr>
              <a:t> files</a:t>
            </a:r>
            <a:endParaRPr dirty="0"/>
          </a:p>
        </p:txBody>
      </p:sp>
      <p:pic>
        <p:nvPicPr>
          <p:cNvPr id="12" name="Google Shape;126;p3">
            <a:extLst>
              <a:ext uri="{FF2B5EF4-FFF2-40B4-BE49-F238E27FC236}">
                <a16:creationId xmlns:a16="http://schemas.microsoft.com/office/drawing/2014/main" id="{B1736BC8-1C14-C14A-DBD3-E2AEC981D86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4958385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27;p3">
            <a:extLst>
              <a:ext uri="{FF2B5EF4-FFF2-40B4-BE49-F238E27FC236}">
                <a16:creationId xmlns:a16="http://schemas.microsoft.com/office/drawing/2014/main" id="{F3A44324-0D51-1A2A-EA55-D316944FBE2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3641934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28;p3">
            <a:extLst>
              <a:ext uri="{FF2B5EF4-FFF2-40B4-BE49-F238E27FC236}">
                <a16:creationId xmlns:a16="http://schemas.microsoft.com/office/drawing/2014/main" id="{9033D206-AE65-AD3B-96EE-E6629532B91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4300161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29;p3">
            <a:extLst>
              <a:ext uri="{FF2B5EF4-FFF2-40B4-BE49-F238E27FC236}">
                <a16:creationId xmlns:a16="http://schemas.microsoft.com/office/drawing/2014/main" id="{4677E878-99BF-1E7E-6E64-9948A382D0B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2983707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30;p3">
            <a:extLst>
              <a:ext uri="{FF2B5EF4-FFF2-40B4-BE49-F238E27FC236}">
                <a16:creationId xmlns:a16="http://schemas.microsoft.com/office/drawing/2014/main" id="{7C0D2ED8-BA0F-8DCA-D5C7-6121764DB18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2325480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32;p3">
            <a:extLst>
              <a:ext uri="{FF2B5EF4-FFF2-40B4-BE49-F238E27FC236}">
                <a16:creationId xmlns:a16="http://schemas.microsoft.com/office/drawing/2014/main" id="{6F657E3A-24F0-A722-DA5C-8CD2EC06FB3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1687746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33;p3">
            <a:extLst>
              <a:ext uri="{FF2B5EF4-FFF2-40B4-BE49-F238E27FC236}">
                <a16:creationId xmlns:a16="http://schemas.microsoft.com/office/drawing/2014/main" id="{0BD1A4EC-D23E-74CC-B16D-A92EDF3A8C3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1029519"/>
            <a:ext cx="739821" cy="38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14;p3">
            <a:extLst>
              <a:ext uri="{FF2B5EF4-FFF2-40B4-BE49-F238E27FC236}">
                <a16:creationId xmlns:a16="http://schemas.microsoft.com/office/drawing/2014/main" id="{C3560A06-65A0-5C86-48B3-83400234A87A}"/>
              </a:ext>
            </a:extLst>
          </p:cNvPr>
          <p:cNvSpPr txBox="1"/>
          <p:nvPr/>
        </p:nvSpPr>
        <p:spPr>
          <a:xfrm>
            <a:off x="1196533" y="1073137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Get .</a:t>
            </a:r>
            <a:r>
              <a:rPr lang="en-US" sz="1800" dirty="0" err="1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bcl</a:t>
            </a:r>
            <a:r>
              <a:rPr lang="en-US" sz="1800" dirty="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 files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0" name="Google Shape;115;p3">
            <a:extLst>
              <a:ext uri="{FF2B5EF4-FFF2-40B4-BE49-F238E27FC236}">
                <a16:creationId xmlns:a16="http://schemas.microsoft.com/office/drawing/2014/main" id="{C00DFBBB-70D2-8614-45F4-4495569DA401}"/>
              </a:ext>
            </a:extLst>
          </p:cNvPr>
          <p:cNvSpPr txBox="1"/>
          <p:nvPr/>
        </p:nvSpPr>
        <p:spPr>
          <a:xfrm>
            <a:off x="1196534" y="2344881"/>
            <a:ext cx="3909722" cy="38804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 dirty="0">
                <a:sym typeface="Avenir"/>
              </a:rPr>
              <a:t>QC: remove/trim low quality reads</a:t>
            </a:r>
            <a:endParaRPr dirty="0"/>
          </a:p>
        </p:txBody>
      </p:sp>
      <p:sp>
        <p:nvSpPr>
          <p:cNvPr id="21" name="Google Shape;116;p3">
            <a:extLst>
              <a:ext uri="{FF2B5EF4-FFF2-40B4-BE49-F238E27FC236}">
                <a16:creationId xmlns:a16="http://schemas.microsoft.com/office/drawing/2014/main" id="{A773A373-D549-F740-B7D7-465FA71F9071}"/>
              </a:ext>
            </a:extLst>
          </p:cNvPr>
          <p:cNvSpPr txBox="1"/>
          <p:nvPr/>
        </p:nvSpPr>
        <p:spPr>
          <a:xfrm>
            <a:off x="1196533" y="3006751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>
                <a:sym typeface="Avenir"/>
              </a:rPr>
              <a:t>Align fastq to BAM</a:t>
            </a:r>
            <a:endParaRPr/>
          </a:p>
        </p:txBody>
      </p:sp>
      <p:sp>
        <p:nvSpPr>
          <p:cNvPr id="22" name="Google Shape;117;p3">
            <a:extLst>
              <a:ext uri="{FF2B5EF4-FFF2-40B4-BE49-F238E27FC236}">
                <a16:creationId xmlns:a16="http://schemas.microsoft.com/office/drawing/2014/main" id="{F91D9383-926B-74B6-BE56-2E5080CAEC3E}"/>
              </a:ext>
            </a:extLst>
          </p:cNvPr>
          <p:cNvSpPr txBox="1"/>
          <p:nvPr/>
        </p:nvSpPr>
        <p:spPr>
          <a:xfrm>
            <a:off x="1196533" y="3668621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 dirty="0">
                <a:sym typeface="Avenir"/>
              </a:rPr>
              <a:t>Filter duplicates, artifacts, …</a:t>
            </a:r>
            <a:endParaRPr dirty="0"/>
          </a:p>
        </p:txBody>
      </p:sp>
      <p:sp>
        <p:nvSpPr>
          <p:cNvPr id="23" name="Google Shape;119;p3">
            <a:extLst>
              <a:ext uri="{FF2B5EF4-FFF2-40B4-BE49-F238E27FC236}">
                <a16:creationId xmlns:a16="http://schemas.microsoft.com/office/drawing/2014/main" id="{B98315C2-A01B-DD06-6658-DCE1592E1903}"/>
              </a:ext>
            </a:extLst>
          </p:cNvPr>
          <p:cNvSpPr txBox="1"/>
          <p:nvPr/>
        </p:nvSpPr>
        <p:spPr>
          <a:xfrm>
            <a:off x="1196533" y="4330491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 dirty="0">
                <a:sym typeface="Avenir"/>
              </a:rPr>
              <a:t>Generate tracks</a:t>
            </a:r>
            <a:endParaRPr dirty="0"/>
          </a:p>
        </p:txBody>
      </p:sp>
      <p:sp>
        <p:nvSpPr>
          <p:cNvPr id="24" name="Google Shape;120;p3">
            <a:extLst>
              <a:ext uri="{FF2B5EF4-FFF2-40B4-BE49-F238E27FC236}">
                <a16:creationId xmlns:a16="http://schemas.microsoft.com/office/drawing/2014/main" id="{9761893E-C6B4-DDE4-8EFA-4356BC35CB3F}"/>
              </a:ext>
            </a:extLst>
          </p:cNvPr>
          <p:cNvSpPr txBox="1"/>
          <p:nvPr/>
        </p:nvSpPr>
        <p:spPr>
          <a:xfrm>
            <a:off x="1196533" y="4992362"/>
            <a:ext cx="3909721" cy="3880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Assay-specific downstream analysis</a:t>
            </a:r>
            <a:endParaRPr dirty="0"/>
          </a:p>
        </p:txBody>
      </p:sp>
      <p:pic>
        <p:nvPicPr>
          <p:cNvPr id="30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494A94B7-6B10-A60F-281F-92B0BBB63D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945355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540671BB-7B9D-310B-DB39-BE9041051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1595804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E5A263DA-9F09-FE74-EB89-45D37C036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2236826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A5A3FE37-C853-FEC3-7213-EC221B4381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2896702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151AE37F-D8B2-C45F-6D60-38B3709F0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3547152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289280D9-26B6-5951-271C-CFA58C308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4220921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ross 6">
            <a:extLst>
              <a:ext uri="{FF2B5EF4-FFF2-40B4-BE49-F238E27FC236}">
                <a16:creationId xmlns:a16="http://schemas.microsoft.com/office/drawing/2014/main" id="{25C98EF7-F577-30AA-5DD6-B0F52ADC7BFB}"/>
              </a:ext>
            </a:extLst>
          </p:cNvPr>
          <p:cNvSpPr/>
          <p:nvPr/>
        </p:nvSpPr>
        <p:spPr>
          <a:xfrm rot="18900000">
            <a:off x="1608740" y="1299723"/>
            <a:ext cx="3277456" cy="3277456"/>
          </a:xfrm>
          <a:prstGeom prst="plus">
            <a:avLst>
              <a:gd name="adj" fmla="val 38793"/>
            </a:avLst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500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B05F7-278B-CB43-9092-5566D667E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Hi-C pipeline(s)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BE6E7-351F-5BC0-3F21-8888A1E051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5384027"/>
            <a:ext cx="4288156" cy="802640"/>
          </a:xfrm>
        </p:spPr>
        <p:txBody>
          <a:bodyPr>
            <a:normAutofit/>
          </a:bodyPr>
          <a:lstStyle/>
          <a:p>
            <a:r>
              <a:rPr lang="en-GB" dirty="0"/>
              <a:t>Servant et al., Genome Biol. 2015</a:t>
            </a:r>
          </a:p>
          <a:p>
            <a:r>
              <a:rPr lang="en-GB" dirty="0"/>
              <a:t>Ay &amp; Noble Genome </a:t>
            </a:r>
            <a:r>
              <a:rPr lang="en-GB" dirty="0" err="1"/>
              <a:t>Biol</a:t>
            </a:r>
            <a:r>
              <a:rPr lang="en-GB" dirty="0"/>
              <a:t> 2015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FD23E-0EB5-9C47-B22B-CA4393D4D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47E85-F0ED-8944-97A4-9BFB9B12E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Hi-C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8B9C76-15E1-2E24-09D6-FF4159021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9709" y="989257"/>
            <a:ext cx="3973382" cy="4879486"/>
          </a:xfrm>
          <a:prstGeom prst="rect">
            <a:avLst/>
          </a:prstGeom>
        </p:spPr>
      </p:pic>
      <p:pic>
        <p:nvPicPr>
          <p:cNvPr id="2050" name="Picture 2" descr="figure 3">
            <a:extLst>
              <a:ext uri="{FF2B5EF4-FFF2-40B4-BE49-F238E27FC236}">
                <a16:creationId xmlns:a16="http://schemas.microsoft.com/office/drawing/2014/main" id="{0A75B8A2-DAD2-87C6-2033-2C8C7D08AD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4188" y="1003996"/>
            <a:ext cx="3664450" cy="4850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4914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B05F7-278B-CB43-9092-5566D667E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Hi-C pipeline(s) – 2015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BE6E7-351F-5BC0-3F21-8888A1E051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5384027"/>
            <a:ext cx="4288156" cy="802640"/>
          </a:xfrm>
        </p:spPr>
        <p:txBody>
          <a:bodyPr>
            <a:normAutofit/>
          </a:bodyPr>
          <a:lstStyle/>
          <a:p>
            <a:r>
              <a:rPr lang="en-GB" dirty="0"/>
              <a:t>Servant et al., Genome Biol. 2015</a:t>
            </a:r>
          </a:p>
          <a:p>
            <a:r>
              <a:rPr lang="en-GB" dirty="0"/>
              <a:t>Ay &amp; Noble Genome </a:t>
            </a:r>
            <a:r>
              <a:rPr lang="en-GB" dirty="0" err="1"/>
              <a:t>Biol</a:t>
            </a:r>
            <a:r>
              <a:rPr lang="en-GB" dirty="0"/>
              <a:t> 2015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FD23E-0EB5-9C47-B22B-CA4393D4D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47E85-F0ED-8944-97A4-9BFB9B12E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Hi-C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CAA7D2-B615-B918-D680-5DA54F238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942990"/>
            <a:ext cx="7476744" cy="517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496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E124D-F352-2A34-1925-5EEC77E1B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155CE-45A8-C772-2088-D2C0D3B57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Hi-C processing steps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B396E-D94D-5319-EC81-F0956BCEF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609AF-5AB1-DCA1-EBF4-6BC27B981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Hi-C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EEFE623-EBF1-A0BB-9C50-3CB6364C61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444" y="2266069"/>
            <a:ext cx="11421112" cy="2325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3891CE4-754A-E839-5C2D-8950F37669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010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74B83-F5DF-42EB-0799-D3758A7E6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02B9F-3EAA-AD50-ECB4-616810026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Open2C collective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3A372-AE49-CEA6-D3E8-EDD2A9879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15AD6-E6A3-8937-8065-08D8A75AF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Hi-C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BCA6F01-DD2F-A4A8-52BB-733FDA2C0C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https://github.com/open2c/</a:t>
            </a:r>
            <a:r>
              <a:rPr lang="en-US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D294F2-4BA1-3CF4-C466-E35C306A2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1164" y="1211753"/>
            <a:ext cx="4609672" cy="4434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5144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1AF68-1E8A-5CD1-0F8E-947BE39CE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68805-84C7-7476-BF94-4CB545F51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Pairtools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B719-04CB-1A22-53BD-E020D0769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0E9EF-5EF5-76D3-D86A-B5FC2E815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Hi-C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A20153F-00C2-9065-7E2D-7CD28600F4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https://pairtools.readthedocs.io/en/latest/</a:t>
            </a:r>
            <a:r>
              <a:rPr lang="en-US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ADF4EA-C69B-DFF1-D1B3-4FD4309BB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85" y="1910993"/>
            <a:ext cx="10716230" cy="3036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957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B339B-0807-BB6F-E6B0-80710D440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6825F-CEE8-11D1-F078-E5627E4D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Pairtools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194BF-554C-69C9-9897-BFF4A2A5B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8C1D4-7F21-0190-789F-E401D3C20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Hi-C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C32FF7F-3F86-C30B-4CCE-C3F30B80C6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https://pairtools.readthedocs.io/en/latest/</a:t>
            </a: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525870-2A6E-01CE-0903-1BA8F868D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527" y="2219219"/>
            <a:ext cx="10476946" cy="241956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2472750-5D97-18E2-EC20-C4C10ED05FF0}"/>
              </a:ext>
            </a:extLst>
          </p:cNvPr>
          <p:cNvSpPr/>
          <p:nvPr/>
        </p:nvSpPr>
        <p:spPr>
          <a:xfrm>
            <a:off x="698643" y="2219219"/>
            <a:ext cx="657546" cy="4828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526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AFEE1-617B-9FF9-65E8-B2246BB8D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DAAA7-8561-A1D3-0FE7-CA2997F28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Cooler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CBA60-CFE2-1709-78AE-842D2C4FC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B8BF3-6E29-1216-7020-E4444CE7B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Hi-C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9231501-495D-7E4C-6BC8-57EFCDBB98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5872025"/>
            <a:ext cx="4288156" cy="314642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https://cooler.readthedocs.io/en/latest/</a:t>
            </a:r>
            <a:r>
              <a:rPr lang="en-US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6D7913-0F0A-5862-2D60-783BFEE96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656" y="1212351"/>
            <a:ext cx="3182688" cy="4433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0263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D93D9-7D05-2771-E79D-A386161B9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E63EF-55A2-8B35-416D-591C7ACF0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Cooler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178DE-70B9-C1DF-C9BF-F1C5FC6FE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54EFF-6897-A741-DED0-05048A0F7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Hi-C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75903D-43C5-058B-6C40-5ACAB92725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5872025"/>
            <a:ext cx="4288156" cy="314642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https://cooler.readthedocs.io/en/latest/</a:t>
            </a: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F90E0E-A63B-1647-72F9-09FF55BBC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861" y="1044389"/>
            <a:ext cx="6356278" cy="476922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2916E6B-0438-503A-571F-13A38C077712}"/>
              </a:ext>
            </a:extLst>
          </p:cNvPr>
          <p:cNvSpPr/>
          <p:nvPr/>
        </p:nvSpPr>
        <p:spPr>
          <a:xfrm>
            <a:off x="2738797" y="985975"/>
            <a:ext cx="657546" cy="4828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37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0A4B2-8C5B-B260-DE69-921D3379A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53905-62D7-7EFB-2D1C-F5558D2E3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Hi-C </a:t>
            </a:r>
            <a:r>
              <a:rPr lang="en-US"/>
              <a:t>data in 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2B7BD-E4AA-B34A-FDA8-9CEFDF692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76E29-37FE-9568-FBDC-D27E55419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Hi-C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BA6CF03-28F7-97AF-5770-1C5B68E21C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5872025"/>
            <a:ext cx="4288156" cy="314642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https://www.nature.com/articles/s41467-024-44761-x</a:t>
            </a:r>
            <a:r>
              <a:rPr lang="en-US" dirty="0"/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AD08E6-0388-9CCD-1F67-11232C7D30A0}"/>
              </a:ext>
            </a:extLst>
          </p:cNvPr>
          <p:cNvSpPr/>
          <p:nvPr/>
        </p:nvSpPr>
        <p:spPr>
          <a:xfrm>
            <a:off x="2738797" y="985975"/>
            <a:ext cx="657546" cy="4828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A56F5D-10AC-26B4-AF55-D848469AD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414" y="984850"/>
            <a:ext cx="7772400" cy="33635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D5790E-309C-A799-D9CF-76BBF78F64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384" y="1034620"/>
            <a:ext cx="1806030" cy="4655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1406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1A3C5-B926-29ED-91EA-71FF03913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9A277-6195-A504-4784-BFAABD692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Granges </a:t>
            </a:r>
            <a:r>
              <a:rPr lang="en-US"/>
              <a:t>vs </a:t>
            </a:r>
            <a:r>
              <a:rPr lang="en-US" dirty="0" err="1"/>
              <a:t>GInteractions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F2FDD-37C1-96C6-DBC0-E6B8BFE82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1EC23-FB4E-B751-ECA1-8E9BAB05E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Hi-C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5AFB8D-EB47-52E6-257D-845C3D66241F}"/>
              </a:ext>
            </a:extLst>
          </p:cNvPr>
          <p:cNvSpPr/>
          <p:nvPr/>
        </p:nvSpPr>
        <p:spPr>
          <a:xfrm>
            <a:off x="2738797" y="985975"/>
            <a:ext cx="657546" cy="4828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AF37963-F583-E608-8657-B0AB5C376E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5499D71-FD3C-12F9-9E94-1A67ABB066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87425"/>
            <a:ext cx="12192000" cy="488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35457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451EA-CC7A-D7E7-CC07-570BFBBB7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0780C-530C-20FB-6B50-3B14A103E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Granges </a:t>
            </a:r>
            <a:r>
              <a:rPr lang="en-US"/>
              <a:t>vs </a:t>
            </a:r>
            <a:r>
              <a:rPr lang="en-US" dirty="0" err="1"/>
              <a:t>GInteractions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39FFF-52B3-317D-1422-FDFE24C19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51792-CF95-B92E-F7A4-ED93E5484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Hi-C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7E785A-F49D-2B52-50C6-CD4B95E2A220}"/>
              </a:ext>
            </a:extLst>
          </p:cNvPr>
          <p:cNvSpPr/>
          <p:nvPr/>
        </p:nvSpPr>
        <p:spPr>
          <a:xfrm>
            <a:off x="2738797" y="985975"/>
            <a:ext cx="657546" cy="4828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56000E0-7E18-4C9A-94D3-538B4D6911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D9EE828-A9E0-B156-0ACA-FF7B47A22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28750"/>
            <a:ext cx="12192000" cy="3998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46184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31D88-2AC7-4D13-0E1D-B89C80FFA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5EDF9-5198-2329-A844-47F1CD6E7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Hi-C files in 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96EFD-3E50-1485-D0D0-D1755AEF5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3D6FD-A255-E662-1947-899490A07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Hi-C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671C87-6A65-C879-16F5-6DC819B2290D}"/>
              </a:ext>
            </a:extLst>
          </p:cNvPr>
          <p:cNvSpPr/>
          <p:nvPr/>
        </p:nvSpPr>
        <p:spPr>
          <a:xfrm>
            <a:off x="2738797" y="985975"/>
            <a:ext cx="657546" cy="4828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F55BBCA-3775-A51F-4225-09CACFB4F4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67E9A679-07DC-BCA6-BA65-A0F39CEB95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9347" y="1126364"/>
            <a:ext cx="5553306" cy="4902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191639"/>
      </p:ext>
    </p:extLst>
  </p:cSld>
  <p:clrMapOvr>
    <a:masterClrMapping/>
  </p:clrMapOvr>
</p:sld>
</file>

<file path=ppt/theme/theme1.xml><?xml version="1.0" encoding="utf-8"?>
<a:theme xmlns:a="http://schemas.openxmlformats.org/drawingml/2006/main" name="PasteurIbens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54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asteurIbens" id="{082BC117-FEE3-ED4F-B66F-EAD8503ADF60}" vid="{75DD1838-2F74-B64C-8F9C-677C1FFB48A5}"/>
    </a:ext>
  </a:extLst>
</a:theme>
</file>

<file path=ppt/theme/theme2.xml><?xml version="1.0" encoding="utf-8"?>
<a:theme xmlns:a="http://schemas.openxmlformats.org/drawingml/2006/main" name="Physalia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54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hysalia" id="{69934CF8-A18F-7247-8F23-6766B46F796C}" vid="{9CED6D7E-FF7E-C647-8158-BDC011F06FE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PasteurIbens</Template>
  <TotalTime>2754</TotalTime>
  <Words>359</Words>
  <Application>Microsoft Macintosh PowerPoint</Application>
  <PresentationFormat>Widescreen</PresentationFormat>
  <Paragraphs>101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Arial</vt:lpstr>
      <vt:lpstr>Avenir</vt:lpstr>
      <vt:lpstr>Calibri</vt:lpstr>
      <vt:lpstr>Comfortaa</vt:lpstr>
      <vt:lpstr>Courier New</vt:lpstr>
      <vt:lpstr>Menlo</vt:lpstr>
      <vt:lpstr>Open Sans</vt:lpstr>
      <vt:lpstr>Wingdings</vt:lpstr>
      <vt:lpstr>PasteurIbens</vt:lpstr>
      <vt:lpstr>Physalia</vt:lpstr>
      <vt:lpstr>Hi-C processing</vt:lpstr>
      <vt:lpstr>Hi-C experimental workflow</vt:lpstr>
      <vt:lpstr>Hi-C computational workflow</vt:lpstr>
      <vt:lpstr>Hi-C computational workflow</vt:lpstr>
      <vt:lpstr>Hi-C computational workflow</vt:lpstr>
      <vt:lpstr>Hi-C computational workflow</vt:lpstr>
      <vt:lpstr>Hi-C computational workflow</vt:lpstr>
      <vt:lpstr>Hi-C computational workflow</vt:lpstr>
      <vt:lpstr>Hi-C pipeline</vt:lpstr>
      <vt:lpstr>Hi-C pipeline</vt:lpstr>
      <vt:lpstr>Hi-C pipeline(s)</vt:lpstr>
      <vt:lpstr>Hi-C pipeline(s) – 2015</vt:lpstr>
      <vt:lpstr>Common Hi-C processing steps</vt:lpstr>
      <vt:lpstr>Open2C collective</vt:lpstr>
      <vt:lpstr>Pairtools</vt:lpstr>
      <vt:lpstr>Pairtools</vt:lpstr>
      <vt:lpstr>Cooler</vt:lpstr>
      <vt:lpstr>Cooler</vt:lpstr>
      <vt:lpstr>Handling Hi-C data in R</vt:lpstr>
      <vt:lpstr>Granges vs GInteractions</vt:lpstr>
      <vt:lpstr>Granges vs GInteractions</vt:lpstr>
      <vt:lpstr>Handling Hi-C files in 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Jacques  SERIZAY</dc:creator>
  <cp:lastModifiedBy>Jacques Serizay</cp:lastModifiedBy>
  <cp:revision>214</cp:revision>
  <dcterms:created xsi:type="dcterms:W3CDTF">2023-06-26T07:22:32Z</dcterms:created>
  <dcterms:modified xsi:type="dcterms:W3CDTF">2025-04-12T19:31:47Z</dcterms:modified>
</cp:coreProperties>
</file>