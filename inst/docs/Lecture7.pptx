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6"/>
  </p:notesMasterIdLst>
  <p:sldIdLst>
    <p:sldId id="256" r:id="rId3"/>
    <p:sldId id="307" r:id="rId4"/>
    <p:sldId id="333" r:id="rId5"/>
    <p:sldId id="334" r:id="rId6"/>
    <p:sldId id="336" r:id="rId7"/>
    <p:sldId id="335" r:id="rId8"/>
    <p:sldId id="337" r:id="rId9"/>
    <p:sldId id="338" r:id="rId10"/>
    <p:sldId id="350" r:id="rId11"/>
    <p:sldId id="331" r:id="rId12"/>
    <p:sldId id="330" r:id="rId13"/>
    <p:sldId id="332" r:id="rId14"/>
    <p:sldId id="339" r:id="rId15"/>
    <p:sldId id="346" r:id="rId16"/>
    <p:sldId id="340" r:id="rId17"/>
    <p:sldId id="341" r:id="rId18"/>
    <p:sldId id="343" r:id="rId19"/>
    <p:sldId id="342" r:id="rId20"/>
    <p:sldId id="344" r:id="rId21"/>
    <p:sldId id="345" r:id="rId22"/>
    <p:sldId id="347" r:id="rId23"/>
    <p:sldId id="348" r:id="rId24"/>
    <p:sldId id="34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18"/>
    <p:restoredTop sz="96327"/>
  </p:normalViewPr>
  <p:slideViewPr>
    <p:cSldViewPr snapToGrid="0">
      <p:cViewPr>
        <p:scale>
          <a:sx n="143" d="100"/>
          <a:sy n="143" d="100"/>
        </p:scale>
        <p:origin x="-6920" y="-2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open2c/" TargetMode="Externa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airtools.readthedocs.io/en/latest/" TargetMode="Externa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airtools.readthedocs.io/en/latest/" TargetMode="Externa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cooler.readthedocs.io/en/latest/" TargetMode="Externa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cooler.readthedocs.io/en/latest/" TargetMode="Externa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nature.com/articles/s41467-024-44761-x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Hi-C processing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dirty="0" err="1"/>
              <a:t>Physalia</a:t>
            </a:r>
            <a:r>
              <a:rPr lang="en-US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experimental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Belton et al., Methods 2012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F8B24F-4033-4B56-9D26-C4A4E1123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16" y="1175817"/>
            <a:ext cx="6479568" cy="450636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94DCBB9-98E5-79F7-EE01-36D4C0E94BC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A9BEE8-DB85-6D33-797C-5046DFCFCA31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Read pairs missing an alignment on one or both sides">
            <a:extLst>
              <a:ext uri="{FF2B5EF4-FFF2-40B4-BE49-F238E27FC236}">
                <a16:creationId xmlns:a16="http://schemas.microsoft.com/office/drawing/2014/main" id="{B432CC29-F52E-B503-7FF1-C072245D76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08"/>
          <a:stretch/>
        </p:blipFill>
        <p:spPr bwMode="auto">
          <a:xfrm>
            <a:off x="4042881" y="4164541"/>
            <a:ext cx="4376791" cy="1628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3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C2B9D8E5-6680-67CE-768A-F91D00E996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3970961" y="1064592"/>
            <a:ext cx="4250077" cy="221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8C9898B-51A0-274E-3CA8-46C353C29C72}"/>
              </a:ext>
            </a:extLst>
          </p:cNvPr>
          <p:cNvSpPr/>
          <p:nvPr/>
        </p:nvSpPr>
        <p:spPr>
          <a:xfrm>
            <a:off x="7726166" y="2968186"/>
            <a:ext cx="693506" cy="6038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9F633-0162-7E26-6779-557E78A6D0D3}"/>
              </a:ext>
            </a:extLst>
          </p:cNvPr>
          <p:cNvSpPr/>
          <p:nvPr/>
        </p:nvSpPr>
        <p:spPr>
          <a:xfrm>
            <a:off x="7527532" y="5465331"/>
            <a:ext cx="693506" cy="6038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89FFA5-A975-714D-2AF8-3CE08B24C7C5}"/>
              </a:ext>
            </a:extLst>
          </p:cNvPr>
          <p:cNvSpPr txBox="1"/>
          <p:nvPr/>
        </p:nvSpPr>
        <p:spPr>
          <a:xfrm>
            <a:off x="3563263" y="1616148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1564C3-FC57-099F-2F8A-3124AB4EACB4}"/>
              </a:ext>
            </a:extLst>
          </p:cNvPr>
          <p:cNvSpPr txBox="1"/>
          <p:nvPr/>
        </p:nvSpPr>
        <p:spPr>
          <a:xfrm>
            <a:off x="8092733" y="1616148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A50F43-9FC2-CFF7-1D73-57CD38A18C8B}"/>
              </a:ext>
            </a:extLst>
          </p:cNvPr>
          <p:cNvSpPr/>
          <p:nvPr/>
        </p:nvSpPr>
        <p:spPr>
          <a:xfrm>
            <a:off x="4042881" y="928577"/>
            <a:ext cx="1968059" cy="24100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27CD1-CE80-0771-7341-01E0F342722F}"/>
              </a:ext>
            </a:extLst>
          </p:cNvPr>
          <p:cNvSpPr/>
          <p:nvPr/>
        </p:nvSpPr>
        <p:spPr>
          <a:xfrm>
            <a:off x="6034714" y="928577"/>
            <a:ext cx="2124002" cy="241004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81448C-6225-59D1-A561-C9BDE30DB6F8}"/>
              </a:ext>
            </a:extLst>
          </p:cNvPr>
          <p:cNvCxnSpPr>
            <a:cxnSpLocks/>
          </p:cNvCxnSpPr>
          <p:nvPr/>
        </p:nvCxnSpPr>
        <p:spPr>
          <a:xfrm>
            <a:off x="6018028" y="802640"/>
            <a:ext cx="0" cy="544151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29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49" y="210509"/>
            <a:ext cx="12192000" cy="802640"/>
          </a:xfrm>
        </p:spPr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6AAC26-1E81-8C7B-87D1-1FDE4ECABB70}"/>
              </a:ext>
            </a:extLst>
          </p:cNvPr>
          <p:cNvSpPr/>
          <p:nvPr/>
        </p:nvSpPr>
        <p:spPr>
          <a:xfrm>
            <a:off x="1973525" y="1927476"/>
            <a:ext cx="6466584" cy="5920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F83059-B5A5-95A4-0244-5ED430BEA3E7}"/>
              </a:ext>
            </a:extLst>
          </p:cNvPr>
          <p:cNvSpPr/>
          <p:nvPr/>
        </p:nvSpPr>
        <p:spPr>
          <a:xfrm>
            <a:off x="782831" y="4706965"/>
            <a:ext cx="4499864" cy="69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E46F0E-3202-83E3-4F62-A71FC0D9AA7D}"/>
              </a:ext>
            </a:extLst>
          </p:cNvPr>
          <p:cNvSpPr/>
          <p:nvPr/>
        </p:nvSpPr>
        <p:spPr>
          <a:xfrm>
            <a:off x="4628627" y="4706965"/>
            <a:ext cx="4147511" cy="698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6DAA81-71DD-605F-6CD1-C992860FAD10}"/>
              </a:ext>
            </a:extLst>
          </p:cNvPr>
          <p:cNvSpPr/>
          <p:nvPr/>
        </p:nvSpPr>
        <p:spPr>
          <a:xfrm>
            <a:off x="6216605" y="2522139"/>
            <a:ext cx="368303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5610FE-F6DC-93A0-52D2-897A9E6065C2}"/>
              </a:ext>
            </a:extLst>
          </p:cNvPr>
          <p:cNvSpPr/>
          <p:nvPr/>
        </p:nvSpPr>
        <p:spPr>
          <a:xfrm>
            <a:off x="6216605" y="2530522"/>
            <a:ext cx="368303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6C1FA0-DEE1-7ACE-B9C7-2736AEB76BE1}"/>
              </a:ext>
            </a:extLst>
          </p:cNvPr>
          <p:cNvSpPr/>
          <p:nvPr/>
        </p:nvSpPr>
        <p:spPr>
          <a:xfrm>
            <a:off x="7187845" y="4662937"/>
            <a:ext cx="1786751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DDD44-AC8E-AEC8-171C-32E9BAF2F347}"/>
              </a:ext>
            </a:extLst>
          </p:cNvPr>
          <p:cNvSpPr/>
          <p:nvPr/>
        </p:nvSpPr>
        <p:spPr>
          <a:xfrm>
            <a:off x="667709" y="4650004"/>
            <a:ext cx="1786751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461A73-FF56-0BC1-D70C-7AD1E60C53DF}"/>
              </a:ext>
            </a:extLst>
          </p:cNvPr>
          <p:cNvSpPr txBox="1"/>
          <p:nvPr/>
        </p:nvSpPr>
        <p:spPr>
          <a:xfrm>
            <a:off x="578338" y="429846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 (50bp)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AFA3D-A90D-2D05-509E-824314E4B329}"/>
              </a:ext>
            </a:extLst>
          </p:cNvPr>
          <p:cNvSpPr txBox="1"/>
          <p:nvPr/>
        </p:nvSpPr>
        <p:spPr>
          <a:xfrm>
            <a:off x="7072923" y="431409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R2 </a:t>
            </a:r>
            <a:r>
              <a:rPr lang="en-US" dirty="0"/>
              <a:t>(</a:t>
            </a:r>
            <a:r>
              <a:rPr lang="en-US"/>
              <a:t>50bp)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C8CAD-1C99-9F57-E082-2FBC29156CCA}"/>
              </a:ext>
            </a:extLst>
          </p:cNvPr>
          <p:cNvSpPr/>
          <p:nvPr/>
        </p:nvSpPr>
        <p:spPr>
          <a:xfrm>
            <a:off x="2047631" y="5293119"/>
            <a:ext cx="3235064" cy="6983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59E257-AE6D-1D83-918B-B062B9EB18D5}"/>
              </a:ext>
            </a:extLst>
          </p:cNvPr>
          <p:cNvSpPr/>
          <p:nvPr/>
        </p:nvSpPr>
        <p:spPr>
          <a:xfrm>
            <a:off x="4628627" y="5293119"/>
            <a:ext cx="4147511" cy="698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1F7724-E9AC-5B22-AF69-06FFD20CDAF5}"/>
              </a:ext>
            </a:extLst>
          </p:cNvPr>
          <p:cNvSpPr/>
          <p:nvPr/>
        </p:nvSpPr>
        <p:spPr>
          <a:xfrm>
            <a:off x="7187845" y="5249091"/>
            <a:ext cx="1786751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EC6928-FC56-4FCA-E2B9-30F853D10641}"/>
              </a:ext>
            </a:extLst>
          </p:cNvPr>
          <p:cNvSpPr/>
          <p:nvPr/>
        </p:nvSpPr>
        <p:spPr>
          <a:xfrm>
            <a:off x="2168430" y="1839716"/>
            <a:ext cx="1239245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DBBA40-DBC0-430E-258A-FEBE917CE3C4}"/>
              </a:ext>
            </a:extLst>
          </p:cNvPr>
          <p:cNvSpPr/>
          <p:nvPr/>
        </p:nvSpPr>
        <p:spPr>
          <a:xfrm>
            <a:off x="7803774" y="1855235"/>
            <a:ext cx="554892" cy="196693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713951-5AA3-8FC4-087E-32B5F020307B}"/>
              </a:ext>
            </a:extLst>
          </p:cNvPr>
          <p:cNvSpPr txBox="1"/>
          <p:nvPr/>
        </p:nvSpPr>
        <p:spPr>
          <a:xfrm>
            <a:off x="2047631" y="144190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 (50bp)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9FD76F2-33D8-41B6-1268-12BB9733E180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407675" y="1873117"/>
            <a:ext cx="4396099" cy="5847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D2EB53A-AA94-BF55-818A-7AA0A2009B99}"/>
              </a:ext>
            </a:extLst>
          </p:cNvPr>
          <p:cNvSpPr/>
          <p:nvPr/>
        </p:nvSpPr>
        <p:spPr>
          <a:xfrm>
            <a:off x="661499" y="5233968"/>
            <a:ext cx="1239245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D9942C-6056-39B0-688A-87D5E70A2C35}"/>
              </a:ext>
            </a:extLst>
          </p:cNvPr>
          <p:cNvSpPr/>
          <p:nvPr/>
        </p:nvSpPr>
        <p:spPr>
          <a:xfrm>
            <a:off x="1890984" y="5234857"/>
            <a:ext cx="554892" cy="196693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646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21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4EE40A-3792-C816-B11B-E1EAC8A60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CE3CA39-F993-1FF3-0358-1A18127B4D79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6B25-A328-736F-8754-BCB99857388B}"/>
              </a:ext>
            </a:extLst>
          </p:cNvPr>
          <p:cNvCxnSpPr/>
          <p:nvPr/>
        </p:nvCxnSpPr>
        <p:spPr>
          <a:xfrm flipV="1">
            <a:off x="6241497" y="5734913"/>
            <a:ext cx="191164" cy="22621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9455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ABDCD3-1E69-33B4-EAF4-DA76D25B201D}"/>
              </a:ext>
            </a:extLst>
          </p:cNvPr>
          <p:cNvSpPr/>
          <p:nvPr/>
        </p:nvSpPr>
        <p:spPr>
          <a:xfrm>
            <a:off x="8141383" y="2585143"/>
            <a:ext cx="193594" cy="19359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D123B1-CB3E-6245-2DBC-EE0BFD2CE409}"/>
              </a:ext>
            </a:extLst>
          </p:cNvPr>
          <p:cNvCxnSpPr/>
          <p:nvPr/>
        </p:nvCxnSpPr>
        <p:spPr>
          <a:xfrm>
            <a:off x="5900301" y="2676684"/>
            <a:ext cx="2202982" cy="0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67E46D-6D4E-0CB4-6B2A-242C832FE41B}"/>
              </a:ext>
            </a:extLst>
          </p:cNvPr>
          <p:cNvCxnSpPr>
            <a:cxnSpLocks/>
          </p:cNvCxnSpPr>
          <p:nvPr/>
        </p:nvCxnSpPr>
        <p:spPr>
          <a:xfrm>
            <a:off x="8232021" y="2150904"/>
            <a:ext cx="0" cy="43423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87EA1509-B553-A3CE-BE2A-FA7F1EC97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D270BC-5A5E-32A1-6ECA-C48CB46E2B99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</p:spTree>
    <p:extLst>
      <p:ext uri="{BB962C8B-B14F-4D97-AF65-F5344CB8AC3E}">
        <p14:creationId xmlns:p14="http://schemas.microsoft.com/office/powerpoint/2010/main" val="589861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CA42D3B-A054-0948-6309-22003D3123D1}"/>
              </a:ext>
            </a:extLst>
          </p:cNvPr>
          <p:cNvGrpSpPr/>
          <p:nvPr/>
        </p:nvGrpSpPr>
        <p:grpSpPr>
          <a:xfrm rot="5400000" flipV="1">
            <a:off x="4994915" y="3052077"/>
            <a:ext cx="2434676" cy="623903"/>
            <a:chOff x="5900301" y="2150904"/>
            <a:chExt cx="2434676" cy="627833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AABDCD3-1E69-33B4-EAF4-DA76D25B201D}"/>
                </a:ext>
              </a:extLst>
            </p:cNvPr>
            <p:cNvSpPr/>
            <p:nvPr/>
          </p:nvSpPr>
          <p:spPr>
            <a:xfrm>
              <a:off x="8141383" y="2585143"/>
              <a:ext cx="193594" cy="193594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CD123B1-CB3E-6245-2DBC-EE0BFD2CE409}"/>
                </a:ext>
              </a:extLst>
            </p:cNvPr>
            <p:cNvCxnSpPr/>
            <p:nvPr/>
          </p:nvCxnSpPr>
          <p:spPr>
            <a:xfrm>
              <a:off x="5900301" y="2676684"/>
              <a:ext cx="2202982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267E46D-6D4E-0CB4-6B2A-242C832FE41B}"/>
                </a:ext>
              </a:extLst>
            </p:cNvPr>
            <p:cNvCxnSpPr>
              <a:cxnSpLocks/>
            </p:cNvCxnSpPr>
            <p:nvPr/>
          </p:nvCxnSpPr>
          <p:spPr>
            <a:xfrm>
              <a:off x="8232021" y="2150904"/>
              <a:ext cx="0" cy="43423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53F15448-3DBA-36C7-66E5-F2034BD56281}"/>
              </a:ext>
            </a:extLst>
          </p:cNvPr>
          <p:cNvSpPr/>
          <p:nvPr/>
        </p:nvSpPr>
        <p:spPr>
          <a:xfrm>
            <a:off x="8141383" y="2585143"/>
            <a:ext cx="193594" cy="19359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141C9D-F37C-B1E4-D518-F28E92F59B2F}"/>
              </a:ext>
            </a:extLst>
          </p:cNvPr>
          <p:cNvCxnSpPr/>
          <p:nvPr/>
        </p:nvCxnSpPr>
        <p:spPr>
          <a:xfrm>
            <a:off x="5900301" y="2676684"/>
            <a:ext cx="2202982" cy="0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743C00C-B968-8865-1745-61E4F0240117}"/>
              </a:ext>
            </a:extLst>
          </p:cNvPr>
          <p:cNvCxnSpPr>
            <a:cxnSpLocks/>
          </p:cNvCxnSpPr>
          <p:nvPr/>
        </p:nvCxnSpPr>
        <p:spPr>
          <a:xfrm>
            <a:off x="8232021" y="2150904"/>
            <a:ext cx="0" cy="43423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0DAD00A3-8DCF-CDCA-9006-6C544E1E0C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07B68F0-5B4D-5502-8DFC-B979894A11C2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</p:spTree>
    <p:extLst>
      <p:ext uri="{BB962C8B-B14F-4D97-AF65-F5344CB8AC3E}">
        <p14:creationId xmlns:p14="http://schemas.microsoft.com/office/powerpoint/2010/main" val="187126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ABDA9-3B97-AB47-8B78-110B9B00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BC399-4F73-9AB7-6D9E-495B24424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81FC5-A996-D012-493D-336C033CF8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D7161-CA20-DD1B-7638-8382E6689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7D231-307A-534A-9139-ED7BB2396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B73C4B-EB8C-4122-E838-B702E2F06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644DAF5-E728-027E-62DF-ACCB56478D04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7FBE10-11AA-2442-C2B2-71A7C1785168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4363113-A0DD-7895-543C-65DF638EE8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8DAC9AC-F499-6172-08E0-53102B7259F6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289B83D1-1AB0-1BCF-156C-609DFBCB8C1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1E3A1D5-0ECC-A76E-91A0-C0FE11313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0524" y="2167758"/>
            <a:ext cx="736600" cy="368300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6ADB21E-13A9-B333-226A-379D758ECC97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31EAD9-9F1C-71A9-D7F5-63ACB92093B2}"/>
              </a:ext>
            </a:extLst>
          </p:cNvPr>
          <p:cNvSpPr/>
          <p:nvPr/>
        </p:nvSpPr>
        <p:spPr>
          <a:xfrm>
            <a:off x="4975909" y="4009259"/>
            <a:ext cx="6015633" cy="26538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67152850-C94A-CE67-4F24-2817400432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 b="26267"/>
          <a:stretch/>
        </p:blipFill>
        <p:spPr bwMode="auto">
          <a:xfrm flipV="1">
            <a:off x="5020592" y="4009258"/>
            <a:ext cx="5399316" cy="35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Arc 25">
            <a:extLst>
              <a:ext uri="{FF2B5EF4-FFF2-40B4-BE49-F238E27FC236}">
                <a16:creationId xmlns:a16="http://schemas.microsoft.com/office/drawing/2014/main" id="{AAFCA201-A635-CD6E-05F2-1A617252D71C}"/>
              </a:ext>
            </a:extLst>
          </p:cNvPr>
          <p:cNvSpPr/>
          <p:nvPr/>
        </p:nvSpPr>
        <p:spPr>
          <a:xfrm rot="16200000" flipH="1">
            <a:off x="6785922" y="3110091"/>
            <a:ext cx="802638" cy="2609267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852C39-6856-82AE-8C72-A7A3A34A51DE}"/>
              </a:ext>
            </a:extLst>
          </p:cNvPr>
          <p:cNvCxnSpPr>
            <a:cxnSpLocks/>
            <a:endCxn id="33" idx="3"/>
          </p:cNvCxnSpPr>
          <p:nvPr/>
        </p:nvCxnSpPr>
        <p:spPr>
          <a:xfrm flipV="1">
            <a:off x="8331904" y="3423942"/>
            <a:ext cx="561288" cy="564248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E414420-575D-6F2F-85D5-E38A8A56C846}"/>
              </a:ext>
            </a:extLst>
          </p:cNvPr>
          <p:cNvCxnSpPr>
            <a:cxnSpLocks/>
          </p:cNvCxnSpPr>
          <p:nvPr/>
        </p:nvCxnSpPr>
        <p:spPr>
          <a:xfrm flipH="1" flipV="1">
            <a:off x="9120585" y="3457661"/>
            <a:ext cx="487343" cy="5305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AE21A27-29DB-398E-93BA-CD2D2075785A}"/>
              </a:ext>
            </a:extLst>
          </p:cNvPr>
          <p:cNvSpPr/>
          <p:nvPr/>
        </p:nvSpPr>
        <p:spPr>
          <a:xfrm>
            <a:off x="8859473" y="3227416"/>
            <a:ext cx="230245" cy="23024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E48E550-5648-29D3-E955-7ADD9764E360}"/>
              </a:ext>
            </a:extLst>
          </p:cNvPr>
          <p:cNvSpPr/>
          <p:nvPr/>
        </p:nvSpPr>
        <p:spPr>
          <a:xfrm>
            <a:off x="8272185" y="4062689"/>
            <a:ext cx="119438" cy="6745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826EC9C-596F-0662-10D4-2D497E7D08EB}"/>
              </a:ext>
            </a:extLst>
          </p:cNvPr>
          <p:cNvSpPr/>
          <p:nvPr/>
        </p:nvSpPr>
        <p:spPr>
          <a:xfrm>
            <a:off x="9548398" y="4062689"/>
            <a:ext cx="119438" cy="6745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39FE1B9D-E38C-4AC5-F95B-AFEC172B8354}"/>
              </a:ext>
            </a:extLst>
          </p:cNvPr>
          <p:cNvSpPr/>
          <p:nvPr/>
        </p:nvSpPr>
        <p:spPr>
          <a:xfrm rot="10800000">
            <a:off x="8336583" y="4512309"/>
            <a:ext cx="1276024" cy="539621"/>
          </a:xfrm>
          <a:prstGeom prst="arc">
            <a:avLst>
              <a:gd name="adj1" fmla="val 10677864"/>
              <a:gd name="adj2" fmla="val 0"/>
            </a:avLst>
          </a:prstGeom>
          <a:ln w="571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309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9646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ross 6">
            <a:extLst>
              <a:ext uri="{FF2B5EF4-FFF2-40B4-BE49-F238E27FC236}">
                <a16:creationId xmlns:a16="http://schemas.microsoft.com/office/drawing/2014/main" id="{25C98EF7-F577-30AA-5DD6-B0F52ADC7BFB}"/>
              </a:ext>
            </a:extLst>
          </p:cNvPr>
          <p:cNvSpPr/>
          <p:nvPr/>
        </p:nvSpPr>
        <p:spPr>
          <a:xfrm rot="18900000">
            <a:off x="1608740" y="1299723"/>
            <a:ext cx="3277456" cy="3277456"/>
          </a:xfrm>
          <a:prstGeom prst="plus">
            <a:avLst>
              <a:gd name="adj" fmla="val 38793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00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pipeline(s)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384027"/>
            <a:ext cx="4288156" cy="802640"/>
          </a:xfrm>
        </p:spPr>
        <p:txBody>
          <a:bodyPr>
            <a:normAutofit/>
          </a:bodyPr>
          <a:lstStyle/>
          <a:p>
            <a:r>
              <a:rPr lang="en-GB" dirty="0"/>
              <a:t>Servant et al., Genome Biol. 2015</a:t>
            </a:r>
          </a:p>
          <a:p>
            <a:r>
              <a:rPr lang="en-GB" dirty="0"/>
              <a:t>Ay &amp; Noble Genome </a:t>
            </a:r>
            <a:r>
              <a:rPr lang="en-GB" dirty="0" err="1"/>
              <a:t>Biol</a:t>
            </a:r>
            <a:r>
              <a:rPr lang="en-GB" dirty="0"/>
              <a:t> 2015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8B9C76-15E1-2E24-09D6-FF4159021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09" y="989257"/>
            <a:ext cx="3973382" cy="4879486"/>
          </a:xfrm>
          <a:prstGeom prst="rect">
            <a:avLst/>
          </a:prstGeom>
        </p:spPr>
      </p:pic>
      <p:pic>
        <p:nvPicPr>
          <p:cNvPr id="2050" name="Picture 2" descr="figure 3">
            <a:extLst>
              <a:ext uri="{FF2B5EF4-FFF2-40B4-BE49-F238E27FC236}">
                <a16:creationId xmlns:a16="http://schemas.microsoft.com/office/drawing/2014/main" id="{0A75B8A2-DAD2-87C6-2033-2C8C7D08A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188" y="1003996"/>
            <a:ext cx="3664450" cy="48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4914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pipeline(s) – 2015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384027"/>
            <a:ext cx="4288156" cy="802640"/>
          </a:xfrm>
        </p:spPr>
        <p:txBody>
          <a:bodyPr>
            <a:normAutofit/>
          </a:bodyPr>
          <a:lstStyle/>
          <a:p>
            <a:r>
              <a:rPr lang="en-GB" dirty="0"/>
              <a:t>Servant et al., Genome Biol. 2015</a:t>
            </a:r>
          </a:p>
          <a:p>
            <a:r>
              <a:rPr lang="en-GB" dirty="0"/>
              <a:t>Ay &amp; Noble Genome </a:t>
            </a:r>
            <a:r>
              <a:rPr lang="en-GB" dirty="0" err="1"/>
              <a:t>Biol</a:t>
            </a:r>
            <a:r>
              <a:rPr lang="en-GB" dirty="0"/>
              <a:t> 2015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CAA7D2-B615-B918-D680-5DA54F238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42990"/>
            <a:ext cx="7476744" cy="517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496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124D-F352-2A34-1925-5EEC77E1B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155CE-45A8-C772-2088-D2C0D3B57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Hi-C processing steps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B396E-D94D-5319-EC81-F0956BCEF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609AF-5AB1-DCA1-EBF4-6BC27B98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EEFE623-EBF1-A0BB-9C50-3CB6364C6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444" y="2266069"/>
            <a:ext cx="11421112" cy="2325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891CE4-754A-E839-5C2D-8950F37669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0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4B83-F5DF-42EB-0799-D3758A7E6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02B9F-3EAA-AD50-ECB4-616810026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Open2C collective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3A372-AE49-CEA6-D3E8-EDD2A9879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5AD6-E6A3-8937-8065-08D8A75AF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BCA6F01-DD2F-A4A8-52BB-733FDA2C0C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https://github.com/open2c/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D294F2-4BA1-3CF4-C466-E35C306A2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164" y="1211753"/>
            <a:ext cx="4609672" cy="443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14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1AF68-1E8A-5CD1-0F8E-947BE39CE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68805-84C7-7476-BF94-4CB545F51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Pairtools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B719-04CB-1A22-53BD-E020D0769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0E9EF-5EF5-76D3-D86A-B5FC2E81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A20153F-00C2-9065-7E2D-7CD28600F4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https://pairtools.readthedocs.io/en/latest/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ADF4EA-C69B-DFF1-D1B3-4FD4309BB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85" y="1910993"/>
            <a:ext cx="10716230" cy="303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57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339B-0807-BB6F-E6B0-80710D440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6825F-CEE8-11D1-F078-E5627E4D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Pairtools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194BF-554C-69C9-9897-BFF4A2A5B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8C1D4-7F21-0190-789F-E401D3C2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32FF7F-3F86-C30B-4CCE-C3F30B80C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https://pairtools.readthedocs.io/en/latest/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25870-2A6E-01CE-0903-1BA8F868D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27" y="2219219"/>
            <a:ext cx="10476946" cy="241956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2472750-5D97-18E2-EC20-C4C10ED05FF0}"/>
              </a:ext>
            </a:extLst>
          </p:cNvPr>
          <p:cNvSpPr/>
          <p:nvPr/>
        </p:nvSpPr>
        <p:spPr>
          <a:xfrm>
            <a:off x="698643" y="2219219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526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AFEE1-617B-9FF9-65E8-B2246BB8D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AAA7-8561-A1D3-0FE7-CA2997F28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Cooler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CBA60-CFE2-1709-78AE-842D2C4FC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B8BF3-6E29-1216-7020-E4444CE7B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9231501-495D-7E4C-6BC8-57EFCDBB98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https://cooler.readthedocs.io/en/latest/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6D7913-0F0A-5862-2D60-783BFEE96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656" y="1212351"/>
            <a:ext cx="3182688" cy="443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26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D93D9-7D05-2771-E79D-A386161B9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E63EF-55A2-8B35-416D-591C7ACF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Cooler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78DE-70B9-C1DF-C9BF-F1C5FC6F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54EFF-6897-A741-DED0-05048A0F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75903D-43C5-058B-6C40-5ACAB92725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https://cooler.readthedocs.io/en/latest/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90E0E-A63B-1647-72F9-09FF55BBC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61" y="1044389"/>
            <a:ext cx="6356278" cy="47692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2916E6B-0438-503A-571F-13A38C077712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37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0A4B2-8C5B-B260-DE69-921D3379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53905-62D7-7EFB-2D1C-F5558D2E3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Hi-C </a:t>
            </a:r>
            <a:r>
              <a:rPr lang="en-US"/>
              <a:t>data in 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2B7BD-E4AA-B34A-FDA8-9CEFDF692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76E29-37FE-9568-FBDC-D27E55419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BA6CF03-28F7-97AF-5770-1C5B68E21C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https://www.nature.com/articles/s41467-024-44761-x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08E6-0388-9CCD-1F67-11232C7D30A0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56F5D-10AC-26B4-AF55-D848469AD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414" y="984850"/>
            <a:ext cx="7772400" cy="3363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D5790E-309C-A799-D9CF-76BBF78F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384" y="1034620"/>
            <a:ext cx="1806030" cy="4655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140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A3C5-B926-29ED-91EA-71FF03913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A277-6195-A504-4784-BFAABD69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Granges </a:t>
            </a:r>
            <a:r>
              <a:rPr lang="en-US"/>
              <a:t>vs </a:t>
            </a:r>
            <a:r>
              <a:rPr lang="en-US" dirty="0" err="1"/>
              <a:t>GInteractions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F2FDD-37C1-96C6-DBC0-E6B8BFE82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1EC23-FB4E-B751-ECA1-8E9BAB05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AFB8D-EB47-52E6-257D-845C3D66241F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AF37963-F583-E608-8657-B0AB5C376E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499D71-FD3C-12F9-9E94-1A67ABB06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87425"/>
            <a:ext cx="12192000" cy="488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3545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451EA-CC7A-D7E7-CC07-570BFBBB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0780C-530C-20FB-6B50-3B14A103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Granges </a:t>
            </a:r>
            <a:r>
              <a:rPr lang="en-US"/>
              <a:t>vs </a:t>
            </a:r>
            <a:r>
              <a:rPr lang="en-US" dirty="0" err="1"/>
              <a:t>GInteractions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39FFF-52B3-317D-1422-FDFE24C19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51792-CF95-B92E-F7A4-ED93E5484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7E785A-F49D-2B52-50C6-CD4B95E2A220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56000E0-7E18-4C9A-94D3-538B4D6911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D9EE828-A9E0-B156-0ACA-FF7B47A221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750"/>
            <a:ext cx="12192000" cy="399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4618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31D88-2AC7-4D13-0E1D-B89C80FFA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5EDF9-5198-2329-A844-47F1CD6E7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Hi-C files in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96EFD-3E50-1485-D0D0-D1755AEF5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3D6FD-A255-E662-1947-899490A07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671C87-6A65-C879-16F5-6DC819B2290D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F55BBCA-3775-A51F-4225-09CACFB4F4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7E9A679-07DC-BCA6-BA65-A0F39CEB9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347" y="1126364"/>
            <a:ext cx="5553306" cy="490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191639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2957</TotalTime>
  <Words>388</Words>
  <Application>Microsoft Macintosh PowerPoint</Application>
  <PresentationFormat>Widescreen</PresentationFormat>
  <Paragraphs>111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Arial</vt:lpstr>
      <vt:lpstr>Avenir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Hi-C processing</vt:lpstr>
      <vt:lpstr>Hi-C experimental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pipeline</vt:lpstr>
      <vt:lpstr>Hi-C pipeline</vt:lpstr>
      <vt:lpstr>Hi-C pipeline(s)</vt:lpstr>
      <vt:lpstr>Hi-C pipeline(s) – 2015</vt:lpstr>
      <vt:lpstr>Common Hi-C processing steps</vt:lpstr>
      <vt:lpstr>Open2C collective</vt:lpstr>
      <vt:lpstr>Pairtools</vt:lpstr>
      <vt:lpstr>Pairtools</vt:lpstr>
      <vt:lpstr>Cooler</vt:lpstr>
      <vt:lpstr>Cooler</vt:lpstr>
      <vt:lpstr>Handling Hi-C data in R</vt:lpstr>
      <vt:lpstr>Granges vs GInteractions</vt:lpstr>
      <vt:lpstr>Granges vs GInteractions</vt:lpstr>
      <vt:lpstr>Handling Hi-C files in 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216</cp:revision>
  <dcterms:created xsi:type="dcterms:W3CDTF">2023-06-26T07:22:32Z</dcterms:created>
  <dcterms:modified xsi:type="dcterms:W3CDTF">2025-04-17T15:29:43Z</dcterms:modified>
</cp:coreProperties>
</file>