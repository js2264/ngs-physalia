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1"/>
    <p:sldMasterId id="2147483676" r:id="rId2"/>
  </p:sldMasterIdLst>
  <p:notesMasterIdLst>
    <p:notesMasterId r:id="rId21"/>
  </p:notesMasterIdLst>
  <p:sldIdLst>
    <p:sldId id="256" r:id="rId3"/>
    <p:sldId id="264" r:id="rId4"/>
    <p:sldId id="267" r:id="rId5"/>
    <p:sldId id="266" r:id="rId6"/>
    <p:sldId id="282" r:id="rId7"/>
    <p:sldId id="291" r:id="rId8"/>
    <p:sldId id="292" r:id="rId9"/>
    <p:sldId id="289" r:id="rId10"/>
    <p:sldId id="299" r:id="rId11"/>
    <p:sldId id="300" r:id="rId12"/>
    <p:sldId id="260" r:id="rId13"/>
    <p:sldId id="307" r:id="rId14"/>
    <p:sldId id="316" r:id="rId15"/>
    <p:sldId id="322" r:id="rId16"/>
    <p:sldId id="323" r:id="rId17"/>
    <p:sldId id="319" r:id="rId18"/>
    <p:sldId id="321" r:id="rId19"/>
    <p:sldId id="32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B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14"/>
    <p:restoredTop sz="96327"/>
  </p:normalViewPr>
  <p:slideViewPr>
    <p:cSldViewPr snapToGrid="0">
      <p:cViewPr varScale="1">
        <p:scale>
          <a:sx n="124" d="100"/>
          <a:sy n="124" d="100"/>
        </p:scale>
        <p:origin x="6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85917-96BC-A94E-B108-436BB51A401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D7AC3-3E93-9544-BDE3-B37120F62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11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tif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298B4-CBF1-A27B-8D25-C419C3CAD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102" y="194835"/>
            <a:ext cx="1827329" cy="498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2AF4F5-29E0-2B33-92C6-CE5EF5BBD02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17596" y="-103400"/>
            <a:ext cx="2259506" cy="11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98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363CF6F2-FFCC-A044-F740-D3124ECBF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CE3CA2-68AC-7035-AD06-B998211FB25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61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09859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40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E540942B-247F-A801-9F56-58FABF5C3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BBE6AF-EEDA-0260-4F7F-1540DBFC67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26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50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72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122F163-4E41-A425-055F-31E35A814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189" y="5394961"/>
            <a:ext cx="2587811" cy="145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991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E93C2-6544-85EA-AA67-941E7AC3F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136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64119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CF294A-06F4-3E28-947D-A951D1C6D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712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22516-0AF4-B0FD-F224-516E3D63E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68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154C1-BADA-FCD4-0D33-C98DC8B15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945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99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9C0A-1549-7443-85EE-55FCCABF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191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1A869-7351-D242-86E9-79866614E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E2C13-B8D7-F44C-9139-6617535B9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2020/01/13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6C65-553F-C344-AE7F-E5E25FFE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767CE44-45AC-9541-9EC5-59AD83678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19295" y="5951350"/>
            <a:ext cx="1172705" cy="906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0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9F28562-9D3B-E049-90B5-3EB3B52779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792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617FAF-0899-344C-83BE-8425F9B9C978}"/>
              </a:ext>
            </a:extLst>
          </p:cNvPr>
          <p:cNvSpPr/>
          <p:nvPr userDrawn="1"/>
        </p:nvSpPr>
        <p:spPr>
          <a:xfrm>
            <a:off x="-265043" y="4598504"/>
            <a:ext cx="3458817" cy="2941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A5E7B-CC56-ED41-820E-089BAEF1A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191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1433FA-ADC8-6E42-93DC-70A82A470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2020/01/13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791CA7-6FB9-6746-939C-FCB8FF930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0BC7A-7ECD-6C41-90D3-416CB3DE9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19295" y="5951350"/>
            <a:ext cx="1172705" cy="906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0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9F28562-9D3B-E049-90B5-3EB3B52779B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C189533-5FA0-0147-A0A8-81A57AA371C0}"/>
              </a:ext>
            </a:extLst>
          </p:cNvPr>
          <p:cNvSpPr txBox="1">
            <a:spLocks/>
          </p:cNvSpPr>
          <p:nvPr userDrawn="1"/>
        </p:nvSpPr>
        <p:spPr>
          <a:xfrm>
            <a:off x="-1" y="6481708"/>
            <a:ext cx="1890793" cy="3762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tx1"/>
                </a:solidFill>
              </a:rPr>
              <a:t>Jacques Serizay</a:t>
            </a:r>
          </a:p>
        </p:txBody>
      </p:sp>
    </p:spTree>
    <p:extLst>
      <p:ext uri="{BB962C8B-B14F-4D97-AF65-F5344CB8AC3E}">
        <p14:creationId xmlns:p14="http://schemas.microsoft.com/office/powerpoint/2010/main" val="212109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5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5" r:id="rId3"/>
    <p:sldLayoutId id="2147483674" r:id="rId4"/>
    <p:sldLayoutId id="2147483672" r:id="rId5"/>
    <p:sldLayoutId id="2147483664" r:id="rId6"/>
    <p:sldLayoutId id="214748367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7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19899D-021E-02BA-CBD8-FEA50B253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22363"/>
            <a:ext cx="11582400" cy="2387600"/>
          </a:xfrm>
        </p:spPr>
        <p:txBody>
          <a:bodyPr>
            <a:normAutofit/>
          </a:bodyPr>
          <a:lstStyle/>
          <a:p>
            <a:r>
              <a:rPr lang="en-GB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ATAC-</a:t>
            </a:r>
            <a:r>
              <a:rPr lang="en-GB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seq</a:t>
            </a:r>
            <a:r>
              <a:rPr lang="en-GB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analysis</a:t>
            </a:r>
            <a:endParaRPr lang="en-US" sz="30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07EAE9F-3B09-09D5-50EC-A51FBB06A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Epigenomics Data Analysis</a:t>
            </a:r>
          </a:p>
          <a:p>
            <a:r>
              <a:rPr lang="en-US" dirty="0"/>
              <a:t>Jacques </a:t>
            </a:r>
            <a:r>
              <a:rPr lang="en-US" dirty="0" err="1"/>
              <a:t>Serizay</a:t>
            </a:r>
            <a:endParaRPr lang="en-US" dirty="0"/>
          </a:p>
          <a:p>
            <a:r>
              <a:rPr lang="en-US" dirty="0" err="1"/>
              <a:t>Physalia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53455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89DF4-9FE5-A04E-8E92-7A4986ACC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textbook statements: a spectrum of regulatory capacity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0FFDF-9901-AAD9-A7D4-60EC2991A5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Klemm et al., Nat .Rev. Genet 2019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F3782-4189-9142-A988-1695532B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4B5F24E-875E-BB4E-BAE7-1DEC5FB8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Chromatin accessibility continuum that ranges from closed chromatin to highly dynamic, accessible or permissive chromatin</a:t>
            </a:r>
          </a:p>
          <a:p>
            <a:r>
              <a:rPr lang="en-GB" dirty="0"/>
              <a:t>This landscape of chromatin accessibility reflects the spectrum of regulatory capacity — rather than a bistate organization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4AAB85-2670-F14B-A66F-470ACEE73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928" y="2558951"/>
            <a:ext cx="9010078" cy="326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75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2D45-C584-244E-B191-73983FFB5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Promoter organization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A3632-36E3-3CC0-845D-CEB87EB763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Haberle and Lenhard, Semin. Cell Dev. Biol. 2016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C1729-ACD1-AE4D-8A18-549FC073D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7AB8621-1C05-2245-B3D8-582503606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61480" y="1838364"/>
            <a:ext cx="6269039" cy="419098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5F1531-61DD-F949-AB7B-18DF814FCCBF}"/>
              </a:ext>
            </a:extLst>
          </p:cNvPr>
          <p:cNvSpPr txBox="1">
            <a:spLocks/>
          </p:cNvSpPr>
          <p:nvPr/>
        </p:nvSpPr>
        <p:spPr>
          <a:xfrm>
            <a:off x="1" y="1760368"/>
            <a:ext cx="4217157" cy="4190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1C8CBD-B7DD-7CFB-B63A-6996B8DDE8B7}"/>
              </a:ext>
            </a:extLst>
          </p:cNvPr>
          <p:cNvSpPr txBox="1">
            <a:spLocks/>
          </p:cNvSpPr>
          <p:nvPr/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Promoters are crowded environments!</a:t>
            </a:r>
          </a:p>
        </p:txBody>
      </p:sp>
    </p:spTree>
    <p:extLst>
      <p:ext uri="{BB962C8B-B14F-4D97-AF65-F5344CB8AC3E}">
        <p14:creationId xmlns:p14="http://schemas.microsoft.com/office/powerpoint/2010/main" val="55873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89DF4-9FE5-A04E-8E92-7A4986ACC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Promoter organization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85032-CF1A-2B4F-B1A8-B31F8E9B16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/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Haberle and Lenhard, Semin. Cell Dev. Biol. 2016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F3782-4189-9142-A988-1695532B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00685-673C-AD46-9422-934B7720A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Transcription machinery and general transcription factors need access to DNA to recognize their binding motif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EC121D-089C-224B-9B02-A4739C35060E}"/>
              </a:ext>
            </a:extLst>
          </p:cNvPr>
          <p:cNvSpPr/>
          <p:nvPr/>
        </p:nvSpPr>
        <p:spPr>
          <a:xfrm>
            <a:off x="5540025" y="1191696"/>
            <a:ext cx="703613" cy="451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6E9E2E-868B-1946-AD59-ED6DBB56D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359" y="2656927"/>
            <a:ext cx="9048557" cy="269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18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9B38-0562-3D42-A868-47BD603F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How to measure chromatin accessibility: originally with nucleases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A4C51-1736-EAE4-E453-1F81674D36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Paul &amp; </a:t>
            </a:r>
            <a:r>
              <a:rPr lang="en-US" sz="1000" i="1" dirty="0" err="1">
                <a:solidFill>
                  <a:schemeClr val="bg1">
                    <a:lumMod val="65000"/>
                  </a:schemeClr>
                </a:solidFill>
              </a:rPr>
              <a:t>Ferl</a:t>
            </a:r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, Plant Cell 1998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8BD0DF-4B3C-3346-81C6-057DBEC3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26FEF-0156-AE4F-BE84-ED0C1397C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Nuclease enzymes were historically used to profile chromatin accessibility</a:t>
            </a:r>
          </a:p>
          <a:p>
            <a:pPr lvl="1"/>
            <a:r>
              <a:rPr lang="en-GB" dirty="0" err="1"/>
              <a:t>Dnase</a:t>
            </a:r>
            <a:r>
              <a:rPr lang="en-GB" dirty="0"/>
              <a:t> I (deoxyribonuclease I): a non-specific double-strand endonuclease</a:t>
            </a:r>
          </a:p>
          <a:p>
            <a:pPr marL="457200" lvl="1" indent="0">
              <a:buNone/>
            </a:pPr>
            <a:br>
              <a:rPr lang="en-GB" dirty="0"/>
            </a:br>
            <a:r>
              <a:rPr lang="en-GB" dirty="0"/>
              <a:t>	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9AB09-8D6D-2241-BE21-99BA1F54644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06489" y="2755305"/>
            <a:ext cx="5353957" cy="30462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8A7637-458E-0B4E-B786-7854FBB8C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925" y="2596199"/>
            <a:ext cx="2744724" cy="298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02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9B38-0562-3D42-A868-47BD603F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How to measure chromatin accessibility: originally with nucleases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A4C51-1736-EAE4-E453-1F81674D36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Rodríguez-Campos &amp; </a:t>
            </a:r>
            <a:r>
              <a:rPr lang="en-US" sz="1000" i="1" dirty="0" err="1">
                <a:solidFill>
                  <a:schemeClr val="bg1">
                    <a:lumMod val="65000"/>
                  </a:schemeClr>
                </a:solidFill>
              </a:rPr>
              <a:t>Azorín</a:t>
            </a:r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000" i="1" dirty="0" err="1">
                <a:solidFill>
                  <a:schemeClr val="bg1">
                    <a:lumMod val="65000"/>
                  </a:schemeClr>
                </a:solidFill>
              </a:rPr>
              <a:t>PLoS</a:t>
            </a:r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 One 2007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8BD0DF-4B3C-3346-81C6-057DBEC3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26FEF-0156-AE4F-BE84-ED0C1397C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Nuclease enzymes were historically used to profile chromatin accessibility</a:t>
            </a:r>
          </a:p>
          <a:p>
            <a:pPr lvl="1"/>
            <a:r>
              <a:rPr lang="en-GB" dirty="0" err="1"/>
              <a:t>Dnase</a:t>
            </a:r>
            <a:r>
              <a:rPr lang="en-GB" dirty="0"/>
              <a:t> I (deoxyribonuclease I): a non-specific double-strand endonuclease</a:t>
            </a:r>
          </a:p>
          <a:p>
            <a:pPr lvl="1"/>
            <a:r>
              <a:rPr lang="en-GB" dirty="0" err="1"/>
              <a:t>Mnase</a:t>
            </a:r>
            <a:r>
              <a:rPr lang="en-GB" dirty="0"/>
              <a:t> (Micrococcal nuclease): a endo-exonuclease with preference to single-strand DNA but with also double-strand nuclease activity</a:t>
            </a:r>
            <a:br>
              <a:rPr lang="en-GB" dirty="0"/>
            </a:br>
            <a:r>
              <a:rPr lang="en-GB" dirty="0"/>
              <a:t>	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br>
              <a:rPr lang="en-GB" dirty="0"/>
            </a:br>
            <a:r>
              <a:rPr lang="en-GB" dirty="0"/>
              <a:t>	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3E272E-414E-8C83-570B-3258ABC81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067" y="2806913"/>
            <a:ext cx="1552641" cy="2895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131852-8386-F387-09DB-63B75993A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478" y="2869878"/>
            <a:ext cx="3385080" cy="28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98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9B38-0562-3D42-A868-47BD603F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How to measure chromatin accessibility: originally with nucleases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A4C51-1736-EAE4-E453-1F81674D36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 dirty="0" err="1">
                <a:solidFill>
                  <a:schemeClr val="bg1">
                    <a:lumMod val="65000"/>
                  </a:schemeClr>
                </a:solidFill>
              </a:rPr>
              <a:t>Buenrostro</a:t>
            </a:r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 et al., 2013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8BD0DF-4B3C-3346-81C6-057DBEC3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26FEF-0156-AE4F-BE84-ED0C1397C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Nuclease enzymes were historically used to profile chromatin accessibility</a:t>
            </a:r>
          </a:p>
          <a:p>
            <a:pPr lvl="1"/>
            <a:r>
              <a:rPr lang="en-GB" dirty="0" err="1"/>
              <a:t>Dnase</a:t>
            </a:r>
            <a:r>
              <a:rPr lang="en-GB" dirty="0"/>
              <a:t> I (deoxyribonuclease I): a non-specific double-strand endonuclease</a:t>
            </a:r>
          </a:p>
          <a:p>
            <a:pPr lvl="1"/>
            <a:r>
              <a:rPr lang="en-GB" dirty="0" err="1"/>
              <a:t>Mnase</a:t>
            </a:r>
            <a:r>
              <a:rPr lang="en-GB" dirty="0"/>
              <a:t> (Micrococcal nuclease): a endo-exonuclease with preference to single-strand DNA but with also double-strand nuclease activity</a:t>
            </a:r>
          </a:p>
          <a:p>
            <a:pPr lvl="1"/>
            <a:r>
              <a:rPr lang="en-GB" dirty="0"/>
              <a:t>ATAC: a Tn5 transposase, integrating transposons wherever it is possible (i.e. accessible)</a:t>
            </a:r>
            <a:br>
              <a:rPr lang="en-GB" dirty="0"/>
            </a:br>
            <a:r>
              <a:rPr lang="en-GB" dirty="0"/>
              <a:t>	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br>
              <a:rPr lang="en-GB" dirty="0"/>
            </a:br>
            <a:r>
              <a:rPr lang="en-GB" dirty="0"/>
              <a:t>	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BB83E-86A0-A36F-53B1-D253D6B4D0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9572"/>
          <a:stretch/>
        </p:blipFill>
        <p:spPr>
          <a:xfrm>
            <a:off x="4275650" y="5265343"/>
            <a:ext cx="3629485" cy="8454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F331EB-5D68-7E16-4F10-67F21AB18A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428"/>
          <a:stretch/>
        </p:blipFill>
        <p:spPr>
          <a:xfrm>
            <a:off x="4275650" y="3217374"/>
            <a:ext cx="3629485" cy="193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34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9B38-0562-3D42-A868-47BD603F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ATAC-seq: from chromatin to NGS library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03F783-158E-8944-9F5A-D8BC122CA7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F88C357-C945-E742-8274-D30FCA78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99727-41D2-D64B-A9B2-4E5BCFA72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6569259" cy="4883277"/>
          </a:xfrm>
        </p:spPr>
        <p:txBody>
          <a:bodyPr>
            <a:normAutofit/>
          </a:bodyPr>
          <a:lstStyle/>
          <a:p>
            <a:r>
              <a:rPr lang="en-US" dirty="0"/>
              <a:t>Since the sequence of the </a:t>
            </a:r>
            <a:r>
              <a:rPr lang="en-US" u="sng" dirty="0"/>
              <a:t>transposons</a:t>
            </a:r>
            <a:r>
              <a:rPr lang="en-US" dirty="0"/>
              <a:t> loaded on the Tn5 </a:t>
            </a:r>
            <a:r>
              <a:rPr lang="en-US" u="sng" dirty="0" err="1"/>
              <a:t>transposome</a:t>
            </a:r>
            <a:r>
              <a:rPr lang="en-US" dirty="0"/>
              <a:t> is known, one can use them to in a PCR</a:t>
            </a:r>
          </a:p>
          <a:p>
            <a:endParaRPr lang="en-US" u="sng" dirty="0"/>
          </a:p>
          <a:p>
            <a:pPr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 “</a:t>
            </a:r>
            <a:r>
              <a:rPr lang="en-US" dirty="0" err="1">
                <a:sym typeface="Wingdings" pitchFamily="2" charset="2"/>
              </a:rPr>
              <a:t>Tagmented</a:t>
            </a:r>
            <a:r>
              <a:rPr lang="en-US" dirty="0">
                <a:sym typeface="Wingdings" pitchFamily="2" charset="2"/>
              </a:rPr>
              <a:t>” (i.e. DNA with inserted transposons) will be amplified. </a:t>
            </a:r>
          </a:p>
          <a:p>
            <a:pPr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 Each end of a fragment corresponds to a transposition event. 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F1373-DFC4-F645-B714-18E1462AA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ChIP-seq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8DEE931-54A1-444F-94C7-4FE0C3FA2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949" y="988253"/>
            <a:ext cx="4289322" cy="488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319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9B38-0562-3D42-A868-47BD603F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Emergence of other enzymatic or mechanical approaches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8A8AB-8207-AF25-192B-5DCA3F5618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>
                <a:solidFill>
                  <a:schemeClr val="bg1">
                    <a:lumMod val="65000"/>
                  </a:schemeClr>
                </a:solidFill>
              </a:rPr>
              <a:t>Giresi</a:t>
            </a:r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 &amp; </a:t>
            </a:r>
            <a:r>
              <a:rPr lang="en-US" sz="1000" i="1" dirty="0" err="1">
                <a:solidFill>
                  <a:schemeClr val="bg1">
                    <a:lumMod val="65000"/>
                  </a:schemeClr>
                </a:solidFill>
              </a:rPr>
              <a:t>Lieb</a:t>
            </a:r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, Methods 2009</a:t>
            </a:r>
          </a:p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A13653D-31A9-764F-8406-0019DF061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26FEF-0156-AE4F-BE84-ED0C1397C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6805234" cy="4883277"/>
          </a:xfrm>
        </p:spPr>
        <p:txBody>
          <a:bodyPr/>
          <a:lstStyle/>
          <a:p>
            <a:r>
              <a:rPr lang="en-US" dirty="0"/>
              <a:t>Mechanical approaches </a:t>
            </a:r>
          </a:p>
          <a:p>
            <a:pPr lvl="1"/>
            <a:r>
              <a:rPr lang="en-US" b="1" dirty="0"/>
              <a:t>FAIRE-seq</a:t>
            </a:r>
            <a:r>
              <a:rPr lang="en-US" dirty="0"/>
              <a:t>: </a:t>
            </a:r>
            <a:r>
              <a:rPr lang="en-GB" u="sng" dirty="0"/>
              <a:t>F</a:t>
            </a:r>
            <a:r>
              <a:rPr lang="en-GB" dirty="0"/>
              <a:t>ormaldehyde-</a:t>
            </a:r>
            <a:r>
              <a:rPr lang="en-GB" u="sng" dirty="0"/>
              <a:t>A</a:t>
            </a:r>
            <a:r>
              <a:rPr lang="en-GB" dirty="0"/>
              <a:t>ssisted </a:t>
            </a:r>
            <a:r>
              <a:rPr lang="en-GB" u="sng" dirty="0"/>
              <a:t>I</a:t>
            </a:r>
            <a:r>
              <a:rPr lang="en-GB" dirty="0"/>
              <a:t>solation of </a:t>
            </a:r>
            <a:r>
              <a:rPr lang="en-GB" u="sng" dirty="0"/>
              <a:t>R</a:t>
            </a:r>
            <a:r>
              <a:rPr lang="en-GB" dirty="0"/>
              <a:t>egulatory </a:t>
            </a:r>
            <a:r>
              <a:rPr lang="en-GB" u="sng" dirty="0"/>
              <a:t>E</a:t>
            </a:r>
            <a:r>
              <a:rPr lang="en-GB" dirty="0"/>
              <a:t>lements</a:t>
            </a:r>
          </a:p>
          <a:p>
            <a:pPr lvl="1"/>
            <a:endParaRPr lang="en-GB" dirty="0"/>
          </a:p>
          <a:p>
            <a:pPr marL="457200" lvl="1" indent="0">
              <a:buNone/>
            </a:pPr>
            <a:r>
              <a:rPr lang="en-GB" dirty="0">
                <a:sym typeface="Wingdings" pitchFamily="2" charset="2"/>
              </a:rPr>
              <a:t> Uses a crosslinking + sonication + phenol extraction to isolate nucleosome-depleted chromatin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E4694E-80AD-714F-A46A-FEF47CB0B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689" y="1280142"/>
            <a:ext cx="4076629" cy="451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629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9B38-0562-3D42-A868-47BD603F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Comparison of the main experimental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68865-0603-AC12-A47E-761F7B4F06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Hsu et al., Epigenetics in Human Diseases 2018</a:t>
            </a:r>
          </a:p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56AD02-0B02-1A47-8628-7E2893B5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E7648CB-1A64-9A42-BA18-88F52A08D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assay generates a specific type of profile.</a:t>
            </a:r>
          </a:p>
          <a:p>
            <a:pPr lvl="1"/>
            <a:endParaRPr lang="en-US" dirty="0"/>
          </a:p>
        </p:txBody>
      </p:sp>
      <p:pic>
        <p:nvPicPr>
          <p:cNvPr id="8194" name="Picture 2" descr="Bioinformatics of Epigenomic Data Generated From Next-Generation Sequencing  - ScienceDirect">
            <a:extLst>
              <a:ext uri="{FF2B5EF4-FFF2-40B4-BE49-F238E27FC236}">
                <a16:creationId xmlns:a16="http://schemas.microsoft.com/office/drawing/2014/main" id="{4914BF63-9CCE-FD4C-B483-E11A59723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697" y="1721592"/>
            <a:ext cx="5122606" cy="4135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271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vs. negative measurements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C0E1D8-3730-41AE-4853-657777997B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29EB3-20A5-5745-B4A1-6B0910409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en-US" dirty="0"/>
              <a:t>DNAse-seq relies on presence of signal (</a:t>
            </a:r>
            <a:r>
              <a:rPr lang="en-US" b="1" dirty="0"/>
              <a:t>positive measurements</a:t>
            </a:r>
            <a:r>
              <a:rPr lang="en-US" dirty="0"/>
              <a:t>) to map accessible regulatory elements</a:t>
            </a:r>
          </a:p>
          <a:p>
            <a:pPr>
              <a:lnSpc>
                <a:spcPct val="114000"/>
              </a:lnSpc>
            </a:pPr>
            <a:endParaRPr lang="en-US" dirty="0"/>
          </a:p>
          <a:p>
            <a:pPr>
              <a:lnSpc>
                <a:spcPct val="114000"/>
              </a:lnSpc>
            </a:pPr>
            <a:r>
              <a:rPr lang="en-US" dirty="0" err="1"/>
              <a:t>Mnase</a:t>
            </a:r>
            <a:r>
              <a:rPr lang="en-US" dirty="0"/>
              <a:t>-seq relies on absence of signal (</a:t>
            </a:r>
            <a:r>
              <a:rPr lang="en-US" b="1" dirty="0"/>
              <a:t>negative measurements</a:t>
            </a:r>
            <a:r>
              <a:rPr lang="en-US" dirty="0"/>
              <a:t>) to map accessible regulatory elements</a:t>
            </a:r>
          </a:p>
          <a:p>
            <a:pPr>
              <a:lnSpc>
                <a:spcPct val="114000"/>
              </a:lnSpc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3F6B59-3D99-544E-99C5-7E27D2BB3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280" y="3745500"/>
            <a:ext cx="69088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595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ATAC-seq downstream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  <p:sp>
        <p:nvSpPr>
          <p:cNvPr id="11" name="Google Shape;114;p3">
            <a:extLst>
              <a:ext uri="{FF2B5EF4-FFF2-40B4-BE49-F238E27FC236}">
                <a16:creationId xmlns:a16="http://schemas.microsoft.com/office/drawing/2014/main" id="{7E40E3FB-295A-EED7-870D-383C0FEA4EDB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Create fastq</a:t>
            </a:r>
            <a:r>
              <a:rPr lang="en-US" dirty="0">
                <a:sym typeface="Avenir"/>
              </a:rPr>
              <a:t> files</a:t>
            </a:r>
            <a:endParaRPr dirty="0"/>
          </a:p>
        </p:txBody>
      </p:sp>
      <p:pic>
        <p:nvPicPr>
          <p:cNvPr id="12" name="Google Shape;126;p3">
            <a:extLst>
              <a:ext uri="{FF2B5EF4-FFF2-40B4-BE49-F238E27FC236}">
                <a16:creationId xmlns:a16="http://schemas.microsoft.com/office/drawing/2014/main" id="{B1736BC8-1C14-C14A-DBD3-E2AEC981D86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27;p3">
            <a:extLst>
              <a:ext uri="{FF2B5EF4-FFF2-40B4-BE49-F238E27FC236}">
                <a16:creationId xmlns:a16="http://schemas.microsoft.com/office/drawing/2014/main" id="{F3A44324-0D51-1A2A-EA55-D316944FBE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28;p3">
            <a:extLst>
              <a:ext uri="{FF2B5EF4-FFF2-40B4-BE49-F238E27FC236}">
                <a16:creationId xmlns:a16="http://schemas.microsoft.com/office/drawing/2014/main" id="{9033D206-AE65-AD3B-96EE-E6629532B9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29;p3">
            <a:extLst>
              <a:ext uri="{FF2B5EF4-FFF2-40B4-BE49-F238E27FC236}">
                <a16:creationId xmlns:a16="http://schemas.microsoft.com/office/drawing/2014/main" id="{4677E878-99BF-1E7E-6E64-9948A382D0B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30;p3">
            <a:extLst>
              <a:ext uri="{FF2B5EF4-FFF2-40B4-BE49-F238E27FC236}">
                <a16:creationId xmlns:a16="http://schemas.microsoft.com/office/drawing/2014/main" id="{7C0D2ED8-BA0F-8DCA-D5C7-6121764DB18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32;p3">
            <a:extLst>
              <a:ext uri="{FF2B5EF4-FFF2-40B4-BE49-F238E27FC236}">
                <a16:creationId xmlns:a16="http://schemas.microsoft.com/office/drawing/2014/main" id="{6F657E3A-24F0-A722-DA5C-8CD2EC06FB3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33;p3">
            <a:extLst>
              <a:ext uri="{FF2B5EF4-FFF2-40B4-BE49-F238E27FC236}">
                <a16:creationId xmlns:a16="http://schemas.microsoft.com/office/drawing/2014/main" id="{0BD1A4EC-D23E-74CC-B16D-A92EDF3A8C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14;p3">
            <a:extLst>
              <a:ext uri="{FF2B5EF4-FFF2-40B4-BE49-F238E27FC236}">
                <a16:creationId xmlns:a16="http://schemas.microsoft.com/office/drawing/2014/main" id="{C3560A06-65A0-5C86-48B3-83400234A87A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" name="Google Shape;115;p3">
            <a:extLst>
              <a:ext uri="{FF2B5EF4-FFF2-40B4-BE49-F238E27FC236}">
                <a16:creationId xmlns:a16="http://schemas.microsoft.com/office/drawing/2014/main" id="{C00DFBBB-70D2-8614-45F4-4495569DA401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21" name="Google Shape;116;p3">
            <a:extLst>
              <a:ext uri="{FF2B5EF4-FFF2-40B4-BE49-F238E27FC236}">
                <a16:creationId xmlns:a16="http://schemas.microsoft.com/office/drawing/2014/main" id="{A773A373-D549-F740-B7D7-465FA71F9071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Align fastq to BAM</a:t>
            </a:r>
            <a:endParaRPr/>
          </a:p>
        </p:txBody>
      </p:sp>
      <p:sp>
        <p:nvSpPr>
          <p:cNvPr id="22" name="Google Shape;117;p3">
            <a:extLst>
              <a:ext uri="{FF2B5EF4-FFF2-40B4-BE49-F238E27FC236}">
                <a16:creationId xmlns:a16="http://schemas.microsoft.com/office/drawing/2014/main" id="{F91D9383-926B-74B6-BE56-2E5080CAEC3E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23" name="Google Shape;119;p3">
            <a:extLst>
              <a:ext uri="{FF2B5EF4-FFF2-40B4-BE49-F238E27FC236}">
                <a16:creationId xmlns:a16="http://schemas.microsoft.com/office/drawing/2014/main" id="{B98315C2-A01B-DD06-6658-DCE1592E1903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Generate tracks</a:t>
            </a:r>
            <a:endParaRPr dirty="0"/>
          </a:p>
        </p:txBody>
      </p:sp>
      <p:sp>
        <p:nvSpPr>
          <p:cNvPr id="24" name="Google Shape;120;p3">
            <a:extLst>
              <a:ext uri="{FF2B5EF4-FFF2-40B4-BE49-F238E27FC236}">
                <a16:creationId xmlns:a16="http://schemas.microsoft.com/office/drawing/2014/main" id="{9761893E-C6B4-DDE4-8EFA-4356BC35CB3F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25" name="Picture 4" descr="Sequencing Platforms | Illumina NGS platforms">
            <a:extLst>
              <a:ext uri="{FF2B5EF4-FFF2-40B4-BE49-F238E27FC236}">
                <a16:creationId xmlns:a16="http://schemas.microsoft.com/office/drawing/2014/main" id="{AE1F11F6-8ED5-FF7D-28F6-D01152C70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039587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Sequencing Platforms | Illumina NGS platforms">
            <a:extLst>
              <a:ext uri="{FF2B5EF4-FFF2-40B4-BE49-F238E27FC236}">
                <a16:creationId xmlns:a16="http://schemas.microsoft.com/office/drawing/2014/main" id="{4E03D524-1B0A-A825-091E-EEBABBC49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669173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FA2E228-1680-4A6C-2CCB-4966F5355EB3}"/>
              </a:ext>
            </a:extLst>
          </p:cNvPr>
          <p:cNvSpPr txBox="1"/>
          <p:nvPr/>
        </p:nvSpPr>
        <p:spPr>
          <a:xfrm>
            <a:off x="5564978" y="1681632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bcl2fastq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1ADDBE-DF7F-6AAB-13C3-85C4DB5AB6D4}"/>
              </a:ext>
            </a:extLst>
          </p:cNvPr>
          <p:cNvSpPr txBox="1"/>
          <p:nvPr/>
        </p:nvSpPr>
        <p:spPr>
          <a:xfrm>
            <a:off x="5115911" y="238376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cutadapt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A00282-0C17-46C3-EA42-E3FEB686DADD}"/>
              </a:ext>
            </a:extLst>
          </p:cNvPr>
          <p:cNvSpPr txBox="1"/>
          <p:nvPr/>
        </p:nvSpPr>
        <p:spPr>
          <a:xfrm>
            <a:off x="5115911" y="3036903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</a:t>
            </a:r>
            <a:r>
              <a:rPr lang="en-US"/>
              <a:t>.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bowtie2</a:t>
            </a:r>
          </a:p>
        </p:txBody>
      </p:sp>
      <p:pic>
        <p:nvPicPr>
          <p:cNvPr id="30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494A94B7-6B10-A60F-281F-92B0BBB63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540671BB-7B9D-310B-DB39-BE9041051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1595804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E5A263DA-9F09-FE74-EB89-45D37C036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236826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A5A3FE37-C853-FEC3-7213-EC221B438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89670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151AE37F-D8B2-C45F-6D60-38B3709F0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354715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8DDF849-9128-6E26-5A3B-4A49543EB987}"/>
              </a:ext>
            </a:extLst>
          </p:cNvPr>
          <p:cNvSpPr txBox="1"/>
          <p:nvPr/>
        </p:nvSpPr>
        <p:spPr>
          <a:xfrm>
            <a:off x="5115911" y="3659072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samtools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36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289280D9-26B6-5951-271C-CFA58C308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4220921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48BD0D6-CCCF-B943-7A0E-9AF5C234A6DA}"/>
              </a:ext>
            </a:extLst>
          </p:cNvPr>
          <p:cNvSpPr txBox="1"/>
          <p:nvPr/>
        </p:nvSpPr>
        <p:spPr>
          <a:xfrm>
            <a:off x="5115911" y="4332841"/>
            <a:ext cx="1914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deepTools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DC9CB-31AB-1C52-6101-217DF452A481}"/>
              </a:ext>
            </a:extLst>
          </p:cNvPr>
          <p:cNvSpPr txBox="1"/>
          <p:nvPr/>
        </p:nvSpPr>
        <p:spPr>
          <a:xfrm>
            <a:off x="5205382" y="4883014"/>
            <a:ext cx="31983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Peak calling</a:t>
            </a:r>
          </a:p>
          <a:p>
            <a:r>
              <a:rPr lang="en-US" b="1" dirty="0">
                <a:solidFill>
                  <a:srgbClr val="FF0000"/>
                </a:solidFill>
              </a:rPr>
              <a:t>Differential peak analysis</a:t>
            </a:r>
          </a:p>
          <a:p>
            <a:r>
              <a:rPr lang="en-US" b="1" dirty="0">
                <a:solidFill>
                  <a:srgbClr val="FF0000"/>
                </a:solidFill>
              </a:rPr>
              <a:t>Fragment size distribution</a:t>
            </a:r>
          </a:p>
          <a:p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Promoter footprint analysis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673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0DCC-554B-5F4D-9C30-0EECA831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ATAC peak callers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5EF19-AF90-EB6B-C2D1-57004E27DA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2227B-D196-D646-BE80-40727070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336BF-3FB1-C048-B4EA-77626BC53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4710963" cy="4883277"/>
          </a:xfrm>
        </p:spPr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Most peak callers were designed before the emergence of ATAC-seq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Few of them directly aim at identifying peaks in chromatin accessibility signals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BD9E3-018E-EB49-8FAD-E3A0CA4A0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</p:spTree>
    <p:extLst>
      <p:ext uri="{BB962C8B-B14F-4D97-AF65-F5344CB8AC3E}">
        <p14:creationId xmlns:p14="http://schemas.microsoft.com/office/powerpoint/2010/main" val="1442379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AAF91F-D850-CD47-7C60-B29884775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680" y="1011143"/>
            <a:ext cx="1421425" cy="50003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78C5FC-A743-CA69-0B4C-4E4615DBE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819" y="1011143"/>
            <a:ext cx="1017887" cy="50003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EB07F54-80AF-52A3-FCB9-61B257CA8188}"/>
              </a:ext>
            </a:extLst>
          </p:cNvPr>
          <p:cNvSpPr/>
          <p:nvPr/>
        </p:nvSpPr>
        <p:spPr>
          <a:xfrm>
            <a:off x="6096000" y="4072373"/>
            <a:ext cx="5083277" cy="1428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E0DCC-554B-5F4D-9C30-0EECA831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ATAC peak callers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5EF19-AF90-EB6B-C2D1-57004E27DA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2227B-D196-D646-BE80-40727070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336BF-3FB1-C048-B4EA-77626BC53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4710963" cy="4883277"/>
          </a:xfrm>
        </p:spPr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Most peak callers were designed before the emergence of ATAC-seq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Few of them directly aim at identifying peaks in chromatin accessibility signals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Since the emergence of ATAC-seq, new peak callers were designed with the identification of peak “shape” in mind.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BD9E3-018E-EB49-8FAD-E3A0CA4A0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DCD13F-82F7-3ACD-C324-9A5BDA6DB611}"/>
              </a:ext>
            </a:extLst>
          </p:cNvPr>
          <p:cNvSpPr txBox="1"/>
          <p:nvPr/>
        </p:nvSpPr>
        <p:spPr>
          <a:xfrm>
            <a:off x="9324408" y="2549719"/>
            <a:ext cx="762290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DD42A9-22A2-96B9-6D9E-7A6823C60DF7}"/>
              </a:ext>
            </a:extLst>
          </p:cNvPr>
          <p:cNvSpPr txBox="1"/>
          <p:nvPr/>
        </p:nvSpPr>
        <p:spPr>
          <a:xfrm>
            <a:off x="9324408" y="3616464"/>
            <a:ext cx="762290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38A807-DB53-147D-C26C-C45D08C69276}"/>
              </a:ext>
            </a:extLst>
          </p:cNvPr>
          <p:cNvSpPr txBox="1"/>
          <p:nvPr/>
        </p:nvSpPr>
        <p:spPr>
          <a:xfrm>
            <a:off x="9324408" y="5637127"/>
            <a:ext cx="982024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</a:t>
            </a:r>
            <a:r>
              <a:rPr lang="en-US" dirty="0" err="1"/>
              <a:t>annot</a:t>
            </a:r>
            <a:r>
              <a:rPr lang="en-US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7B10F9-7823-DE0A-7364-FAF4C0A9922E}"/>
              </a:ext>
            </a:extLst>
          </p:cNvPr>
          <p:cNvSpPr txBox="1"/>
          <p:nvPr/>
        </p:nvSpPr>
        <p:spPr>
          <a:xfrm>
            <a:off x="9324408" y="1641735"/>
            <a:ext cx="762290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1</a:t>
            </a:r>
          </a:p>
        </p:txBody>
      </p:sp>
    </p:spTree>
    <p:extLst>
      <p:ext uri="{BB962C8B-B14F-4D97-AF65-F5344CB8AC3E}">
        <p14:creationId xmlns:p14="http://schemas.microsoft.com/office/powerpoint/2010/main" val="3681520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AAF91F-D850-CD47-7C60-B29884775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680" y="1011143"/>
            <a:ext cx="1421425" cy="50003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78C5FC-A743-CA69-0B4C-4E4615DBE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819" y="1011143"/>
            <a:ext cx="1017887" cy="50003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EB07F54-80AF-52A3-FCB9-61B257CA8188}"/>
              </a:ext>
            </a:extLst>
          </p:cNvPr>
          <p:cNvSpPr/>
          <p:nvPr/>
        </p:nvSpPr>
        <p:spPr>
          <a:xfrm>
            <a:off x="6096000" y="4621667"/>
            <a:ext cx="5083277" cy="8794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E0DCC-554B-5F4D-9C30-0EECA831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ATAC peak callers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5EF19-AF90-EB6B-C2D1-57004E27DA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2227B-D196-D646-BE80-40727070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336BF-3FB1-C048-B4EA-77626BC53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4710963" cy="4883277"/>
          </a:xfrm>
        </p:spPr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Most peak callers were designed before the emergence of ATAC-seq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Few of them directly aim at identifying peaks in chromatin accessibility signals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Since the emergence of ATAC-seq, new peak callers were designed with the identification of peak “shape” in mind.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BD9E3-018E-EB49-8FAD-E3A0CA4A0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DCD13F-82F7-3ACD-C324-9A5BDA6DB611}"/>
              </a:ext>
            </a:extLst>
          </p:cNvPr>
          <p:cNvSpPr txBox="1"/>
          <p:nvPr/>
        </p:nvSpPr>
        <p:spPr>
          <a:xfrm>
            <a:off x="9324408" y="2549719"/>
            <a:ext cx="762290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DD42A9-22A2-96B9-6D9E-7A6823C60DF7}"/>
              </a:ext>
            </a:extLst>
          </p:cNvPr>
          <p:cNvSpPr txBox="1"/>
          <p:nvPr/>
        </p:nvSpPr>
        <p:spPr>
          <a:xfrm>
            <a:off x="9324408" y="3616464"/>
            <a:ext cx="762290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E2D281-A6CC-B0C2-6E49-F1F7C73DE658}"/>
              </a:ext>
            </a:extLst>
          </p:cNvPr>
          <p:cNvSpPr txBox="1"/>
          <p:nvPr/>
        </p:nvSpPr>
        <p:spPr>
          <a:xfrm>
            <a:off x="9324408" y="4201123"/>
            <a:ext cx="1345379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Aggregated signal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38A807-DB53-147D-C26C-C45D08C69276}"/>
              </a:ext>
            </a:extLst>
          </p:cNvPr>
          <p:cNvSpPr txBox="1"/>
          <p:nvPr/>
        </p:nvSpPr>
        <p:spPr>
          <a:xfrm>
            <a:off x="9324408" y="5637127"/>
            <a:ext cx="982024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</a:t>
            </a:r>
            <a:r>
              <a:rPr lang="en-US" dirty="0" err="1"/>
              <a:t>annot</a:t>
            </a:r>
            <a:r>
              <a:rPr lang="en-US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7B10F9-7823-DE0A-7364-FAF4C0A9922E}"/>
              </a:ext>
            </a:extLst>
          </p:cNvPr>
          <p:cNvSpPr txBox="1"/>
          <p:nvPr/>
        </p:nvSpPr>
        <p:spPr>
          <a:xfrm>
            <a:off x="9324408" y="1641735"/>
            <a:ext cx="762290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1</a:t>
            </a:r>
          </a:p>
        </p:txBody>
      </p:sp>
    </p:spTree>
    <p:extLst>
      <p:ext uri="{BB962C8B-B14F-4D97-AF65-F5344CB8AC3E}">
        <p14:creationId xmlns:p14="http://schemas.microsoft.com/office/powerpoint/2010/main" val="1147040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AAF91F-D850-CD47-7C60-B29884775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680" y="1011143"/>
            <a:ext cx="1421425" cy="50003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78C5FC-A743-CA69-0B4C-4E4615DBE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819" y="1011143"/>
            <a:ext cx="1017887" cy="50003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EB07F54-80AF-52A3-FCB9-61B257CA8188}"/>
              </a:ext>
            </a:extLst>
          </p:cNvPr>
          <p:cNvSpPr/>
          <p:nvPr/>
        </p:nvSpPr>
        <p:spPr>
          <a:xfrm>
            <a:off x="6096000" y="5064665"/>
            <a:ext cx="4279577" cy="4364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E0DCC-554B-5F4D-9C30-0EECA831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ATAC peak callers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5EF19-AF90-EB6B-C2D1-57004E27DA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2227B-D196-D646-BE80-40727070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336BF-3FB1-C048-B4EA-77626BC53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4710963" cy="4883277"/>
          </a:xfrm>
        </p:spPr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Most peak callers were designed before the emergence of ATAC-seq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Few of them directly aim at identifying peaks in chromatin accessibility signals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Since the emergence of ATAC-seq, new peak callers were designed with the identification of peak “shape” in mind.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BD9E3-018E-EB49-8FAD-E3A0CA4A0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DCD13F-82F7-3ACD-C324-9A5BDA6DB611}"/>
              </a:ext>
            </a:extLst>
          </p:cNvPr>
          <p:cNvSpPr txBox="1"/>
          <p:nvPr/>
        </p:nvSpPr>
        <p:spPr>
          <a:xfrm>
            <a:off x="9324408" y="2549719"/>
            <a:ext cx="762290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DD42A9-22A2-96B9-6D9E-7A6823C60DF7}"/>
              </a:ext>
            </a:extLst>
          </p:cNvPr>
          <p:cNvSpPr txBox="1"/>
          <p:nvPr/>
        </p:nvSpPr>
        <p:spPr>
          <a:xfrm>
            <a:off x="9324408" y="3616464"/>
            <a:ext cx="762290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E2D281-A6CC-B0C2-6E49-F1F7C73DE658}"/>
              </a:ext>
            </a:extLst>
          </p:cNvPr>
          <p:cNvSpPr txBox="1"/>
          <p:nvPr/>
        </p:nvSpPr>
        <p:spPr>
          <a:xfrm>
            <a:off x="9324408" y="4201123"/>
            <a:ext cx="1345379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Aggregated signal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323019-B504-6E82-1EDB-E09041F940F4}"/>
              </a:ext>
            </a:extLst>
          </p:cNvPr>
          <p:cNvSpPr txBox="1"/>
          <p:nvPr/>
        </p:nvSpPr>
        <p:spPr>
          <a:xfrm>
            <a:off x="9324408" y="4631924"/>
            <a:ext cx="1051169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derivative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38A807-DB53-147D-C26C-C45D08C69276}"/>
              </a:ext>
            </a:extLst>
          </p:cNvPr>
          <p:cNvSpPr txBox="1"/>
          <p:nvPr/>
        </p:nvSpPr>
        <p:spPr>
          <a:xfrm>
            <a:off x="9324408" y="5637127"/>
            <a:ext cx="982024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</a:t>
            </a:r>
            <a:r>
              <a:rPr lang="en-US" dirty="0" err="1"/>
              <a:t>annot</a:t>
            </a:r>
            <a:r>
              <a:rPr lang="en-US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7B10F9-7823-DE0A-7364-FAF4C0A9922E}"/>
              </a:ext>
            </a:extLst>
          </p:cNvPr>
          <p:cNvSpPr txBox="1"/>
          <p:nvPr/>
        </p:nvSpPr>
        <p:spPr>
          <a:xfrm>
            <a:off x="9324408" y="1641735"/>
            <a:ext cx="762290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1</a:t>
            </a:r>
          </a:p>
        </p:txBody>
      </p:sp>
    </p:spTree>
    <p:extLst>
      <p:ext uri="{BB962C8B-B14F-4D97-AF65-F5344CB8AC3E}">
        <p14:creationId xmlns:p14="http://schemas.microsoft.com/office/powerpoint/2010/main" val="667850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AAF91F-D850-CD47-7C60-B29884775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680" y="1011143"/>
            <a:ext cx="1421425" cy="50003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78C5FC-A743-CA69-0B4C-4E4615DBE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819" y="1011143"/>
            <a:ext cx="1017887" cy="50003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6E0DCC-554B-5F4D-9C30-0EECA831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ATAC peak callers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5EF19-AF90-EB6B-C2D1-57004E27DA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2227B-D196-D646-BE80-40727070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336BF-3FB1-C048-B4EA-77626BC53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4710963" cy="4883277"/>
          </a:xfrm>
        </p:spPr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Most peak callers were designed before the emergence of ATAC-seq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Few of them directly aim at identifying peaks in chromatin accessibility signals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Since the emergence of ATAC-seq, new peak callers were designed with the identification of peak “shape” in mind.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BD9E3-018E-EB49-8FAD-E3A0CA4A0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F8BDB-4EB1-512E-1158-87F851463E55}"/>
              </a:ext>
            </a:extLst>
          </p:cNvPr>
          <p:cNvSpPr/>
          <p:nvPr/>
        </p:nvSpPr>
        <p:spPr>
          <a:xfrm>
            <a:off x="7593144" y="841639"/>
            <a:ext cx="186777" cy="5345028"/>
          </a:xfrm>
          <a:prstGeom prst="rect">
            <a:avLst/>
          </a:prstGeom>
          <a:solidFill>
            <a:srgbClr val="BFBFBF">
              <a:alpha val="25098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F649B5-C4AD-B238-77E7-5F765B667463}"/>
              </a:ext>
            </a:extLst>
          </p:cNvPr>
          <p:cNvSpPr/>
          <p:nvPr/>
        </p:nvSpPr>
        <p:spPr>
          <a:xfrm>
            <a:off x="8145566" y="841639"/>
            <a:ext cx="223827" cy="5345028"/>
          </a:xfrm>
          <a:prstGeom prst="rect">
            <a:avLst/>
          </a:prstGeom>
          <a:solidFill>
            <a:srgbClr val="BFBFBF">
              <a:alpha val="25098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E0A940-45B6-CD97-64F5-86F4FF9AC246}"/>
              </a:ext>
            </a:extLst>
          </p:cNvPr>
          <p:cNvSpPr/>
          <p:nvPr/>
        </p:nvSpPr>
        <p:spPr>
          <a:xfrm>
            <a:off x="8407490" y="841639"/>
            <a:ext cx="276211" cy="5345028"/>
          </a:xfrm>
          <a:prstGeom prst="rect">
            <a:avLst/>
          </a:prstGeom>
          <a:solidFill>
            <a:srgbClr val="BFBFBF">
              <a:alpha val="25098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DCD13F-82F7-3ACD-C324-9A5BDA6DB611}"/>
              </a:ext>
            </a:extLst>
          </p:cNvPr>
          <p:cNvSpPr txBox="1"/>
          <p:nvPr/>
        </p:nvSpPr>
        <p:spPr>
          <a:xfrm>
            <a:off x="9324408" y="2549719"/>
            <a:ext cx="762290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DD42A9-22A2-96B9-6D9E-7A6823C60DF7}"/>
              </a:ext>
            </a:extLst>
          </p:cNvPr>
          <p:cNvSpPr txBox="1"/>
          <p:nvPr/>
        </p:nvSpPr>
        <p:spPr>
          <a:xfrm>
            <a:off x="9324408" y="3616464"/>
            <a:ext cx="762290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E2D281-A6CC-B0C2-6E49-F1F7C73DE658}"/>
              </a:ext>
            </a:extLst>
          </p:cNvPr>
          <p:cNvSpPr txBox="1"/>
          <p:nvPr/>
        </p:nvSpPr>
        <p:spPr>
          <a:xfrm>
            <a:off x="9324408" y="4201123"/>
            <a:ext cx="1345379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Aggregated signal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323019-B504-6E82-1EDB-E09041F940F4}"/>
              </a:ext>
            </a:extLst>
          </p:cNvPr>
          <p:cNvSpPr txBox="1"/>
          <p:nvPr/>
        </p:nvSpPr>
        <p:spPr>
          <a:xfrm>
            <a:off x="9324408" y="4631924"/>
            <a:ext cx="1051169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derivative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4DC6F2-9AB0-C78B-D1AB-7F17FC77C69E}"/>
              </a:ext>
            </a:extLst>
          </p:cNvPr>
          <p:cNvSpPr txBox="1"/>
          <p:nvPr/>
        </p:nvSpPr>
        <p:spPr>
          <a:xfrm>
            <a:off x="9324408" y="4990925"/>
            <a:ext cx="522453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38A807-DB53-147D-C26C-C45D08C69276}"/>
              </a:ext>
            </a:extLst>
          </p:cNvPr>
          <p:cNvSpPr txBox="1"/>
          <p:nvPr/>
        </p:nvSpPr>
        <p:spPr>
          <a:xfrm>
            <a:off x="9324408" y="5637127"/>
            <a:ext cx="982024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</a:t>
            </a:r>
            <a:r>
              <a:rPr lang="en-US" dirty="0" err="1"/>
              <a:t>annot</a:t>
            </a:r>
            <a:r>
              <a:rPr lang="en-US" dirty="0"/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4A6518-327F-727A-D0C9-1C10FAEDF1F0}"/>
              </a:ext>
            </a:extLst>
          </p:cNvPr>
          <p:cNvSpPr/>
          <p:nvPr/>
        </p:nvSpPr>
        <p:spPr>
          <a:xfrm>
            <a:off x="6461841" y="841639"/>
            <a:ext cx="172482" cy="5345028"/>
          </a:xfrm>
          <a:prstGeom prst="rect">
            <a:avLst/>
          </a:prstGeom>
          <a:solidFill>
            <a:srgbClr val="BFBFBF">
              <a:alpha val="25098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7B10F9-7823-DE0A-7364-FAF4C0A9922E}"/>
              </a:ext>
            </a:extLst>
          </p:cNvPr>
          <p:cNvSpPr txBox="1"/>
          <p:nvPr/>
        </p:nvSpPr>
        <p:spPr>
          <a:xfrm>
            <a:off x="9324408" y="1641735"/>
            <a:ext cx="762290" cy="26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1</a:t>
            </a:r>
          </a:p>
        </p:txBody>
      </p:sp>
    </p:spTree>
    <p:extLst>
      <p:ext uri="{BB962C8B-B14F-4D97-AF65-F5344CB8AC3E}">
        <p14:creationId xmlns:p14="http://schemas.microsoft.com/office/powerpoint/2010/main" val="745662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336BF-3FB1-C048-B4EA-77626BC53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2367857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Most peak callers were designed before the emergence of ATAC-seq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Few of them directly aim at identifying peaks in chromatin accessibility signals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Since the emergence of ATAC-seq, new peak callers were designed with the identification of peak “shape” in mind.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429C842-67D7-CD46-C331-54A484EEFA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E0DCC-554B-5F4D-9C30-0EECA831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ATAC peak callers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2227B-D196-D646-BE80-40727070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BD9E3-018E-EB49-8FAD-E3A0CA4A0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10DD0B39-5552-1C87-E8AB-E6D3E124FCA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922588"/>
            <a:ext cx="12192000" cy="3062287"/>
          </a:xfrm>
        </p:spPr>
        <p:txBody>
          <a:bodyPr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600" b="0" i="0" dirty="0" err="1">
                <a:solidFill>
                  <a:srgbClr val="606C71"/>
                </a:solidFill>
                <a:effectLst/>
              </a:rPr>
              <a:t>yapc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  <a:r>
              <a:rPr lang="en-GB" sz="1600" dirty="0" err="1">
                <a:solidFill>
                  <a:srgbClr val="000080"/>
                </a:solidFill>
              </a:rPr>
              <a:t>output_refix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  <a:r>
              <a:rPr lang="en-GB" sz="1600" b="0" i="0" dirty="0">
                <a:solidFill>
                  <a:srgbClr val="DD1144"/>
                </a:solidFill>
                <a:effectLst/>
              </a:rPr>
              <a:t>\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lang="en-GB" sz="1600" dirty="0">
                <a:solidFill>
                  <a:srgbClr val="606C71"/>
                </a:solidFill>
              </a:rPr>
              <a:t>	sample1 sample1_rep1.bw sample1_rep2.bw </a:t>
            </a:r>
            <a:r>
              <a:rPr lang="en-GB" sz="1600" b="0" i="0" dirty="0">
                <a:solidFill>
                  <a:srgbClr val="DD1144"/>
                </a:solidFill>
                <a:effectLst/>
              </a:rPr>
              <a:t>\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lang="en-GB" sz="1600" dirty="0">
                <a:solidFill>
                  <a:srgbClr val="606C71"/>
                </a:solidFill>
              </a:rPr>
              <a:t>	sample2 sample2_rep1.bw sample2_rep2.bw </a:t>
            </a:r>
            <a:r>
              <a:rPr lang="en-GB" sz="1600" b="0" i="0" dirty="0">
                <a:solidFill>
                  <a:srgbClr val="DD1144"/>
                </a:solidFill>
                <a:effectLst/>
              </a:rPr>
              <a:t>\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lang="en-GB" sz="1600" dirty="0">
                <a:solidFill>
                  <a:srgbClr val="606C71"/>
                </a:solidFill>
              </a:rPr>
              <a:t>	… </a:t>
            </a:r>
            <a:r>
              <a:rPr lang="en-GB" sz="1600" b="0" i="0" dirty="0">
                <a:solidFill>
                  <a:srgbClr val="DD1144"/>
                </a:solidFill>
                <a:effectLst/>
              </a:rPr>
              <a:t>\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</a:p>
          <a:p>
            <a:pPr>
              <a:spcAft>
                <a:spcPts val="0"/>
              </a:spcAft>
            </a:pPr>
            <a:r>
              <a:rPr lang="en-GB" sz="1600" dirty="0">
                <a:solidFill>
                  <a:srgbClr val="606C71"/>
                </a:solidFill>
              </a:rPr>
              <a:t>	</a:t>
            </a:r>
            <a:r>
              <a:rPr lang="en-GB" sz="1600" dirty="0" err="1">
                <a:solidFill>
                  <a:srgbClr val="606C71"/>
                </a:solidFill>
              </a:rPr>
              <a:t>sampleN</a:t>
            </a:r>
            <a:r>
              <a:rPr lang="en-GB" sz="1600" dirty="0">
                <a:solidFill>
                  <a:srgbClr val="606C71"/>
                </a:solidFill>
              </a:rPr>
              <a:t> sampleN_rep1.bw sampleN_rep2.bw</a:t>
            </a:r>
            <a:endParaRPr lang="en-GB" sz="1600" b="0" i="0" dirty="0">
              <a:solidFill>
                <a:srgbClr val="606C7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98059816"/>
      </p:ext>
    </p:extLst>
  </p:cSld>
  <p:clrMapOvr>
    <a:masterClrMapping/>
  </p:clrMapOvr>
</p:sld>
</file>

<file path=ppt/theme/theme1.xml><?xml version="1.0" encoding="utf-8"?>
<a:theme xmlns:a="http://schemas.openxmlformats.org/drawingml/2006/main" name="PasteurIben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steurIbens" id="{082BC117-FEE3-ED4F-B66F-EAD8503ADF60}" vid="{75DD1838-2F74-B64C-8F9C-677C1FFB48A5}"/>
    </a:ext>
  </a:extLst>
</a:theme>
</file>

<file path=ppt/theme/theme2.xml><?xml version="1.0" encoding="utf-8"?>
<a:theme xmlns:a="http://schemas.openxmlformats.org/drawingml/2006/main" name="Physalia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ysalia" id="{69934CF8-A18F-7247-8F23-6766B46F796C}" vid="{9CED6D7E-FF7E-C647-8158-BDC011F06FE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PasteurIbens</Template>
  <TotalTime>1184</TotalTime>
  <Words>893</Words>
  <Application>Microsoft Macintosh PowerPoint</Application>
  <PresentationFormat>Widescreen</PresentationFormat>
  <Paragraphs>151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Avenir</vt:lpstr>
      <vt:lpstr>Calibri</vt:lpstr>
      <vt:lpstr>Comfortaa</vt:lpstr>
      <vt:lpstr>Courier New</vt:lpstr>
      <vt:lpstr>Menlo</vt:lpstr>
      <vt:lpstr>Open Sans</vt:lpstr>
      <vt:lpstr>Wingdings</vt:lpstr>
      <vt:lpstr>PasteurIbens</vt:lpstr>
      <vt:lpstr>Physalia</vt:lpstr>
      <vt:lpstr>ATAC-seq analysis</vt:lpstr>
      <vt:lpstr>Beyond textbook statements: a spectrum of regulatory capacity</vt:lpstr>
      <vt:lpstr>Promoter organization</vt:lpstr>
      <vt:lpstr>Promoter organization</vt:lpstr>
      <vt:lpstr>How to measure chromatin accessibility: originally with nucleases</vt:lpstr>
      <vt:lpstr>How to measure chromatin accessibility: originally with nucleases</vt:lpstr>
      <vt:lpstr>How to measure chromatin accessibility: originally with nucleases</vt:lpstr>
      <vt:lpstr>ATAC-seq: from chromatin to NGS library</vt:lpstr>
      <vt:lpstr>Emergence of other enzymatic or mechanical approaches</vt:lpstr>
      <vt:lpstr>Comparison of the main experimental approaches</vt:lpstr>
      <vt:lpstr>Positive vs. negative measurements</vt:lpstr>
      <vt:lpstr>ATAC-seq downstream analysis</vt:lpstr>
      <vt:lpstr>ATAC peak callers</vt:lpstr>
      <vt:lpstr>ATAC peak callers</vt:lpstr>
      <vt:lpstr>ATAC peak callers</vt:lpstr>
      <vt:lpstr>ATAC peak callers</vt:lpstr>
      <vt:lpstr>ATAC peak callers</vt:lpstr>
      <vt:lpstr>ATAC peak callers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Jacques  SERIZAY</dc:creator>
  <cp:lastModifiedBy>Jacques Serizay</cp:lastModifiedBy>
  <cp:revision>189</cp:revision>
  <dcterms:created xsi:type="dcterms:W3CDTF">2023-06-26T07:22:32Z</dcterms:created>
  <dcterms:modified xsi:type="dcterms:W3CDTF">2025-04-12T19:06:02Z</dcterms:modified>
</cp:coreProperties>
</file>