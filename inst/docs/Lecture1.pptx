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0" r:id="rId1"/>
    <p:sldMasterId id="2147483676" r:id="rId2"/>
  </p:sldMasterIdLst>
  <p:notesMasterIdLst>
    <p:notesMasterId r:id="rId64"/>
  </p:notesMasterIdLst>
  <p:sldIdLst>
    <p:sldId id="256" r:id="rId3"/>
    <p:sldId id="257" r:id="rId4"/>
    <p:sldId id="310" r:id="rId5"/>
    <p:sldId id="311" r:id="rId6"/>
    <p:sldId id="314" r:id="rId7"/>
    <p:sldId id="305" r:id="rId8"/>
    <p:sldId id="317" r:id="rId9"/>
    <p:sldId id="318" r:id="rId10"/>
    <p:sldId id="319" r:id="rId11"/>
    <p:sldId id="320" r:id="rId12"/>
    <p:sldId id="321" r:id="rId13"/>
    <p:sldId id="322" r:id="rId14"/>
    <p:sldId id="315" r:id="rId15"/>
    <p:sldId id="323" r:id="rId16"/>
    <p:sldId id="324" r:id="rId17"/>
    <p:sldId id="325" r:id="rId18"/>
    <p:sldId id="328" r:id="rId19"/>
    <p:sldId id="327" r:id="rId20"/>
    <p:sldId id="329" r:id="rId21"/>
    <p:sldId id="326" r:id="rId22"/>
    <p:sldId id="331" r:id="rId23"/>
    <p:sldId id="353" r:id="rId24"/>
    <p:sldId id="333" r:id="rId25"/>
    <p:sldId id="332" r:id="rId26"/>
    <p:sldId id="335" r:id="rId27"/>
    <p:sldId id="334" r:id="rId28"/>
    <p:sldId id="344" r:id="rId29"/>
    <p:sldId id="336" r:id="rId30"/>
    <p:sldId id="330" r:id="rId31"/>
    <p:sldId id="345" r:id="rId32"/>
    <p:sldId id="346" r:id="rId33"/>
    <p:sldId id="347" r:id="rId34"/>
    <p:sldId id="337" r:id="rId35"/>
    <p:sldId id="338" r:id="rId36"/>
    <p:sldId id="341" r:id="rId37"/>
    <p:sldId id="340" r:id="rId38"/>
    <p:sldId id="342" r:id="rId39"/>
    <p:sldId id="343" r:id="rId40"/>
    <p:sldId id="350" r:id="rId41"/>
    <p:sldId id="352" r:id="rId42"/>
    <p:sldId id="348" r:id="rId43"/>
    <p:sldId id="349" r:id="rId44"/>
    <p:sldId id="359" r:id="rId45"/>
    <p:sldId id="360" r:id="rId46"/>
    <p:sldId id="361" r:id="rId47"/>
    <p:sldId id="362" r:id="rId48"/>
    <p:sldId id="363" r:id="rId49"/>
    <p:sldId id="364" r:id="rId50"/>
    <p:sldId id="365" r:id="rId51"/>
    <p:sldId id="351" r:id="rId52"/>
    <p:sldId id="366" r:id="rId53"/>
    <p:sldId id="367" r:id="rId54"/>
    <p:sldId id="368" r:id="rId55"/>
    <p:sldId id="369" r:id="rId56"/>
    <p:sldId id="370" r:id="rId57"/>
    <p:sldId id="371" r:id="rId58"/>
    <p:sldId id="372" r:id="rId59"/>
    <p:sldId id="373" r:id="rId60"/>
    <p:sldId id="374" r:id="rId61"/>
    <p:sldId id="375" r:id="rId62"/>
    <p:sldId id="376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B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14"/>
    <p:restoredTop sz="96327"/>
  </p:normalViewPr>
  <p:slideViewPr>
    <p:cSldViewPr snapToGrid="0">
      <p:cViewPr varScale="1">
        <p:scale>
          <a:sx n="124" d="100"/>
          <a:sy n="124" d="100"/>
        </p:scale>
        <p:origin x="6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85917-96BC-A94E-B108-436BB51A401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D7AC3-3E93-9544-BDE3-B37120F62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11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expand these observations to </a:t>
            </a:r>
            <a:r>
              <a:rPr lang="en-US" i="1" dirty="0"/>
              <a:t>in vivo</a:t>
            </a:r>
            <a:r>
              <a:rPr lang="en-US" i="0" dirty="0"/>
              <a:t> data. I also want to check what happens in terms of transcriptional dynamics in cells where Cyclin O, a key non-canonical cyclin involved in MCC diff., is knocked-out.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1ECB-A124-AA4D-982B-4CBCFD402A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67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expand these observations to </a:t>
            </a:r>
            <a:r>
              <a:rPr lang="en-US" i="1" dirty="0"/>
              <a:t>in vivo</a:t>
            </a:r>
            <a:r>
              <a:rPr lang="en-US" i="0" dirty="0"/>
              <a:t> data. I also want to check what happens in terms of transcriptional dynamics in cells where Cyclin O, a key non-canonical cyclin involved in MCC diff., is knocked-out.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1ECB-A124-AA4D-982B-4CBCFD402A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01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expand these observations to </a:t>
            </a:r>
            <a:r>
              <a:rPr lang="en-US" i="1" dirty="0"/>
              <a:t>in vivo</a:t>
            </a:r>
            <a:r>
              <a:rPr lang="en-US" i="0" dirty="0"/>
              <a:t> data. I also want to check what happens in terms of transcriptional dynamics in cells where Cyclin O, a key non-canonical cyclin involved in MCC diff., is knocked-out.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1ECB-A124-AA4D-982B-4CBCFD402A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2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expand these observations to </a:t>
            </a:r>
            <a:r>
              <a:rPr lang="en-US" i="1" dirty="0"/>
              <a:t>in vivo</a:t>
            </a:r>
            <a:r>
              <a:rPr lang="en-US" i="0" dirty="0"/>
              <a:t> data. I also want to check what happens in terms of transcriptional dynamics in cells where Cyclin O, a key non-canonical cyclin involved in MCC diff., is knocked-out.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1ECB-A124-AA4D-982B-4CBCFD402A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82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expand these observations to </a:t>
            </a:r>
            <a:r>
              <a:rPr lang="en-US" i="1" dirty="0"/>
              <a:t>in vivo</a:t>
            </a:r>
            <a:r>
              <a:rPr lang="en-US" i="0" dirty="0"/>
              <a:t> data. I also want to check what happens in terms of transcriptional dynamics in cells where Cyclin O, a key non-canonical cyclin involved in MCC diff., is knocked-out.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1ECB-A124-AA4D-982B-4CBCFD402A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91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expand these observations to </a:t>
            </a:r>
            <a:r>
              <a:rPr lang="en-US" i="1" dirty="0"/>
              <a:t>in vivo</a:t>
            </a:r>
            <a:r>
              <a:rPr lang="en-US" i="0" dirty="0"/>
              <a:t> data. I also want to check what happens in terms of transcriptional dynamics in cells where Cyclin O, a key non-canonical cyclin involved in MCC diff., is knocked-out.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1ECB-A124-AA4D-982B-4CBCFD402A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7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expand these observations to </a:t>
            </a:r>
            <a:r>
              <a:rPr lang="en-US" i="1" dirty="0"/>
              <a:t>in vivo</a:t>
            </a:r>
            <a:r>
              <a:rPr lang="en-US" i="0" dirty="0"/>
              <a:t> data. I also want to check what happens in terms of transcriptional dynamics in cells where Cyclin O, a key non-canonical cyclin involved in MCC diff., is knocked-out.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1ECB-A124-AA4D-982B-4CBCFD402A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95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expand these observations to </a:t>
            </a:r>
            <a:r>
              <a:rPr lang="en-US" i="1" dirty="0"/>
              <a:t>in vivo</a:t>
            </a:r>
            <a:r>
              <a:rPr lang="en-US" i="0" dirty="0"/>
              <a:t> data. I also want to check what happens in terms of transcriptional dynamics in cells where Cyclin O, a key non-canonical cyclin involved in MCC diff., is knocked-out.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1ECB-A124-AA4D-982B-4CBCFD402A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52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expand these observations to </a:t>
            </a:r>
            <a:r>
              <a:rPr lang="en-US" i="1" dirty="0"/>
              <a:t>in vivo</a:t>
            </a:r>
            <a:r>
              <a:rPr lang="en-US" i="0" dirty="0"/>
              <a:t> data. I also want to check what happens in terms of transcriptional dynamics in cells where Cyclin O, a key non-canonical cyclin involved in MCC diff., is knocked-out.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1ECB-A124-AA4D-982B-4CBCFD402A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14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expand these observations to </a:t>
            </a:r>
            <a:r>
              <a:rPr lang="en-US" i="1" dirty="0"/>
              <a:t>in vivo</a:t>
            </a:r>
            <a:r>
              <a:rPr lang="en-US" i="0" dirty="0"/>
              <a:t> data. I also want to check what happens in terms of transcriptional dynamics in cells where Cyclin O, a key non-canonical cyclin involved in MCC diff., is knocked-out.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1ECB-A124-AA4D-982B-4CBCFD402A5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063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expand these observations to </a:t>
            </a:r>
            <a:r>
              <a:rPr lang="en-US" i="1" dirty="0"/>
              <a:t>in vivo</a:t>
            </a:r>
            <a:r>
              <a:rPr lang="en-US" i="0" dirty="0"/>
              <a:t> data. I also want to check what happens in terms of transcriptional dynamics in cells where Cyclin O, a key non-canonical cyclin involved in MCC diff., is knocked-out.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1ECB-A124-AA4D-982B-4CBCFD402A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93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expand these observations to </a:t>
            </a:r>
            <a:r>
              <a:rPr lang="en-US" i="1" dirty="0"/>
              <a:t>in vivo</a:t>
            </a:r>
            <a:r>
              <a:rPr lang="en-US" i="0" dirty="0"/>
              <a:t> data. I also want to check what happens in terms of transcriptional dynamics in cells where Cyclin O, a key non-canonical cyclin involved in MCC diff., is knocked-out.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1ECB-A124-AA4D-982B-4CBCFD402A5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53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expand these observations to </a:t>
            </a:r>
            <a:r>
              <a:rPr lang="en-US" i="1" dirty="0"/>
              <a:t>in vivo</a:t>
            </a:r>
            <a:r>
              <a:rPr lang="en-US" i="0" dirty="0"/>
              <a:t> data. I also want to check what happens in terms of transcriptional dynamics in cells where Cyclin O, a key non-canonical cyclin involved in MCC diff., is knocked-out.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1ECB-A124-AA4D-982B-4CBCFD402A5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935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expand these observations to </a:t>
            </a:r>
            <a:r>
              <a:rPr lang="en-US" i="1" dirty="0"/>
              <a:t>in vivo</a:t>
            </a:r>
            <a:r>
              <a:rPr lang="en-US" i="0" dirty="0"/>
              <a:t> data. I also want to check what happens in terms of transcriptional dynamics in cells where Cyclin O, a key non-canonical cyclin involved in MCC diff., is knocked-out.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21ECB-A124-AA4D-982B-4CBCFD402A5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488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tif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298B4-CBF1-A27B-8D25-C419C3CAD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102" y="194835"/>
            <a:ext cx="1827329" cy="498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2AF4F5-29E0-2B33-92C6-CE5EF5BBD02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17596" y="-103400"/>
            <a:ext cx="2259506" cy="112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98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363CF6F2-FFCC-A044-F740-D3124ECBF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CE3CA2-68AC-7035-AD06-B998211FB25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61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09859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40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E540942B-247F-A801-9F56-58FABF5C3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BBE6AF-EEDA-0260-4F7F-1540DBFC67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26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50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72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122F163-4E41-A425-055F-31E35A814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189" y="5394961"/>
            <a:ext cx="2587811" cy="145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991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E93C2-6544-85EA-AA67-941E7AC3F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136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64119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CF294A-06F4-3E28-947D-A951D1C6D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712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22516-0AF4-B0FD-F224-516E3D63E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68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154C1-BADA-FCD4-0D33-C98DC8B15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945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99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5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5" r:id="rId3"/>
    <p:sldLayoutId id="2147483674" r:id="rId4"/>
    <p:sldLayoutId id="2147483672" r:id="rId5"/>
    <p:sldLayoutId id="2147483664" r:id="rId6"/>
    <p:sldLayoutId id="214748367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7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support.illumina.com/content/dam/illumina-support/documents/documentation/software_documentation/bcl2fastq/bcl2fastq_letterbooklet_15038058brpmi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deeptools.readthedocs.io/en/latest/content/list_of_tools.html" TargetMode="Externa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19899D-021E-02BA-CBD8-FEA50B253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22363"/>
            <a:ext cx="11582400" cy="2387600"/>
          </a:xfrm>
        </p:spPr>
        <p:txBody>
          <a:bodyPr>
            <a:normAutofit/>
          </a:bodyPr>
          <a:lstStyle/>
          <a:p>
            <a:r>
              <a:rPr lang="en-GB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Processing NGS data</a:t>
            </a:r>
            <a:endParaRPr lang="en-US" sz="30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07EAE9F-3B09-09D5-50EC-A51FBB06A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Epigenomics Data Analysis</a:t>
            </a:r>
          </a:p>
          <a:p>
            <a:r>
              <a:rPr lang="en-US" dirty="0"/>
              <a:t>Jacques </a:t>
            </a:r>
            <a:r>
              <a:rPr lang="en-US" dirty="0" err="1"/>
              <a:t>Serizay</a:t>
            </a:r>
            <a:endParaRPr lang="en-US" dirty="0"/>
          </a:p>
          <a:p>
            <a:r>
              <a:rPr lang="en-US" dirty="0" err="1"/>
              <a:t>Physalia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53455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FD2A-0CB0-1B9A-E68A-A65D8052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NGS processing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822C-F7B4-3FB1-DA34-BA28D1A0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B7CF0-8450-4467-4301-EACF8823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475DBBCC-FD56-44EB-CABA-0E141E8704D8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Create </a:t>
            </a:r>
            <a:r>
              <a:rPr lang="en-US" sz="180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fastq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/>
          </a:p>
        </p:txBody>
      </p:sp>
      <p:sp>
        <p:nvSpPr>
          <p:cNvPr id="8" name="Google Shape;115;p3">
            <a:extLst>
              <a:ext uri="{FF2B5EF4-FFF2-40B4-BE49-F238E27FC236}">
                <a16:creationId xmlns:a16="http://schemas.microsoft.com/office/drawing/2014/main" id="{63772205-33BB-9414-8F90-1D2741AC4707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9" name="Google Shape;116;p3">
            <a:extLst>
              <a:ext uri="{FF2B5EF4-FFF2-40B4-BE49-F238E27FC236}">
                <a16:creationId xmlns:a16="http://schemas.microsoft.com/office/drawing/2014/main" id="{13430172-6972-6C8D-A7DE-3535BDE93D62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Align fastq to BAM</a:t>
            </a:r>
            <a:endParaRPr/>
          </a:p>
        </p:txBody>
      </p:sp>
      <p:sp>
        <p:nvSpPr>
          <p:cNvPr id="10" name="Google Shape;117;p3">
            <a:extLst>
              <a:ext uri="{FF2B5EF4-FFF2-40B4-BE49-F238E27FC236}">
                <a16:creationId xmlns:a16="http://schemas.microsoft.com/office/drawing/2014/main" id="{06792DEA-F505-21D8-66C1-AF3C7C494291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12" name="Google Shape;119;p3">
            <a:extLst>
              <a:ext uri="{FF2B5EF4-FFF2-40B4-BE49-F238E27FC236}">
                <a16:creationId xmlns:a16="http://schemas.microsoft.com/office/drawing/2014/main" id="{0D2E17F9-07E1-C1C6-48C4-9AE48A66864D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Generate tracks</a:t>
            </a:r>
            <a:endParaRPr dirty="0"/>
          </a:p>
        </p:txBody>
      </p:sp>
      <p:sp>
        <p:nvSpPr>
          <p:cNvPr id="13" name="Google Shape;120;p3">
            <a:extLst>
              <a:ext uri="{FF2B5EF4-FFF2-40B4-BE49-F238E27FC236}">
                <a16:creationId xmlns:a16="http://schemas.microsoft.com/office/drawing/2014/main" id="{43356328-5680-A378-EC43-16AF4BD100E3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15" name="Google Shape;126;p3">
            <a:extLst>
              <a:ext uri="{FF2B5EF4-FFF2-40B4-BE49-F238E27FC236}">
                <a16:creationId xmlns:a16="http://schemas.microsoft.com/office/drawing/2014/main" id="{1B4CEBE4-E85F-0555-4679-ADAADAEF635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7;p3">
            <a:extLst>
              <a:ext uri="{FF2B5EF4-FFF2-40B4-BE49-F238E27FC236}">
                <a16:creationId xmlns:a16="http://schemas.microsoft.com/office/drawing/2014/main" id="{2EAB0726-8197-A67A-1F67-4D4C06AB15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8;p3">
            <a:extLst>
              <a:ext uri="{FF2B5EF4-FFF2-40B4-BE49-F238E27FC236}">
                <a16:creationId xmlns:a16="http://schemas.microsoft.com/office/drawing/2014/main" id="{F97BE676-2A9F-F292-53EE-8FD9EC28E7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9;p3">
            <a:extLst>
              <a:ext uri="{FF2B5EF4-FFF2-40B4-BE49-F238E27FC236}">
                <a16:creationId xmlns:a16="http://schemas.microsoft.com/office/drawing/2014/main" id="{0093AA5C-1C28-9157-C7BE-9ECD95F61A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0;p3">
            <a:extLst>
              <a:ext uri="{FF2B5EF4-FFF2-40B4-BE49-F238E27FC236}">
                <a16:creationId xmlns:a16="http://schemas.microsoft.com/office/drawing/2014/main" id="{44924E93-CC86-553A-5113-3FEA1BA25F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2;p3">
            <a:extLst>
              <a:ext uri="{FF2B5EF4-FFF2-40B4-BE49-F238E27FC236}">
                <a16:creationId xmlns:a16="http://schemas.microsoft.com/office/drawing/2014/main" id="{37AB8DAE-FC9C-AF39-8398-80805C5ED7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3;p3">
            <a:extLst>
              <a:ext uri="{FF2B5EF4-FFF2-40B4-BE49-F238E27FC236}">
                <a16:creationId xmlns:a16="http://schemas.microsoft.com/office/drawing/2014/main" id="{15BC622C-FBF8-FD56-733D-6EDFA156FD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4;p3">
            <a:extLst>
              <a:ext uri="{FF2B5EF4-FFF2-40B4-BE49-F238E27FC236}">
                <a16:creationId xmlns:a16="http://schemas.microsoft.com/office/drawing/2014/main" id="{2A6B4207-5D7A-AB98-7C78-41873A1447E2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1648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A622-8769-8E41-A8E6-B018F2786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</p:spPr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bcl</a:t>
            </a:r>
            <a:r>
              <a:rPr lang="en-US" dirty="0"/>
              <a:t> files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77EA2A-6C2D-1288-8E04-A7EA99AC7B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183EA-9C37-E00E-D634-8F02A0821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6412330" cy="4883277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rgbClr val="4D5156"/>
                </a:solidFill>
                <a:latin typeface="arial" panose="020B0604020202020204" pitchFamily="34" charset="0"/>
              </a:rPr>
              <a:t>.</a:t>
            </a:r>
            <a:r>
              <a:rPr lang="en-GB" dirty="0" err="1">
                <a:solidFill>
                  <a:srgbClr val="4D5156"/>
                </a:solidFill>
                <a:latin typeface="arial" panose="020B0604020202020204" pitchFamily="34" charset="0"/>
              </a:rPr>
              <a:t>bcl</a:t>
            </a:r>
            <a:r>
              <a:rPr lang="en-GB" dirty="0">
                <a:solidFill>
                  <a:srgbClr val="4D5156"/>
                </a:solidFill>
                <a:latin typeface="arial" panose="020B0604020202020204" pitchFamily="34" charset="0"/>
              </a:rPr>
              <a:t>: </a:t>
            </a:r>
          </a:p>
          <a:p>
            <a:endParaRPr lang="en-GB" dirty="0">
              <a:solidFill>
                <a:srgbClr val="4D5156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b="1" dirty="0">
                <a:solidFill>
                  <a:srgbClr val="4D5156"/>
                </a:solidFill>
                <a:latin typeface="arial" panose="020B0604020202020204" pitchFamily="34" charset="0"/>
              </a:rPr>
              <a:t>Raw data </a:t>
            </a:r>
            <a:r>
              <a:rPr lang="en-GB" dirty="0">
                <a:solidFill>
                  <a:srgbClr val="4D5156"/>
                </a:solidFill>
                <a:latin typeface="arial" panose="020B0604020202020204" pitchFamily="34" charset="0"/>
              </a:rPr>
              <a:t>output of a sequencing run</a:t>
            </a:r>
          </a:p>
          <a:p>
            <a:pPr marL="285750" indent="-285750">
              <a:buFontTx/>
              <a:buChar char="-"/>
            </a:pPr>
            <a:r>
              <a:rPr lang="en-GB" b="1" dirty="0">
                <a:solidFill>
                  <a:srgbClr val="4D5156"/>
                </a:solidFill>
                <a:latin typeface="arial" panose="020B0604020202020204" pitchFamily="34" charset="0"/>
              </a:rPr>
              <a:t>Binary</a:t>
            </a:r>
            <a:r>
              <a:rPr lang="en-GB" dirty="0">
                <a:solidFill>
                  <a:srgbClr val="4D5156"/>
                </a:solidFill>
                <a:latin typeface="arial" panose="020B0604020202020204" pitchFamily="34" charset="0"/>
              </a:rPr>
              <a:t>, non-human-readable file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rgbClr val="4D5156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rgbClr val="4D5156"/>
                </a:solidFill>
                <a:latin typeface="arial" panose="020B0604020202020204" pitchFamily="34" charset="0"/>
              </a:rPr>
              <a:t>Contains the </a:t>
            </a:r>
            <a:r>
              <a:rPr lang="en-GB" b="1" dirty="0">
                <a:solidFill>
                  <a:srgbClr val="4D5156"/>
                </a:solidFill>
                <a:latin typeface="arial" panose="020B0604020202020204" pitchFamily="34" charset="0"/>
              </a:rPr>
              <a:t>base calling</a:t>
            </a:r>
            <a:r>
              <a:rPr lang="en-GB" dirty="0">
                <a:solidFill>
                  <a:srgbClr val="4D5156"/>
                </a:solidFill>
                <a:latin typeface="arial" panose="020B0604020202020204" pitchFamily="34" charset="0"/>
              </a:rPr>
              <a:t> and </a:t>
            </a:r>
            <a:r>
              <a:rPr lang="en-GB" b="1" dirty="0">
                <a:solidFill>
                  <a:srgbClr val="4D5156"/>
                </a:solidFill>
                <a:latin typeface="arial" panose="020B0604020202020204" pitchFamily="34" charset="0"/>
              </a:rPr>
              <a:t>quality score</a:t>
            </a:r>
            <a:r>
              <a:rPr lang="en-GB" dirty="0">
                <a:solidFill>
                  <a:srgbClr val="4D5156"/>
                </a:solidFill>
                <a:latin typeface="arial" panose="020B0604020202020204" pitchFamily="34" charset="0"/>
              </a:rPr>
              <a:t> </a:t>
            </a:r>
            <a:r>
              <a:rPr lang="en-GB" b="1" dirty="0">
                <a:solidFill>
                  <a:srgbClr val="4D5156"/>
                </a:solidFill>
                <a:latin typeface="arial" panose="020B0604020202020204" pitchFamily="34" charset="0"/>
              </a:rPr>
              <a:t>per cluster, per sequencing lane, per cycle</a:t>
            </a:r>
          </a:p>
          <a:p>
            <a:pPr marL="285750" indent="-285750">
              <a:buFontTx/>
              <a:buChar char="-"/>
            </a:pPr>
            <a:endParaRPr lang="en-GB" b="1" dirty="0">
              <a:solidFill>
                <a:srgbClr val="4D5156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b="1" dirty="0">
                <a:solidFill>
                  <a:srgbClr val="4D5156"/>
                </a:solidFill>
                <a:latin typeface="arial" panose="020B0604020202020204" pitchFamily="34" charset="0"/>
              </a:rPr>
              <a:t>Huge files</a:t>
            </a:r>
          </a:p>
          <a:p>
            <a:pPr marL="285750" indent="-285750">
              <a:buFontTx/>
              <a:buChar char="-"/>
            </a:pPr>
            <a:r>
              <a:rPr lang="en-GB" b="1" dirty="0">
                <a:solidFill>
                  <a:srgbClr val="4D5156"/>
                </a:solidFill>
                <a:latin typeface="arial" panose="020B0604020202020204" pitchFamily="34" charset="0"/>
              </a:rPr>
              <a:t>No aggregated sequence per read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08CCF7-CE02-F6AC-08D5-E97ECDF76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420" y="1571946"/>
            <a:ext cx="3230820" cy="3857946"/>
          </a:xfrm>
          <a:prstGeom prst="rect">
            <a:avLst/>
          </a:prstGeom>
        </p:spPr>
      </p:pic>
      <p:pic>
        <p:nvPicPr>
          <p:cNvPr id="1026" name="Picture 2" descr="Eppendorf Opened Clip Art At Clker Com - Eppendorf Tube PNG Image |  Transparent PNG Free Download on SeekPNG">
            <a:extLst>
              <a:ext uri="{FF2B5EF4-FFF2-40B4-BE49-F238E27FC236}">
                <a16:creationId xmlns:a16="http://schemas.microsoft.com/office/drawing/2014/main" id="{DE73927E-4FC2-967F-C3DA-33C19A428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968" y="1468576"/>
            <a:ext cx="978032" cy="80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quencing Platforms | Illumina NGS platforms">
            <a:extLst>
              <a:ext uri="{FF2B5EF4-FFF2-40B4-BE49-F238E27FC236}">
                <a16:creationId xmlns:a16="http://schemas.microsoft.com/office/drawing/2014/main" id="{D6C2B25E-9853-A483-FE12-29FE46A53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5076" y="1376737"/>
            <a:ext cx="2038160" cy="986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D6DC289C-8180-5B48-FF6B-588E496A2D9F}"/>
              </a:ext>
            </a:extLst>
          </p:cNvPr>
          <p:cNvSpPr/>
          <p:nvPr/>
        </p:nvSpPr>
        <p:spPr>
          <a:xfrm>
            <a:off x="6096000" y="1695236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693FD2AD-8B45-8A94-927A-2297D7246F75}"/>
              </a:ext>
            </a:extLst>
          </p:cNvPr>
          <p:cNvSpPr/>
          <p:nvPr/>
        </p:nvSpPr>
        <p:spPr>
          <a:xfrm>
            <a:off x="8284395" y="1695236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C73EE4-C17F-30A3-AEC5-54AD34939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44C752-991E-20A5-A4B3-ADCA9DA4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56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FD2A-0CB0-1B9A-E68A-A65D8052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NGS processing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822C-F7B4-3FB1-DA34-BA28D1A0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B7CF0-8450-4467-4301-EACF8823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475DBBCC-FD56-44EB-CABA-0E141E8704D8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Create </a:t>
            </a:r>
            <a:r>
              <a:rPr lang="en-US" sz="1800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fastq</a:t>
            </a: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/>
          </a:p>
        </p:txBody>
      </p:sp>
      <p:pic>
        <p:nvPicPr>
          <p:cNvPr id="15" name="Google Shape;126;p3">
            <a:extLst>
              <a:ext uri="{FF2B5EF4-FFF2-40B4-BE49-F238E27FC236}">
                <a16:creationId xmlns:a16="http://schemas.microsoft.com/office/drawing/2014/main" id="{1B4CEBE4-E85F-0555-4679-ADAADAEF635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7;p3">
            <a:extLst>
              <a:ext uri="{FF2B5EF4-FFF2-40B4-BE49-F238E27FC236}">
                <a16:creationId xmlns:a16="http://schemas.microsoft.com/office/drawing/2014/main" id="{2EAB0726-8197-A67A-1F67-4D4C06AB15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8;p3">
            <a:extLst>
              <a:ext uri="{FF2B5EF4-FFF2-40B4-BE49-F238E27FC236}">
                <a16:creationId xmlns:a16="http://schemas.microsoft.com/office/drawing/2014/main" id="{F97BE676-2A9F-F292-53EE-8FD9EC28E7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9;p3">
            <a:extLst>
              <a:ext uri="{FF2B5EF4-FFF2-40B4-BE49-F238E27FC236}">
                <a16:creationId xmlns:a16="http://schemas.microsoft.com/office/drawing/2014/main" id="{0093AA5C-1C28-9157-C7BE-9ECD95F61A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0;p3">
            <a:extLst>
              <a:ext uri="{FF2B5EF4-FFF2-40B4-BE49-F238E27FC236}">
                <a16:creationId xmlns:a16="http://schemas.microsoft.com/office/drawing/2014/main" id="{44924E93-CC86-553A-5113-3FEA1BA25F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2;p3">
            <a:extLst>
              <a:ext uri="{FF2B5EF4-FFF2-40B4-BE49-F238E27FC236}">
                <a16:creationId xmlns:a16="http://schemas.microsoft.com/office/drawing/2014/main" id="{37AB8DAE-FC9C-AF39-8398-80805C5ED7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3;p3">
            <a:extLst>
              <a:ext uri="{FF2B5EF4-FFF2-40B4-BE49-F238E27FC236}">
                <a16:creationId xmlns:a16="http://schemas.microsoft.com/office/drawing/2014/main" id="{15BC622C-FBF8-FD56-733D-6EDFA156FD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4;p3">
            <a:extLst>
              <a:ext uri="{FF2B5EF4-FFF2-40B4-BE49-F238E27FC236}">
                <a16:creationId xmlns:a16="http://schemas.microsoft.com/office/drawing/2014/main" id="{2A6B4207-5D7A-AB98-7C78-41873A1447E2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Google Shape;115;p3">
            <a:extLst>
              <a:ext uri="{FF2B5EF4-FFF2-40B4-BE49-F238E27FC236}">
                <a16:creationId xmlns:a16="http://schemas.microsoft.com/office/drawing/2014/main" id="{63772205-33BB-9414-8F90-1D2741AC4707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9" name="Google Shape;116;p3">
            <a:extLst>
              <a:ext uri="{FF2B5EF4-FFF2-40B4-BE49-F238E27FC236}">
                <a16:creationId xmlns:a16="http://schemas.microsoft.com/office/drawing/2014/main" id="{13430172-6972-6C8D-A7DE-3535BDE93D62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Align fastq to BAM</a:t>
            </a:r>
            <a:endParaRPr/>
          </a:p>
        </p:txBody>
      </p:sp>
      <p:sp>
        <p:nvSpPr>
          <p:cNvPr id="10" name="Google Shape;117;p3">
            <a:extLst>
              <a:ext uri="{FF2B5EF4-FFF2-40B4-BE49-F238E27FC236}">
                <a16:creationId xmlns:a16="http://schemas.microsoft.com/office/drawing/2014/main" id="{06792DEA-F505-21D8-66C1-AF3C7C494291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12" name="Google Shape;119;p3">
            <a:extLst>
              <a:ext uri="{FF2B5EF4-FFF2-40B4-BE49-F238E27FC236}">
                <a16:creationId xmlns:a16="http://schemas.microsoft.com/office/drawing/2014/main" id="{0D2E17F9-07E1-C1C6-48C4-9AE48A66864D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Generate tracks</a:t>
            </a:r>
            <a:endParaRPr dirty="0"/>
          </a:p>
        </p:txBody>
      </p:sp>
      <p:sp>
        <p:nvSpPr>
          <p:cNvPr id="13" name="Google Shape;120;p3">
            <a:extLst>
              <a:ext uri="{FF2B5EF4-FFF2-40B4-BE49-F238E27FC236}">
                <a16:creationId xmlns:a16="http://schemas.microsoft.com/office/drawing/2014/main" id="{43356328-5680-A378-EC43-16AF4BD100E3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25" name="Picture 4" descr="Sequencing Platforms | Illumina NGS platforms">
            <a:extLst>
              <a:ext uri="{FF2B5EF4-FFF2-40B4-BE49-F238E27FC236}">
                <a16:creationId xmlns:a16="http://schemas.microsoft.com/office/drawing/2014/main" id="{F3C7BDB5-490C-6974-C598-92FA0AA56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039587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BF4D2964-04E5-E280-7027-216CB053E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945355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687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A622-8769-8E41-A8E6-B018F278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Fastq</a:t>
            </a:r>
            <a:r>
              <a:rPr lang="en-US" dirty="0"/>
              <a:t> files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EA68CB-EDB1-5CC5-31DE-EA448C7F15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CFB673-77A5-7771-9419-12148DCFD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ea typeface="Avenir"/>
                <a:sym typeface="Avenir"/>
              </a:rPr>
              <a:t>A </a:t>
            </a:r>
            <a:r>
              <a:rPr lang="en-US" dirty="0" err="1">
                <a:ea typeface="Avenir"/>
                <a:sym typeface="Avenir"/>
              </a:rPr>
              <a:t>fastq</a:t>
            </a:r>
            <a:r>
              <a:rPr lang="en-US" dirty="0">
                <a:ea typeface="Avenir"/>
                <a:sym typeface="Avenir"/>
              </a:rPr>
              <a:t> file contains reads, each read is composed of 4 lines:</a:t>
            </a:r>
            <a:endParaRPr lang="en-US" b="1" dirty="0">
              <a:sym typeface="Avenir"/>
            </a:endParaRPr>
          </a:p>
          <a:p>
            <a:pPr marL="342900" lvl="0" indent="-342900">
              <a:buClr>
                <a:schemeClr val="dk1"/>
              </a:buClr>
              <a:buSzPts val="1800"/>
              <a:buFont typeface="Avenir"/>
              <a:buAutoNum type="arabicPeriod"/>
            </a:pPr>
            <a:r>
              <a:rPr lang="en-US" dirty="0">
                <a:solidFill>
                  <a:schemeClr val="dk1"/>
                </a:solidFill>
                <a:ea typeface="Avenir"/>
                <a:sym typeface="Avenir"/>
              </a:rPr>
              <a:t>A sequence identifier with information about the sequencing run</a:t>
            </a:r>
            <a:endParaRPr lang="en-US" dirty="0"/>
          </a:p>
          <a:p>
            <a:pPr marL="342900" lvl="0" indent="-342900">
              <a:buClr>
                <a:schemeClr val="dk1"/>
              </a:buClr>
              <a:buSzPts val="1800"/>
              <a:buFont typeface="Avenir"/>
              <a:buAutoNum type="arabicPeriod"/>
            </a:pPr>
            <a:r>
              <a:rPr lang="en-US" dirty="0">
                <a:solidFill>
                  <a:schemeClr val="dk1"/>
                </a:solidFill>
                <a:ea typeface="Avenir"/>
                <a:sym typeface="Avenir"/>
              </a:rPr>
              <a:t>The sequence (the base calls; A, C, T, G and N).</a:t>
            </a:r>
            <a:endParaRPr lang="en-US" dirty="0"/>
          </a:p>
          <a:p>
            <a:pPr marL="342900" lvl="0" indent="-342900"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dirty="0">
                <a:solidFill>
                  <a:schemeClr val="dk1"/>
                </a:solidFill>
                <a:ea typeface="Avenir"/>
                <a:sym typeface="Avenir"/>
              </a:rPr>
              <a:t>A separator, which is simply a plus (+) sign.</a:t>
            </a:r>
            <a:endParaRPr lang="en-US" dirty="0"/>
          </a:p>
          <a:p>
            <a:pPr marL="342900" lvl="0" indent="-342900"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dirty="0">
                <a:solidFill>
                  <a:schemeClr val="dk1"/>
                </a:solidFill>
                <a:ea typeface="Avenir"/>
                <a:sym typeface="Avenir"/>
              </a:rPr>
              <a:t>The base call quality scores, using ASCII characters to represent the numerical quality scores.</a:t>
            </a:r>
            <a:endParaRPr lang="en-US" dirty="0"/>
          </a:p>
          <a:p>
            <a:pPr lvl="0"/>
            <a:endParaRPr lang="en-US" b="1" dirty="0"/>
          </a:p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087FBA1-D080-2548-AE47-E968410F1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7786"/>
            <a:ext cx="12192000" cy="1774423"/>
          </a:xfrm>
          <a:prstGeom prst="rect">
            <a:avLst/>
          </a:prstGeom>
        </p:spPr>
      </p:pic>
      <p:sp>
        <p:nvSpPr>
          <p:cNvPr id="25" name="Google Shape;196;p7">
            <a:extLst>
              <a:ext uri="{FF2B5EF4-FFF2-40B4-BE49-F238E27FC236}">
                <a16:creationId xmlns:a16="http://schemas.microsoft.com/office/drawing/2014/main" id="{A52AC17A-7E43-9E4B-A0CA-985573841091}"/>
              </a:ext>
            </a:extLst>
          </p:cNvPr>
          <p:cNvSpPr/>
          <p:nvPr/>
        </p:nvSpPr>
        <p:spPr>
          <a:xfrm>
            <a:off x="0" y="3926360"/>
            <a:ext cx="12192000" cy="76892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92C62-0DF3-FF12-C644-FF7A0C6FC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039A3-DEF0-F17D-9E8C-FB004D4C0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00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A622-8769-8E41-A8E6-B018F278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bcl2fastq</a:t>
            </a:r>
          </a:p>
        </p:txBody>
      </p:sp>
      <p:sp>
        <p:nvSpPr>
          <p:cNvPr id="35" name="Google Shape;166;p5">
            <a:extLst>
              <a:ext uri="{FF2B5EF4-FFF2-40B4-BE49-F238E27FC236}">
                <a16:creationId xmlns:a16="http://schemas.microsoft.com/office/drawing/2014/main" id="{0B13F89E-9FA5-B04F-B53C-8FC8376875A4}"/>
              </a:ext>
            </a:extLst>
          </p:cNvPr>
          <p:cNvSpPr/>
          <p:nvPr/>
        </p:nvSpPr>
        <p:spPr>
          <a:xfrm>
            <a:off x="513709" y="1420834"/>
            <a:ext cx="113540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Avenir"/>
              </a:rPr>
              <a:t>bcl2fastq --run-folder-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Avenir"/>
              </a:rPr>
              <a:t>dir</a:t>
            </a: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Avenir"/>
              </a:rPr>
              <a:t> &lt;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Avenir"/>
              </a:rPr>
              <a:t>bcl_files_folder</a:t>
            </a: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Avenir"/>
              </a:rPr>
              <a:t>&gt; --output-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Avenir"/>
              </a:rPr>
              <a:t>dir</a:t>
            </a: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Avenir"/>
              </a:rPr>
              <a:t> &lt;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Avenir"/>
              </a:rPr>
              <a:t>fastq_files_folder</a:t>
            </a: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Avenir"/>
              </a:rPr>
              <a:t>&gt;</a:t>
            </a:r>
            <a:endParaRPr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36" name="Google Shape;167;p5">
            <a:extLst>
              <a:ext uri="{FF2B5EF4-FFF2-40B4-BE49-F238E27FC236}">
                <a16:creationId xmlns:a16="http://schemas.microsoft.com/office/drawing/2014/main" id="{FD7A8F02-C905-C04C-9FCD-3199D36D7A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2541" r="17636" b="46870"/>
          <a:stretch/>
        </p:blipFill>
        <p:spPr>
          <a:xfrm>
            <a:off x="2671108" y="2456677"/>
            <a:ext cx="7039252" cy="194464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69;p5">
            <a:extLst>
              <a:ext uri="{FF2B5EF4-FFF2-40B4-BE49-F238E27FC236}">
                <a16:creationId xmlns:a16="http://schemas.microsoft.com/office/drawing/2014/main" id="{99F832C8-AB0C-3B42-9DBA-0C8497EEE37C}"/>
              </a:ext>
            </a:extLst>
          </p:cNvPr>
          <p:cNvSpPr/>
          <p:nvPr/>
        </p:nvSpPr>
        <p:spPr>
          <a:xfrm>
            <a:off x="612547" y="5131197"/>
            <a:ext cx="1115637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https://support.illumina.com/content/dam/illumina-support/documents/documentation/software_documentation/bcl2fastq/bcl2fastq_letterbooklet_15038058brpmi.pdf</a:t>
            </a:r>
            <a:endParaRPr sz="1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" name="Google Shape;170;p5">
            <a:extLst>
              <a:ext uri="{FF2B5EF4-FFF2-40B4-BE49-F238E27FC236}">
                <a16:creationId xmlns:a16="http://schemas.microsoft.com/office/drawing/2014/main" id="{719FC225-0A30-A043-B915-07CC669ACC19}"/>
              </a:ext>
            </a:extLst>
          </p:cNvPr>
          <p:cNvSpPr/>
          <p:nvPr/>
        </p:nvSpPr>
        <p:spPr>
          <a:xfrm>
            <a:off x="612547" y="4790836"/>
            <a:ext cx="111563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User guide: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6EAB5-ABCD-AA04-4E59-9D53F26979B9}"/>
              </a:ext>
            </a:extLst>
          </p:cNvPr>
          <p:cNvSpPr txBox="1"/>
          <p:nvPr/>
        </p:nvSpPr>
        <p:spPr>
          <a:xfrm>
            <a:off x="5080471" y="2403336"/>
            <a:ext cx="11977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bcl2fastq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BBC77-D642-F28F-6187-2D8A1806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EFA73-0DF9-CA14-FA57-C6CEE852B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090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5EB1BE-BC5C-B304-383E-2EDD493848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687" b="22518"/>
          <a:stretch/>
        </p:blipFill>
        <p:spPr>
          <a:xfrm>
            <a:off x="3552177" y="4106440"/>
            <a:ext cx="5087645" cy="7551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D1A622-8769-8E41-A8E6-B018F278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 many </a:t>
            </a:r>
            <a:r>
              <a:rPr lang="en-US" dirty="0" err="1"/>
              <a:t>fastq</a:t>
            </a:r>
            <a:r>
              <a:rPr lang="en-US" dirty="0"/>
              <a:t> files?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3C2A1E-D1A3-D3DC-BD9A-62B63D5EB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35" t="32054" r="29687" b="49712"/>
          <a:stretch/>
        </p:blipFill>
        <p:spPr>
          <a:xfrm>
            <a:off x="5053586" y="1177913"/>
            <a:ext cx="2084826" cy="533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8F2407-C704-AA0F-FA49-D9CE00E6C6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76" b="50000"/>
          <a:stretch/>
        </p:blipFill>
        <p:spPr>
          <a:xfrm>
            <a:off x="3552177" y="2257964"/>
            <a:ext cx="5087645" cy="1148335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8CC31432-20A8-136F-2492-41BABAC7DF29}"/>
              </a:ext>
            </a:extLst>
          </p:cNvPr>
          <p:cNvSpPr/>
          <p:nvPr/>
        </p:nvSpPr>
        <p:spPr>
          <a:xfrm rot="5400000">
            <a:off x="5931461" y="1941467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2AB0B67-719A-059B-ADC3-015F61B63A44}"/>
              </a:ext>
            </a:extLst>
          </p:cNvPr>
          <p:cNvSpPr/>
          <p:nvPr/>
        </p:nvSpPr>
        <p:spPr>
          <a:xfrm rot="5400000">
            <a:off x="5931461" y="3807256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FF6F5-A2E1-A725-DBD8-88BFA5C2A858}"/>
              </a:ext>
            </a:extLst>
          </p:cNvPr>
          <p:cNvSpPr txBox="1"/>
          <p:nvPr/>
        </p:nvSpPr>
        <p:spPr>
          <a:xfrm>
            <a:off x="6378766" y="1919366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Library preparation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EB1F6F-B90E-773C-3677-789F592A7F77}"/>
              </a:ext>
            </a:extLst>
          </p:cNvPr>
          <p:cNvSpPr txBox="1"/>
          <p:nvPr/>
        </p:nvSpPr>
        <p:spPr>
          <a:xfrm>
            <a:off x="6378766" y="3798663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Sequencing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7D132EFE-5D14-84E3-48F3-91059DDD34BB}"/>
              </a:ext>
            </a:extLst>
          </p:cNvPr>
          <p:cNvSpPr/>
          <p:nvPr/>
        </p:nvSpPr>
        <p:spPr>
          <a:xfrm>
            <a:off x="4968540" y="4811713"/>
            <a:ext cx="952798" cy="228855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214165-AC12-1843-C76C-C237B876788B}"/>
              </a:ext>
            </a:extLst>
          </p:cNvPr>
          <p:cNvSpPr txBox="1"/>
          <p:nvPr/>
        </p:nvSpPr>
        <p:spPr>
          <a:xfrm>
            <a:off x="4861932" y="5040568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“R1</a:t>
            </a:r>
            <a:r>
              <a:rPr lang="en-US" b="1"/>
              <a:t>” sequence</a:t>
            </a:r>
            <a:endParaRPr lang="en-US" b="1" dirty="0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5E84F4BD-493A-A9EB-7C6B-622CB450B247}"/>
              </a:ext>
            </a:extLst>
          </p:cNvPr>
          <p:cNvSpPr/>
          <p:nvPr/>
        </p:nvSpPr>
        <p:spPr>
          <a:xfrm>
            <a:off x="4572000" y="4811713"/>
            <a:ext cx="1349338" cy="228855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DBB14C-EEB6-D37C-F1FF-ED5C8F383836}"/>
              </a:ext>
            </a:extLst>
          </p:cNvPr>
          <p:cNvSpPr/>
          <p:nvPr/>
        </p:nvSpPr>
        <p:spPr>
          <a:xfrm>
            <a:off x="4566920" y="4868608"/>
            <a:ext cx="528320" cy="11296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D899FB1-251C-F7B5-1ADE-3B89DAC3F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22CE75C-26C6-045B-4424-B8A519090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63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5EB1BE-BC5C-B304-383E-2EDD493848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687" b="22518"/>
          <a:stretch/>
        </p:blipFill>
        <p:spPr>
          <a:xfrm>
            <a:off x="3552177" y="4106440"/>
            <a:ext cx="5087645" cy="7551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D1A622-8769-8E41-A8E6-B018F278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 many </a:t>
            </a:r>
            <a:r>
              <a:rPr lang="en-US" dirty="0" err="1"/>
              <a:t>fastq</a:t>
            </a:r>
            <a:r>
              <a:rPr lang="en-US" dirty="0"/>
              <a:t> files?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3C2A1E-D1A3-D3DC-BD9A-62B63D5EB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35" t="32054" r="29687" b="49712"/>
          <a:stretch/>
        </p:blipFill>
        <p:spPr>
          <a:xfrm>
            <a:off x="5053586" y="1177913"/>
            <a:ext cx="2084826" cy="533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8F2407-C704-AA0F-FA49-D9CE00E6C6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76" b="50000"/>
          <a:stretch/>
        </p:blipFill>
        <p:spPr>
          <a:xfrm>
            <a:off x="3552177" y="2257964"/>
            <a:ext cx="5087645" cy="1148335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8CC31432-20A8-136F-2492-41BABAC7DF29}"/>
              </a:ext>
            </a:extLst>
          </p:cNvPr>
          <p:cNvSpPr/>
          <p:nvPr/>
        </p:nvSpPr>
        <p:spPr>
          <a:xfrm rot="5400000">
            <a:off x="5931461" y="1941467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2AB0B67-719A-059B-ADC3-015F61B63A44}"/>
              </a:ext>
            </a:extLst>
          </p:cNvPr>
          <p:cNvSpPr/>
          <p:nvPr/>
        </p:nvSpPr>
        <p:spPr>
          <a:xfrm rot="5400000">
            <a:off x="5931461" y="3807256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FF6F5-A2E1-A725-DBD8-88BFA5C2A858}"/>
              </a:ext>
            </a:extLst>
          </p:cNvPr>
          <p:cNvSpPr txBox="1"/>
          <p:nvPr/>
        </p:nvSpPr>
        <p:spPr>
          <a:xfrm>
            <a:off x="6378766" y="1919366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Library preparation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EB1F6F-B90E-773C-3677-789F592A7F77}"/>
              </a:ext>
            </a:extLst>
          </p:cNvPr>
          <p:cNvSpPr txBox="1"/>
          <p:nvPr/>
        </p:nvSpPr>
        <p:spPr>
          <a:xfrm>
            <a:off x="6378766" y="3798663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Sequencing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7D132EFE-5D14-84E3-48F3-91059DDD34BB}"/>
              </a:ext>
            </a:extLst>
          </p:cNvPr>
          <p:cNvSpPr/>
          <p:nvPr/>
        </p:nvSpPr>
        <p:spPr>
          <a:xfrm>
            <a:off x="7084967" y="4811713"/>
            <a:ext cx="832399" cy="228855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214165-AC12-1843-C76C-C237B876788B}"/>
              </a:ext>
            </a:extLst>
          </p:cNvPr>
          <p:cNvSpPr txBox="1"/>
          <p:nvPr/>
        </p:nvSpPr>
        <p:spPr>
          <a:xfrm>
            <a:off x="7509624" y="5040568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“I1” sequence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1B52886A-5923-522E-E5BD-B4569C7F84BD}"/>
              </a:ext>
            </a:extLst>
          </p:cNvPr>
          <p:cNvSpPr/>
          <p:nvPr/>
        </p:nvSpPr>
        <p:spPr>
          <a:xfrm>
            <a:off x="4572000" y="4811713"/>
            <a:ext cx="1349338" cy="228855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7B8147-1C1B-9C7B-C9FF-745636A4AED4}"/>
              </a:ext>
            </a:extLst>
          </p:cNvPr>
          <p:cNvSpPr/>
          <p:nvPr/>
        </p:nvSpPr>
        <p:spPr>
          <a:xfrm>
            <a:off x="4566920" y="4868608"/>
            <a:ext cx="528320" cy="11296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E3B079-6B71-5D1B-27EC-D6FDD425EEF8}"/>
              </a:ext>
            </a:extLst>
          </p:cNvPr>
          <p:cNvSpPr/>
          <p:nvPr/>
        </p:nvSpPr>
        <p:spPr>
          <a:xfrm>
            <a:off x="7084967" y="4868608"/>
            <a:ext cx="528320" cy="11296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D4C7B7A-C399-01FA-5783-D79854BC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984D5FC-1468-6656-2DE2-FEE5333F7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366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5EB1BE-BC5C-B304-383E-2EDD493848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687" b="22518"/>
          <a:stretch/>
        </p:blipFill>
        <p:spPr>
          <a:xfrm>
            <a:off x="3552177" y="4106440"/>
            <a:ext cx="5087645" cy="7551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D1A622-8769-8E41-A8E6-B018F278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 many </a:t>
            </a:r>
            <a:r>
              <a:rPr lang="en-US" dirty="0" err="1"/>
              <a:t>fastq</a:t>
            </a:r>
            <a:r>
              <a:rPr lang="en-US" dirty="0"/>
              <a:t> files?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3C2A1E-D1A3-D3DC-BD9A-62B63D5EB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35" t="32054" r="29687" b="49712"/>
          <a:stretch/>
        </p:blipFill>
        <p:spPr>
          <a:xfrm>
            <a:off x="5053586" y="1177913"/>
            <a:ext cx="2084826" cy="533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8F2407-C704-AA0F-FA49-D9CE00E6C6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76" b="50000"/>
          <a:stretch/>
        </p:blipFill>
        <p:spPr>
          <a:xfrm>
            <a:off x="3552177" y="2257964"/>
            <a:ext cx="5087645" cy="1148335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8CC31432-20A8-136F-2492-41BABAC7DF29}"/>
              </a:ext>
            </a:extLst>
          </p:cNvPr>
          <p:cNvSpPr/>
          <p:nvPr/>
        </p:nvSpPr>
        <p:spPr>
          <a:xfrm rot="5400000">
            <a:off x="5931461" y="1941467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2AB0B67-719A-059B-ADC3-015F61B63A44}"/>
              </a:ext>
            </a:extLst>
          </p:cNvPr>
          <p:cNvSpPr/>
          <p:nvPr/>
        </p:nvSpPr>
        <p:spPr>
          <a:xfrm rot="5400000">
            <a:off x="5931461" y="3807256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FF6F5-A2E1-A725-DBD8-88BFA5C2A858}"/>
              </a:ext>
            </a:extLst>
          </p:cNvPr>
          <p:cNvSpPr txBox="1"/>
          <p:nvPr/>
        </p:nvSpPr>
        <p:spPr>
          <a:xfrm>
            <a:off x="6378766" y="1919366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Library preparation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EB1F6F-B90E-773C-3677-789F592A7F77}"/>
              </a:ext>
            </a:extLst>
          </p:cNvPr>
          <p:cNvSpPr txBox="1"/>
          <p:nvPr/>
        </p:nvSpPr>
        <p:spPr>
          <a:xfrm>
            <a:off x="6378766" y="3798663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Sequencing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7D132EFE-5D14-84E3-48F3-91059DDD34BB}"/>
              </a:ext>
            </a:extLst>
          </p:cNvPr>
          <p:cNvSpPr/>
          <p:nvPr/>
        </p:nvSpPr>
        <p:spPr>
          <a:xfrm>
            <a:off x="7084967" y="4811713"/>
            <a:ext cx="832399" cy="228855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214165-AC12-1843-C76C-C237B876788B}"/>
              </a:ext>
            </a:extLst>
          </p:cNvPr>
          <p:cNvSpPr txBox="1"/>
          <p:nvPr/>
        </p:nvSpPr>
        <p:spPr>
          <a:xfrm>
            <a:off x="6378766" y="5192432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“R2” </a:t>
            </a:r>
            <a:r>
              <a:rPr lang="en-US" b="1" dirty="0"/>
              <a:t>sequence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1B52886A-5923-522E-E5BD-B4569C7F84BD}"/>
              </a:ext>
            </a:extLst>
          </p:cNvPr>
          <p:cNvSpPr/>
          <p:nvPr/>
        </p:nvSpPr>
        <p:spPr>
          <a:xfrm>
            <a:off x="4572000" y="4811713"/>
            <a:ext cx="1349338" cy="228855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7B8147-1C1B-9C7B-C9FF-745636A4AED4}"/>
              </a:ext>
            </a:extLst>
          </p:cNvPr>
          <p:cNvSpPr/>
          <p:nvPr/>
        </p:nvSpPr>
        <p:spPr>
          <a:xfrm>
            <a:off x="4566920" y="4868608"/>
            <a:ext cx="528320" cy="11296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E3B079-6B71-5D1B-27EC-D6FDD425EEF8}"/>
              </a:ext>
            </a:extLst>
          </p:cNvPr>
          <p:cNvSpPr/>
          <p:nvPr/>
        </p:nvSpPr>
        <p:spPr>
          <a:xfrm>
            <a:off x="7084967" y="4868608"/>
            <a:ext cx="528320" cy="11296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575F5FE-4059-4F37-616F-B38839725C54}"/>
              </a:ext>
            </a:extLst>
          </p:cNvPr>
          <p:cNvSpPr/>
          <p:nvPr/>
        </p:nvSpPr>
        <p:spPr>
          <a:xfrm rot="10800000">
            <a:off x="6270659" y="4972029"/>
            <a:ext cx="1342627" cy="228855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F00EFA-BD9C-8E2D-142A-04D9C4441CCD}"/>
              </a:ext>
            </a:extLst>
          </p:cNvPr>
          <p:cNvSpPr/>
          <p:nvPr/>
        </p:nvSpPr>
        <p:spPr>
          <a:xfrm>
            <a:off x="7084967" y="5028925"/>
            <a:ext cx="528320" cy="11296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737356F-AD25-B225-2F94-60BF247A9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A1B64DA-D55F-1F98-CAB5-A9F7FD0A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920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5EB1BE-BC5C-B304-383E-2EDD493848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687" b="22518"/>
          <a:stretch/>
        </p:blipFill>
        <p:spPr>
          <a:xfrm>
            <a:off x="3552177" y="4106440"/>
            <a:ext cx="5087645" cy="7551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D1A622-8769-8E41-A8E6-B018F278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 many </a:t>
            </a:r>
            <a:r>
              <a:rPr lang="en-US" dirty="0" err="1"/>
              <a:t>fastq</a:t>
            </a:r>
            <a:r>
              <a:rPr lang="en-US" dirty="0"/>
              <a:t> files?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3C2A1E-D1A3-D3DC-BD9A-62B63D5EB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35" t="32054" r="29687" b="49712"/>
          <a:stretch/>
        </p:blipFill>
        <p:spPr>
          <a:xfrm>
            <a:off x="5053586" y="1177913"/>
            <a:ext cx="2084826" cy="533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8F2407-C704-AA0F-FA49-D9CE00E6C6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76" b="50000"/>
          <a:stretch/>
        </p:blipFill>
        <p:spPr>
          <a:xfrm>
            <a:off x="3552177" y="2257964"/>
            <a:ext cx="5087645" cy="1148335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8CC31432-20A8-136F-2492-41BABAC7DF29}"/>
              </a:ext>
            </a:extLst>
          </p:cNvPr>
          <p:cNvSpPr/>
          <p:nvPr/>
        </p:nvSpPr>
        <p:spPr>
          <a:xfrm rot="5400000">
            <a:off x="5931461" y="1941467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2AB0B67-719A-059B-ADC3-015F61B63A44}"/>
              </a:ext>
            </a:extLst>
          </p:cNvPr>
          <p:cNvSpPr/>
          <p:nvPr/>
        </p:nvSpPr>
        <p:spPr>
          <a:xfrm rot="5400000">
            <a:off x="5931461" y="3807256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FF6F5-A2E1-A725-DBD8-88BFA5C2A858}"/>
              </a:ext>
            </a:extLst>
          </p:cNvPr>
          <p:cNvSpPr txBox="1"/>
          <p:nvPr/>
        </p:nvSpPr>
        <p:spPr>
          <a:xfrm>
            <a:off x="6378766" y="1919366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Library preparation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EB1F6F-B90E-773C-3677-789F592A7F77}"/>
              </a:ext>
            </a:extLst>
          </p:cNvPr>
          <p:cNvSpPr txBox="1"/>
          <p:nvPr/>
        </p:nvSpPr>
        <p:spPr>
          <a:xfrm>
            <a:off x="6378766" y="3798663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Sequencing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7D132EFE-5D14-84E3-48F3-91059DDD34BB}"/>
              </a:ext>
            </a:extLst>
          </p:cNvPr>
          <p:cNvSpPr/>
          <p:nvPr/>
        </p:nvSpPr>
        <p:spPr>
          <a:xfrm>
            <a:off x="7084967" y="4811713"/>
            <a:ext cx="832399" cy="228855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214165-AC12-1843-C76C-C237B876788B}"/>
              </a:ext>
            </a:extLst>
          </p:cNvPr>
          <p:cNvSpPr txBox="1"/>
          <p:nvPr/>
        </p:nvSpPr>
        <p:spPr>
          <a:xfrm>
            <a:off x="6378766" y="5192432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“R2” sequence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1B52886A-5923-522E-E5BD-B4569C7F84BD}"/>
              </a:ext>
            </a:extLst>
          </p:cNvPr>
          <p:cNvSpPr/>
          <p:nvPr/>
        </p:nvSpPr>
        <p:spPr>
          <a:xfrm>
            <a:off x="4572000" y="4811713"/>
            <a:ext cx="1349338" cy="228855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7B8147-1C1B-9C7B-C9FF-745636A4AED4}"/>
              </a:ext>
            </a:extLst>
          </p:cNvPr>
          <p:cNvSpPr/>
          <p:nvPr/>
        </p:nvSpPr>
        <p:spPr>
          <a:xfrm>
            <a:off x="4566920" y="4868608"/>
            <a:ext cx="528320" cy="11296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E3B079-6B71-5D1B-27EC-D6FDD425EEF8}"/>
              </a:ext>
            </a:extLst>
          </p:cNvPr>
          <p:cNvSpPr/>
          <p:nvPr/>
        </p:nvSpPr>
        <p:spPr>
          <a:xfrm>
            <a:off x="7084967" y="4868608"/>
            <a:ext cx="528320" cy="11296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575F5FE-4059-4F37-616F-B38839725C54}"/>
              </a:ext>
            </a:extLst>
          </p:cNvPr>
          <p:cNvSpPr/>
          <p:nvPr/>
        </p:nvSpPr>
        <p:spPr>
          <a:xfrm rot="10800000">
            <a:off x="6270659" y="4972029"/>
            <a:ext cx="1342627" cy="228855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F00EFA-BD9C-8E2D-142A-04D9C4441CCD}"/>
              </a:ext>
            </a:extLst>
          </p:cNvPr>
          <p:cNvSpPr/>
          <p:nvPr/>
        </p:nvSpPr>
        <p:spPr>
          <a:xfrm>
            <a:off x="7084967" y="5028925"/>
            <a:ext cx="528320" cy="11296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6942649C-222A-39AE-0D15-78FA56A06DB1}"/>
              </a:ext>
            </a:extLst>
          </p:cNvPr>
          <p:cNvSpPr/>
          <p:nvPr/>
        </p:nvSpPr>
        <p:spPr>
          <a:xfrm rot="10800000">
            <a:off x="4267919" y="4972028"/>
            <a:ext cx="821860" cy="228855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BAB646-A916-49E3-22E3-1773EA02D079}"/>
              </a:ext>
            </a:extLst>
          </p:cNvPr>
          <p:cNvSpPr/>
          <p:nvPr/>
        </p:nvSpPr>
        <p:spPr>
          <a:xfrm>
            <a:off x="4561461" y="5028925"/>
            <a:ext cx="528320" cy="11296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787C45-9593-72E2-1D9B-29377C626A16}"/>
              </a:ext>
            </a:extLst>
          </p:cNvPr>
          <p:cNvSpPr txBox="1"/>
          <p:nvPr/>
        </p:nvSpPr>
        <p:spPr>
          <a:xfrm>
            <a:off x="4144450" y="5192432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“I2</a:t>
            </a:r>
            <a:r>
              <a:rPr lang="en-US" b="1" dirty="0"/>
              <a:t>” sequence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CBB1BE3F-9C74-BCB1-CA06-5C08EECAE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EC24EFB-0C6D-3F2E-046E-1A310F1C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497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5EB1BE-BC5C-B304-383E-2EDD493848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687" b="22518"/>
          <a:stretch/>
        </p:blipFill>
        <p:spPr>
          <a:xfrm>
            <a:off x="3552177" y="4106440"/>
            <a:ext cx="5087645" cy="7551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D1A622-8769-8E41-A8E6-B018F278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 many </a:t>
            </a:r>
            <a:r>
              <a:rPr lang="en-US" dirty="0" err="1"/>
              <a:t>fastq</a:t>
            </a:r>
            <a:r>
              <a:rPr lang="en-US" dirty="0"/>
              <a:t> files?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3C2A1E-D1A3-D3DC-BD9A-62B63D5EB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35" t="32054" r="29687" b="49712"/>
          <a:stretch/>
        </p:blipFill>
        <p:spPr>
          <a:xfrm>
            <a:off x="5053586" y="1177913"/>
            <a:ext cx="2084826" cy="533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8F2407-C704-AA0F-FA49-D9CE00E6C6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76" b="50000"/>
          <a:stretch/>
        </p:blipFill>
        <p:spPr>
          <a:xfrm>
            <a:off x="3552177" y="2257964"/>
            <a:ext cx="5087645" cy="1148335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8CC31432-20A8-136F-2492-41BABAC7DF29}"/>
              </a:ext>
            </a:extLst>
          </p:cNvPr>
          <p:cNvSpPr/>
          <p:nvPr/>
        </p:nvSpPr>
        <p:spPr>
          <a:xfrm rot="5400000">
            <a:off x="5931461" y="1941467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2AB0B67-719A-059B-ADC3-015F61B63A44}"/>
              </a:ext>
            </a:extLst>
          </p:cNvPr>
          <p:cNvSpPr/>
          <p:nvPr/>
        </p:nvSpPr>
        <p:spPr>
          <a:xfrm rot="5400000">
            <a:off x="5931461" y="3807256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FF6F5-A2E1-A725-DBD8-88BFA5C2A858}"/>
              </a:ext>
            </a:extLst>
          </p:cNvPr>
          <p:cNvSpPr txBox="1"/>
          <p:nvPr/>
        </p:nvSpPr>
        <p:spPr>
          <a:xfrm>
            <a:off x="6378766" y="1919366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Library preparation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EB1F6F-B90E-773C-3677-789F592A7F77}"/>
              </a:ext>
            </a:extLst>
          </p:cNvPr>
          <p:cNvSpPr txBox="1"/>
          <p:nvPr/>
        </p:nvSpPr>
        <p:spPr>
          <a:xfrm>
            <a:off x="6378766" y="3798663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Sequencing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0D7FC7-C956-0529-6432-20AAF0696AE7}"/>
              </a:ext>
            </a:extLst>
          </p:cNvPr>
          <p:cNvSpPr/>
          <p:nvPr/>
        </p:nvSpPr>
        <p:spPr>
          <a:xfrm>
            <a:off x="5053586" y="4646814"/>
            <a:ext cx="783769" cy="623455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F6D93A-9FEA-F7E0-F7EB-77A9F5D44C3E}"/>
              </a:ext>
            </a:extLst>
          </p:cNvPr>
          <p:cNvSpPr/>
          <p:nvPr/>
        </p:nvSpPr>
        <p:spPr>
          <a:xfrm>
            <a:off x="6200742" y="4646814"/>
            <a:ext cx="783769" cy="623455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34D207-D1C6-7BC0-6CBB-2699F32D2AD0}"/>
              </a:ext>
            </a:extLst>
          </p:cNvPr>
          <p:cNvSpPr/>
          <p:nvPr/>
        </p:nvSpPr>
        <p:spPr>
          <a:xfrm>
            <a:off x="7614458" y="4646814"/>
            <a:ext cx="257696" cy="623455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0CE3C4-1D90-1086-7773-749AFFBFA6C3}"/>
              </a:ext>
            </a:extLst>
          </p:cNvPr>
          <p:cNvSpPr/>
          <p:nvPr/>
        </p:nvSpPr>
        <p:spPr>
          <a:xfrm>
            <a:off x="4289367" y="4646814"/>
            <a:ext cx="257696" cy="623455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BF8109-4112-5906-57A1-2ECCEF72524D}"/>
              </a:ext>
            </a:extLst>
          </p:cNvPr>
          <p:cNvSpPr txBox="1"/>
          <p:nvPr/>
        </p:nvSpPr>
        <p:spPr>
          <a:xfrm>
            <a:off x="5244561" y="486162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BEE1A9-F4BE-2379-2526-0A5833CAA073}"/>
              </a:ext>
            </a:extLst>
          </p:cNvPr>
          <p:cNvSpPr txBox="1"/>
          <p:nvPr/>
        </p:nvSpPr>
        <p:spPr>
          <a:xfrm>
            <a:off x="6365789" y="486162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DD719E-8AB0-B0F2-5A73-8CDAA68EBD61}"/>
              </a:ext>
            </a:extLst>
          </p:cNvPr>
          <p:cNvSpPr txBox="1"/>
          <p:nvPr/>
        </p:nvSpPr>
        <p:spPr>
          <a:xfrm>
            <a:off x="7563220" y="486162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D9F062-8DC5-205C-432C-072D58C77CB0}"/>
              </a:ext>
            </a:extLst>
          </p:cNvPr>
          <p:cNvSpPr txBox="1"/>
          <p:nvPr/>
        </p:nvSpPr>
        <p:spPr>
          <a:xfrm>
            <a:off x="4232191" y="486162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05424F-8A5C-7FC3-DDC1-2E3A824C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ED9AC9-833E-8B60-6E6B-D8438FE59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976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5EB1BE-BC5C-B304-383E-2EDD493848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687" b="22518"/>
          <a:stretch/>
        </p:blipFill>
        <p:spPr>
          <a:xfrm>
            <a:off x="3552177" y="4106440"/>
            <a:ext cx="5087645" cy="7551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D1A622-8769-8E41-A8E6-B018F278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 many </a:t>
            </a:r>
            <a:r>
              <a:rPr lang="en-US" dirty="0" err="1"/>
              <a:t>fastq</a:t>
            </a:r>
            <a:r>
              <a:rPr lang="en-US" dirty="0"/>
              <a:t> files?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3C2A1E-D1A3-D3DC-BD9A-62B63D5EB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35" t="32054" r="29687" b="49712"/>
          <a:stretch/>
        </p:blipFill>
        <p:spPr>
          <a:xfrm>
            <a:off x="5053586" y="1177913"/>
            <a:ext cx="2084826" cy="533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8F2407-C704-AA0F-FA49-D9CE00E6C6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76" b="50000"/>
          <a:stretch/>
        </p:blipFill>
        <p:spPr>
          <a:xfrm>
            <a:off x="3552177" y="2257964"/>
            <a:ext cx="5087645" cy="1148335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8CC31432-20A8-136F-2492-41BABAC7DF29}"/>
              </a:ext>
            </a:extLst>
          </p:cNvPr>
          <p:cNvSpPr/>
          <p:nvPr/>
        </p:nvSpPr>
        <p:spPr>
          <a:xfrm rot="5400000">
            <a:off x="5931461" y="1941467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2AB0B67-719A-059B-ADC3-015F61B63A44}"/>
              </a:ext>
            </a:extLst>
          </p:cNvPr>
          <p:cNvSpPr/>
          <p:nvPr/>
        </p:nvSpPr>
        <p:spPr>
          <a:xfrm rot="5400000">
            <a:off x="5931461" y="3807256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FF6F5-A2E1-A725-DBD8-88BFA5C2A858}"/>
              </a:ext>
            </a:extLst>
          </p:cNvPr>
          <p:cNvSpPr txBox="1"/>
          <p:nvPr/>
        </p:nvSpPr>
        <p:spPr>
          <a:xfrm>
            <a:off x="6378766" y="1919366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Library preparation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EB1F6F-B90E-773C-3677-789F592A7F77}"/>
              </a:ext>
            </a:extLst>
          </p:cNvPr>
          <p:cNvSpPr txBox="1"/>
          <p:nvPr/>
        </p:nvSpPr>
        <p:spPr>
          <a:xfrm>
            <a:off x="6378766" y="3798663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Sequencing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0D7FC7-C956-0529-6432-20AAF0696AE7}"/>
              </a:ext>
            </a:extLst>
          </p:cNvPr>
          <p:cNvSpPr/>
          <p:nvPr/>
        </p:nvSpPr>
        <p:spPr>
          <a:xfrm>
            <a:off x="5053586" y="4646814"/>
            <a:ext cx="783769" cy="623455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F6D93A-9FEA-F7E0-F7EB-77A9F5D44C3E}"/>
              </a:ext>
            </a:extLst>
          </p:cNvPr>
          <p:cNvSpPr/>
          <p:nvPr/>
        </p:nvSpPr>
        <p:spPr>
          <a:xfrm>
            <a:off x="6200742" y="4646814"/>
            <a:ext cx="783769" cy="623455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34D207-D1C6-7BC0-6CBB-2699F32D2AD0}"/>
              </a:ext>
            </a:extLst>
          </p:cNvPr>
          <p:cNvSpPr/>
          <p:nvPr/>
        </p:nvSpPr>
        <p:spPr>
          <a:xfrm>
            <a:off x="7614458" y="4646814"/>
            <a:ext cx="257696" cy="623455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0CE3C4-1D90-1086-7773-749AFFBFA6C3}"/>
              </a:ext>
            </a:extLst>
          </p:cNvPr>
          <p:cNvSpPr/>
          <p:nvPr/>
        </p:nvSpPr>
        <p:spPr>
          <a:xfrm>
            <a:off x="4289367" y="4646814"/>
            <a:ext cx="257696" cy="623455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BF8109-4112-5906-57A1-2ECCEF72524D}"/>
              </a:ext>
            </a:extLst>
          </p:cNvPr>
          <p:cNvSpPr txBox="1"/>
          <p:nvPr/>
        </p:nvSpPr>
        <p:spPr>
          <a:xfrm>
            <a:off x="5244561" y="486162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BEE1A9-F4BE-2379-2526-0A5833CAA073}"/>
              </a:ext>
            </a:extLst>
          </p:cNvPr>
          <p:cNvSpPr txBox="1"/>
          <p:nvPr/>
        </p:nvSpPr>
        <p:spPr>
          <a:xfrm>
            <a:off x="6365789" y="486162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DD719E-8AB0-B0F2-5A73-8CDAA68EBD61}"/>
              </a:ext>
            </a:extLst>
          </p:cNvPr>
          <p:cNvSpPr txBox="1"/>
          <p:nvPr/>
        </p:nvSpPr>
        <p:spPr>
          <a:xfrm>
            <a:off x="7563220" y="486162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D9F062-8DC5-205C-432C-072D58C77CB0}"/>
              </a:ext>
            </a:extLst>
          </p:cNvPr>
          <p:cNvSpPr txBox="1"/>
          <p:nvPr/>
        </p:nvSpPr>
        <p:spPr>
          <a:xfrm>
            <a:off x="4232191" y="486162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5564B3-1E72-E478-0C7D-1A510D6DD67D}"/>
              </a:ext>
            </a:extLst>
          </p:cNvPr>
          <p:cNvSpPr txBox="1"/>
          <p:nvPr/>
        </p:nvSpPr>
        <p:spPr>
          <a:xfrm>
            <a:off x="8204907" y="5561764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Only used for demultiplexing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5B60E5-183E-CD09-3846-A57F423AE7C4}"/>
              </a:ext>
            </a:extLst>
          </p:cNvPr>
          <p:cNvCxnSpPr>
            <a:cxnSpLocks/>
          </p:cNvCxnSpPr>
          <p:nvPr/>
        </p:nvCxnSpPr>
        <p:spPr>
          <a:xfrm>
            <a:off x="4418215" y="5235369"/>
            <a:ext cx="0" cy="520931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2F5E6A4-7A78-9624-D61D-A00A0DD97822}"/>
              </a:ext>
            </a:extLst>
          </p:cNvPr>
          <p:cNvCxnSpPr/>
          <p:nvPr/>
        </p:nvCxnSpPr>
        <p:spPr>
          <a:xfrm>
            <a:off x="4418215" y="5746430"/>
            <a:ext cx="3786692" cy="0"/>
          </a:xfrm>
          <a:prstGeom prst="line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76B345-4955-6838-B177-2A7F157904B8}"/>
              </a:ext>
            </a:extLst>
          </p:cNvPr>
          <p:cNvCxnSpPr>
            <a:stCxn id="26" idx="2"/>
          </p:cNvCxnSpPr>
          <p:nvPr/>
        </p:nvCxnSpPr>
        <p:spPr>
          <a:xfrm>
            <a:off x="7751733" y="5230955"/>
            <a:ext cx="0" cy="515475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C7CF0B3-612A-FD82-C846-E0BB1DE6A913}"/>
              </a:ext>
            </a:extLst>
          </p:cNvPr>
          <p:cNvSpPr/>
          <p:nvPr/>
        </p:nvSpPr>
        <p:spPr>
          <a:xfrm>
            <a:off x="7644935" y="2226676"/>
            <a:ext cx="484915" cy="623455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AD8B94-8016-D516-7944-4CCB8F64D7DF}"/>
              </a:ext>
            </a:extLst>
          </p:cNvPr>
          <p:cNvSpPr/>
          <p:nvPr/>
        </p:nvSpPr>
        <p:spPr>
          <a:xfrm>
            <a:off x="4123071" y="2226676"/>
            <a:ext cx="349322" cy="623455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CCC5535-EABE-D9E1-1070-1774FD71FD3F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4297732" y="2850131"/>
            <a:ext cx="120483" cy="1739106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BABB71A-3B57-6BD3-EA6F-CB029D3747E9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7751733" y="2850131"/>
            <a:ext cx="135660" cy="1801425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56C54DC-612B-ECF3-E8F6-E8E0767E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D78D5F-34F4-AE0C-F786-20309BD5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149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FD2A-0CB0-1B9A-E68A-A65D8052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NGS processing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822C-F7B4-3FB1-DA34-BA28D1A0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B7CF0-8450-4467-4301-EACF8823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475DBBCC-FD56-44EB-CABA-0E141E8704D8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Create fastq</a:t>
            </a:r>
            <a:r>
              <a:rPr lang="en-US" dirty="0">
                <a:sym typeface="Avenir"/>
              </a:rPr>
              <a:t> files</a:t>
            </a:r>
            <a:endParaRPr dirty="0"/>
          </a:p>
        </p:txBody>
      </p:sp>
      <p:pic>
        <p:nvPicPr>
          <p:cNvPr id="15" name="Google Shape;126;p3">
            <a:extLst>
              <a:ext uri="{FF2B5EF4-FFF2-40B4-BE49-F238E27FC236}">
                <a16:creationId xmlns:a16="http://schemas.microsoft.com/office/drawing/2014/main" id="{1B4CEBE4-E85F-0555-4679-ADAADAEF635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7;p3">
            <a:extLst>
              <a:ext uri="{FF2B5EF4-FFF2-40B4-BE49-F238E27FC236}">
                <a16:creationId xmlns:a16="http://schemas.microsoft.com/office/drawing/2014/main" id="{2EAB0726-8197-A67A-1F67-4D4C06AB15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8;p3">
            <a:extLst>
              <a:ext uri="{FF2B5EF4-FFF2-40B4-BE49-F238E27FC236}">
                <a16:creationId xmlns:a16="http://schemas.microsoft.com/office/drawing/2014/main" id="{F97BE676-2A9F-F292-53EE-8FD9EC28E7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9;p3">
            <a:extLst>
              <a:ext uri="{FF2B5EF4-FFF2-40B4-BE49-F238E27FC236}">
                <a16:creationId xmlns:a16="http://schemas.microsoft.com/office/drawing/2014/main" id="{0093AA5C-1C28-9157-C7BE-9ECD95F61A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0;p3">
            <a:extLst>
              <a:ext uri="{FF2B5EF4-FFF2-40B4-BE49-F238E27FC236}">
                <a16:creationId xmlns:a16="http://schemas.microsoft.com/office/drawing/2014/main" id="{44924E93-CC86-553A-5113-3FEA1BA25F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2;p3">
            <a:extLst>
              <a:ext uri="{FF2B5EF4-FFF2-40B4-BE49-F238E27FC236}">
                <a16:creationId xmlns:a16="http://schemas.microsoft.com/office/drawing/2014/main" id="{37AB8DAE-FC9C-AF39-8398-80805C5ED7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3;p3">
            <a:extLst>
              <a:ext uri="{FF2B5EF4-FFF2-40B4-BE49-F238E27FC236}">
                <a16:creationId xmlns:a16="http://schemas.microsoft.com/office/drawing/2014/main" id="{15BC622C-FBF8-FD56-733D-6EDFA156FD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4;p3">
            <a:extLst>
              <a:ext uri="{FF2B5EF4-FFF2-40B4-BE49-F238E27FC236}">
                <a16:creationId xmlns:a16="http://schemas.microsoft.com/office/drawing/2014/main" id="{2A6B4207-5D7A-AB98-7C78-41873A1447E2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Google Shape;115;p3">
            <a:extLst>
              <a:ext uri="{FF2B5EF4-FFF2-40B4-BE49-F238E27FC236}">
                <a16:creationId xmlns:a16="http://schemas.microsoft.com/office/drawing/2014/main" id="{63772205-33BB-9414-8F90-1D2741AC4707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9" name="Google Shape;116;p3">
            <a:extLst>
              <a:ext uri="{FF2B5EF4-FFF2-40B4-BE49-F238E27FC236}">
                <a16:creationId xmlns:a16="http://schemas.microsoft.com/office/drawing/2014/main" id="{13430172-6972-6C8D-A7DE-3535BDE93D62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Align fastq to BAM</a:t>
            </a:r>
            <a:endParaRPr/>
          </a:p>
        </p:txBody>
      </p:sp>
      <p:sp>
        <p:nvSpPr>
          <p:cNvPr id="10" name="Google Shape;117;p3">
            <a:extLst>
              <a:ext uri="{FF2B5EF4-FFF2-40B4-BE49-F238E27FC236}">
                <a16:creationId xmlns:a16="http://schemas.microsoft.com/office/drawing/2014/main" id="{06792DEA-F505-21D8-66C1-AF3C7C494291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12" name="Google Shape;119;p3">
            <a:extLst>
              <a:ext uri="{FF2B5EF4-FFF2-40B4-BE49-F238E27FC236}">
                <a16:creationId xmlns:a16="http://schemas.microsoft.com/office/drawing/2014/main" id="{0D2E17F9-07E1-C1C6-48C4-9AE48A66864D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Generate tracks</a:t>
            </a:r>
            <a:endParaRPr dirty="0"/>
          </a:p>
        </p:txBody>
      </p:sp>
      <p:sp>
        <p:nvSpPr>
          <p:cNvPr id="13" name="Google Shape;120;p3">
            <a:extLst>
              <a:ext uri="{FF2B5EF4-FFF2-40B4-BE49-F238E27FC236}">
                <a16:creationId xmlns:a16="http://schemas.microsoft.com/office/drawing/2014/main" id="{43356328-5680-A378-EC43-16AF4BD100E3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25" name="Picture 4" descr="Sequencing Platforms | Illumina NGS platforms">
            <a:extLst>
              <a:ext uri="{FF2B5EF4-FFF2-40B4-BE49-F238E27FC236}">
                <a16:creationId xmlns:a16="http://schemas.microsoft.com/office/drawing/2014/main" id="{F3C7BDB5-490C-6974-C598-92FA0AA56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039587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equencing Platforms | Illumina NGS platforms">
            <a:extLst>
              <a:ext uri="{FF2B5EF4-FFF2-40B4-BE49-F238E27FC236}">
                <a16:creationId xmlns:a16="http://schemas.microsoft.com/office/drawing/2014/main" id="{868217A2-4B48-9325-FF2A-C266F120A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669173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C777D3-7DB7-0425-57FC-AB5BBD876ECF}"/>
              </a:ext>
            </a:extLst>
          </p:cNvPr>
          <p:cNvSpPr txBox="1"/>
          <p:nvPr/>
        </p:nvSpPr>
        <p:spPr>
          <a:xfrm>
            <a:off x="5564978" y="1681632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bcl2fastq</a:t>
            </a:r>
          </a:p>
        </p:txBody>
      </p:sp>
      <p:pic>
        <p:nvPicPr>
          <p:cNvPr id="11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5E418B86-A530-0856-D991-061D0D23F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945355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CAE28402-35BB-37F6-E82F-1DD679BBF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1595804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383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FD2A-0CB0-1B9A-E68A-A65D8052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NGS processing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822C-F7B4-3FB1-DA34-BA28D1A0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B7CF0-8450-4467-4301-EACF8823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475DBBCC-FD56-44EB-CABA-0E141E8704D8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Create fastq</a:t>
            </a:r>
            <a:r>
              <a:rPr lang="en-US" dirty="0">
                <a:sym typeface="Avenir"/>
              </a:rPr>
              <a:t> files</a:t>
            </a:r>
            <a:endParaRPr dirty="0"/>
          </a:p>
        </p:txBody>
      </p:sp>
      <p:pic>
        <p:nvPicPr>
          <p:cNvPr id="15" name="Google Shape;126;p3">
            <a:extLst>
              <a:ext uri="{FF2B5EF4-FFF2-40B4-BE49-F238E27FC236}">
                <a16:creationId xmlns:a16="http://schemas.microsoft.com/office/drawing/2014/main" id="{1B4CEBE4-E85F-0555-4679-ADAADAEF635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7;p3">
            <a:extLst>
              <a:ext uri="{FF2B5EF4-FFF2-40B4-BE49-F238E27FC236}">
                <a16:creationId xmlns:a16="http://schemas.microsoft.com/office/drawing/2014/main" id="{2EAB0726-8197-A67A-1F67-4D4C06AB15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8;p3">
            <a:extLst>
              <a:ext uri="{FF2B5EF4-FFF2-40B4-BE49-F238E27FC236}">
                <a16:creationId xmlns:a16="http://schemas.microsoft.com/office/drawing/2014/main" id="{F97BE676-2A9F-F292-53EE-8FD9EC28E7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9;p3">
            <a:extLst>
              <a:ext uri="{FF2B5EF4-FFF2-40B4-BE49-F238E27FC236}">
                <a16:creationId xmlns:a16="http://schemas.microsoft.com/office/drawing/2014/main" id="{0093AA5C-1C28-9157-C7BE-9ECD95F61A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0;p3">
            <a:extLst>
              <a:ext uri="{FF2B5EF4-FFF2-40B4-BE49-F238E27FC236}">
                <a16:creationId xmlns:a16="http://schemas.microsoft.com/office/drawing/2014/main" id="{44924E93-CC86-553A-5113-3FEA1BA25F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2;p3">
            <a:extLst>
              <a:ext uri="{FF2B5EF4-FFF2-40B4-BE49-F238E27FC236}">
                <a16:creationId xmlns:a16="http://schemas.microsoft.com/office/drawing/2014/main" id="{37AB8DAE-FC9C-AF39-8398-80805C5ED7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3;p3">
            <a:extLst>
              <a:ext uri="{FF2B5EF4-FFF2-40B4-BE49-F238E27FC236}">
                <a16:creationId xmlns:a16="http://schemas.microsoft.com/office/drawing/2014/main" id="{15BC622C-FBF8-FD56-733D-6EDFA156FD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4;p3">
            <a:extLst>
              <a:ext uri="{FF2B5EF4-FFF2-40B4-BE49-F238E27FC236}">
                <a16:creationId xmlns:a16="http://schemas.microsoft.com/office/drawing/2014/main" id="{2A6B4207-5D7A-AB98-7C78-41873A1447E2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Google Shape;115;p3">
            <a:extLst>
              <a:ext uri="{FF2B5EF4-FFF2-40B4-BE49-F238E27FC236}">
                <a16:creationId xmlns:a16="http://schemas.microsoft.com/office/drawing/2014/main" id="{63772205-33BB-9414-8F90-1D2741AC4707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9" name="Google Shape;116;p3">
            <a:extLst>
              <a:ext uri="{FF2B5EF4-FFF2-40B4-BE49-F238E27FC236}">
                <a16:creationId xmlns:a16="http://schemas.microsoft.com/office/drawing/2014/main" id="{13430172-6972-6C8D-A7DE-3535BDE93D62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Align fastq to BAM</a:t>
            </a:r>
            <a:endParaRPr/>
          </a:p>
        </p:txBody>
      </p:sp>
      <p:sp>
        <p:nvSpPr>
          <p:cNvPr id="10" name="Google Shape;117;p3">
            <a:extLst>
              <a:ext uri="{FF2B5EF4-FFF2-40B4-BE49-F238E27FC236}">
                <a16:creationId xmlns:a16="http://schemas.microsoft.com/office/drawing/2014/main" id="{06792DEA-F505-21D8-66C1-AF3C7C494291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12" name="Google Shape;119;p3">
            <a:extLst>
              <a:ext uri="{FF2B5EF4-FFF2-40B4-BE49-F238E27FC236}">
                <a16:creationId xmlns:a16="http://schemas.microsoft.com/office/drawing/2014/main" id="{0D2E17F9-07E1-C1C6-48C4-9AE48A66864D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Generate tracks</a:t>
            </a:r>
            <a:endParaRPr dirty="0"/>
          </a:p>
        </p:txBody>
      </p:sp>
      <p:sp>
        <p:nvSpPr>
          <p:cNvPr id="13" name="Google Shape;120;p3">
            <a:extLst>
              <a:ext uri="{FF2B5EF4-FFF2-40B4-BE49-F238E27FC236}">
                <a16:creationId xmlns:a16="http://schemas.microsoft.com/office/drawing/2014/main" id="{43356328-5680-A378-EC43-16AF4BD100E3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25" name="Picture 4" descr="Sequencing Platforms | Illumina NGS platforms">
            <a:extLst>
              <a:ext uri="{FF2B5EF4-FFF2-40B4-BE49-F238E27FC236}">
                <a16:creationId xmlns:a16="http://schemas.microsoft.com/office/drawing/2014/main" id="{F3C7BDB5-490C-6974-C598-92FA0AA56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039587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equencing Platforms | Illumina NGS platforms">
            <a:extLst>
              <a:ext uri="{FF2B5EF4-FFF2-40B4-BE49-F238E27FC236}">
                <a16:creationId xmlns:a16="http://schemas.microsoft.com/office/drawing/2014/main" id="{868217A2-4B48-9325-FF2A-C266F120A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669173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C777D3-7DB7-0425-57FC-AB5BBD876ECF}"/>
              </a:ext>
            </a:extLst>
          </p:cNvPr>
          <p:cNvSpPr txBox="1"/>
          <p:nvPr/>
        </p:nvSpPr>
        <p:spPr>
          <a:xfrm>
            <a:off x="5564978" y="1681632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bcl2fastq</a:t>
            </a:r>
          </a:p>
        </p:txBody>
      </p:sp>
      <p:sp>
        <p:nvSpPr>
          <p:cNvPr id="11" name="Google Shape;118;p3">
            <a:extLst>
              <a:ext uri="{FF2B5EF4-FFF2-40B4-BE49-F238E27FC236}">
                <a16:creationId xmlns:a16="http://schemas.microsoft.com/office/drawing/2014/main" id="{A70B170A-9622-FEF4-2B62-30686D9313EC}"/>
              </a:ext>
            </a:extLst>
          </p:cNvPr>
          <p:cNvSpPr txBox="1"/>
          <p:nvPr/>
        </p:nvSpPr>
        <p:spPr>
          <a:xfrm>
            <a:off x="3842531" y="1958511"/>
            <a:ext cx="2774026" cy="418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Avenir"/>
                <a:ea typeface="Avenir"/>
                <a:cs typeface="Avenir"/>
                <a:sym typeface="Avenir"/>
              </a:rPr>
              <a:t>CHECK YOUR DATA</a:t>
            </a:r>
            <a:endParaRPr sz="2000" b="1" dirty="0">
              <a:solidFill>
                <a:srgbClr val="C00000"/>
              </a:solidFill>
            </a:endParaRPr>
          </a:p>
        </p:txBody>
      </p:sp>
      <p:pic>
        <p:nvPicPr>
          <p:cNvPr id="14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879C59FF-60CF-2E76-B185-E12112C5E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945355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E7D3A98A-53A9-85E2-0C80-C54C073CA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1595804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377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A622-8769-8E41-A8E6-B018F278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FastQC</a:t>
            </a:r>
            <a:endParaRPr lang="en-US" dirty="0"/>
          </a:p>
        </p:txBody>
      </p:sp>
      <p:sp>
        <p:nvSpPr>
          <p:cNvPr id="22" name="Google Shape;249;p11">
            <a:extLst>
              <a:ext uri="{FF2B5EF4-FFF2-40B4-BE49-F238E27FC236}">
                <a16:creationId xmlns:a16="http://schemas.microsoft.com/office/drawing/2014/main" id="{979D08EA-468E-C84D-B101-F17B3A1FEFDA}"/>
              </a:ext>
            </a:extLst>
          </p:cNvPr>
          <p:cNvSpPr/>
          <p:nvPr/>
        </p:nvSpPr>
        <p:spPr>
          <a:xfrm>
            <a:off x="6641194" y="3677332"/>
            <a:ext cx="2071160" cy="9959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F7E643-3B1A-1F4C-9DFE-A23AC3829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49" y="894860"/>
            <a:ext cx="5586626" cy="50682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95A48C-FFDD-673B-D08A-CB43335DEE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133" b="11316"/>
          <a:stretch/>
        </p:blipFill>
        <p:spPr>
          <a:xfrm>
            <a:off x="6234408" y="1813810"/>
            <a:ext cx="5586626" cy="3575795"/>
          </a:xfrm>
          <a:prstGeom prst="rect">
            <a:avLst/>
          </a:prstGeom>
        </p:spPr>
      </p:pic>
      <p:pic>
        <p:nvPicPr>
          <p:cNvPr id="10" name="Google Shape;291;p13">
            <a:extLst>
              <a:ext uri="{FF2B5EF4-FFF2-40B4-BE49-F238E27FC236}">
                <a16:creationId xmlns:a16="http://schemas.microsoft.com/office/drawing/2014/main" id="{64FAEB0F-770C-C74D-9F69-0673D20C103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509" t="6089" b="3302"/>
          <a:stretch/>
        </p:blipFill>
        <p:spPr>
          <a:xfrm>
            <a:off x="7631065" y="2623841"/>
            <a:ext cx="3507990" cy="244692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71C4C-EB4B-D89E-8EDC-D7019E50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0C16E-EA5B-2755-6B98-D42C3B6C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81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A622-8769-8E41-A8E6-B018F278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FastQC</a:t>
            </a:r>
            <a:endParaRPr lang="en-US" dirty="0"/>
          </a:p>
        </p:txBody>
      </p:sp>
      <p:sp>
        <p:nvSpPr>
          <p:cNvPr id="22" name="Google Shape;249;p11">
            <a:extLst>
              <a:ext uri="{FF2B5EF4-FFF2-40B4-BE49-F238E27FC236}">
                <a16:creationId xmlns:a16="http://schemas.microsoft.com/office/drawing/2014/main" id="{979D08EA-468E-C84D-B101-F17B3A1FEFDA}"/>
              </a:ext>
            </a:extLst>
          </p:cNvPr>
          <p:cNvSpPr/>
          <p:nvPr/>
        </p:nvSpPr>
        <p:spPr>
          <a:xfrm>
            <a:off x="6641194" y="3677332"/>
            <a:ext cx="2071160" cy="9959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F7E643-3B1A-1F4C-9DFE-A23AC3829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49" y="894860"/>
            <a:ext cx="5586626" cy="50682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95A48C-FFDD-673B-D08A-CB43335DEE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133" b="11316"/>
          <a:stretch/>
        </p:blipFill>
        <p:spPr>
          <a:xfrm>
            <a:off x="6234408" y="1813810"/>
            <a:ext cx="5586626" cy="3575795"/>
          </a:xfrm>
          <a:prstGeom prst="rect">
            <a:avLst/>
          </a:prstGeom>
        </p:spPr>
      </p:pic>
      <p:pic>
        <p:nvPicPr>
          <p:cNvPr id="10" name="Google Shape;291;p13">
            <a:extLst>
              <a:ext uri="{FF2B5EF4-FFF2-40B4-BE49-F238E27FC236}">
                <a16:creationId xmlns:a16="http://schemas.microsoft.com/office/drawing/2014/main" id="{64FAEB0F-770C-C74D-9F69-0673D20C103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509" t="6089" b="3302"/>
          <a:stretch/>
        </p:blipFill>
        <p:spPr>
          <a:xfrm>
            <a:off x="7631065" y="2623841"/>
            <a:ext cx="3507990" cy="244692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00F614B9-3FA0-2FE9-FDCD-29F36608B6F3}"/>
              </a:ext>
            </a:extLst>
          </p:cNvPr>
          <p:cNvSpPr/>
          <p:nvPr/>
        </p:nvSpPr>
        <p:spPr>
          <a:xfrm rot="1800000">
            <a:off x="2898330" y="3487281"/>
            <a:ext cx="1349338" cy="228855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A8206-0661-E268-9600-0D9F5CB0ACC7}"/>
              </a:ext>
            </a:extLst>
          </p:cNvPr>
          <p:cNvSpPr txBox="1"/>
          <p:nvPr/>
        </p:nvSpPr>
        <p:spPr>
          <a:xfrm>
            <a:off x="1052945" y="4021045"/>
            <a:ext cx="445506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Overall decrease in </a:t>
            </a:r>
            <a:r>
              <a:rPr lang="en-US" b="1"/>
              <a:t>sequencing quality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A25328DA-4A50-2099-8ADE-39C7F275C3BA}"/>
              </a:ext>
            </a:extLst>
          </p:cNvPr>
          <p:cNvSpPr/>
          <p:nvPr/>
        </p:nvSpPr>
        <p:spPr>
          <a:xfrm rot="5400000">
            <a:off x="9572669" y="1945263"/>
            <a:ext cx="527504" cy="345986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83EA3C-AE6D-E187-2450-B7061B4A00CC}"/>
              </a:ext>
            </a:extLst>
          </p:cNvPr>
          <p:cNvSpPr txBox="1"/>
          <p:nvPr/>
        </p:nvSpPr>
        <p:spPr>
          <a:xfrm>
            <a:off x="9027721" y="1432625"/>
            <a:ext cx="168507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/>
              <a:t>Local artefact</a:t>
            </a:r>
            <a:endParaRPr lang="en-US" b="1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1E3F25-25D7-AA0C-B37C-6C55DB06B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0A1E0A4-13E3-A135-5EBF-C3E0917F4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845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A622-8769-8E41-A8E6-B018F278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Cutadapt</a:t>
            </a:r>
            <a:r>
              <a:rPr lang="en-US" dirty="0"/>
              <a:t>: trim away adapter sequences and low-quality ends</a:t>
            </a:r>
          </a:p>
        </p:txBody>
      </p:sp>
      <p:sp>
        <p:nvSpPr>
          <p:cNvPr id="22" name="Google Shape;249;p11">
            <a:extLst>
              <a:ext uri="{FF2B5EF4-FFF2-40B4-BE49-F238E27FC236}">
                <a16:creationId xmlns:a16="http://schemas.microsoft.com/office/drawing/2014/main" id="{979D08EA-468E-C84D-B101-F17B3A1FEFDA}"/>
              </a:ext>
            </a:extLst>
          </p:cNvPr>
          <p:cNvSpPr/>
          <p:nvPr/>
        </p:nvSpPr>
        <p:spPr>
          <a:xfrm>
            <a:off x="6641194" y="3677332"/>
            <a:ext cx="2071160" cy="9959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2EE2F257-59F7-C471-5571-7875D4190430}"/>
              </a:ext>
            </a:extLst>
          </p:cNvPr>
          <p:cNvSpPr/>
          <p:nvPr/>
        </p:nvSpPr>
        <p:spPr>
          <a:xfrm>
            <a:off x="5720033" y="3203533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6E67A-7985-B311-B6A0-6D8BF6B45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664" y="1583330"/>
            <a:ext cx="4825380" cy="36913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FCD5D8-AA60-4E7F-2FBB-D09EC05D7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65" y="1583330"/>
            <a:ext cx="4825380" cy="369179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B6FBE-3B7D-7699-C902-990EC69F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AFC37-312B-3011-3991-944683E58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623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A622-8769-8E41-A8E6-B018F278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Cutadapt</a:t>
            </a:r>
            <a:r>
              <a:rPr lang="en-US" dirty="0"/>
              <a:t>: trim away adapter sequences and low-quality ends</a:t>
            </a:r>
          </a:p>
        </p:txBody>
      </p:sp>
      <p:sp>
        <p:nvSpPr>
          <p:cNvPr id="22" name="Google Shape;249;p11">
            <a:extLst>
              <a:ext uri="{FF2B5EF4-FFF2-40B4-BE49-F238E27FC236}">
                <a16:creationId xmlns:a16="http://schemas.microsoft.com/office/drawing/2014/main" id="{979D08EA-468E-C84D-B101-F17B3A1FEFDA}"/>
              </a:ext>
            </a:extLst>
          </p:cNvPr>
          <p:cNvSpPr/>
          <p:nvPr/>
        </p:nvSpPr>
        <p:spPr>
          <a:xfrm>
            <a:off x="6641194" y="3677332"/>
            <a:ext cx="2071160" cy="9959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3E3FAC-F0B6-2389-AA02-02565DD0B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194" y="1567544"/>
            <a:ext cx="4632648" cy="37229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847572-29B1-1FA4-CECC-72B93F36F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869944"/>
            <a:ext cx="4632648" cy="765152"/>
          </a:xfrm>
          <a:prstGeom prst="rect">
            <a:avLst/>
          </a:prstGeom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2EE2F257-59F7-C471-5571-7875D4190430}"/>
              </a:ext>
            </a:extLst>
          </p:cNvPr>
          <p:cNvSpPr/>
          <p:nvPr/>
        </p:nvSpPr>
        <p:spPr>
          <a:xfrm>
            <a:off x="5720033" y="3203533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249C1-FFB1-49A7-D33F-D2B94FF2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78FF0-5323-EA05-6592-579EC249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744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A622-8769-8E41-A8E6-B018F278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Cutadapt</a:t>
            </a:r>
            <a:r>
              <a:rPr lang="en-US" dirty="0"/>
              <a:t>: trim away adapter sequences and low-quality ends</a:t>
            </a:r>
          </a:p>
        </p:txBody>
      </p:sp>
      <p:sp>
        <p:nvSpPr>
          <p:cNvPr id="22" name="Google Shape;249;p11">
            <a:extLst>
              <a:ext uri="{FF2B5EF4-FFF2-40B4-BE49-F238E27FC236}">
                <a16:creationId xmlns:a16="http://schemas.microsoft.com/office/drawing/2014/main" id="{979D08EA-468E-C84D-B101-F17B3A1FEFDA}"/>
              </a:ext>
            </a:extLst>
          </p:cNvPr>
          <p:cNvSpPr/>
          <p:nvPr/>
        </p:nvSpPr>
        <p:spPr>
          <a:xfrm>
            <a:off x="6641194" y="3677332"/>
            <a:ext cx="2071160" cy="9959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2EE2F257-59F7-C471-5571-7875D4190430}"/>
              </a:ext>
            </a:extLst>
          </p:cNvPr>
          <p:cNvSpPr/>
          <p:nvPr/>
        </p:nvSpPr>
        <p:spPr>
          <a:xfrm>
            <a:off x="5720033" y="3203533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29F43C-2D2F-2D6F-EA63-51F5C3330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35" y="1457307"/>
            <a:ext cx="5001077" cy="37841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B9C5B5-DF4A-4823-7143-A928FB7BA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280" y="1451135"/>
            <a:ext cx="5001077" cy="377439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75535-1C40-86D6-FA8D-BC74852F2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F3B42-0344-E25F-1C58-B36E0173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38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18;p3">
            <a:extLst>
              <a:ext uri="{FF2B5EF4-FFF2-40B4-BE49-F238E27FC236}">
                <a16:creationId xmlns:a16="http://schemas.microsoft.com/office/drawing/2014/main" id="{C4E83F30-2AD0-71A6-A33A-DCF4879BC7BE}"/>
              </a:ext>
            </a:extLst>
          </p:cNvPr>
          <p:cNvSpPr txBox="1"/>
          <p:nvPr/>
        </p:nvSpPr>
        <p:spPr>
          <a:xfrm>
            <a:off x="3842531" y="1958511"/>
            <a:ext cx="2774026" cy="418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Avenir"/>
                <a:ea typeface="Avenir"/>
                <a:cs typeface="Avenir"/>
                <a:sym typeface="Avenir"/>
              </a:rPr>
              <a:t>CHECK YOUR DATA</a:t>
            </a:r>
            <a:endParaRPr sz="2000" b="1" dirty="0">
              <a:solidFill>
                <a:srgbClr val="C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1FD2A-0CB0-1B9A-E68A-A65D8052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NGS processing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822C-F7B4-3FB1-DA34-BA28D1A0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B7CF0-8450-4467-4301-EACF8823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475DBBCC-FD56-44EB-CABA-0E141E8704D8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Create fastq</a:t>
            </a:r>
            <a:r>
              <a:rPr lang="en-US" dirty="0">
                <a:sym typeface="Avenir"/>
              </a:rPr>
              <a:t> files</a:t>
            </a:r>
            <a:endParaRPr dirty="0"/>
          </a:p>
        </p:txBody>
      </p:sp>
      <p:pic>
        <p:nvPicPr>
          <p:cNvPr id="15" name="Google Shape;126;p3">
            <a:extLst>
              <a:ext uri="{FF2B5EF4-FFF2-40B4-BE49-F238E27FC236}">
                <a16:creationId xmlns:a16="http://schemas.microsoft.com/office/drawing/2014/main" id="{1B4CEBE4-E85F-0555-4679-ADAADAEF635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7;p3">
            <a:extLst>
              <a:ext uri="{FF2B5EF4-FFF2-40B4-BE49-F238E27FC236}">
                <a16:creationId xmlns:a16="http://schemas.microsoft.com/office/drawing/2014/main" id="{2EAB0726-8197-A67A-1F67-4D4C06AB15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8;p3">
            <a:extLst>
              <a:ext uri="{FF2B5EF4-FFF2-40B4-BE49-F238E27FC236}">
                <a16:creationId xmlns:a16="http://schemas.microsoft.com/office/drawing/2014/main" id="{F97BE676-2A9F-F292-53EE-8FD9EC28E7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9;p3">
            <a:extLst>
              <a:ext uri="{FF2B5EF4-FFF2-40B4-BE49-F238E27FC236}">
                <a16:creationId xmlns:a16="http://schemas.microsoft.com/office/drawing/2014/main" id="{0093AA5C-1C28-9157-C7BE-9ECD95F61A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0;p3">
            <a:extLst>
              <a:ext uri="{FF2B5EF4-FFF2-40B4-BE49-F238E27FC236}">
                <a16:creationId xmlns:a16="http://schemas.microsoft.com/office/drawing/2014/main" id="{44924E93-CC86-553A-5113-3FEA1BA25F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2;p3">
            <a:extLst>
              <a:ext uri="{FF2B5EF4-FFF2-40B4-BE49-F238E27FC236}">
                <a16:creationId xmlns:a16="http://schemas.microsoft.com/office/drawing/2014/main" id="{37AB8DAE-FC9C-AF39-8398-80805C5ED7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3;p3">
            <a:extLst>
              <a:ext uri="{FF2B5EF4-FFF2-40B4-BE49-F238E27FC236}">
                <a16:creationId xmlns:a16="http://schemas.microsoft.com/office/drawing/2014/main" id="{15BC622C-FBF8-FD56-733D-6EDFA156FD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4;p3">
            <a:extLst>
              <a:ext uri="{FF2B5EF4-FFF2-40B4-BE49-F238E27FC236}">
                <a16:creationId xmlns:a16="http://schemas.microsoft.com/office/drawing/2014/main" id="{2A6B4207-5D7A-AB98-7C78-41873A1447E2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Google Shape;115;p3">
            <a:extLst>
              <a:ext uri="{FF2B5EF4-FFF2-40B4-BE49-F238E27FC236}">
                <a16:creationId xmlns:a16="http://schemas.microsoft.com/office/drawing/2014/main" id="{63772205-33BB-9414-8F90-1D2741AC4707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9" name="Google Shape;116;p3">
            <a:extLst>
              <a:ext uri="{FF2B5EF4-FFF2-40B4-BE49-F238E27FC236}">
                <a16:creationId xmlns:a16="http://schemas.microsoft.com/office/drawing/2014/main" id="{13430172-6972-6C8D-A7DE-3535BDE93D62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Align fastq to BAM</a:t>
            </a:r>
            <a:endParaRPr/>
          </a:p>
        </p:txBody>
      </p:sp>
      <p:sp>
        <p:nvSpPr>
          <p:cNvPr id="10" name="Google Shape;117;p3">
            <a:extLst>
              <a:ext uri="{FF2B5EF4-FFF2-40B4-BE49-F238E27FC236}">
                <a16:creationId xmlns:a16="http://schemas.microsoft.com/office/drawing/2014/main" id="{06792DEA-F505-21D8-66C1-AF3C7C494291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12" name="Google Shape;119;p3">
            <a:extLst>
              <a:ext uri="{FF2B5EF4-FFF2-40B4-BE49-F238E27FC236}">
                <a16:creationId xmlns:a16="http://schemas.microsoft.com/office/drawing/2014/main" id="{0D2E17F9-07E1-C1C6-48C4-9AE48A66864D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Generate tracks</a:t>
            </a:r>
            <a:endParaRPr dirty="0"/>
          </a:p>
        </p:txBody>
      </p:sp>
      <p:sp>
        <p:nvSpPr>
          <p:cNvPr id="13" name="Google Shape;120;p3">
            <a:extLst>
              <a:ext uri="{FF2B5EF4-FFF2-40B4-BE49-F238E27FC236}">
                <a16:creationId xmlns:a16="http://schemas.microsoft.com/office/drawing/2014/main" id="{43356328-5680-A378-EC43-16AF4BD100E3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25" name="Picture 4" descr="Sequencing Platforms | Illumina NGS platforms">
            <a:extLst>
              <a:ext uri="{FF2B5EF4-FFF2-40B4-BE49-F238E27FC236}">
                <a16:creationId xmlns:a16="http://schemas.microsoft.com/office/drawing/2014/main" id="{F3C7BDB5-490C-6974-C598-92FA0AA56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039587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equencing Platforms | Illumina NGS platforms">
            <a:extLst>
              <a:ext uri="{FF2B5EF4-FFF2-40B4-BE49-F238E27FC236}">
                <a16:creationId xmlns:a16="http://schemas.microsoft.com/office/drawing/2014/main" id="{868217A2-4B48-9325-FF2A-C266F120A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669173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C777D3-7DB7-0425-57FC-AB5BBD876ECF}"/>
              </a:ext>
            </a:extLst>
          </p:cNvPr>
          <p:cNvSpPr txBox="1"/>
          <p:nvPr/>
        </p:nvSpPr>
        <p:spPr>
          <a:xfrm>
            <a:off x="5564978" y="1681632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bcl2fastq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D57D1F-616F-7424-CE09-0636B3AB43A9}"/>
              </a:ext>
            </a:extLst>
          </p:cNvPr>
          <p:cNvSpPr txBox="1"/>
          <p:nvPr/>
        </p:nvSpPr>
        <p:spPr>
          <a:xfrm>
            <a:off x="5115911" y="2383760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cutadapt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D02BBC-75EC-7EA4-671A-A2677CCDB8E7}"/>
              </a:ext>
            </a:extLst>
          </p:cNvPr>
          <p:cNvSpPr txBox="1"/>
          <p:nvPr/>
        </p:nvSpPr>
        <p:spPr>
          <a:xfrm>
            <a:off x="6724306" y="2008203"/>
            <a:ext cx="1495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FastQC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27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815815D7-DBA5-6A2A-4782-1BEA44EBD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945355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557DB673-FEDE-2D81-0E72-4F417E88B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1595804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D7D6533F-77AA-5446-0743-4A3D961AE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236826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046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F004-C2A8-797F-BEDD-C0011897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sequencing reads to a 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57092-F227-16CA-6121-02FB94698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13B5-8413-A893-03C3-92434AFE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2B0E-ACC4-A43E-A639-18195CEA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FA4F8AC-F1EF-4715-6BBA-B8C2E378F8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52996" y="3403416"/>
            <a:ext cx="3372555" cy="30733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B539F7C-D33C-2DAB-A374-8847607FF16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3200" y="5250348"/>
            <a:ext cx="3089487" cy="28306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2BA7230-59A1-DFA1-07C1-D8D04F43F62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3358" y="4736811"/>
            <a:ext cx="2790243" cy="2749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862075E-C6FB-16EB-FB28-4FC7B1DDA3B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8207" y="3934811"/>
            <a:ext cx="3146100" cy="2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83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F004-C2A8-797F-BEDD-C0011897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sequencing reads to a 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57092-F227-16CA-6121-02FB94698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13B5-8413-A893-03C3-92434AFE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2B0E-ACC4-A43E-A639-18195CEA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B669CF-A25C-5A62-195C-5C80F6D383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52996" y="3403416"/>
            <a:ext cx="3372555" cy="307331"/>
          </a:xfrm>
          <a:prstGeom prst="rect">
            <a:avLst/>
          </a:prstGeom>
        </p:spPr>
      </p:pic>
      <p:pic>
        <p:nvPicPr>
          <p:cNvPr id="5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1D2513D4-645F-F403-C9BD-D8A2E4C814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3" b="79983"/>
          <a:stretch/>
        </p:blipFill>
        <p:spPr bwMode="auto">
          <a:xfrm>
            <a:off x="0" y="1187260"/>
            <a:ext cx="8142514" cy="80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B6D9C8-887F-43C4-AF82-5C427652404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3200" y="5250348"/>
            <a:ext cx="3089487" cy="2830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5AE375-1C0F-2377-8872-B4109435AE5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3358" y="4736811"/>
            <a:ext cx="2790243" cy="274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269C75-C44D-0C25-8FF9-FAEA23A255B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8207" y="3934811"/>
            <a:ext cx="3146100" cy="2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033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F004-C2A8-797F-BEDD-C0011897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sequencing reads to a 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57092-F227-16CA-6121-02FB94698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13B5-8413-A893-03C3-92434AFE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2B0E-ACC4-A43E-A639-18195CEA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F3351D-8981-5F65-D88C-FC45B2B0CA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4513200" y="5250348"/>
            <a:ext cx="3089487" cy="2830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E4D78E7-B8E6-E3B7-7D1A-2AEE20E0D3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823358" y="4736811"/>
            <a:ext cx="2790243" cy="2749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A7CB9A-6ACE-AB3C-4687-550888D1C9E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4168" y="2000813"/>
            <a:ext cx="3372555" cy="3073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824A9F-91B0-2CDE-7CD5-7B23F1EA46B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2498207" y="3934811"/>
            <a:ext cx="3146100" cy="283068"/>
          </a:xfrm>
          <a:prstGeom prst="rect">
            <a:avLst/>
          </a:prstGeom>
        </p:spPr>
      </p:pic>
      <p:pic>
        <p:nvPicPr>
          <p:cNvPr id="5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7CD91E9F-BFD9-A887-36E7-21AE849336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3" b="79983"/>
          <a:stretch/>
        </p:blipFill>
        <p:spPr bwMode="auto">
          <a:xfrm>
            <a:off x="0" y="1187260"/>
            <a:ext cx="8142514" cy="80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712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F004-C2A8-797F-BEDD-C0011897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sequencing reads to a 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57092-F227-16CA-6121-02FB94698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13B5-8413-A893-03C3-92434AFE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2B0E-ACC4-A43E-A639-18195CEA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8194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09CE5A4F-5440-77D9-AFE0-04D82D4B83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34534" b="22949"/>
          <a:stretch/>
        </p:blipFill>
        <p:spPr bwMode="auto">
          <a:xfrm>
            <a:off x="1745746" y="2015069"/>
            <a:ext cx="6396768" cy="194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08EDEC2A-8B73-E15B-312D-24B1D914BC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3" b="79983"/>
          <a:stretch/>
        </p:blipFill>
        <p:spPr bwMode="auto">
          <a:xfrm>
            <a:off x="0" y="1187260"/>
            <a:ext cx="8142514" cy="80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640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F004-C2A8-797F-BEDD-C0011897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 file format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13B5-8413-A893-03C3-92434AFE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71BFA9-F9FA-E561-5C8C-74774A985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8558107" cy="4883277"/>
          </a:xfrm>
        </p:spPr>
        <p:txBody>
          <a:bodyPr/>
          <a:lstStyle/>
          <a:p>
            <a:pPr marL="11113" indent="-11113"/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Sequence Alignment Map (SAM)</a:t>
            </a:r>
            <a:r>
              <a:rPr lang="en-GB" b="1" dirty="0">
                <a:solidFill>
                  <a:srgbClr val="202122"/>
                </a:solidFill>
              </a:rPr>
              <a:t> </a:t>
            </a:r>
            <a:r>
              <a:rPr lang="en-GB" dirty="0">
                <a:solidFill>
                  <a:srgbClr val="202122"/>
                </a:solidFill>
              </a:rPr>
              <a:t>is a human-readable, rectangular, text-based format for storing biological sequences aligned to a reference sequence. </a:t>
            </a:r>
          </a:p>
          <a:p>
            <a:pPr marL="11113" indent="-11113"/>
            <a:r>
              <a:rPr lang="en-GB" dirty="0">
                <a:solidFill>
                  <a:srgbClr val="202122"/>
                </a:solidFill>
              </a:rPr>
              <a:t>Each entry (line) describes where a read is mapped on the reference and how it is mapped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2B0E-ACC4-A43E-A639-18195CEA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A999CA-6CC1-0C22-2A5F-70851197B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79" y="907142"/>
            <a:ext cx="3134749" cy="267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89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E8A9188-4F7F-4535-00A4-7BF7BA5D849B}"/>
              </a:ext>
            </a:extLst>
          </p:cNvPr>
          <p:cNvSpPr/>
          <p:nvPr/>
        </p:nvSpPr>
        <p:spPr>
          <a:xfrm>
            <a:off x="0" y="4786919"/>
            <a:ext cx="12192000" cy="1399748"/>
          </a:xfrm>
          <a:prstGeom prst="rect">
            <a:avLst/>
          </a:prstGeom>
          <a:solidFill>
            <a:srgbClr val="6EB4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FF004-C2A8-797F-BEDD-C0011897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 file format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D78598-98BA-F04F-0008-825CB949FF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13B5-8413-A893-03C3-92434AFE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71BFA9-F9FA-E561-5C8C-74774A985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8558107" cy="4883277"/>
          </a:xfrm>
        </p:spPr>
        <p:txBody>
          <a:bodyPr/>
          <a:lstStyle/>
          <a:p>
            <a:pPr marL="11113" indent="-11113"/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Sequence Alignment Map (SAM)</a:t>
            </a:r>
            <a:r>
              <a:rPr lang="en-GB" b="1" dirty="0">
                <a:solidFill>
                  <a:srgbClr val="202122"/>
                </a:solidFill>
              </a:rPr>
              <a:t> </a:t>
            </a:r>
            <a:r>
              <a:rPr lang="en-GB" dirty="0">
                <a:solidFill>
                  <a:srgbClr val="202122"/>
                </a:solidFill>
              </a:rPr>
              <a:t>is a human-readable, rectangular, text-based format for storing biological sequences aligned to a reference sequence. </a:t>
            </a:r>
          </a:p>
          <a:p>
            <a:pPr marL="11113" indent="-11113"/>
            <a:r>
              <a:rPr lang="en-GB" dirty="0">
                <a:solidFill>
                  <a:srgbClr val="202122"/>
                </a:solidFill>
              </a:rPr>
              <a:t>Each entry (line) describes where a read is mapped on the reference and how it is mapped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2B0E-ACC4-A43E-A639-18195CEA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9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9B7C021B-52A8-5AF0-0379-C369BF61AF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34534" b="59393"/>
          <a:stretch/>
        </p:blipFill>
        <p:spPr bwMode="auto">
          <a:xfrm>
            <a:off x="1745746" y="4104063"/>
            <a:ext cx="6396768" cy="2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F22CDE8F-0779-843E-5C0F-13868A395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3" b="79983"/>
          <a:stretch/>
        </p:blipFill>
        <p:spPr bwMode="auto">
          <a:xfrm>
            <a:off x="0" y="3276254"/>
            <a:ext cx="8142514" cy="80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B1427D17-DB7F-8B78-C6FE-0F0F3ED072BD}"/>
              </a:ext>
            </a:extLst>
          </p:cNvPr>
          <p:cNvSpPr/>
          <p:nvPr/>
        </p:nvSpPr>
        <p:spPr>
          <a:xfrm rot="5400000">
            <a:off x="2539644" y="4404803"/>
            <a:ext cx="329076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A999CA-6CC1-0C22-2A5F-70851197B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79" y="907142"/>
            <a:ext cx="3134749" cy="26785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0E5B62F-F214-2912-A100-3EB2E2BCD94C}"/>
              </a:ext>
            </a:extLst>
          </p:cNvPr>
          <p:cNvSpPr txBox="1"/>
          <p:nvPr/>
        </p:nvSpPr>
        <p:spPr>
          <a:xfrm>
            <a:off x="66614" y="5616852"/>
            <a:ext cx="13111282" cy="269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HWI-ST330:304:H045HADXX:2093#1    2     chr8    63817200    50    </a:t>
            </a:r>
            <a:r>
              <a:rPr lang="en-GB" sz="1150" b="0" i="0" dirty="0">
                <a:solidFill>
                  <a:srgbClr val="202122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14M1X   </a:t>
            </a:r>
            <a:r>
              <a:rPr lang="en-US" sz="115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2093#2</a:t>
            </a:r>
            <a:r>
              <a:rPr lang="en-GB" sz="1150" dirty="0">
                <a:solidFill>
                  <a:srgbClr val="20212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c</a:t>
            </a:r>
            <a:r>
              <a:rPr lang="en-GB" sz="1150" b="0" i="0" dirty="0">
                <a:solidFill>
                  <a:srgbClr val="202122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hr8    </a:t>
            </a:r>
            <a:r>
              <a:rPr lang="en-US" sz="115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6381932</a:t>
            </a:r>
            <a:r>
              <a:rPr lang="en-GB" sz="1150" b="0" i="0" dirty="0">
                <a:solidFill>
                  <a:srgbClr val="202122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TTATCTTCTTTGAAT    ?????BBBBBBDD=?	</a:t>
            </a:r>
            <a:endParaRPr lang="en-US" sz="115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CDE3D0-C4C1-FD39-29B5-76C851FB5B09}"/>
              </a:ext>
            </a:extLst>
          </p:cNvPr>
          <p:cNvSpPr/>
          <p:nvPr/>
        </p:nvSpPr>
        <p:spPr>
          <a:xfrm>
            <a:off x="66614" y="5616852"/>
            <a:ext cx="2800763" cy="26930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9C4476-35DE-39CB-6021-4C3ECF62E940}"/>
              </a:ext>
            </a:extLst>
          </p:cNvPr>
          <p:cNvSpPr/>
          <p:nvPr/>
        </p:nvSpPr>
        <p:spPr>
          <a:xfrm>
            <a:off x="2979137" y="5616852"/>
            <a:ext cx="362373" cy="2781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C62292-4860-157E-B01C-6BA607767E52}"/>
              </a:ext>
            </a:extLst>
          </p:cNvPr>
          <p:cNvSpPr/>
          <p:nvPr/>
        </p:nvSpPr>
        <p:spPr>
          <a:xfrm>
            <a:off x="3532293" y="5616852"/>
            <a:ext cx="622017" cy="2781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138BF-2587-6301-A201-EC79A01692BD}"/>
              </a:ext>
            </a:extLst>
          </p:cNvPr>
          <p:cNvSpPr/>
          <p:nvPr/>
        </p:nvSpPr>
        <p:spPr>
          <a:xfrm>
            <a:off x="4254782" y="5616852"/>
            <a:ext cx="870373" cy="2781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B05DC5-5555-5F5F-794D-D7BA15F3CDD6}"/>
              </a:ext>
            </a:extLst>
          </p:cNvPr>
          <p:cNvSpPr/>
          <p:nvPr/>
        </p:nvSpPr>
        <p:spPr>
          <a:xfrm>
            <a:off x="5282071" y="5616852"/>
            <a:ext cx="362373" cy="2781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338EE2-CAD2-627B-0A5F-95441AC58B12}"/>
              </a:ext>
            </a:extLst>
          </p:cNvPr>
          <p:cNvSpPr/>
          <p:nvPr/>
        </p:nvSpPr>
        <p:spPr>
          <a:xfrm>
            <a:off x="5801360" y="5616852"/>
            <a:ext cx="622017" cy="2781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29D065-D9D1-3DC4-2082-EAB7405D189C}"/>
              </a:ext>
            </a:extLst>
          </p:cNvPr>
          <p:cNvSpPr/>
          <p:nvPr/>
        </p:nvSpPr>
        <p:spPr>
          <a:xfrm>
            <a:off x="6546426" y="5616852"/>
            <a:ext cx="723617" cy="2781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B44E04-2799-7756-AFCC-B2851D2D9E3C}"/>
              </a:ext>
            </a:extLst>
          </p:cNvPr>
          <p:cNvSpPr/>
          <p:nvPr/>
        </p:nvSpPr>
        <p:spPr>
          <a:xfrm>
            <a:off x="7393093" y="5616852"/>
            <a:ext cx="588151" cy="2781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B471FB-E656-0A0E-D9BC-FBC738D0A0C2}"/>
              </a:ext>
            </a:extLst>
          </p:cNvPr>
          <p:cNvSpPr/>
          <p:nvPr/>
        </p:nvSpPr>
        <p:spPr>
          <a:xfrm>
            <a:off x="8047849" y="5616852"/>
            <a:ext cx="870373" cy="2781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667403-3462-9795-A22E-F6F622EE32FD}"/>
              </a:ext>
            </a:extLst>
          </p:cNvPr>
          <p:cNvSpPr/>
          <p:nvPr/>
        </p:nvSpPr>
        <p:spPr>
          <a:xfrm>
            <a:off x="9097716" y="5616852"/>
            <a:ext cx="1400951" cy="2781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5B50F0-BAF8-A480-83B5-DBD3842F0D69}"/>
              </a:ext>
            </a:extLst>
          </p:cNvPr>
          <p:cNvSpPr/>
          <p:nvPr/>
        </p:nvSpPr>
        <p:spPr>
          <a:xfrm>
            <a:off x="10757183" y="5616852"/>
            <a:ext cx="1400951" cy="2781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8F4F3A-D43C-897B-0D6A-352FAD57171B}"/>
              </a:ext>
            </a:extLst>
          </p:cNvPr>
          <p:cNvSpPr txBox="1"/>
          <p:nvPr/>
        </p:nvSpPr>
        <p:spPr>
          <a:xfrm>
            <a:off x="508000" y="5273514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Read name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5A977E-3BD1-28E2-BB35-8A103EC32EBA}"/>
              </a:ext>
            </a:extLst>
          </p:cNvPr>
          <p:cNvSpPr txBox="1"/>
          <p:nvPr/>
        </p:nvSpPr>
        <p:spPr>
          <a:xfrm>
            <a:off x="2878843" y="5273514"/>
            <a:ext cx="551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Flag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9E6577-E9DD-0606-29EB-262D8826EE65}"/>
              </a:ext>
            </a:extLst>
          </p:cNvPr>
          <p:cNvSpPr txBox="1"/>
          <p:nvPr/>
        </p:nvSpPr>
        <p:spPr>
          <a:xfrm>
            <a:off x="3556176" y="5273514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Chr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CE5C41-F423-DDBB-1F38-84B282198F73}"/>
              </a:ext>
            </a:extLst>
          </p:cNvPr>
          <p:cNvSpPr txBox="1"/>
          <p:nvPr/>
        </p:nvSpPr>
        <p:spPr>
          <a:xfrm>
            <a:off x="4216390" y="5273514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/>
              <a:t>Position</a:t>
            </a:r>
            <a:endParaRPr lang="en-US" sz="1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31ED39-5867-7F2E-365E-FA47A25815A0}"/>
              </a:ext>
            </a:extLst>
          </p:cNvPr>
          <p:cNvSpPr txBox="1"/>
          <p:nvPr/>
        </p:nvSpPr>
        <p:spPr>
          <a:xfrm>
            <a:off x="5040479" y="5273514"/>
            <a:ext cx="779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Length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E9E421-8D11-0E1F-6480-4A34BB3EC40A}"/>
              </a:ext>
            </a:extLst>
          </p:cNvPr>
          <p:cNvSpPr txBox="1"/>
          <p:nvPr/>
        </p:nvSpPr>
        <p:spPr>
          <a:xfrm>
            <a:off x="5751679" y="5871826"/>
            <a:ext cx="763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CIGAR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83E599-BB59-994D-2145-93746F1E866C}"/>
              </a:ext>
            </a:extLst>
          </p:cNvPr>
          <p:cNvSpPr txBox="1"/>
          <p:nvPr/>
        </p:nvSpPr>
        <p:spPr>
          <a:xfrm>
            <a:off x="6313828" y="5059674"/>
            <a:ext cx="1140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Read name</a:t>
            </a:r>
          </a:p>
          <a:p>
            <a:pPr algn="ctr"/>
            <a:r>
              <a:rPr lang="en-US" sz="1400" b="1" dirty="0"/>
              <a:t>(mate)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389C24-387D-F03A-51FC-8D137886C65D}"/>
              </a:ext>
            </a:extLst>
          </p:cNvPr>
          <p:cNvSpPr txBox="1"/>
          <p:nvPr/>
        </p:nvSpPr>
        <p:spPr>
          <a:xfrm>
            <a:off x="7405688" y="5059674"/>
            <a:ext cx="721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Chr </a:t>
            </a:r>
          </a:p>
          <a:p>
            <a:pPr algn="ctr"/>
            <a:r>
              <a:rPr lang="en-US" sz="1400" b="1" dirty="0"/>
              <a:t>(mate)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BDF7A6-4768-DF3E-8FB2-6C31C27853F6}"/>
              </a:ext>
            </a:extLst>
          </p:cNvPr>
          <p:cNvSpPr txBox="1"/>
          <p:nvPr/>
        </p:nvSpPr>
        <p:spPr>
          <a:xfrm>
            <a:off x="8065902" y="5059674"/>
            <a:ext cx="8899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Position</a:t>
            </a:r>
          </a:p>
          <a:p>
            <a:pPr algn="ctr"/>
            <a:r>
              <a:rPr lang="en-US" sz="1400" b="1" dirty="0"/>
              <a:t>(mate)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102DEA-6A7F-9F95-2D42-E9B246D2BCBB}"/>
              </a:ext>
            </a:extLst>
          </p:cNvPr>
          <p:cNvSpPr txBox="1"/>
          <p:nvPr/>
        </p:nvSpPr>
        <p:spPr>
          <a:xfrm>
            <a:off x="9262885" y="5273514"/>
            <a:ext cx="1029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Sequence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943C5B-385D-7246-9CBA-4CCBDF139137}"/>
              </a:ext>
            </a:extLst>
          </p:cNvPr>
          <p:cNvSpPr txBox="1"/>
          <p:nvPr/>
        </p:nvSpPr>
        <p:spPr>
          <a:xfrm>
            <a:off x="10965382" y="4845458"/>
            <a:ext cx="122661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Per base </a:t>
            </a:r>
          </a:p>
          <a:p>
            <a:r>
              <a:rPr lang="en-US" sz="1400" b="1" dirty="0"/>
              <a:t>sequencing </a:t>
            </a:r>
          </a:p>
          <a:p>
            <a:r>
              <a:rPr lang="en-US" sz="1400" b="1" dirty="0"/>
              <a:t>quality</a:t>
            </a:r>
          </a:p>
        </p:txBody>
      </p:sp>
    </p:spTree>
    <p:extLst>
      <p:ext uri="{BB962C8B-B14F-4D97-AF65-F5344CB8AC3E}">
        <p14:creationId xmlns:p14="http://schemas.microsoft.com/office/powerpoint/2010/main" val="3171959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71BFA9-F9FA-E561-5C8C-74774A985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1334673"/>
          </a:xfrm>
        </p:spPr>
        <p:txBody>
          <a:bodyPr>
            <a:normAutofit/>
          </a:bodyPr>
          <a:lstStyle/>
          <a:p>
            <a:pPr marL="11113" indent="-11113"/>
            <a:r>
              <a:rPr lang="en-GB" b="1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en-GB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AM files are </a:t>
            </a: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binarized</a:t>
            </a:r>
            <a:r>
              <a:rPr lang="en-GB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SAM files, allowing great compression of the alignment results. </a:t>
            </a:r>
          </a:p>
          <a:p>
            <a:pPr marL="11113" indent="-11113"/>
            <a:r>
              <a:rPr lang="en-GB" dirty="0">
                <a:solidFill>
                  <a:srgbClr val="202122"/>
                </a:solidFill>
              </a:rPr>
              <a:t>However, bam files are not directly human-readable.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CCB46-6AD8-653B-AFC8-B9177E47075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3550347"/>
            <a:ext cx="12192000" cy="672861"/>
          </a:xfrm>
        </p:spPr>
        <p:txBody>
          <a:bodyPr>
            <a:normAutofit/>
          </a:bodyPr>
          <a:lstStyle/>
          <a:p>
            <a:r>
              <a:rPr lang="en-US" dirty="0" err="1"/>
              <a:t>samtools</a:t>
            </a:r>
            <a:r>
              <a:rPr lang="en-US" dirty="0"/>
              <a:t> view --bam ….</a:t>
            </a:r>
            <a:r>
              <a:rPr lang="en-US" dirty="0" err="1"/>
              <a:t>sam</a:t>
            </a:r>
            <a:r>
              <a:rPr lang="en-US" dirty="0"/>
              <a:t> &gt; ….bam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8FDCFE-E5C2-B35F-4361-134CF002D9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FF004-C2A8-797F-BEDD-C0011897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B</a:t>
            </a:r>
            <a:r>
              <a:rPr lang="en-US" dirty="0"/>
              <a:t>AM file format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13B5-8413-A893-03C3-92434AFE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2B0E-ACC4-A43E-A639-18195CEA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0360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F004-C2A8-797F-BEDD-C0011897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13B5-8413-A893-03C3-92434AFE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28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71BFA9-F9FA-E561-5C8C-74774A985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275819" cy="4883277"/>
          </a:xfrm>
        </p:spPr>
        <p:txBody>
          <a:bodyPr/>
          <a:lstStyle/>
          <a:p>
            <a:pPr marL="11113" indent="-11113"/>
            <a:r>
              <a:rPr lang="en-GB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There are a plethora of alignment tools. </a:t>
            </a:r>
          </a:p>
          <a:p>
            <a:pPr marL="11113" indent="-11113"/>
            <a:r>
              <a:rPr lang="en-GB" dirty="0">
                <a:solidFill>
                  <a:srgbClr val="202122"/>
                </a:solidFill>
              </a:rPr>
              <a:t>Each one requires the genome reference to be indexed first.</a:t>
            </a:r>
          </a:p>
          <a:p>
            <a:pPr marL="11113" indent="-11113"/>
            <a:r>
              <a:rPr lang="en-US" dirty="0"/>
              <a:t>Some mappers can be ”</a:t>
            </a:r>
            <a:r>
              <a:rPr lang="en-US" b="1" dirty="0"/>
              <a:t>splice-aware</a:t>
            </a:r>
            <a:r>
              <a:rPr lang="en-US" dirty="0"/>
              <a:t>”, allowing reads to be mapped over annotated introns.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2B0E-ACC4-A43E-A639-18195CEA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36C99E-72AD-1285-B277-415B260558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424"/>
          <a:stretch/>
        </p:blipFill>
        <p:spPr>
          <a:xfrm>
            <a:off x="934799" y="3631699"/>
            <a:ext cx="7772400" cy="21253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DBC66D-EE96-7CA2-DE4A-50D91F5C965F}"/>
              </a:ext>
            </a:extLst>
          </p:cNvPr>
          <p:cNvSpPr txBox="1"/>
          <p:nvPr/>
        </p:nvSpPr>
        <p:spPr>
          <a:xfrm>
            <a:off x="8669867" y="4975078"/>
            <a:ext cx="3339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Genome sequence reference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CCE8E2-2020-A9B9-12E9-F677CF756140}"/>
              </a:ext>
            </a:extLst>
          </p:cNvPr>
          <p:cNvSpPr txBox="1"/>
          <p:nvPr/>
        </p:nvSpPr>
        <p:spPr>
          <a:xfrm>
            <a:off x="8669867" y="5234722"/>
            <a:ext cx="3236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Gene annotations reference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4BD5AC-CD61-1EDF-EFE1-B55DB63E6846}"/>
              </a:ext>
            </a:extLst>
          </p:cNvPr>
          <p:cNvSpPr txBox="1"/>
          <p:nvPr/>
        </p:nvSpPr>
        <p:spPr>
          <a:xfrm>
            <a:off x="609590" y="3323575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 with 1 read mapping over an intron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00B4E9-45BE-101E-1717-B696252E78C1}"/>
              </a:ext>
            </a:extLst>
          </p:cNvPr>
          <p:cNvSpPr txBox="1"/>
          <p:nvPr/>
        </p:nvSpPr>
        <p:spPr>
          <a:xfrm>
            <a:off x="6039546" y="3323575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pairs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059D99-B062-C0CF-F397-2CE845E12D09}"/>
              </a:ext>
            </a:extLst>
          </p:cNvPr>
          <p:cNvSpPr txBox="1"/>
          <p:nvPr/>
        </p:nvSpPr>
        <p:spPr>
          <a:xfrm>
            <a:off x="4188167" y="378468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Read singleton</a:t>
            </a:r>
            <a:endParaRPr lang="en-US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BDEA46B-7194-3215-1E08-A461F905E525}"/>
              </a:ext>
            </a:extLst>
          </p:cNvPr>
          <p:cNvCxnSpPr/>
          <p:nvPr/>
        </p:nvCxnSpPr>
        <p:spPr>
          <a:xfrm flipH="1">
            <a:off x="4431453" y="4154015"/>
            <a:ext cx="389546" cy="25964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BB6DBB51-4C23-5A67-43F9-09414B930D4C}"/>
              </a:ext>
            </a:extLst>
          </p:cNvPr>
          <p:cNvSpPr/>
          <p:nvPr/>
        </p:nvSpPr>
        <p:spPr>
          <a:xfrm>
            <a:off x="3890151" y="4413659"/>
            <a:ext cx="298016" cy="238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241D136-008F-AC74-233A-0846602E45FE}"/>
              </a:ext>
            </a:extLst>
          </p:cNvPr>
          <p:cNvSpPr/>
          <p:nvPr/>
        </p:nvSpPr>
        <p:spPr>
          <a:xfrm>
            <a:off x="7830675" y="4353897"/>
            <a:ext cx="738048" cy="297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9B3B001-C283-0DAB-D1F5-2B37449442BC}"/>
              </a:ext>
            </a:extLst>
          </p:cNvPr>
          <p:cNvSpPr/>
          <p:nvPr/>
        </p:nvSpPr>
        <p:spPr>
          <a:xfrm>
            <a:off x="8176536" y="4424965"/>
            <a:ext cx="738048" cy="297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62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FD2A-0CB0-1B9A-E68A-A65D8052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NGS processing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822C-F7B4-3FB1-DA34-BA28D1A0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B7CF0-8450-4467-4301-EACF8823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Epigenomics Data Analysis — </a:t>
            </a:r>
            <a:r>
              <a:rPr lang="en-US" dirty="0" err="1"/>
              <a:t>Physalia</a:t>
            </a:r>
            <a:r>
              <a:rPr lang="en-US" dirty="0"/>
              <a:t> 2025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475DBBCC-FD56-44EB-CABA-0E141E8704D8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Create fastq</a:t>
            </a:r>
            <a:r>
              <a:rPr lang="en-US" dirty="0">
                <a:sym typeface="Avenir"/>
              </a:rPr>
              <a:t> files</a:t>
            </a:r>
            <a:endParaRPr dirty="0"/>
          </a:p>
        </p:txBody>
      </p:sp>
      <p:pic>
        <p:nvPicPr>
          <p:cNvPr id="15" name="Google Shape;126;p3">
            <a:extLst>
              <a:ext uri="{FF2B5EF4-FFF2-40B4-BE49-F238E27FC236}">
                <a16:creationId xmlns:a16="http://schemas.microsoft.com/office/drawing/2014/main" id="{1B4CEBE4-E85F-0555-4679-ADAADAEF635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7;p3">
            <a:extLst>
              <a:ext uri="{FF2B5EF4-FFF2-40B4-BE49-F238E27FC236}">
                <a16:creationId xmlns:a16="http://schemas.microsoft.com/office/drawing/2014/main" id="{2EAB0726-8197-A67A-1F67-4D4C06AB15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8;p3">
            <a:extLst>
              <a:ext uri="{FF2B5EF4-FFF2-40B4-BE49-F238E27FC236}">
                <a16:creationId xmlns:a16="http://schemas.microsoft.com/office/drawing/2014/main" id="{F97BE676-2A9F-F292-53EE-8FD9EC28E7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9;p3">
            <a:extLst>
              <a:ext uri="{FF2B5EF4-FFF2-40B4-BE49-F238E27FC236}">
                <a16:creationId xmlns:a16="http://schemas.microsoft.com/office/drawing/2014/main" id="{0093AA5C-1C28-9157-C7BE-9ECD95F61A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0;p3">
            <a:extLst>
              <a:ext uri="{FF2B5EF4-FFF2-40B4-BE49-F238E27FC236}">
                <a16:creationId xmlns:a16="http://schemas.microsoft.com/office/drawing/2014/main" id="{44924E93-CC86-553A-5113-3FEA1BA25F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2;p3">
            <a:extLst>
              <a:ext uri="{FF2B5EF4-FFF2-40B4-BE49-F238E27FC236}">
                <a16:creationId xmlns:a16="http://schemas.microsoft.com/office/drawing/2014/main" id="{37AB8DAE-FC9C-AF39-8398-80805C5ED7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3;p3">
            <a:extLst>
              <a:ext uri="{FF2B5EF4-FFF2-40B4-BE49-F238E27FC236}">
                <a16:creationId xmlns:a16="http://schemas.microsoft.com/office/drawing/2014/main" id="{15BC622C-FBF8-FD56-733D-6EDFA156FD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4;p3">
            <a:extLst>
              <a:ext uri="{FF2B5EF4-FFF2-40B4-BE49-F238E27FC236}">
                <a16:creationId xmlns:a16="http://schemas.microsoft.com/office/drawing/2014/main" id="{2A6B4207-5D7A-AB98-7C78-41873A1447E2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Google Shape;115;p3">
            <a:extLst>
              <a:ext uri="{FF2B5EF4-FFF2-40B4-BE49-F238E27FC236}">
                <a16:creationId xmlns:a16="http://schemas.microsoft.com/office/drawing/2014/main" id="{63772205-33BB-9414-8F90-1D2741AC4707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9" name="Google Shape;116;p3">
            <a:extLst>
              <a:ext uri="{FF2B5EF4-FFF2-40B4-BE49-F238E27FC236}">
                <a16:creationId xmlns:a16="http://schemas.microsoft.com/office/drawing/2014/main" id="{13430172-6972-6C8D-A7DE-3535BDE93D62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Align fastq to BAM</a:t>
            </a:r>
            <a:endParaRPr/>
          </a:p>
        </p:txBody>
      </p:sp>
      <p:sp>
        <p:nvSpPr>
          <p:cNvPr id="10" name="Google Shape;117;p3">
            <a:extLst>
              <a:ext uri="{FF2B5EF4-FFF2-40B4-BE49-F238E27FC236}">
                <a16:creationId xmlns:a16="http://schemas.microsoft.com/office/drawing/2014/main" id="{06792DEA-F505-21D8-66C1-AF3C7C494291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12" name="Google Shape;119;p3">
            <a:extLst>
              <a:ext uri="{FF2B5EF4-FFF2-40B4-BE49-F238E27FC236}">
                <a16:creationId xmlns:a16="http://schemas.microsoft.com/office/drawing/2014/main" id="{0D2E17F9-07E1-C1C6-48C4-9AE48A66864D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Generate tracks</a:t>
            </a:r>
            <a:endParaRPr dirty="0"/>
          </a:p>
        </p:txBody>
      </p:sp>
      <p:sp>
        <p:nvSpPr>
          <p:cNvPr id="13" name="Google Shape;120;p3">
            <a:extLst>
              <a:ext uri="{FF2B5EF4-FFF2-40B4-BE49-F238E27FC236}">
                <a16:creationId xmlns:a16="http://schemas.microsoft.com/office/drawing/2014/main" id="{43356328-5680-A378-EC43-16AF4BD100E3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25" name="Picture 4" descr="Sequencing Platforms | Illumina NGS platforms">
            <a:extLst>
              <a:ext uri="{FF2B5EF4-FFF2-40B4-BE49-F238E27FC236}">
                <a16:creationId xmlns:a16="http://schemas.microsoft.com/office/drawing/2014/main" id="{F3C7BDB5-490C-6974-C598-92FA0AA56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039587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equencing Platforms | Illumina NGS platforms">
            <a:extLst>
              <a:ext uri="{FF2B5EF4-FFF2-40B4-BE49-F238E27FC236}">
                <a16:creationId xmlns:a16="http://schemas.microsoft.com/office/drawing/2014/main" id="{868217A2-4B48-9325-FF2A-C266F120A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669173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C777D3-7DB7-0425-57FC-AB5BBD876ECF}"/>
              </a:ext>
            </a:extLst>
          </p:cNvPr>
          <p:cNvSpPr txBox="1"/>
          <p:nvPr/>
        </p:nvSpPr>
        <p:spPr>
          <a:xfrm>
            <a:off x="5564978" y="1681632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bcl2fastq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D57D1F-616F-7424-CE09-0636B3AB43A9}"/>
              </a:ext>
            </a:extLst>
          </p:cNvPr>
          <p:cNvSpPr txBox="1"/>
          <p:nvPr/>
        </p:nvSpPr>
        <p:spPr>
          <a:xfrm>
            <a:off x="5115911" y="2383760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cutadapt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71F2A0-02A6-44DD-58A0-3DED6763E814}"/>
              </a:ext>
            </a:extLst>
          </p:cNvPr>
          <p:cNvSpPr txBox="1"/>
          <p:nvPr/>
        </p:nvSpPr>
        <p:spPr>
          <a:xfrm>
            <a:off x="5115911" y="3036903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</a:t>
            </a:r>
            <a:r>
              <a:rPr lang="en-US"/>
              <a:t>.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bowtie2</a:t>
            </a:r>
          </a:p>
        </p:txBody>
      </p:sp>
      <p:pic>
        <p:nvPicPr>
          <p:cNvPr id="11266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1596C442-DCAF-12B1-B1CF-A82F72DD1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945355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AF38949C-6475-D18B-7E6A-54199687E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1595804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F31A1E55-5149-17DF-37BA-4CE1C9634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236826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3801B006-2DC4-7B99-3C65-DF72DAE3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89670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498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FD2A-0CB0-1B9A-E68A-A65D8052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NGS processing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822C-F7B4-3FB1-DA34-BA28D1A0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B7CF0-8450-4467-4301-EACF8823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475DBBCC-FD56-44EB-CABA-0E141E8704D8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Create fastq</a:t>
            </a:r>
            <a:r>
              <a:rPr lang="en-US" dirty="0">
                <a:sym typeface="Avenir"/>
              </a:rPr>
              <a:t> files</a:t>
            </a:r>
            <a:endParaRPr dirty="0"/>
          </a:p>
        </p:txBody>
      </p:sp>
      <p:pic>
        <p:nvPicPr>
          <p:cNvPr id="15" name="Google Shape;126;p3">
            <a:extLst>
              <a:ext uri="{FF2B5EF4-FFF2-40B4-BE49-F238E27FC236}">
                <a16:creationId xmlns:a16="http://schemas.microsoft.com/office/drawing/2014/main" id="{1B4CEBE4-E85F-0555-4679-ADAADAEF635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7;p3">
            <a:extLst>
              <a:ext uri="{FF2B5EF4-FFF2-40B4-BE49-F238E27FC236}">
                <a16:creationId xmlns:a16="http://schemas.microsoft.com/office/drawing/2014/main" id="{2EAB0726-8197-A67A-1F67-4D4C06AB15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8;p3">
            <a:extLst>
              <a:ext uri="{FF2B5EF4-FFF2-40B4-BE49-F238E27FC236}">
                <a16:creationId xmlns:a16="http://schemas.microsoft.com/office/drawing/2014/main" id="{F97BE676-2A9F-F292-53EE-8FD9EC28E7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9;p3">
            <a:extLst>
              <a:ext uri="{FF2B5EF4-FFF2-40B4-BE49-F238E27FC236}">
                <a16:creationId xmlns:a16="http://schemas.microsoft.com/office/drawing/2014/main" id="{0093AA5C-1C28-9157-C7BE-9ECD95F61A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0;p3">
            <a:extLst>
              <a:ext uri="{FF2B5EF4-FFF2-40B4-BE49-F238E27FC236}">
                <a16:creationId xmlns:a16="http://schemas.microsoft.com/office/drawing/2014/main" id="{44924E93-CC86-553A-5113-3FEA1BA25F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2;p3">
            <a:extLst>
              <a:ext uri="{FF2B5EF4-FFF2-40B4-BE49-F238E27FC236}">
                <a16:creationId xmlns:a16="http://schemas.microsoft.com/office/drawing/2014/main" id="{37AB8DAE-FC9C-AF39-8398-80805C5ED7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3;p3">
            <a:extLst>
              <a:ext uri="{FF2B5EF4-FFF2-40B4-BE49-F238E27FC236}">
                <a16:creationId xmlns:a16="http://schemas.microsoft.com/office/drawing/2014/main" id="{15BC622C-FBF8-FD56-733D-6EDFA156FD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4;p3">
            <a:extLst>
              <a:ext uri="{FF2B5EF4-FFF2-40B4-BE49-F238E27FC236}">
                <a16:creationId xmlns:a16="http://schemas.microsoft.com/office/drawing/2014/main" id="{2A6B4207-5D7A-AB98-7C78-41873A1447E2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Google Shape;115;p3">
            <a:extLst>
              <a:ext uri="{FF2B5EF4-FFF2-40B4-BE49-F238E27FC236}">
                <a16:creationId xmlns:a16="http://schemas.microsoft.com/office/drawing/2014/main" id="{63772205-33BB-9414-8F90-1D2741AC4707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9" name="Google Shape;116;p3">
            <a:extLst>
              <a:ext uri="{FF2B5EF4-FFF2-40B4-BE49-F238E27FC236}">
                <a16:creationId xmlns:a16="http://schemas.microsoft.com/office/drawing/2014/main" id="{13430172-6972-6C8D-A7DE-3535BDE93D62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Align fastq to BAM</a:t>
            </a:r>
            <a:endParaRPr/>
          </a:p>
        </p:txBody>
      </p:sp>
      <p:sp>
        <p:nvSpPr>
          <p:cNvPr id="10" name="Google Shape;117;p3">
            <a:extLst>
              <a:ext uri="{FF2B5EF4-FFF2-40B4-BE49-F238E27FC236}">
                <a16:creationId xmlns:a16="http://schemas.microsoft.com/office/drawing/2014/main" id="{06792DEA-F505-21D8-66C1-AF3C7C494291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12" name="Google Shape;119;p3">
            <a:extLst>
              <a:ext uri="{FF2B5EF4-FFF2-40B4-BE49-F238E27FC236}">
                <a16:creationId xmlns:a16="http://schemas.microsoft.com/office/drawing/2014/main" id="{0D2E17F9-07E1-C1C6-48C4-9AE48A66864D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Generate tracks</a:t>
            </a:r>
            <a:endParaRPr dirty="0"/>
          </a:p>
        </p:txBody>
      </p:sp>
      <p:sp>
        <p:nvSpPr>
          <p:cNvPr id="13" name="Google Shape;120;p3">
            <a:extLst>
              <a:ext uri="{FF2B5EF4-FFF2-40B4-BE49-F238E27FC236}">
                <a16:creationId xmlns:a16="http://schemas.microsoft.com/office/drawing/2014/main" id="{43356328-5680-A378-EC43-16AF4BD100E3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25" name="Picture 4" descr="Sequencing Platforms | Illumina NGS platforms">
            <a:extLst>
              <a:ext uri="{FF2B5EF4-FFF2-40B4-BE49-F238E27FC236}">
                <a16:creationId xmlns:a16="http://schemas.microsoft.com/office/drawing/2014/main" id="{F3C7BDB5-490C-6974-C598-92FA0AA56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039587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equencing Platforms | Illumina NGS platforms">
            <a:extLst>
              <a:ext uri="{FF2B5EF4-FFF2-40B4-BE49-F238E27FC236}">
                <a16:creationId xmlns:a16="http://schemas.microsoft.com/office/drawing/2014/main" id="{868217A2-4B48-9325-FF2A-C266F120A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669173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C777D3-7DB7-0425-57FC-AB5BBD876ECF}"/>
              </a:ext>
            </a:extLst>
          </p:cNvPr>
          <p:cNvSpPr txBox="1"/>
          <p:nvPr/>
        </p:nvSpPr>
        <p:spPr>
          <a:xfrm>
            <a:off x="5564978" y="1681632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bcl2fastq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D57D1F-616F-7424-CE09-0636B3AB43A9}"/>
              </a:ext>
            </a:extLst>
          </p:cNvPr>
          <p:cNvSpPr txBox="1"/>
          <p:nvPr/>
        </p:nvSpPr>
        <p:spPr>
          <a:xfrm>
            <a:off x="5115911" y="2383760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cutadapt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71F2A0-02A6-44DD-58A0-3DED6763E814}"/>
              </a:ext>
            </a:extLst>
          </p:cNvPr>
          <p:cNvSpPr txBox="1"/>
          <p:nvPr/>
        </p:nvSpPr>
        <p:spPr>
          <a:xfrm>
            <a:off x="5115911" y="3036903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</a:t>
            </a:r>
            <a:r>
              <a:rPr lang="en-US"/>
              <a:t>.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bowtie2</a:t>
            </a:r>
          </a:p>
        </p:txBody>
      </p:sp>
      <p:pic>
        <p:nvPicPr>
          <p:cNvPr id="11266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1596C442-DCAF-12B1-B1CF-A82F72DD1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945355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AF38949C-6475-D18B-7E6A-54199687E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1595804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F31A1E55-5149-17DF-37BA-4CE1C9634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236826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3801B006-2DC4-7B99-3C65-DF72DAE3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89670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118;p3">
            <a:extLst>
              <a:ext uri="{FF2B5EF4-FFF2-40B4-BE49-F238E27FC236}">
                <a16:creationId xmlns:a16="http://schemas.microsoft.com/office/drawing/2014/main" id="{2B2A370E-5772-FF3C-E0C9-EEB5ED36D460}"/>
              </a:ext>
            </a:extLst>
          </p:cNvPr>
          <p:cNvSpPr txBox="1"/>
          <p:nvPr/>
        </p:nvSpPr>
        <p:spPr>
          <a:xfrm>
            <a:off x="3842531" y="3342217"/>
            <a:ext cx="2774026" cy="418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Avenir"/>
                <a:ea typeface="Avenir"/>
                <a:cs typeface="Avenir"/>
                <a:sym typeface="Avenir"/>
              </a:rPr>
              <a:t>CHECK YOUR DATA</a:t>
            </a:r>
            <a:endParaRPr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389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3D7A-A1AD-C932-D045-2621FD0D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IGV: Integrative Genome Browser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FC5AF-F043-4101-8175-C211BCD2F3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ED82C-011E-C3B5-558B-971E591C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72951-26EE-0A11-B855-F38157024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71614B-9AF7-75CF-601A-02CB2CEBA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96" y="1244339"/>
            <a:ext cx="12195392" cy="436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63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3D7A-A1AD-C932-D045-2621FD0D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IGV: Integrative Genome Browser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FC5AF-F043-4101-8175-C211BCD2F3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ED82C-011E-C3B5-558B-971E591C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72951-26EE-0A11-B855-F38157024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71614B-9AF7-75CF-601A-02CB2CEBA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96" y="1244339"/>
            <a:ext cx="12195392" cy="43693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375BA9-9BB4-359E-7D55-1AA352FB7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560" y="1830784"/>
            <a:ext cx="4744824" cy="356606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7C79477C-B3DD-B4E5-34F4-1FF415D0327D}"/>
              </a:ext>
            </a:extLst>
          </p:cNvPr>
          <p:cNvSpPr/>
          <p:nvPr/>
        </p:nvSpPr>
        <p:spPr>
          <a:xfrm rot="3600000">
            <a:off x="4084106" y="3594685"/>
            <a:ext cx="584313" cy="34932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63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F004-C2A8-797F-BEDD-C0011897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duplicates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57092-F227-16CA-6121-02FB94698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13B5-8413-A893-03C3-92434AFE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2B0E-ACC4-A43E-A639-18195CEA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13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C9A96825-6F8E-5D2F-BB31-D30A2AAD7A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34534" b="22949"/>
          <a:stretch/>
        </p:blipFill>
        <p:spPr bwMode="auto">
          <a:xfrm>
            <a:off x="1745746" y="2413678"/>
            <a:ext cx="6396768" cy="194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482EA0ED-4CEC-FAC2-1DA2-2D140592B5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3" b="79983"/>
          <a:stretch/>
        </p:blipFill>
        <p:spPr bwMode="auto">
          <a:xfrm>
            <a:off x="0" y="1585869"/>
            <a:ext cx="8142514" cy="80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B8655054-309E-9DE5-413F-64098E743D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71220" b="22949"/>
          <a:stretch/>
        </p:blipFill>
        <p:spPr bwMode="auto">
          <a:xfrm>
            <a:off x="1745746" y="4376718"/>
            <a:ext cx="6396768" cy="26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6671FECA-1321-69B7-F1E1-6A3024A8E6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71220" b="22949"/>
          <a:stretch/>
        </p:blipFill>
        <p:spPr bwMode="auto">
          <a:xfrm>
            <a:off x="1745746" y="4659522"/>
            <a:ext cx="6396768" cy="26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C6D8E9D0-545B-F761-C455-AA076E60E0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71220" b="22949"/>
          <a:stretch/>
        </p:blipFill>
        <p:spPr bwMode="auto">
          <a:xfrm>
            <a:off x="1745746" y="4942327"/>
            <a:ext cx="6396768" cy="26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BA0F759D-622E-89C3-9A13-E1CA6561B2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71220" b="22949"/>
          <a:stretch/>
        </p:blipFill>
        <p:spPr bwMode="auto">
          <a:xfrm>
            <a:off x="1745746" y="5225131"/>
            <a:ext cx="6396768" cy="26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172EA33D-F1CB-5B4A-AB13-743469CDB3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71220" b="22949"/>
          <a:stretch/>
        </p:blipFill>
        <p:spPr bwMode="auto">
          <a:xfrm>
            <a:off x="1745746" y="5507935"/>
            <a:ext cx="6396768" cy="26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4255484F-2F03-AADE-6A7D-64F8BC5157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71220" b="22949"/>
          <a:stretch/>
        </p:blipFill>
        <p:spPr bwMode="auto">
          <a:xfrm>
            <a:off x="1745746" y="5790739"/>
            <a:ext cx="6396768" cy="26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6B245771-FE70-70E1-5FB3-7CF895F42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784867" cy="4883277"/>
          </a:xfrm>
        </p:spPr>
        <p:txBody>
          <a:bodyPr/>
          <a:lstStyle/>
          <a:p>
            <a:pPr marL="11113" indent="-11113"/>
            <a:r>
              <a:rPr lang="en-GB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Multiple reads (fragments) with same mapping position (start &amp; end) can be viewed as PCR duplicates.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5471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F004-C2A8-797F-BEDD-C0011897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duplicates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57092-F227-16CA-6121-02FB94698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13B5-8413-A893-03C3-92434AFE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2B0E-ACC4-A43E-A639-18195CEA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8194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09CE5A4F-5440-77D9-AFE0-04D82D4B83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34534" b="22949"/>
          <a:stretch/>
        </p:blipFill>
        <p:spPr bwMode="auto">
          <a:xfrm>
            <a:off x="1745746" y="2413678"/>
            <a:ext cx="6396768" cy="194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08EDEC2A-8B73-E15B-312D-24B1D914BC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3" b="79983"/>
          <a:stretch/>
        </p:blipFill>
        <p:spPr bwMode="auto">
          <a:xfrm>
            <a:off x="0" y="1585869"/>
            <a:ext cx="8142514" cy="80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BB75E9F3-4DA7-64D1-9E19-E78DB62221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71220" b="22949"/>
          <a:stretch/>
        </p:blipFill>
        <p:spPr bwMode="auto">
          <a:xfrm>
            <a:off x="1745746" y="4376718"/>
            <a:ext cx="6396768" cy="26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FD694A77-105D-07C1-69D8-F42132DA60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71220" b="22949"/>
          <a:stretch/>
        </p:blipFill>
        <p:spPr bwMode="auto">
          <a:xfrm>
            <a:off x="1745746" y="4659522"/>
            <a:ext cx="6396768" cy="26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0EF63EA5-7C38-6D7D-C2B0-D54681746B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71220" b="22949"/>
          <a:stretch/>
        </p:blipFill>
        <p:spPr bwMode="auto">
          <a:xfrm>
            <a:off x="1745746" y="4942327"/>
            <a:ext cx="6396768" cy="26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94182550-5164-DB9D-BC4B-29D9201E07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71220" b="22949"/>
          <a:stretch/>
        </p:blipFill>
        <p:spPr bwMode="auto">
          <a:xfrm>
            <a:off x="1745746" y="5225131"/>
            <a:ext cx="6396768" cy="26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155BAC2B-AA2A-C608-82B9-9912AA0608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71220" b="22949"/>
          <a:stretch/>
        </p:blipFill>
        <p:spPr bwMode="auto">
          <a:xfrm>
            <a:off x="1745746" y="5507935"/>
            <a:ext cx="6396768" cy="26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7639CE96-2E1D-E6C1-F2C7-C973548643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71220" b="22949"/>
          <a:stretch/>
        </p:blipFill>
        <p:spPr bwMode="auto">
          <a:xfrm>
            <a:off x="1745746" y="5790739"/>
            <a:ext cx="6396768" cy="26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7D19F8A-F01A-CE79-0FE5-D2AFA1B48109}"/>
              </a:ext>
            </a:extLst>
          </p:cNvPr>
          <p:cNvSpPr/>
          <p:nvPr/>
        </p:nvSpPr>
        <p:spPr>
          <a:xfrm>
            <a:off x="3176833" y="4361010"/>
            <a:ext cx="3403076" cy="1825657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10808680-BCFE-15CC-06DD-10B3CF846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784867" cy="4883277"/>
          </a:xfrm>
        </p:spPr>
        <p:txBody>
          <a:bodyPr/>
          <a:lstStyle/>
          <a:p>
            <a:pPr marL="11113" indent="-11113"/>
            <a:r>
              <a:rPr lang="en-GB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Multiple reads (fragments) with same mapping position (start &amp; end) can be viewed as PCR duplicates.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47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F004-C2A8-797F-BEDD-C0011897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out low-quality mapping reads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13B5-8413-A893-03C3-92434AFE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71BFA9-F9FA-E561-5C8C-74774A985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784867" cy="4883277"/>
          </a:xfrm>
        </p:spPr>
        <p:txBody>
          <a:bodyPr/>
          <a:lstStyle/>
          <a:p>
            <a:pPr marL="11113" indent="-11113"/>
            <a:r>
              <a:rPr lang="en-GB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Mapping Quality Scores 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MAPQ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quantify the probability that a read is misplaced.</a:t>
            </a:r>
          </a:p>
          <a:p>
            <a:pPr marL="11113" indent="-11113"/>
            <a:endParaRPr lang="en-GB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1113" indent="-11113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2B0E-ACC4-A43E-A639-18195CEA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3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C90AC5C4-F096-1AE4-13CD-DC974BB503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3" b="79983"/>
          <a:stretch/>
        </p:blipFill>
        <p:spPr bwMode="auto">
          <a:xfrm>
            <a:off x="0" y="3027680"/>
            <a:ext cx="8142514" cy="80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5A8B6ED6-D8FD-01A8-5373-76C06282D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34534" b="22949"/>
          <a:stretch/>
        </p:blipFill>
        <p:spPr bwMode="auto">
          <a:xfrm>
            <a:off x="1745746" y="3839318"/>
            <a:ext cx="6396768" cy="194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13DEDC0-1C9E-3AF7-FE46-1B8FBBD6A44C}"/>
              </a:ext>
            </a:extLst>
          </p:cNvPr>
          <p:cNvSpPr txBox="1"/>
          <p:nvPr/>
        </p:nvSpPr>
        <p:spPr>
          <a:xfrm>
            <a:off x="611372" y="3830319"/>
            <a:ext cx="1125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MAPQ ~ 18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C6AD43-4EAA-F1EF-6B45-05A526770B21}"/>
              </a:ext>
            </a:extLst>
          </p:cNvPr>
          <p:cNvSpPr txBox="1"/>
          <p:nvPr/>
        </p:nvSpPr>
        <p:spPr>
          <a:xfrm>
            <a:off x="611372" y="4094270"/>
            <a:ext cx="1125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MAPQ ~ 32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CDD137-BEA7-B413-D7B4-E1470ED85F66}"/>
              </a:ext>
            </a:extLst>
          </p:cNvPr>
          <p:cNvSpPr txBox="1"/>
          <p:nvPr/>
        </p:nvSpPr>
        <p:spPr>
          <a:xfrm>
            <a:off x="925614" y="4386500"/>
            <a:ext cx="1125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MAPQ ~ 12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2BB4E5-838D-6937-93A1-6628E50CF1F8}"/>
              </a:ext>
            </a:extLst>
          </p:cNvPr>
          <p:cNvSpPr txBox="1"/>
          <p:nvPr/>
        </p:nvSpPr>
        <p:spPr>
          <a:xfrm>
            <a:off x="1412650" y="4669304"/>
            <a:ext cx="1125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MAPQ ~ 42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4710DA-679F-37C3-74ED-A4AEA9143F2F}"/>
              </a:ext>
            </a:extLst>
          </p:cNvPr>
          <p:cNvSpPr txBox="1"/>
          <p:nvPr/>
        </p:nvSpPr>
        <p:spPr>
          <a:xfrm>
            <a:off x="1818002" y="4956553"/>
            <a:ext cx="1125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MAPQ ~ 42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0B84DC-394F-AA0F-C4B6-F3841180301B}"/>
              </a:ext>
            </a:extLst>
          </p:cNvPr>
          <p:cNvSpPr txBox="1"/>
          <p:nvPr/>
        </p:nvSpPr>
        <p:spPr>
          <a:xfrm>
            <a:off x="1902846" y="5234913"/>
            <a:ext cx="1026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MAPQ ~ 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B57DBF-F9C5-1E84-6B3F-4632494C5828}"/>
              </a:ext>
            </a:extLst>
          </p:cNvPr>
          <p:cNvSpPr txBox="1"/>
          <p:nvPr/>
        </p:nvSpPr>
        <p:spPr>
          <a:xfrm>
            <a:off x="2317623" y="5508290"/>
            <a:ext cx="1125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MAPQ ~ 42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8E09480-41B6-F5AE-3AAD-12075EB04037}"/>
                  </a:ext>
                </a:extLst>
              </p:cNvPr>
              <p:cNvSpPr txBox="1"/>
              <p:nvPr/>
            </p:nvSpPr>
            <p:spPr>
              <a:xfrm>
                <a:off x="188005" y="1416957"/>
                <a:ext cx="5511252" cy="4049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𝑀𝐴𝑃𝑄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−10∗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𝑟𝑒𝑎𝑑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𝑤𝑟𝑜𝑛𝑔𝑙𝑦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𝑚𝑎𝑝𝑝𝑒𝑑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8E09480-41B6-F5AE-3AAD-12075EB04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05" y="1416957"/>
                <a:ext cx="5511252" cy="404983"/>
              </a:xfrm>
              <a:prstGeom prst="rect">
                <a:avLst/>
              </a:prstGeom>
              <a:blipFill>
                <a:blip r:embed="rId3"/>
                <a:stretch>
                  <a:fillRect b="-1176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1680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F004-C2A8-797F-BEDD-C0011897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out low-quality mapping reads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13B5-8413-A893-03C3-92434AFE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71BFA9-F9FA-E561-5C8C-74774A985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784867" cy="4883277"/>
          </a:xfrm>
        </p:spPr>
        <p:txBody>
          <a:bodyPr/>
          <a:lstStyle/>
          <a:p>
            <a:pPr marL="11113" indent="-11113"/>
            <a:r>
              <a:rPr lang="en-GB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Mapping Quality Scores 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MAPQ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quantify the probability that a read is misplaced.</a:t>
            </a:r>
          </a:p>
          <a:p>
            <a:pPr marL="11113" indent="-11113"/>
            <a:endParaRPr lang="en-GB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1113" indent="-11113"/>
            <a:r>
              <a:rPr lang="en-GB" dirty="0">
                <a:solidFill>
                  <a:srgbClr val="000000"/>
                </a:solidFill>
              </a:rPr>
              <a:t>For example, a MAPQ score of 20 indicates that the probability for the read to be map at the indicated position is 0.01. </a:t>
            </a:r>
            <a:endParaRPr lang="en-GB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1113" indent="-11113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62B0E-ACC4-A43E-A639-18195CEA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3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C90AC5C4-F096-1AE4-13CD-DC974BB503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3" b="79983"/>
          <a:stretch/>
        </p:blipFill>
        <p:spPr bwMode="auto">
          <a:xfrm>
            <a:off x="0" y="3027680"/>
            <a:ext cx="8142514" cy="80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Alignment using Bowtie2 | Introduction to ChIP-Seq using high-performance  computing">
            <a:extLst>
              <a:ext uri="{FF2B5EF4-FFF2-40B4-BE49-F238E27FC236}">
                <a16:creationId xmlns:a16="http://schemas.microsoft.com/office/drawing/2014/main" id="{5A8B6ED6-D8FD-01A8-5373-76C06282D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2E3E4"/>
              </a:clrFrom>
              <a:clrTo>
                <a:srgbClr val="E2E3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34534" b="22949"/>
          <a:stretch/>
        </p:blipFill>
        <p:spPr bwMode="auto">
          <a:xfrm>
            <a:off x="1745746" y="3839318"/>
            <a:ext cx="6396768" cy="194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13DEDC0-1C9E-3AF7-FE46-1B8FBBD6A44C}"/>
              </a:ext>
            </a:extLst>
          </p:cNvPr>
          <p:cNvSpPr txBox="1"/>
          <p:nvPr/>
        </p:nvSpPr>
        <p:spPr>
          <a:xfrm>
            <a:off x="611372" y="3830319"/>
            <a:ext cx="1125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MAPQ ~ 18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C6AD43-4EAA-F1EF-6B45-05A526770B21}"/>
              </a:ext>
            </a:extLst>
          </p:cNvPr>
          <p:cNvSpPr txBox="1"/>
          <p:nvPr/>
        </p:nvSpPr>
        <p:spPr>
          <a:xfrm>
            <a:off x="611372" y="4094270"/>
            <a:ext cx="1125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MAPQ ~ 32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CDD137-BEA7-B413-D7B4-E1470ED85F66}"/>
              </a:ext>
            </a:extLst>
          </p:cNvPr>
          <p:cNvSpPr txBox="1"/>
          <p:nvPr/>
        </p:nvSpPr>
        <p:spPr>
          <a:xfrm>
            <a:off x="925614" y="4386500"/>
            <a:ext cx="1125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MAPQ ~ 12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2BB4E5-838D-6937-93A1-6628E50CF1F8}"/>
              </a:ext>
            </a:extLst>
          </p:cNvPr>
          <p:cNvSpPr txBox="1"/>
          <p:nvPr/>
        </p:nvSpPr>
        <p:spPr>
          <a:xfrm>
            <a:off x="1412650" y="4669304"/>
            <a:ext cx="1125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MAPQ ~ 42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4710DA-679F-37C3-74ED-A4AEA9143F2F}"/>
              </a:ext>
            </a:extLst>
          </p:cNvPr>
          <p:cNvSpPr txBox="1"/>
          <p:nvPr/>
        </p:nvSpPr>
        <p:spPr>
          <a:xfrm>
            <a:off x="1818002" y="4956553"/>
            <a:ext cx="1125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MAPQ ~ 42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0B84DC-394F-AA0F-C4B6-F3841180301B}"/>
              </a:ext>
            </a:extLst>
          </p:cNvPr>
          <p:cNvSpPr txBox="1"/>
          <p:nvPr/>
        </p:nvSpPr>
        <p:spPr>
          <a:xfrm>
            <a:off x="1902846" y="5234913"/>
            <a:ext cx="1026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MAPQ ~ 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B57DBF-F9C5-1E84-6B3F-4632494C5828}"/>
              </a:ext>
            </a:extLst>
          </p:cNvPr>
          <p:cNvSpPr txBox="1"/>
          <p:nvPr/>
        </p:nvSpPr>
        <p:spPr>
          <a:xfrm>
            <a:off x="2317623" y="5508290"/>
            <a:ext cx="1125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MAPQ ~ 42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8E09480-41B6-F5AE-3AAD-12075EB04037}"/>
                  </a:ext>
                </a:extLst>
              </p:cNvPr>
              <p:cNvSpPr txBox="1"/>
              <p:nvPr/>
            </p:nvSpPr>
            <p:spPr>
              <a:xfrm>
                <a:off x="188005" y="1416957"/>
                <a:ext cx="5511252" cy="4049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𝑀𝐴𝑃𝑄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−10∗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𝑟𝑒𝑎𝑑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𝑤𝑟𝑜𝑛𝑔𝑙𝑦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𝑚𝑎𝑝𝑝𝑒𝑑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8E09480-41B6-F5AE-3AAD-12075EB04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05" y="1416957"/>
                <a:ext cx="5511252" cy="404983"/>
              </a:xfrm>
              <a:prstGeom prst="rect">
                <a:avLst/>
              </a:prstGeom>
              <a:blipFill>
                <a:blip r:embed="rId3"/>
                <a:stretch>
                  <a:fillRect b="-1176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5CA2CB7-8955-4AA2-F6D5-6D42D69F9453}"/>
              </a:ext>
            </a:extLst>
          </p:cNvPr>
          <p:cNvCxnSpPr/>
          <p:nvPr/>
        </p:nvCxnSpPr>
        <p:spPr>
          <a:xfrm>
            <a:off x="311085" y="3978112"/>
            <a:ext cx="4185501" cy="0"/>
          </a:xfrm>
          <a:prstGeom prst="line">
            <a:avLst/>
          </a:prstGeom>
          <a:ln w="571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53F8D23-4AEB-5439-A48D-C2DEE92F0624}"/>
              </a:ext>
            </a:extLst>
          </p:cNvPr>
          <p:cNvCxnSpPr/>
          <p:nvPr/>
        </p:nvCxnSpPr>
        <p:spPr>
          <a:xfrm>
            <a:off x="895547" y="4534293"/>
            <a:ext cx="4185501" cy="0"/>
          </a:xfrm>
          <a:prstGeom prst="line">
            <a:avLst/>
          </a:prstGeom>
          <a:ln w="571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2A392DD-8324-0CE7-E059-D978C57DE308}"/>
              </a:ext>
            </a:extLst>
          </p:cNvPr>
          <p:cNvCxnSpPr>
            <a:cxnSpLocks/>
          </p:cNvCxnSpPr>
          <p:nvPr/>
        </p:nvCxnSpPr>
        <p:spPr>
          <a:xfrm>
            <a:off x="1611984" y="5373279"/>
            <a:ext cx="4484016" cy="0"/>
          </a:xfrm>
          <a:prstGeom prst="line">
            <a:avLst/>
          </a:prstGeom>
          <a:ln w="571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836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FD2A-0CB0-1B9A-E68A-A65D8052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NGS processing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822C-F7B4-3FB1-DA34-BA28D1A0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B7CF0-8450-4467-4301-EACF8823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475DBBCC-FD56-44EB-CABA-0E141E8704D8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Create fastq</a:t>
            </a:r>
            <a:r>
              <a:rPr lang="en-US" dirty="0">
                <a:sym typeface="Avenir"/>
              </a:rPr>
              <a:t> files</a:t>
            </a:r>
            <a:endParaRPr dirty="0"/>
          </a:p>
        </p:txBody>
      </p:sp>
      <p:pic>
        <p:nvPicPr>
          <p:cNvPr id="15" name="Google Shape;126;p3">
            <a:extLst>
              <a:ext uri="{FF2B5EF4-FFF2-40B4-BE49-F238E27FC236}">
                <a16:creationId xmlns:a16="http://schemas.microsoft.com/office/drawing/2014/main" id="{1B4CEBE4-E85F-0555-4679-ADAADAEF635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7;p3">
            <a:extLst>
              <a:ext uri="{FF2B5EF4-FFF2-40B4-BE49-F238E27FC236}">
                <a16:creationId xmlns:a16="http://schemas.microsoft.com/office/drawing/2014/main" id="{2EAB0726-8197-A67A-1F67-4D4C06AB15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8;p3">
            <a:extLst>
              <a:ext uri="{FF2B5EF4-FFF2-40B4-BE49-F238E27FC236}">
                <a16:creationId xmlns:a16="http://schemas.microsoft.com/office/drawing/2014/main" id="{F97BE676-2A9F-F292-53EE-8FD9EC28E7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9;p3">
            <a:extLst>
              <a:ext uri="{FF2B5EF4-FFF2-40B4-BE49-F238E27FC236}">
                <a16:creationId xmlns:a16="http://schemas.microsoft.com/office/drawing/2014/main" id="{0093AA5C-1C28-9157-C7BE-9ECD95F61A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0;p3">
            <a:extLst>
              <a:ext uri="{FF2B5EF4-FFF2-40B4-BE49-F238E27FC236}">
                <a16:creationId xmlns:a16="http://schemas.microsoft.com/office/drawing/2014/main" id="{44924E93-CC86-553A-5113-3FEA1BA25F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2;p3">
            <a:extLst>
              <a:ext uri="{FF2B5EF4-FFF2-40B4-BE49-F238E27FC236}">
                <a16:creationId xmlns:a16="http://schemas.microsoft.com/office/drawing/2014/main" id="{37AB8DAE-FC9C-AF39-8398-80805C5ED7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3;p3">
            <a:extLst>
              <a:ext uri="{FF2B5EF4-FFF2-40B4-BE49-F238E27FC236}">
                <a16:creationId xmlns:a16="http://schemas.microsoft.com/office/drawing/2014/main" id="{15BC622C-FBF8-FD56-733D-6EDFA156FD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4;p3">
            <a:extLst>
              <a:ext uri="{FF2B5EF4-FFF2-40B4-BE49-F238E27FC236}">
                <a16:creationId xmlns:a16="http://schemas.microsoft.com/office/drawing/2014/main" id="{2A6B4207-5D7A-AB98-7C78-41873A1447E2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Google Shape;115;p3">
            <a:extLst>
              <a:ext uri="{FF2B5EF4-FFF2-40B4-BE49-F238E27FC236}">
                <a16:creationId xmlns:a16="http://schemas.microsoft.com/office/drawing/2014/main" id="{63772205-33BB-9414-8F90-1D2741AC4707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9" name="Google Shape;116;p3">
            <a:extLst>
              <a:ext uri="{FF2B5EF4-FFF2-40B4-BE49-F238E27FC236}">
                <a16:creationId xmlns:a16="http://schemas.microsoft.com/office/drawing/2014/main" id="{13430172-6972-6C8D-A7DE-3535BDE93D62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Align fastq to BAM</a:t>
            </a:r>
            <a:endParaRPr/>
          </a:p>
        </p:txBody>
      </p:sp>
      <p:sp>
        <p:nvSpPr>
          <p:cNvPr id="10" name="Google Shape;117;p3">
            <a:extLst>
              <a:ext uri="{FF2B5EF4-FFF2-40B4-BE49-F238E27FC236}">
                <a16:creationId xmlns:a16="http://schemas.microsoft.com/office/drawing/2014/main" id="{06792DEA-F505-21D8-66C1-AF3C7C494291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12" name="Google Shape;119;p3">
            <a:extLst>
              <a:ext uri="{FF2B5EF4-FFF2-40B4-BE49-F238E27FC236}">
                <a16:creationId xmlns:a16="http://schemas.microsoft.com/office/drawing/2014/main" id="{0D2E17F9-07E1-C1C6-48C4-9AE48A66864D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Generate tracks</a:t>
            </a:r>
            <a:endParaRPr dirty="0"/>
          </a:p>
        </p:txBody>
      </p:sp>
      <p:sp>
        <p:nvSpPr>
          <p:cNvPr id="13" name="Google Shape;120;p3">
            <a:extLst>
              <a:ext uri="{FF2B5EF4-FFF2-40B4-BE49-F238E27FC236}">
                <a16:creationId xmlns:a16="http://schemas.microsoft.com/office/drawing/2014/main" id="{43356328-5680-A378-EC43-16AF4BD100E3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25" name="Picture 4" descr="Sequencing Platforms | Illumina NGS platforms">
            <a:extLst>
              <a:ext uri="{FF2B5EF4-FFF2-40B4-BE49-F238E27FC236}">
                <a16:creationId xmlns:a16="http://schemas.microsoft.com/office/drawing/2014/main" id="{F3C7BDB5-490C-6974-C598-92FA0AA56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039587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equencing Platforms | Illumina NGS platforms">
            <a:extLst>
              <a:ext uri="{FF2B5EF4-FFF2-40B4-BE49-F238E27FC236}">
                <a16:creationId xmlns:a16="http://schemas.microsoft.com/office/drawing/2014/main" id="{868217A2-4B48-9325-FF2A-C266F120A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669173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C777D3-7DB7-0425-57FC-AB5BBD876ECF}"/>
              </a:ext>
            </a:extLst>
          </p:cNvPr>
          <p:cNvSpPr txBox="1"/>
          <p:nvPr/>
        </p:nvSpPr>
        <p:spPr>
          <a:xfrm>
            <a:off x="5564978" y="1681632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bcl2fastq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D57D1F-616F-7424-CE09-0636B3AB43A9}"/>
              </a:ext>
            </a:extLst>
          </p:cNvPr>
          <p:cNvSpPr txBox="1"/>
          <p:nvPr/>
        </p:nvSpPr>
        <p:spPr>
          <a:xfrm>
            <a:off x="5115911" y="2383760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cutadapt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71F2A0-02A6-44DD-58A0-3DED6763E814}"/>
              </a:ext>
            </a:extLst>
          </p:cNvPr>
          <p:cNvSpPr txBox="1"/>
          <p:nvPr/>
        </p:nvSpPr>
        <p:spPr>
          <a:xfrm>
            <a:off x="5115911" y="3036903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</a:t>
            </a:r>
            <a:r>
              <a:rPr lang="en-US"/>
              <a:t>.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bowtie2</a:t>
            </a:r>
          </a:p>
        </p:txBody>
      </p:sp>
      <p:pic>
        <p:nvPicPr>
          <p:cNvPr id="11266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1596C442-DCAF-12B1-B1CF-A82F72DD1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945355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AF38949C-6475-D18B-7E6A-54199687E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1595804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F31A1E55-5149-17DF-37BA-4CE1C9634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236826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3801B006-2DC4-7B99-3C65-DF72DAE3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89670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F40FE453-5AA6-49D9-ED47-20CE9DEE9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354715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1A4BA34-2BA6-2BFB-E7B0-0D0C9D77FAAA}"/>
              </a:ext>
            </a:extLst>
          </p:cNvPr>
          <p:cNvSpPr txBox="1"/>
          <p:nvPr/>
        </p:nvSpPr>
        <p:spPr>
          <a:xfrm>
            <a:off x="5115911" y="3659072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samtools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495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D9875-A982-9779-FB1D-8FBFE794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tracks from mapped reads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48EF5-831D-7681-E8C1-7E016B616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7135E-0359-3DA7-3735-E4A1C979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CCC1E9-C68C-1F76-790B-1E09440D1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approach: ”pile-up” of all the fragments in `bam` files to generate a </a:t>
            </a:r>
            <a:r>
              <a:rPr lang="en-US" b="1" dirty="0"/>
              <a:t>coverage track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24E98-C1A3-C6C9-9A9C-397D8A4A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A56586-EC81-6E9D-5D07-58EAD0AC7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8886"/>
            <a:ext cx="12192000" cy="457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875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D1EA343-AC81-BC8B-ECFD-812B8AD79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https://deeptools.readthedocs.io/en/latest/content/list_of_tools.html</a:t>
            </a:r>
            <a:endParaRPr lang="en-US" dirty="0"/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BA1B5EF-54A3-770E-B4B8-0AAAF80EF3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D9875-A982-9779-FB1D-8FBFE794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deepTools</a:t>
            </a:r>
            <a:r>
              <a:rPr lang="en-US" dirty="0"/>
              <a:t>: a software suite to manage/produce genomic tracks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7135E-0359-3DA7-3735-E4A1C979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24E98-C1A3-C6C9-9A9C-397D8A4A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BCA212-5FB0-DD8A-5F17-7B29A84C95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DFCFC"/>
              </a:clrFrom>
              <a:clrTo>
                <a:srgbClr val="FDFCFC">
                  <a:alpha val="0"/>
                </a:srgbClr>
              </a:clrTo>
            </a:clrChange>
          </a:blip>
          <a:srcRect b="57815"/>
          <a:stretch/>
        </p:blipFill>
        <p:spPr>
          <a:xfrm>
            <a:off x="890769" y="2105680"/>
            <a:ext cx="4102335" cy="31032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1FC5E9-901E-719D-7A1D-C40D81AD7E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rcRect t="41444" b="741"/>
          <a:stretch/>
        </p:blipFill>
        <p:spPr>
          <a:xfrm>
            <a:off x="5919970" y="1530765"/>
            <a:ext cx="4102335" cy="425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025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BA1B5EF-54A3-770E-B4B8-0AAAF80EF3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D9875-A982-9779-FB1D-8FBFE794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deepTools</a:t>
            </a:r>
            <a:r>
              <a:rPr lang="en-US" dirty="0"/>
              <a:t>: a software suite to manage/produce genomic tracks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7135E-0359-3DA7-3735-E4A1C979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24E98-C1A3-C6C9-9A9C-397D8A4A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69D8EA24-D7FC-630A-0D7F-8154CF56A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105" y="989257"/>
            <a:ext cx="9063790" cy="5077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11690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FD2A-0CB0-1B9A-E68A-A65D8052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NGS processing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822C-F7B4-3FB1-DA34-BA28D1A0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B7CF0-8450-4467-4301-EACF8823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475DBBCC-FD56-44EB-CABA-0E141E8704D8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Create fastq</a:t>
            </a:r>
            <a:r>
              <a:rPr lang="en-US" dirty="0">
                <a:sym typeface="Avenir"/>
              </a:rPr>
              <a:t> files</a:t>
            </a:r>
            <a:endParaRPr dirty="0"/>
          </a:p>
        </p:txBody>
      </p:sp>
      <p:pic>
        <p:nvPicPr>
          <p:cNvPr id="15" name="Google Shape;126;p3">
            <a:extLst>
              <a:ext uri="{FF2B5EF4-FFF2-40B4-BE49-F238E27FC236}">
                <a16:creationId xmlns:a16="http://schemas.microsoft.com/office/drawing/2014/main" id="{1B4CEBE4-E85F-0555-4679-ADAADAEF635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7;p3">
            <a:extLst>
              <a:ext uri="{FF2B5EF4-FFF2-40B4-BE49-F238E27FC236}">
                <a16:creationId xmlns:a16="http://schemas.microsoft.com/office/drawing/2014/main" id="{2EAB0726-8197-A67A-1F67-4D4C06AB15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8;p3">
            <a:extLst>
              <a:ext uri="{FF2B5EF4-FFF2-40B4-BE49-F238E27FC236}">
                <a16:creationId xmlns:a16="http://schemas.microsoft.com/office/drawing/2014/main" id="{F97BE676-2A9F-F292-53EE-8FD9EC28E7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9;p3">
            <a:extLst>
              <a:ext uri="{FF2B5EF4-FFF2-40B4-BE49-F238E27FC236}">
                <a16:creationId xmlns:a16="http://schemas.microsoft.com/office/drawing/2014/main" id="{0093AA5C-1C28-9157-C7BE-9ECD95F61A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0;p3">
            <a:extLst>
              <a:ext uri="{FF2B5EF4-FFF2-40B4-BE49-F238E27FC236}">
                <a16:creationId xmlns:a16="http://schemas.microsoft.com/office/drawing/2014/main" id="{44924E93-CC86-553A-5113-3FEA1BA25F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2;p3">
            <a:extLst>
              <a:ext uri="{FF2B5EF4-FFF2-40B4-BE49-F238E27FC236}">
                <a16:creationId xmlns:a16="http://schemas.microsoft.com/office/drawing/2014/main" id="{37AB8DAE-FC9C-AF39-8398-80805C5ED7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3;p3">
            <a:extLst>
              <a:ext uri="{FF2B5EF4-FFF2-40B4-BE49-F238E27FC236}">
                <a16:creationId xmlns:a16="http://schemas.microsoft.com/office/drawing/2014/main" id="{15BC622C-FBF8-FD56-733D-6EDFA156FD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4;p3">
            <a:extLst>
              <a:ext uri="{FF2B5EF4-FFF2-40B4-BE49-F238E27FC236}">
                <a16:creationId xmlns:a16="http://schemas.microsoft.com/office/drawing/2014/main" id="{2A6B4207-5D7A-AB98-7C78-41873A1447E2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Google Shape;115;p3">
            <a:extLst>
              <a:ext uri="{FF2B5EF4-FFF2-40B4-BE49-F238E27FC236}">
                <a16:creationId xmlns:a16="http://schemas.microsoft.com/office/drawing/2014/main" id="{63772205-33BB-9414-8F90-1D2741AC4707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9" name="Google Shape;116;p3">
            <a:extLst>
              <a:ext uri="{FF2B5EF4-FFF2-40B4-BE49-F238E27FC236}">
                <a16:creationId xmlns:a16="http://schemas.microsoft.com/office/drawing/2014/main" id="{13430172-6972-6C8D-A7DE-3535BDE93D62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Align fastq to BAM</a:t>
            </a:r>
            <a:endParaRPr/>
          </a:p>
        </p:txBody>
      </p:sp>
      <p:sp>
        <p:nvSpPr>
          <p:cNvPr id="10" name="Google Shape;117;p3">
            <a:extLst>
              <a:ext uri="{FF2B5EF4-FFF2-40B4-BE49-F238E27FC236}">
                <a16:creationId xmlns:a16="http://schemas.microsoft.com/office/drawing/2014/main" id="{06792DEA-F505-21D8-66C1-AF3C7C494291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12" name="Google Shape;119;p3">
            <a:extLst>
              <a:ext uri="{FF2B5EF4-FFF2-40B4-BE49-F238E27FC236}">
                <a16:creationId xmlns:a16="http://schemas.microsoft.com/office/drawing/2014/main" id="{0D2E17F9-07E1-C1C6-48C4-9AE48A66864D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Generate tracks</a:t>
            </a:r>
            <a:endParaRPr dirty="0"/>
          </a:p>
        </p:txBody>
      </p:sp>
      <p:sp>
        <p:nvSpPr>
          <p:cNvPr id="13" name="Google Shape;120;p3">
            <a:extLst>
              <a:ext uri="{FF2B5EF4-FFF2-40B4-BE49-F238E27FC236}">
                <a16:creationId xmlns:a16="http://schemas.microsoft.com/office/drawing/2014/main" id="{43356328-5680-A378-EC43-16AF4BD100E3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25" name="Picture 4" descr="Sequencing Platforms | Illumina NGS platforms">
            <a:extLst>
              <a:ext uri="{FF2B5EF4-FFF2-40B4-BE49-F238E27FC236}">
                <a16:creationId xmlns:a16="http://schemas.microsoft.com/office/drawing/2014/main" id="{F3C7BDB5-490C-6974-C598-92FA0AA56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039587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equencing Platforms | Illumina NGS platforms">
            <a:extLst>
              <a:ext uri="{FF2B5EF4-FFF2-40B4-BE49-F238E27FC236}">
                <a16:creationId xmlns:a16="http://schemas.microsoft.com/office/drawing/2014/main" id="{868217A2-4B48-9325-FF2A-C266F120A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669173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C777D3-7DB7-0425-57FC-AB5BBD876ECF}"/>
              </a:ext>
            </a:extLst>
          </p:cNvPr>
          <p:cNvSpPr txBox="1"/>
          <p:nvPr/>
        </p:nvSpPr>
        <p:spPr>
          <a:xfrm>
            <a:off x="5564978" y="1681632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bcl2fastq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D57D1F-616F-7424-CE09-0636B3AB43A9}"/>
              </a:ext>
            </a:extLst>
          </p:cNvPr>
          <p:cNvSpPr txBox="1"/>
          <p:nvPr/>
        </p:nvSpPr>
        <p:spPr>
          <a:xfrm>
            <a:off x="5115911" y="2383760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cutadapt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71F2A0-02A6-44DD-58A0-3DED6763E814}"/>
              </a:ext>
            </a:extLst>
          </p:cNvPr>
          <p:cNvSpPr txBox="1"/>
          <p:nvPr/>
        </p:nvSpPr>
        <p:spPr>
          <a:xfrm>
            <a:off x="5115911" y="3036903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</a:t>
            </a:r>
            <a:r>
              <a:rPr lang="en-US"/>
              <a:t>.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bowtie2</a:t>
            </a:r>
          </a:p>
        </p:txBody>
      </p:sp>
      <p:pic>
        <p:nvPicPr>
          <p:cNvPr id="11266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1596C442-DCAF-12B1-B1CF-A82F72DD1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945355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AF38949C-6475-D18B-7E6A-54199687E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1595804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F31A1E55-5149-17DF-37BA-4CE1C9634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236826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3801B006-2DC4-7B99-3C65-DF72DAE3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89670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F40FE453-5AA6-49D9-ED47-20CE9DEE9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354715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1A4BA34-2BA6-2BFB-E7B0-0D0C9D77FAAA}"/>
              </a:ext>
            </a:extLst>
          </p:cNvPr>
          <p:cNvSpPr txBox="1"/>
          <p:nvPr/>
        </p:nvSpPr>
        <p:spPr>
          <a:xfrm>
            <a:off x="5115911" y="3659072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samtools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30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BF8881E2-4A70-CC40-2902-7D82D00BE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4220921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2B5980F-DA9C-D681-3462-743FE7EBE1D3}"/>
              </a:ext>
            </a:extLst>
          </p:cNvPr>
          <p:cNvSpPr txBox="1"/>
          <p:nvPr/>
        </p:nvSpPr>
        <p:spPr>
          <a:xfrm>
            <a:off x="5115911" y="4332841"/>
            <a:ext cx="1914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deepTools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3914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FD2A-0CB0-1B9A-E68A-A65D8052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NGS processing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822C-F7B4-3FB1-DA34-BA28D1A0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B7CF0-8450-4467-4301-EACF8823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2025</a:t>
            </a:r>
            <a:endParaRPr lang="en-US" dirty="0"/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475DBBCC-FD56-44EB-CABA-0E141E8704D8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Create fastq</a:t>
            </a:r>
            <a:r>
              <a:rPr lang="en-US" dirty="0">
                <a:sym typeface="Avenir"/>
              </a:rPr>
              <a:t> files</a:t>
            </a:r>
            <a:endParaRPr dirty="0"/>
          </a:p>
        </p:txBody>
      </p:sp>
      <p:pic>
        <p:nvPicPr>
          <p:cNvPr id="15" name="Google Shape;126;p3">
            <a:extLst>
              <a:ext uri="{FF2B5EF4-FFF2-40B4-BE49-F238E27FC236}">
                <a16:creationId xmlns:a16="http://schemas.microsoft.com/office/drawing/2014/main" id="{1B4CEBE4-E85F-0555-4679-ADAADAEF635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7;p3">
            <a:extLst>
              <a:ext uri="{FF2B5EF4-FFF2-40B4-BE49-F238E27FC236}">
                <a16:creationId xmlns:a16="http://schemas.microsoft.com/office/drawing/2014/main" id="{2EAB0726-8197-A67A-1F67-4D4C06AB15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8;p3">
            <a:extLst>
              <a:ext uri="{FF2B5EF4-FFF2-40B4-BE49-F238E27FC236}">
                <a16:creationId xmlns:a16="http://schemas.microsoft.com/office/drawing/2014/main" id="{F97BE676-2A9F-F292-53EE-8FD9EC28E7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9;p3">
            <a:extLst>
              <a:ext uri="{FF2B5EF4-FFF2-40B4-BE49-F238E27FC236}">
                <a16:creationId xmlns:a16="http://schemas.microsoft.com/office/drawing/2014/main" id="{0093AA5C-1C28-9157-C7BE-9ECD95F61A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0;p3">
            <a:extLst>
              <a:ext uri="{FF2B5EF4-FFF2-40B4-BE49-F238E27FC236}">
                <a16:creationId xmlns:a16="http://schemas.microsoft.com/office/drawing/2014/main" id="{44924E93-CC86-553A-5113-3FEA1BA25F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2;p3">
            <a:extLst>
              <a:ext uri="{FF2B5EF4-FFF2-40B4-BE49-F238E27FC236}">
                <a16:creationId xmlns:a16="http://schemas.microsoft.com/office/drawing/2014/main" id="{37AB8DAE-FC9C-AF39-8398-80805C5ED7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3;p3">
            <a:extLst>
              <a:ext uri="{FF2B5EF4-FFF2-40B4-BE49-F238E27FC236}">
                <a16:creationId xmlns:a16="http://schemas.microsoft.com/office/drawing/2014/main" id="{15BC622C-FBF8-FD56-733D-6EDFA156FD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14;p3">
            <a:extLst>
              <a:ext uri="{FF2B5EF4-FFF2-40B4-BE49-F238E27FC236}">
                <a16:creationId xmlns:a16="http://schemas.microsoft.com/office/drawing/2014/main" id="{2A6B4207-5D7A-AB98-7C78-41873A1447E2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Google Shape;115;p3">
            <a:extLst>
              <a:ext uri="{FF2B5EF4-FFF2-40B4-BE49-F238E27FC236}">
                <a16:creationId xmlns:a16="http://schemas.microsoft.com/office/drawing/2014/main" id="{63772205-33BB-9414-8F90-1D2741AC4707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9" name="Google Shape;116;p3">
            <a:extLst>
              <a:ext uri="{FF2B5EF4-FFF2-40B4-BE49-F238E27FC236}">
                <a16:creationId xmlns:a16="http://schemas.microsoft.com/office/drawing/2014/main" id="{13430172-6972-6C8D-A7DE-3535BDE93D62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Align fastq to BAM</a:t>
            </a:r>
            <a:endParaRPr/>
          </a:p>
        </p:txBody>
      </p:sp>
      <p:sp>
        <p:nvSpPr>
          <p:cNvPr id="10" name="Google Shape;117;p3">
            <a:extLst>
              <a:ext uri="{FF2B5EF4-FFF2-40B4-BE49-F238E27FC236}">
                <a16:creationId xmlns:a16="http://schemas.microsoft.com/office/drawing/2014/main" id="{06792DEA-F505-21D8-66C1-AF3C7C494291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12" name="Google Shape;119;p3">
            <a:extLst>
              <a:ext uri="{FF2B5EF4-FFF2-40B4-BE49-F238E27FC236}">
                <a16:creationId xmlns:a16="http://schemas.microsoft.com/office/drawing/2014/main" id="{0D2E17F9-07E1-C1C6-48C4-9AE48A66864D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Generate tracks</a:t>
            </a:r>
            <a:endParaRPr dirty="0"/>
          </a:p>
        </p:txBody>
      </p:sp>
      <p:sp>
        <p:nvSpPr>
          <p:cNvPr id="13" name="Google Shape;120;p3">
            <a:extLst>
              <a:ext uri="{FF2B5EF4-FFF2-40B4-BE49-F238E27FC236}">
                <a16:creationId xmlns:a16="http://schemas.microsoft.com/office/drawing/2014/main" id="{43356328-5680-A378-EC43-16AF4BD100E3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25" name="Picture 4" descr="Sequencing Platforms | Illumina NGS platforms">
            <a:extLst>
              <a:ext uri="{FF2B5EF4-FFF2-40B4-BE49-F238E27FC236}">
                <a16:creationId xmlns:a16="http://schemas.microsoft.com/office/drawing/2014/main" id="{F3C7BDB5-490C-6974-C598-92FA0AA56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039587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equencing Platforms | Illumina NGS platforms">
            <a:extLst>
              <a:ext uri="{FF2B5EF4-FFF2-40B4-BE49-F238E27FC236}">
                <a16:creationId xmlns:a16="http://schemas.microsoft.com/office/drawing/2014/main" id="{868217A2-4B48-9325-FF2A-C266F120A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669173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C777D3-7DB7-0425-57FC-AB5BBD876ECF}"/>
              </a:ext>
            </a:extLst>
          </p:cNvPr>
          <p:cNvSpPr txBox="1"/>
          <p:nvPr/>
        </p:nvSpPr>
        <p:spPr>
          <a:xfrm>
            <a:off x="5564978" y="1681632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bcl2fastq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D57D1F-616F-7424-CE09-0636B3AB43A9}"/>
              </a:ext>
            </a:extLst>
          </p:cNvPr>
          <p:cNvSpPr txBox="1"/>
          <p:nvPr/>
        </p:nvSpPr>
        <p:spPr>
          <a:xfrm>
            <a:off x="5115911" y="2383760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cutadapt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71F2A0-02A6-44DD-58A0-3DED6763E814}"/>
              </a:ext>
            </a:extLst>
          </p:cNvPr>
          <p:cNvSpPr txBox="1"/>
          <p:nvPr/>
        </p:nvSpPr>
        <p:spPr>
          <a:xfrm>
            <a:off x="5115911" y="3036903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</a:t>
            </a:r>
            <a:r>
              <a:rPr lang="en-US"/>
              <a:t>.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bowtie2</a:t>
            </a:r>
          </a:p>
        </p:txBody>
      </p:sp>
      <p:pic>
        <p:nvPicPr>
          <p:cNvPr id="11266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1596C442-DCAF-12B1-B1CF-A82F72DD1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945355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AF38949C-6475-D18B-7E6A-54199687E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1595804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F31A1E55-5149-17DF-37BA-4CE1C9634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236826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3801B006-2DC4-7B99-3C65-DF72DAE3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89670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F40FE453-5AA6-49D9-ED47-20CE9DEE9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354715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1A4BA34-2BA6-2BFB-E7B0-0D0C9D77FAAA}"/>
              </a:ext>
            </a:extLst>
          </p:cNvPr>
          <p:cNvSpPr txBox="1"/>
          <p:nvPr/>
        </p:nvSpPr>
        <p:spPr>
          <a:xfrm>
            <a:off x="5115911" y="3659072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samtools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30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BF8881E2-4A70-CC40-2902-7D82D00BE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4220921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Google Shape;118;p3">
            <a:extLst>
              <a:ext uri="{FF2B5EF4-FFF2-40B4-BE49-F238E27FC236}">
                <a16:creationId xmlns:a16="http://schemas.microsoft.com/office/drawing/2014/main" id="{3A9453CF-2D26-EB8D-808A-FFE4B3912816}"/>
              </a:ext>
            </a:extLst>
          </p:cNvPr>
          <p:cNvSpPr txBox="1"/>
          <p:nvPr/>
        </p:nvSpPr>
        <p:spPr>
          <a:xfrm>
            <a:off x="3842531" y="4654265"/>
            <a:ext cx="2774026" cy="418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Avenir"/>
                <a:ea typeface="Avenir"/>
                <a:cs typeface="Avenir"/>
                <a:sym typeface="Avenir"/>
              </a:rPr>
              <a:t>CHECK YOUR DATA</a:t>
            </a:r>
            <a:endParaRPr sz="2000" b="1" dirty="0">
              <a:solidFill>
                <a:srgbClr val="C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065D86-C41C-B2AB-9BFF-EA1AB48AFABD}"/>
              </a:ext>
            </a:extLst>
          </p:cNvPr>
          <p:cNvSpPr txBox="1"/>
          <p:nvPr/>
        </p:nvSpPr>
        <p:spPr>
          <a:xfrm>
            <a:off x="5115911" y="4332841"/>
            <a:ext cx="1914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deepTools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155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Epigenomics in a browser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FFE19-5735-CF42-26A4-B000BB8A98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C1D47C-FD16-C705-2D50-AE6B4580C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4134FA-9F92-674C-1FA1-3AA193DE3E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94"/>
          <a:stretch/>
        </p:blipFill>
        <p:spPr>
          <a:xfrm>
            <a:off x="0" y="873761"/>
            <a:ext cx="12192000" cy="505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029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Epigenomics in a browser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FFE19-5735-CF42-26A4-B000BB8A98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C1D47C-FD16-C705-2D50-AE6B4580C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4134FA-9F92-674C-1FA1-3AA193DE3E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94"/>
          <a:stretch/>
        </p:blipFill>
        <p:spPr>
          <a:xfrm>
            <a:off x="0" y="873761"/>
            <a:ext cx="12192000" cy="505413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09F9B6E-C79A-C4AF-9C5C-D7E1E4FCDD19}"/>
              </a:ext>
            </a:extLst>
          </p:cNvPr>
          <p:cNvSpPr/>
          <p:nvPr/>
        </p:nvSpPr>
        <p:spPr>
          <a:xfrm>
            <a:off x="-52647" y="646394"/>
            <a:ext cx="12261273" cy="813723"/>
          </a:xfrm>
          <a:prstGeom prst="ellipse">
            <a:avLst/>
          </a:prstGeom>
          <a:solidFill>
            <a:srgbClr val="00B050">
              <a:alpha val="13000"/>
            </a:srgbClr>
          </a:solidFill>
          <a:ln w="349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3A86564-7A3F-9909-B01A-768D9E685071}"/>
              </a:ext>
            </a:extLst>
          </p:cNvPr>
          <p:cNvSpPr/>
          <p:nvPr/>
        </p:nvSpPr>
        <p:spPr>
          <a:xfrm>
            <a:off x="2630184" y="4469175"/>
            <a:ext cx="1833937" cy="339131"/>
          </a:xfrm>
          <a:prstGeom prst="ellipse">
            <a:avLst/>
          </a:prstGeom>
          <a:solidFill>
            <a:srgbClr val="00B050">
              <a:alpha val="13000"/>
            </a:srgbClr>
          </a:solidFill>
          <a:ln w="349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24F005-969B-23BF-AE27-A4FD290A97E3}"/>
              </a:ext>
            </a:extLst>
          </p:cNvPr>
          <p:cNvSpPr/>
          <p:nvPr/>
        </p:nvSpPr>
        <p:spPr>
          <a:xfrm>
            <a:off x="5743253" y="4469175"/>
            <a:ext cx="1833937" cy="339131"/>
          </a:xfrm>
          <a:prstGeom prst="ellipse">
            <a:avLst/>
          </a:prstGeom>
          <a:solidFill>
            <a:srgbClr val="00B050">
              <a:alpha val="13000"/>
            </a:srgbClr>
          </a:solidFill>
          <a:ln w="349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8C09E77-1DC6-9908-DA61-1F9A5B447476}"/>
              </a:ext>
            </a:extLst>
          </p:cNvPr>
          <p:cNvSpPr/>
          <p:nvPr/>
        </p:nvSpPr>
        <p:spPr>
          <a:xfrm>
            <a:off x="8763855" y="4469175"/>
            <a:ext cx="1833937" cy="339131"/>
          </a:xfrm>
          <a:prstGeom prst="ellipse">
            <a:avLst/>
          </a:prstGeom>
          <a:solidFill>
            <a:srgbClr val="00B050">
              <a:alpha val="13000"/>
            </a:srgbClr>
          </a:solidFill>
          <a:ln w="349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969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Epigenomics in a browser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FFE19-5735-CF42-26A4-B000BB8A98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C1D47C-FD16-C705-2D50-AE6B4580C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4134FA-9F92-674C-1FA1-3AA193DE3E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94"/>
          <a:stretch/>
        </p:blipFill>
        <p:spPr>
          <a:xfrm>
            <a:off x="0" y="873761"/>
            <a:ext cx="12192000" cy="5054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EF28F8-A414-C91A-219D-07E1D3135F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9436"/>
          <a:stretch/>
        </p:blipFill>
        <p:spPr>
          <a:xfrm>
            <a:off x="4171308" y="3524443"/>
            <a:ext cx="6664504" cy="33913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199941-DE6E-B024-1588-F7F9DAECB090}"/>
              </a:ext>
            </a:extLst>
          </p:cNvPr>
          <p:cNvCxnSpPr/>
          <p:nvPr/>
        </p:nvCxnSpPr>
        <p:spPr>
          <a:xfrm>
            <a:off x="4171308" y="3863573"/>
            <a:ext cx="667820" cy="170502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341103-062E-9432-CA7D-83FECDAE83CD}"/>
              </a:ext>
            </a:extLst>
          </p:cNvPr>
          <p:cNvCxnSpPr>
            <a:cxnSpLocks/>
          </p:cNvCxnSpPr>
          <p:nvPr/>
        </p:nvCxnSpPr>
        <p:spPr>
          <a:xfrm flipH="1">
            <a:off x="5024063" y="3863573"/>
            <a:ext cx="5804899" cy="170502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E09F9B6E-C79A-C4AF-9C5C-D7E1E4FCDD19}"/>
              </a:ext>
            </a:extLst>
          </p:cNvPr>
          <p:cNvSpPr/>
          <p:nvPr/>
        </p:nvSpPr>
        <p:spPr>
          <a:xfrm>
            <a:off x="-52647" y="646394"/>
            <a:ext cx="12261273" cy="813723"/>
          </a:xfrm>
          <a:prstGeom prst="ellipse">
            <a:avLst/>
          </a:prstGeom>
          <a:solidFill>
            <a:srgbClr val="00B050">
              <a:alpha val="13000"/>
            </a:srgbClr>
          </a:solidFill>
          <a:ln w="349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3A86564-7A3F-9909-B01A-768D9E685071}"/>
              </a:ext>
            </a:extLst>
          </p:cNvPr>
          <p:cNvSpPr/>
          <p:nvPr/>
        </p:nvSpPr>
        <p:spPr>
          <a:xfrm>
            <a:off x="2630184" y="4469175"/>
            <a:ext cx="1833937" cy="339131"/>
          </a:xfrm>
          <a:prstGeom prst="ellipse">
            <a:avLst/>
          </a:prstGeom>
          <a:solidFill>
            <a:srgbClr val="00B050">
              <a:alpha val="13000"/>
            </a:srgbClr>
          </a:solidFill>
          <a:ln w="349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24F005-969B-23BF-AE27-A4FD290A97E3}"/>
              </a:ext>
            </a:extLst>
          </p:cNvPr>
          <p:cNvSpPr/>
          <p:nvPr/>
        </p:nvSpPr>
        <p:spPr>
          <a:xfrm>
            <a:off x="5743253" y="4469175"/>
            <a:ext cx="1833937" cy="339131"/>
          </a:xfrm>
          <a:prstGeom prst="ellipse">
            <a:avLst/>
          </a:prstGeom>
          <a:solidFill>
            <a:srgbClr val="00B050">
              <a:alpha val="13000"/>
            </a:srgbClr>
          </a:solidFill>
          <a:ln w="349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8C09E77-1DC6-9908-DA61-1F9A5B447476}"/>
              </a:ext>
            </a:extLst>
          </p:cNvPr>
          <p:cNvSpPr/>
          <p:nvPr/>
        </p:nvSpPr>
        <p:spPr>
          <a:xfrm>
            <a:off x="8763855" y="4469175"/>
            <a:ext cx="1833937" cy="339131"/>
          </a:xfrm>
          <a:prstGeom prst="ellipse">
            <a:avLst/>
          </a:prstGeom>
          <a:solidFill>
            <a:srgbClr val="00B050">
              <a:alpha val="13000"/>
            </a:srgbClr>
          </a:solidFill>
          <a:ln w="349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773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Epigenomics in a browser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FFE19-5735-CF42-26A4-B000BB8A98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C1D47C-FD16-C705-2D50-AE6B4580C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4134FA-9F92-674C-1FA1-3AA193DE3E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94"/>
          <a:stretch/>
        </p:blipFill>
        <p:spPr>
          <a:xfrm>
            <a:off x="0" y="873761"/>
            <a:ext cx="12192000" cy="5054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EF28F8-A414-C91A-219D-07E1D3135F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9436"/>
          <a:stretch/>
        </p:blipFill>
        <p:spPr>
          <a:xfrm>
            <a:off x="4171308" y="3524443"/>
            <a:ext cx="6664504" cy="33913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199941-DE6E-B024-1588-F7F9DAECB090}"/>
              </a:ext>
            </a:extLst>
          </p:cNvPr>
          <p:cNvCxnSpPr/>
          <p:nvPr/>
        </p:nvCxnSpPr>
        <p:spPr>
          <a:xfrm>
            <a:off x="4171308" y="3863573"/>
            <a:ext cx="667820" cy="170502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341103-062E-9432-CA7D-83FECDAE83CD}"/>
              </a:ext>
            </a:extLst>
          </p:cNvPr>
          <p:cNvCxnSpPr>
            <a:cxnSpLocks/>
          </p:cNvCxnSpPr>
          <p:nvPr/>
        </p:nvCxnSpPr>
        <p:spPr>
          <a:xfrm flipH="1">
            <a:off x="5024063" y="3863573"/>
            <a:ext cx="5804899" cy="170502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E09F9B6E-C79A-C4AF-9C5C-D7E1E4FCDD19}"/>
              </a:ext>
            </a:extLst>
          </p:cNvPr>
          <p:cNvSpPr/>
          <p:nvPr/>
        </p:nvSpPr>
        <p:spPr>
          <a:xfrm>
            <a:off x="-52647" y="646394"/>
            <a:ext cx="12261273" cy="813723"/>
          </a:xfrm>
          <a:prstGeom prst="ellipse">
            <a:avLst/>
          </a:prstGeom>
          <a:solidFill>
            <a:srgbClr val="00B050">
              <a:alpha val="13000"/>
            </a:srgbClr>
          </a:solidFill>
          <a:ln w="349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3A86564-7A3F-9909-B01A-768D9E685071}"/>
              </a:ext>
            </a:extLst>
          </p:cNvPr>
          <p:cNvSpPr/>
          <p:nvPr/>
        </p:nvSpPr>
        <p:spPr>
          <a:xfrm>
            <a:off x="2630184" y="4469175"/>
            <a:ext cx="1833937" cy="339131"/>
          </a:xfrm>
          <a:prstGeom prst="ellipse">
            <a:avLst/>
          </a:prstGeom>
          <a:solidFill>
            <a:srgbClr val="00B050">
              <a:alpha val="13000"/>
            </a:srgbClr>
          </a:solidFill>
          <a:ln w="349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24F005-969B-23BF-AE27-A4FD290A97E3}"/>
              </a:ext>
            </a:extLst>
          </p:cNvPr>
          <p:cNvSpPr/>
          <p:nvPr/>
        </p:nvSpPr>
        <p:spPr>
          <a:xfrm>
            <a:off x="5743253" y="4469175"/>
            <a:ext cx="1833937" cy="339131"/>
          </a:xfrm>
          <a:prstGeom prst="ellipse">
            <a:avLst/>
          </a:prstGeom>
          <a:solidFill>
            <a:srgbClr val="00B050">
              <a:alpha val="13000"/>
            </a:srgbClr>
          </a:solidFill>
          <a:ln w="349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8C09E77-1DC6-9908-DA61-1F9A5B447476}"/>
              </a:ext>
            </a:extLst>
          </p:cNvPr>
          <p:cNvSpPr/>
          <p:nvPr/>
        </p:nvSpPr>
        <p:spPr>
          <a:xfrm>
            <a:off x="8763855" y="4469175"/>
            <a:ext cx="1833937" cy="339131"/>
          </a:xfrm>
          <a:prstGeom prst="ellipse">
            <a:avLst/>
          </a:prstGeom>
          <a:solidFill>
            <a:srgbClr val="00B050">
              <a:alpha val="13000"/>
            </a:srgbClr>
          </a:solidFill>
          <a:ln w="349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766C219-950F-AFA8-CFA7-D4B60129FEB9}"/>
              </a:ext>
            </a:extLst>
          </p:cNvPr>
          <p:cNvSpPr/>
          <p:nvPr/>
        </p:nvSpPr>
        <p:spPr>
          <a:xfrm>
            <a:off x="3976097" y="3585596"/>
            <a:ext cx="4315148" cy="193868"/>
          </a:xfrm>
          <a:prstGeom prst="ellipse">
            <a:avLst/>
          </a:prstGeom>
          <a:solidFill>
            <a:schemeClr val="accent6">
              <a:lumMod val="75000"/>
              <a:alpha val="13000"/>
            </a:schemeClr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0A65C8E-B3F2-A92D-F98A-1F570C7BFCE9}"/>
              </a:ext>
            </a:extLst>
          </p:cNvPr>
          <p:cNvSpPr/>
          <p:nvPr/>
        </p:nvSpPr>
        <p:spPr>
          <a:xfrm>
            <a:off x="4006919" y="3708886"/>
            <a:ext cx="7017252" cy="215840"/>
          </a:xfrm>
          <a:prstGeom prst="ellipse">
            <a:avLst/>
          </a:prstGeom>
          <a:solidFill>
            <a:schemeClr val="accent6">
              <a:lumMod val="75000"/>
              <a:alpha val="13000"/>
            </a:schemeClr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321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Epigenomics in a browser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FFE19-5735-CF42-26A4-B000BB8A98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4134FA-9F92-674C-1FA1-3AA193DE3E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331" b="24457"/>
          <a:stretch/>
        </p:blipFill>
        <p:spPr>
          <a:xfrm>
            <a:off x="0" y="1613043"/>
            <a:ext cx="12192000" cy="293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589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Epigenomics in a browser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5607F-1348-090E-8D53-AE9DA3733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A057-FE22-313B-0C65-43F2FEAC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Genomic tracks are generally stored as bigwig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store long numerical vectors in a binarized format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915D6-5498-3D7E-AEE4-E0302D6D9B28}"/>
              </a:ext>
            </a:extLst>
          </p:cNvPr>
          <p:cNvSpPr txBox="1"/>
          <p:nvPr/>
        </p:nvSpPr>
        <p:spPr>
          <a:xfrm>
            <a:off x="0" y="1982450"/>
            <a:ext cx="12192000" cy="14465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2	5	0.153096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5	7	0.459288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7	9	0.612384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9	11	0.76548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11	15	0.918576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15	16	1.07167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16	17	1.37786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17	30	1.68406</a:t>
            </a:r>
          </a:p>
        </p:txBody>
      </p:sp>
    </p:spTree>
    <p:extLst>
      <p:ext uri="{BB962C8B-B14F-4D97-AF65-F5344CB8AC3E}">
        <p14:creationId xmlns:p14="http://schemas.microsoft.com/office/powerpoint/2010/main" val="34031062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Epigenomics in a browser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5607F-1348-090E-8D53-AE9DA3733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A057-FE22-313B-0C65-43F2FEAC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Genomic tracks are generally stored as bigwig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store long numerical vectors in a binarized format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915D6-5498-3D7E-AEE4-E0302D6D9B28}"/>
              </a:ext>
            </a:extLst>
          </p:cNvPr>
          <p:cNvSpPr txBox="1"/>
          <p:nvPr/>
        </p:nvSpPr>
        <p:spPr>
          <a:xfrm>
            <a:off x="0" y="1982450"/>
            <a:ext cx="12192000" cy="14465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2	5	0.153096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5	7	0.459288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7	9	0.612384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9	11	0.76548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11	15	0.918576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15	16	1.07167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16	17	1.37786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	17	30	1.68406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4D03C0-1B4F-FB82-7364-57E3BE5F2125}"/>
              </a:ext>
            </a:extLst>
          </p:cNvPr>
          <p:cNvSpPr txBox="1"/>
          <p:nvPr/>
        </p:nvSpPr>
        <p:spPr>
          <a:xfrm>
            <a:off x="0" y="3533848"/>
            <a:ext cx="12192000" cy="246221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&amp;�XHA'\0�eJ]R�@6��09�0|]&lt;pc&lt;�d?�f?�,@@,-@~_@K�`���?�V�@53d�ej�A��i�B���IJ�II�h</a:t>
            </a:r>
          </a:p>
          <a:p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                                                              III��IV`VjVIQVII|�VIIIIP�X	a</a:t>
            </a:r>
          </a:p>
          <a:p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                                                                                                 XI</a:t>
            </a:r>
          </a:p>
          <a:p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�,</a:t>
            </a:r>
          </a:p>
          <a:p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XII</a:t>
            </a:r>
          </a:p>
          <a:p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�sXIII</a:t>
            </a:r>
          </a:p>
          <a:p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��       XIV</a:t>
            </a:r>
          </a:p>
          <a:p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XVۦXVIbwMitoOx�=�	�U������{��so�J�2KD��V2U�d(���2RQ</a:t>
            </a:r>
          </a:p>
          <a:p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���BȔJ�</a:t>
            </a:r>
          </a:p>
          <a:p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2)4�</a:t>
            </a:r>
          </a:p>
          <a:p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��'����i����JM���~X�w��9"��Y���Jp|ں4�����&gt;YQ��4NL[e��X_���[ub�S8O'����i��S|$mÓ3|"�m�O�mM����N�i�ū�$�,k�!�:X�Y��NO�[&amp;xn��\���i[Y94�8O�nH�F����[f</a:t>
            </a:r>
            <a:r>
              <a:rPr lang="syr-SY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ܔ��</a:t>
            </a:r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i�bݰg2�]�'8;mm���s|��Hۈ�F&amp;�f�,�Jp����N��s�$�n�n��{��9~����</a:t>
            </a:r>
            <a:r>
              <a:rPr lang="dv-MV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ޑࢴ�=��</a:t>
            </a:r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s�6�'�����4�</a:t>
            </a:r>
            <a:r>
              <a:rPr lang="el-GR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ω	.</a:t>
            </a:r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e�&amp;%�������9�J��w1�]����۸-��zl</a:t>
            </a:r>
            <a:r>
              <a:rPr lang="ko-KR" alt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똸</a:t>
            </a:r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w�f�:3���N����`gsḺKc�-��f���c�-Z4;�����I��|ȫ%�������`/s&lt;���/���m���c?s&lt;�}��=&gt;x�9�i=��8x�9���|k���/x�9^l���-3{n�W��8�l_b�</a:t>
            </a:r>
            <a:r>
              <a:rPr lang="he-IL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כ�</a:t>
            </a:r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P�78&amp;��8�1����9m�ڼ����o%82mc�|;�[X���M�Vse���6���	</a:t>
            </a:r>
            <a:r>
              <a:rPr lang="dv-MV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ޖ�}������?$86</a:t>
            </a:r>
            <a:r>
              <a:rPr lang="ps-AF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m_�[����</a:t>
            </a:r>
            <a:endParaRPr lang="en-US" sz="1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4749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Epigenomics in a browser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5607F-1348-090E-8D53-AE9DA3733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A057-FE22-313B-0C65-43F2FEAC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Genomic tracks are generally stored as bigwig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store long numerical vectors in a binarized format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In R, bigwig files can be imported with `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import()</a:t>
            </a:r>
            <a:r>
              <a:rPr lang="en-US" sz="1400" dirty="0"/>
              <a:t>` from the `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rtracklayer</a:t>
            </a:r>
            <a:r>
              <a:rPr lang="en-US" sz="1400" dirty="0"/>
              <a:t>` package</a:t>
            </a:r>
          </a:p>
          <a:p>
            <a:pPr marL="0" indent="0"/>
            <a:endParaRPr lang="en-US" sz="1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915D6-5498-3D7E-AEE4-E0302D6D9B28}"/>
              </a:ext>
            </a:extLst>
          </p:cNvPr>
          <p:cNvSpPr txBox="1"/>
          <p:nvPr/>
        </p:nvSpPr>
        <p:spPr>
          <a:xfrm>
            <a:off x="0" y="2587286"/>
            <a:ext cx="12192000" cy="34778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library(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rtracklayer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endParaRPr lang="en-US" sz="1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import('….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bw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</a:t>
            </a:r>
          </a:p>
          <a:p>
            <a:endParaRPr lang="en-US" sz="1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GRanges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object with 6243328 ranges and 1 metadata column: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seqnames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ranges strand |     score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&lt;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Rle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&lt;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IRanges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 &lt;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Rle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| &lt;numeric&gt;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[1]        I       3-5      * |  0.153096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[2]        I       6-7      * |  0.459288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[3]        I       8-9      * |  0.612384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[4]        I     10-11      * |  0.765480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[5]        I     12-15      * |  0.918576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...      ...       ...    ... .       ...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[6243324]     Mito     85775      * |   9.79815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[6243325]     Mito     85776      * |   8.26719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[6243326]     Mito     85777      * |   6.43003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[6243327]     Mito     85778      * |   5.66455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[6243328]     Mito     85779      * |   3.21502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-------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seqinfo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17 sequences from an unspecified genome</a:t>
            </a:r>
          </a:p>
        </p:txBody>
      </p:sp>
    </p:spTree>
    <p:extLst>
      <p:ext uri="{BB962C8B-B14F-4D97-AF65-F5344CB8AC3E}">
        <p14:creationId xmlns:p14="http://schemas.microsoft.com/office/powerpoint/2010/main" val="14119817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Run-length encoding vectors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5607F-1348-090E-8D53-AE9DA3733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A057-FE22-313B-0C65-43F2FEAC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Genomic tracks are generally stored as bigwig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store long numerical vectors in a binarized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In R, bigwig files can be imported with `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import()</a:t>
            </a:r>
            <a:r>
              <a:rPr lang="en-US" sz="1400" dirty="0"/>
              <a:t>` from the `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rtracklayer</a:t>
            </a:r>
            <a:r>
              <a:rPr lang="en-US" sz="1400" dirty="0"/>
              <a:t>` package.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can be imported as </a:t>
            </a:r>
            <a:r>
              <a:rPr lang="en-US" sz="1400" b="1" u="sng" dirty="0"/>
              <a:t>numerical vectors</a:t>
            </a:r>
            <a:r>
              <a:rPr lang="en-US" sz="1400" dirty="0"/>
              <a:t>, stored as </a:t>
            </a:r>
            <a:r>
              <a:rPr lang="en-US" sz="1400" b="1" u="sng" dirty="0"/>
              <a:t>Run-length encoding vectors</a:t>
            </a:r>
            <a:r>
              <a:rPr lang="en-US" sz="140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915D6-5498-3D7E-AEE4-E0302D6D9B28}"/>
              </a:ext>
            </a:extLst>
          </p:cNvPr>
          <p:cNvSpPr txBox="1"/>
          <p:nvPr/>
        </p:nvSpPr>
        <p:spPr>
          <a:xfrm>
            <a:off x="0" y="3053789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b b b k k e e f a a a a a a a a g g g</a:t>
            </a:r>
          </a:p>
        </p:txBody>
      </p:sp>
    </p:spTree>
    <p:extLst>
      <p:ext uri="{BB962C8B-B14F-4D97-AF65-F5344CB8AC3E}">
        <p14:creationId xmlns:p14="http://schemas.microsoft.com/office/powerpoint/2010/main" val="22527728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Run-length encoding vectors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5607F-1348-090E-8D53-AE9DA3733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A057-FE22-313B-0C65-43F2FEAC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Genomic tracks are generally stored as bigwig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store long numerical vectors in a binarized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In R, bigwig files can be imported with `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import()</a:t>
            </a:r>
            <a:r>
              <a:rPr lang="en-US" sz="1400" dirty="0"/>
              <a:t>` from the `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rtracklayer</a:t>
            </a:r>
            <a:r>
              <a:rPr lang="en-US" sz="1400" dirty="0"/>
              <a:t>` package.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can be imported as </a:t>
            </a:r>
            <a:r>
              <a:rPr lang="en-US" sz="1400" b="1" u="sng" dirty="0"/>
              <a:t>numerical vectors</a:t>
            </a:r>
            <a:r>
              <a:rPr lang="en-US" sz="1400" dirty="0"/>
              <a:t>, stored as </a:t>
            </a:r>
            <a:r>
              <a:rPr lang="en-US" sz="1400" b="1" u="sng" dirty="0"/>
              <a:t>Run-length encoding vectors</a:t>
            </a:r>
            <a:r>
              <a:rPr lang="en-US" sz="140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915D6-5498-3D7E-AEE4-E0302D6D9B28}"/>
              </a:ext>
            </a:extLst>
          </p:cNvPr>
          <p:cNvSpPr txBox="1"/>
          <p:nvPr/>
        </p:nvSpPr>
        <p:spPr>
          <a:xfrm>
            <a:off x="0" y="3053789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b b b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k k e e f a a a a a a a a g g 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747BA-EBF0-7873-CDB7-911DE37A4E2B}"/>
              </a:ext>
            </a:extLst>
          </p:cNvPr>
          <p:cNvSpPr txBox="1"/>
          <p:nvPr/>
        </p:nvSpPr>
        <p:spPr>
          <a:xfrm>
            <a:off x="0" y="365996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b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0061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Run-length encoding vectors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5607F-1348-090E-8D53-AE9DA3733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A057-FE22-313B-0C65-43F2FEAC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Genomic tracks are generally stored as bigwig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store long numerical vectors in a binarized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In R, bigwig files can be imported with `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import()</a:t>
            </a:r>
            <a:r>
              <a:rPr lang="en-US" sz="1400" dirty="0"/>
              <a:t>` from the `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rtracklayer</a:t>
            </a:r>
            <a:r>
              <a:rPr lang="en-US" sz="1400" dirty="0"/>
              <a:t>` package.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can be imported as </a:t>
            </a:r>
            <a:r>
              <a:rPr lang="en-US" sz="1400" b="1" u="sng" dirty="0"/>
              <a:t>numerical vectors</a:t>
            </a:r>
            <a:r>
              <a:rPr lang="en-US" sz="1400" dirty="0"/>
              <a:t>, stored as </a:t>
            </a:r>
            <a:r>
              <a:rPr lang="en-US" sz="1400" b="1" u="sng" dirty="0"/>
              <a:t>Run-length encoding vectors</a:t>
            </a:r>
            <a:r>
              <a:rPr lang="en-US" sz="140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915D6-5498-3D7E-AEE4-E0302D6D9B28}"/>
              </a:ext>
            </a:extLst>
          </p:cNvPr>
          <p:cNvSpPr txBox="1"/>
          <p:nvPr/>
        </p:nvSpPr>
        <p:spPr>
          <a:xfrm>
            <a:off x="0" y="304351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b b b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k k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 e f a a a a a a a a g g 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747BA-EBF0-7873-CDB7-911DE37A4E2B}"/>
              </a:ext>
            </a:extLst>
          </p:cNvPr>
          <p:cNvSpPr txBox="1"/>
          <p:nvPr/>
        </p:nvSpPr>
        <p:spPr>
          <a:xfrm>
            <a:off x="0" y="365996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b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BCA4B-737F-0F91-C5C7-ED7E592513D8}"/>
              </a:ext>
            </a:extLst>
          </p:cNvPr>
          <p:cNvSpPr txBox="1"/>
          <p:nvPr/>
        </p:nvSpPr>
        <p:spPr>
          <a:xfrm>
            <a:off x="0" y="4029834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k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974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Run-length encoding vectors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5607F-1348-090E-8D53-AE9DA3733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A057-FE22-313B-0C65-43F2FEAC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Genomic tracks are generally stored as bigwig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store long numerical vectors in a binarized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In R, bigwig files can be imported with `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import()</a:t>
            </a:r>
            <a:r>
              <a:rPr lang="en-US" sz="1400" dirty="0"/>
              <a:t>` from the `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rtracklayer</a:t>
            </a:r>
            <a:r>
              <a:rPr lang="en-US" sz="1400" dirty="0"/>
              <a:t>` package.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can be imported as </a:t>
            </a:r>
            <a:r>
              <a:rPr lang="en-US" sz="1400" b="1" u="sng" dirty="0"/>
              <a:t>numerical vectors</a:t>
            </a:r>
            <a:r>
              <a:rPr lang="en-US" sz="1400" dirty="0"/>
              <a:t>, stored as </a:t>
            </a:r>
            <a:r>
              <a:rPr lang="en-US" sz="1400" b="1" u="sng" dirty="0"/>
              <a:t>Run-length encoding vectors</a:t>
            </a:r>
            <a:r>
              <a:rPr lang="en-US" sz="140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915D6-5498-3D7E-AEE4-E0302D6D9B28}"/>
              </a:ext>
            </a:extLst>
          </p:cNvPr>
          <p:cNvSpPr txBox="1"/>
          <p:nvPr/>
        </p:nvSpPr>
        <p:spPr>
          <a:xfrm>
            <a:off x="0" y="304351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b b b k k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 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 a a a a a a a a g g 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747BA-EBF0-7873-CDB7-911DE37A4E2B}"/>
              </a:ext>
            </a:extLst>
          </p:cNvPr>
          <p:cNvSpPr txBox="1"/>
          <p:nvPr/>
        </p:nvSpPr>
        <p:spPr>
          <a:xfrm>
            <a:off x="0" y="365996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b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BCA4B-737F-0F91-C5C7-ED7E592513D8}"/>
              </a:ext>
            </a:extLst>
          </p:cNvPr>
          <p:cNvSpPr txBox="1"/>
          <p:nvPr/>
        </p:nvSpPr>
        <p:spPr>
          <a:xfrm>
            <a:off x="0" y="4029834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k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72F58-DAB8-5D5D-A496-C7539C636CED}"/>
              </a:ext>
            </a:extLst>
          </p:cNvPr>
          <p:cNvSpPr txBox="1"/>
          <p:nvPr/>
        </p:nvSpPr>
        <p:spPr>
          <a:xfrm>
            <a:off x="0" y="4399704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e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9002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Run-length encoding vectors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5607F-1348-090E-8D53-AE9DA3733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A057-FE22-313B-0C65-43F2FEAC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Genomic tracks are generally stored as bigwig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store long numerical vectors in a binarized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In R, bigwig files can be imported with `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import()</a:t>
            </a:r>
            <a:r>
              <a:rPr lang="en-US" sz="1400" dirty="0"/>
              <a:t>` from the `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rtracklayer</a:t>
            </a:r>
            <a:r>
              <a:rPr lang="en-US" sz="1400" dirty="0"/>
              <a:t>` package.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can be imported as </a:t>
            </a:r>
            <a:r>
              <a:rPr lang="en-US" sz="1400" b="1" u="sng" dirty="0"/>
              <a:t>numerical vectors</a:t>
            </a:r>
            <a:r>
              <a:rPr lang="en-US" sz="1400" dirty="0"/>
              <a:t>, stored as </a:t>
            </a:r>
            <a:r>
              <a:rPr lang="en-US" sz="1400" b="1" u="sng" dirty="0"/>
              <a:t>Run-length encoding vectors</a:t>
            </a:r>
            <a:r>
              <a:rPr lang="en-US" sz="140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915D6-5498-3D7E-AEE4-E0302D6D9B28}"/>
              </a:ext>
            </a:extLst>
          </p:cNvPr>
          <p:cNvSpPr txBox="1"/>
          <p:nvPr/>
        </p:nvSpPr>
        <p:spPr>
          <a:xfrm>
            <a:off x="0" y="304351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b b b k k e e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 a a a a a a a g g 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747BA-EBF0-7873-CDB7-911DE37A4E2B}"/>
              </a:ext>
            </a:extLst>
          </p:cNvPr>
          <p:cNvSpPr txBox="1"/>
          <p:nvPr/>
        </p:nvSpPr>
        <p:spPr>
          <a:xfrm>
            <a:off x="0" y="365996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b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BCA4B-737F-0F91-C5C7-ED7E592513D8}"/>
              </a:ext>
            </a:extLst>
          </p:cNvPr>
          <p:cNvSpPr txBox="1"/>
          <p:nvPr/>
        </p:nvSpPr>
        <p:spPr>
          <a:xfrm>
            <a:off x="0" y="4029834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k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72F58-DAB8-5D5D-A496-C7539C636CED}"/>
              </a:ext>
            </a:extLst>
          </p:cNvPr>
          <p:cNvSpPr txBox="1"/>
          <p:nvPr/>
        </p:nvSpPr>
        <p:spPr>
          <a:xfrm>
            <a:off x="0" y="4399704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e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94A375-DE1F-39AC-7F8E-62640C5BF7AB}"/>
              </a:ext>
            </a:extLst>
          </p:cNvPr>
          <p:cNvSpPr txBox="1"/>
          <p:nvPr/>
        </p:nvSpPr>
        <p:spPr>
          <a:xfrm>
            <a:off x="0" y="4769573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5962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Run-length encoding vectors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5607F-1348-090E-8D53-AE9DA3733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A057-FE22-313B-0C65-43F2FEAC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Genomic tracks are generally stored as bigwig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store long numerical vectors in a binarized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In R, bigwig files can be imported with `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import()</a:t>
            </a:r>
            <a:r>
              <a:rPr lang="en-US" sz="1400" dirty="0"/>
              <a:t>` from the `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rtracklayer</a:t>
            </a:r>
            <a:r>
              <a:rPr lang="en-US" sz="1400" dirty="0"/>
              <a:t>` package.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can be imported as </a:t>
            </a:r>
            <a:r>
              <a:rPr lang="en-US" sz="1400" b="1" u="sng" dirty="0"/>
              <a:t>numerical vectors</a:t>
            </a:r>
            <a:r>
              <a:rPr lang="en-US" sz="1400" dirty="0"/>
              <a:t>, stored as </a:t>
            </a:r>
            <a:r>
              <a:rPr lang="en-US" sz="1400" b="1" u="sng" dirty="0"/>
              <a:t>Run-length encoding vectors</a:t>
            </a:r>
            <a:r>
              <a:rPr lang="en-US" sz="140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915D6-5498-3D7E-AEE4-E0302D6D9B28}"/>
              </a:ext>
            </a:extLst>
          </p:cNvPr>
          <p:cNvSpPr txBox="1"/>
          <p:nvPr/>
        </p:nvSpPr>
        <p:spPr>
          <a:xfrm>
            <a:off x="0" y="304351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b b b k k e e </a:t>
            </a:r>
            <a:r>
              <a:rPr lang="en-US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</a:t>
            </a:r>
            <a:r>
              <a:rPr lang="en-US" b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 a a a a a a a </a:t>
            </a:r>
            <a:r>
              <a:rPr lang="en-US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 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747BA-EBF0-7873-CDB7-911DE37A4E2B}"/>
              </a:ext>
            </a:extLst>
          </p:cNvPr>
          <p:cNvSpPr txBox="1"/>
          <p:nvPr/>
        </p:nvSpPr>
        <p:spPr>
          <a:xfrm>
            <a:off x="0" y="365996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b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BCA4B-737F-0F91-C5C7-ED7E592513D8}"/>
              </a:ext>
            </a:extLst>
          </p:cNvPr>
          <p:cNvSpPr txBox="1"/>
          <p:nvPr/>
        </p:nvSpPr>
        <p:spPr>
          <a:xfrm>
            <a:off x="0" y="4029834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k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72F58-DAB8-5D5D-A496-C7539C636CED}"/>
              </a:ext>
            </a:extLst>
          </p:cNvPr>
          <p:cNvSpPr txBox="1"/>
          <p:nvPr/>
        </p:nvSpPr>
        <p:spPr>
          <a:xfrm>
            <a:off x="0" y="4399704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e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94A375-DE1F-39AC-7F8E-62640C5BF7AB}"/>
              </a:ext>
            </a:extLst>
          </p:cNvPr>
          <p:cNvSpPr txBox="1"/>
          <p:nvPr/>
        </p:nvSpPr>
        <p:spPr>
          <a:xfrm>
            <a:off x="0" y="4769573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82D014-7C8E-9546-2BC0-5EE795D2D0AE}"/>
              </a:ext>
            </a:extLst>
          </p:cNvPr>
          <p:cNvSpPr txBox="1"/>
          <p:nvPr/>
        </p:nvSpPr>
        <p:spPr>
          <a:xfrm>
            <a:off x="0" y="5129169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 a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3462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Run-length encoding vectors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5607F-1348-090E-8D53-AE9DA3733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A057-FE22-313B-0C65-43F2FEAC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Genomic tracks are generally stored as bigwig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store long numerical vectors in a binarized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In R, bigwig files can be imported with `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import()</a:t>
            </a:r>
            <a:r>
              <a:rPr lang="en-US" sz="1400" dirty="0"/>
              <a:t>` from the `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rtracklayer</a:t>
            </a:r>
            <a:r>
              <a:rPr lang="en-US" sz="1400" dirty="0"/>
              <a:t>` package.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can be imported as </a:t>
            </a:r>
            <a:r>
              <a:rPr lang="en-US" sz="1400" b="1" u="sng" dirty="0"/>
              <a:t>numerical vectors</a:t>
            </a:r>
            <a:r>
              <a:rPr lang="en-US" sz="1400" dirty="0"/>
              <a:t>, stored as </a:t>
            </a:r>
            <a:r>
              <a:rPr lang="en-US" sz="1400" b="1" u="sng" dirty="0"/>
              <a:t>Run-length encoding vectors</a:t>
            </a:r>
            <a:r>
              <a:rPr lang="en-US" sz="140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915D6-5498-3D7E-AEE4-E0302D6D9B28}"/>
              </a:ext>
            </a:extLst>
          </p:cNvPr>
          <p:cNvSpPr txBox="1"/>
          <p:nvPr/>
        </p:nvSpPr>
        <p:spPr>
          <a:xfrm>
            <a:off x="0" y="304351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b b b k k e </a:t>
            </a:r>
            <a:r>
              <a:rPr lang="en-US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 f a a a a a a a a </a:t>
            </a:r>
            <a:r>
              <a:rPr lang="en-US" b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 g g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747BA-EBF0-7873-CDB7-911DE37A4E2B}"/>
              </a:ext>
            </a:extLst>
          </p:cNvPr>
          <p:cNvSpPr txBox="1"/>
          <p:nvPr/>
        </p:nvSpPr>
        <p:spPr>
          <a:xfrm>
            <a:off x="0" y="365996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b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BCA4B-737F-0F91-C5C7-ED7E592513D8}"/>
              </a:ext>
            </a:extLst>
          </p:cNvPr>
          <p:cNvSpPr txBox="1"/>
          <p:nvPr/>
        </p:nvSpPr>
        <p:spPr>
          <a:xfrm>
            <a:off x="0" y="4029834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k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72F58-DAB8-5D5D-A496-C7539C636CED}"/>
              </a:ext>
            </a:extLst>
          </p:cNvPr>
          <p:cNvSpPr txBox="1"/>
          <p:nvPr/>
        </p:nvSpPr>
        <p:spPr>
          <a:xfrm>
            <a:off x="0" y="4399704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e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94A375-DE1F-39AC-7F8E-62640C5BF7AB}"/>
              </a:ext>
            </a:extLst>
          </p:cNvPr>
          <p:cNvSpPr txBox="1"/>
          <p:nvPr/>
        </p:nvSpPr>
        <p:spPr>
          <a:xfrm>
            <a:off x="0" y="4769573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f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82D014-7C8E-9546-2BC0-5EE795D2D0AE}"/>
              </a:ext>
            </a:extLst>
          </p:cNvPr>
          <p:cNvSpPr txBox="1"/>
          <p:nvPr/>
        </p:nvSpPr>
        <p:spPr>
          <a:xfrm>
            <a:off x="0" y="5129169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 a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25200-C9A1-F28F-51FB-49CFD4E13776}"/>
              </a:ext>
            </a:extLst>
          </p:cNvPr>
          <p:cNvSpPr txBox="1"/>
          <p:nvPr/>
        </p:nvSpPr>
        <p:spPr>
          <a:xfrm>
            <a:off x="0" y="548876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 g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7086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Run-length encoding vectors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5607F-1348-090E-8D53-AE9DA3733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A057-FE22-313B-0C65-43F2FEAC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Genomic tracks are generally stored as bigwig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store long numerical vectors in a binarized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In R, bigwig files can be imported with `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import()</a:t>
            </a:r>
            <a:r>
              <a:rPr lang="en-US" sz="1400" dirty="0"/>
              <a:t>` from the `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rtracklayer</a:t>
            </a:r>
            <a:r>
              <a:rPr lang="en-US" sz="1400" dirty="0"/>
              <a:t>` package.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can be imported as </a:t>
            </a:r>
            <a:r>
              <a:rPr lang="en-US" sz="1400" b="1" u="sng" dirty="0"/>
              <a:t>numerical vectors</a:t>
            </a:r>
            <a:r>
              <a:rPr lang="en-US" sz="1400" dirty="0"/>
              <a:t>, stored as </a:t>
            </a:r>
            <a:r>
              <a:rPr lang="en-US" sz="1400" b="1" u="sng" dirty="0"/>
              <a:t>Run-length encoding vectors</a:t>
            </a:r>
            <a:r>
              <a:rPr lang="en-US" sz="140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915D6-5498-3D7E-AEE4-E0302D6D9B28}"/>
              </a:ext>
            </a:extLst>
          </p:cNvPr>
          <p:cNvSpPr txBox="1"/>
          <p:nvPr/>
        </p:nvSpPr>
        <p:spPr>
          <a:xfrm>
            <a:off x="0" y="304351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b b b k k e e f a a a a a a a a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 g g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747BA-EBF0-7873-CDB7-911DE37A4E2B}"/>
              </a:ext>
            </a:extLst>
          </p:cNvPr>
          <p:cNvSpPr txBox="1"/>
          <p:nvPr/>
        </p:nvSpPr>
        <p:spPr>
          <a:xfrm>
            <a:off x="0" y="365996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Run-values: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b k e f a g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BCA4B-737F-0F91-C5C7-ED7E592513D8}"/>
              </a:ext>
            </a:extLst>
          </p:cNvPr>
          <p:cNvSpPr txBox="1"/>
          <p:nvPr/>
        </p:nvSpPr>
        <p:spPr>
          <a:xfrm>
            <a:off x="0" y="4029834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Run-lengths: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4 2 2 1 8 3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8150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Run-length encoding vectors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5607F-1348-090E-8D53-AE9DA3733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A057-FE22-313B-0C65-43F2FEAC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Genomic tracks are generally stored as bigwig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store long numerical vectors in a binarized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In R, bigwig files can be imported with `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import()</a:t>
            </a:r>
            <a:r>
              <a:rPr lang="en-US" sz="1400" dirty="0"/>
              <a:t>` from the `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rtracklayer</a:t>
            </a:r>
            <a:r>
              <a:rPr lang="en-US" sz="1400" dirty="0"/>
              <a:t>` package.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can be imported as </a:t>
            </a:r>
            <a:r>
              <a:rPr lang="en-US" sz="1400" b="1" u="sng" dirty="0"/>
              <a:t>numerical vectors</a:t>
            </a:r>
            <a:r>
              <a:rPr lang="en-US" sz="1400" dirty="0"/>
              <a:t>, stored as </a:t>
            </a:r>
            <a:r>
              <a:rPr lang="en-US" sz="1400" b="1" u="sng" dirty="0"/>
              <a:t>Run-length encoding vectors</a:t>
            </a:r>
            <a:r>
              <a:rPr lang="en-US" sz="140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915D6-5498-3D7E-AEE4-E0302D6D9B28}"/>
              </a:ext>
            </a:extLst>
          </p:cNvPr>
          <p:cNvSpPr txBox="1"/>
          <p:nvPr/>
        </p:nvSpPr>
        <p:spPr>
          <a:xfrm>
            <a:off x="0" y="304351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b b b k k e e f a a a a a a a a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 g g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747BA-EBF0-7873-CDB7-911DE37A4E2B}"/>
              </a:ext>
            </a:extLst>
          </p:cNvPr>
          <p:cNvSpPr txBox="1"/>
          <p:nvPr/>
        </p:nvSpPr>
        <p:spPr>
          <a:xfrm>
            <a:off x="0" y="3659965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Run-values: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b k e f a g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BCA4B-737F-0F91-C5C7-ED7E592513D8}"/>
              </a:ext>
            </a:extLst>
          </p:cNvPr>
          <p:cNvSpPr txBox="1"/>
          <p:nvPr/>
        </p:nvSpPr>
        <p:spPr>
          <a:xfrm>
            <a:off x="0" y="4029834"/>
            <a:ext cx="12192000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Run-lengths: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4 2 2 1 8 3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8015A-5A00-4995-84F9-FFF313FF1639}"/>
              </a:ext>
            </a:extLst>
          </p:cNvPr>
          <p:cNvSpPr txBox="1"/>
          <p:nvPr/>
        </p:nvSpPr>
        <p:spPr>
          <a:xfrm>
            <a:off x="4582274" y="4818580"/>
            <a:ext cx="6327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12 alpha-numeric values instead of 20 alphabetic values</a:t>
            </a:r>
          </a:p>
        </p:txBody>
      </p:sp>
    </p:spTree>
    <p:extLst>
      <p:ext uri="{BB962C8B-B14F-4D97-AF65-F5344CB8AC3E}">
        <p14:creationId xmlns:p14="http://schemas.microsoft.com/office/powerpoint/2010/main" val="14093772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Epigenomics in a browser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5607F-1348-090E-8D53-AE9DA3733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A057-FE22-313B-0C65-43F2FEAC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Genomic tracks are generally stored as bigwig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store long numerical vectors in a binarized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In R, bigwig files can be imported with `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import()</a:t>
            </a:r>
            <a:r>
              <a:rPr lang="en-US" sz="1400" dirty="0"/>
              <a:t>` from the `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rtracklayer</a:t>
            </a:r>
            <a:r>
              <a:rPr lang="en-US" sz="1400" dirty="0"/>
              <a:t>` package.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can be imported as </a:t>
            </a:r>
            <a:r>
              <a:rPr lang="en-US" sz="1400" b="1" u="sng" dirty="0"/>
              <a:t>numerical vectors</a:t>
            </a:r>
            <a:r>
              <a:rPr lang="en-US" sz="1400" dirty="0"/>
              <a:t>, stored as </a:t>
            </a:r>
            <a:r>
              <a:rPr lang="en-US" sz="1400" b="1" u="sng" dirty="0"/>
              <a:t>Run-length encoding vectors</a:t>
            </a:r>
            <a:r>
              <a:rPr lang="en-US" sz="140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C2E304-1195-58A3-6B92-8DD59C369094}"/>
              </a:ext>
            </a:extLst>
          </p:cNvPr>
          <p:cNvSpPr txBox="1"/>
          <p:nvPr/>
        </p:nvSpPr>
        <p:spPr>
          <a:xfrm>
            <a:off x="0" y="2587286"/>
            <a:ext cx="12192000" cy="34778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library(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rtracklayer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endParaRPr lang="en-US" sz="1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import('….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bw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</a:t>
            </a:r>
          </a:p>
          <a:p>
            <a:endParaRPr lang="en-US" sz="1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GRanges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object with 6243328 ranges and 1 metadata column: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seqnames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ranges strand |     score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&lt;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Rle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&lt;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IRanges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 &lt;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Rle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| &lt;numeric&gt;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[1]        I       3-5      * |  0.153096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[2]        I       6-7      * |  0.459288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[3]        I       8-9      * |  0.612384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[4]        I     10-11      * |  0.765480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[5]        I     12-15      * |  0.918576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...      ...       ...    ... .       ...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[6243324]     Mito     85775      * |   9.79815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[6243325]     Mito     85776      * |   8.26719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[6243326]     Mito     85777      * |   6.43003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[6243327]     Mito     85778      * |   5.66455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[6243328]     Mito     85779      * |   3.21502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-------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seqinfo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17 sequences from an unspecified genome</a:t>
            </a:r>
          </a:p>
        </p:txBody>
      </p:sp>
    </p:spTree>
    <p:extLst>
      <p:ext uri="{BB962C8B-B14F-4D97-AF65-F5344CB8AC3E}">
        <p14:creationId xmlns:p14="http://schemas.microsoft.com/office/powerpoint/2010/main" val="13555559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Epigenomics in a browser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25607F-1348-090E-8D53-AE9DA3733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2A057-FE22-313B-0C65-43F2FEAC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Genomic tracks are generally stored as bigwig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store long numerical vectors in a binarized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In R, bigwig files can be imported with `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import()</a:t>
            </a:r>
            <a:r>
              <a:rPr lang="en-US" sz="1400" dirty="0"/>
              <a:t>` from the `</a:t>
            </a:r>
            <a:r>
              <a:rPr lang="en-US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rtracklayer</a:t>
            </a:r>
            <a:r>
              <a:rPr lang="en-US" sz="1400" dirty="0"/>
              <a:t>` package.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bigwig files can be imported as </a:t>
            </a:r>
            <a:r>
              <a:rPr lang="en-US" sz="1400" b="1" u="sng" dirty="0"/>
              <a:t>numerical vectors</a:t>
            </a:r>
            <a:r>
              <a:rPr lang="en-US" sz="1400" dirty="0"/>
              <a:t>, stored as </a:t>
            </a:r>
            <a:r>
              <a:rPr lang="en-US" sz="1400" b="1" u="sng" dirty="0"/>
              <a:t>Run-length encoding vectors</a:t>
            </a:r>
            <a:r>
              <a:rPr lang="en-US" sz="140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915D6-5498-3D7E-AEE4-E0302D6D9B28}"/>
              </a:ext>
            </a:extLst>
          </p:cNvPr>
          <p:cNvSpPr txBox="1"/>
          <p:nvPr/>
        </p:nvSpPr>
        <p:spPr>
          <a:xfrm>
            <a:off x="0" y="2587286"/>
            <a:ext cx="12192000" cy="263149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import('….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bw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', as = ‘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Rle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')</a:t>
            </a:r>
          </a:p>
          <a:p>
            <a:endParaRPr lang="en-US" sz="1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RleList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of length 17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$I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numeric-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Rle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of length 230218 with 104639 runs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Lengths:         2         3         2         2         2 ...         2        30         1      1084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Values :  0.000000  0.153096  0.459288  0.612384  0.765480 ...  0.612384  0.459288  0.306192  0.000000</a:t>
            </a:r>
          </a:p>
          <a:p>
            <a:endParaRPr lang="en-US" sz="1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$II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numeric-</a:t>
            </a:r>
            <a:r>
              <a:rPr lang="en-US" sz="1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Rle</a:t>
            </a:r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of length 813184 with 424729 runs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Lengths:         2         1         1         2         1 ...          6         1         5         2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Values :  0.153096  0.306192  0.612384  0.918576  1.071670 ...   0.459288  0.306192  0.153096  0.000000</a:t>
            </a:r>
          </a:p>
          <a:p>
            <a:endParaRPr lang="en-US" sz="1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r>
              <a:rPr lang="en-US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&lt;15 more elements&gt;</a:t>
            </a:r>
          </a:p>
        </p:txBody>
      </p:sp>
    </p:spTree>
    <p:extLst>
      <p:ext uri="{BB962C8B-B14F-4D97-AF65-F5344CB8AC3E}">
        <p14:creationId xmlns:p14="http://schemas.microsoft.com/office/powerpoint/2010/main" val="2495436432"/>
      </p:ext>
    </p:extLst>
  </p:cSld>
  <p:clrMapOvr>
    <a:masterClrMapping/>
  </p:clrMapOvr>
</p:sld>
</file>

<file path=ppt/theme/theme1.xml><?xml version="1.0" encoding="utf-8"?>
<a:theme xmlns:a="http://schemas.openxmlformats.org/drawingml/2006/main" name="PasteurIbens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steurIbens" id="{082BC117-FEE3-ED4F-B66F-EAD8503ADF60}" vid="{75DD1838-2F74-B64C-8F9C-677C1FFB48A5}"/>
    </a:ext>
  </a:extLst>
</a:theme>
</file>

<file path=ppt/theme/theme2.xml><?xml version="1.0" encoding="utf-8"?>
<a:theme xmlns:a="http://schemas.openxmlformats.org/drawingml/2006/main" name="Physalia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hysalia" id="{69934CF8-A18F-7247-8F23-6766B46F796C}" vid="{9CED6D7E-FF7E-C647-8158-BDC011F06FE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PasteurIbens</Template>
  <TotalTime>780</TotalTime>
  <Words>4138</Words>
  <Application>Microsoft Macintosh PowerPoint</Application>
  <PresentationFormat>Widescreen</PresentationFormat>
  <Paragraphs>562</Paragraphs>
  <Slides>61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4" baseType="lpstr">
      <vt:lpstr>Arial</vt:lpstr>
      <vt:lpstr>Arial</vt:lpstr>
      <vt:lpstr>Avenir</vt:lpstr>
      <vt:lpstr>Calibri</vt:lpstr>
      <vt:lpstr>Cambria Math</vt:lpstr>
      <vt:lpstr>Comfortaa</vt:lpstr>
      <vt:lpstr>Courier New</vt:lpstr>
      <vt:lpstr>Menlo</vt:lpstr>
      <vt:lpstr>Open Sans</vt:lpstr>
      <vt:lpstr>Times New Roman</vt:lpstr>
      <vt:lpstr>Wingdings</vt:lpstr>
      <vt:lpstr>PasteurIbens</vt:lpstr>
      <vt:lpstr>Physalia</vt:lpstr>
      <vt:lpstr>Processing NGS data</vt:lpstr>
      <vt:lpstr>NGS processing workflow</vt:lpstr>
      <vt:lpstr>.bcl files</vt:lpstr>
      <vt:lpstr>NGS processing workflow</vt:lpstr>
      <vt:lpstr>Fastq files</vt:lpstr>
      <vt:lpstr>bcl2fastq</vt:lpstr>
      <vt:lpstr>Why so many fastq files?</vt:lpstr>
      <vt:lpstr>Why so many fastq files?</vt:lpstr>
      <vt:lpstr>Why so many fastq files?</vt:lpstr>
      <vt:lpstr>Why so many fastq files?</vt:lpstr>
      <vt:lpstr>Why so many fastq files?</vt:lpstr>
      <vt:lpstr>Why so many fastq files?</vt:lpstr>
      <vt:lpstr>NGS processing workflow</vt:lpstr>
      <vt:lpstr>NGS processing workflow</vt:lpstr>
      <vt:lpstr>FastQC</vt:lpstr>
      <vt:lpstr>FastQC</vt:lpstr>
      <vt:lpstr>Cutadapt: trim away adapter sequences and low-quality ends</vt:lpstr>
      <vt:lpstr>Cutadapt: trim away adapter sequences and low-quality ends</vt:lpstr>
      <vt:lpstr>Cutadapt: trim away adapter sequences and low-quality ends</vt:lpstr>
      <vt:lpstr>NGS processing workflow</vt:lpstr>
      <vt:lpstr>Mapping sequencing reads to a reference</vt:lpstr>
      <vt:lpstr>Mapping sequencing reads to a reference</vt:lpstr>
      <vt:lpstr>Mapping sequencing reads to a reference</vt:lpstr>
      <vt:lpstr>Mapping sequencing reads to a reference</vt:lpstr>
      <vt:lpstr>SAM file format</vt:lpstr>
      <vt:lpstr>SAM file format</vt:lpstr>
      <vt:lpstr>BAM file format</vt:lpstr>
      <vt:lpstr>Mapping tools</vt:lpstr>
      <vt:lpstr>NGS processing workflow</vt:lpstr>
      <vt:lpstr>NGS processing workflow</vt:lpstr>
      <vt:lpstr>IGV: Integrative Genome Browser</vt:lpstr>
      <vt:lpstr>IGV: Integrative Genome Browser</vt:lpstr>
      <vt:lpstr>Filtering duplicates</vt:lpstr>
      <vt:lpstr>Filtering duplicates</vt:lpstr>
      <vt:lpstr>Filtering out low-quality mapping reads</vt:lpstr>
      <vt:lpstr>Filtering out low-quality mapping reads</vt:lpstr>
      <vt:lpstr>NGS processing workflow</vt:lpstr>
      <vt:lpstr>Generating tracks from mapped reads </vt:lpstr>
      <vt:lpstr>deepTools: a software suite to manage/produce genomic tracks</vt:lpstr>
      <vt:lpstr>deepTools: a software suite to manage/produce genomic tracks</vt:lpstr>
      <vt:lpstr>NGS processing workflow</vt:lpstr>
      <vt:lpstr>NGS processing workflow</vt:lpstr>
      <vt:lpstr>Epigenomics in a browser</vt:lpstr>
      <vt:lpstr>Epigenomics in a browser</vt:lpstr>
      <vt:lpstr>Epigenomics in a browser</vt:lpstr>
      <vt:lpstr>Epigenomics in a browser</vt:lpstr>
      <vt:lpstr>Epigenomics in a browser</vt:lpstr>
      <vt:lpstr>Epigenomics in a browser</vt:lpstr>
      <vt:lpstr>Epigenomics in a browser</vt:lpstr>
      <vt:lpstr>Epigenomics in a browser</vt:lpstr>
      <vt:lpstr>Run-length encoding vectors</vt:lpstr>
      <vt:lpstr>Run-length encoding vectors</vt:lpstr>
      <vt:lpstr>Run-length encoding vectors</vt:lpstr>
      <vt:lpstr>Run-length encoding vectors</vt:lpstr>
      <vt:lpstr>Run-length encoding vectors</vt:lpstr>
      <vt:lpstr>Run-length encoding vectors</vt:lpstr>
      <vt:lpstr>Run-length encoding vectors</vt:lpstr>
      <vt:lpstr>Run-length encoding vectors</vt:lpstr>
      <vt:lpstr>Run-length encoding vectors</vt:lpstr>
      <vt:lpstr>Epigenomics in a browser</vt:lpstr>
      <vt:lpstr>Epigenomics in a browser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Jacques  SERIZAY</dc:creator>
  <cp:lastModifiedBy>Jacques Serizay</cp:lastModifiedBy>
  <cp:revision>145</cp:revision>
  <dcterms:created xsi:type="dcterms:W3CDTF">2023-06-26T07:22:32Z</dcterms:created>
  <dcterms:modified xsi:type="dcterms:W3CDTF">2025-04-12T19:05:09Z</dcterms:modified>
</cp:coreProperties>
</file>