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60" r:id="rId1"/>
    <p:sldMasterId id="2147483676" r:id="rId2"/>
  </p:sldMasterIdLst>
  <p:notesMasterIdLst>
    <p:notesMasterId r:id="rId21"/>
  </p:notesMasterIdLst>
  <p:sldIdLst>
    <p:sldId id="256" r:id="rId3"/>
    <p:sldId id="257" r:id="rId4"/>
    <p:sldId id="258" r:id="rId5"/>
    <p:sldId id="260" r:id="rId6"/>
    <p:sldId id="261" r:id="rId7"/>
    <p:sldId id="262" r:id="rId8"/>
    <p:sldId id="267" r:id="rId9"/>
    <p:sldId id="263" r:id="rId10"/>
    <p:sldId id="264" r:id="rId11"/>
    <p:sldId id="266" r:id="rId12"/>
    <p:sldId id="265" r:id="rId13"/>
    <p:sldId id="273" r:id="rId14"/>
    <p:sldId id="274" r:id="rId15"/>
    <p:sldId id="268" r:id="rId16"/>
    <p:sldId id="269" r:id="rId17"/>
    <p:sldId id="270" r:id="rId18"/>
    <p:sldId id="271" r:id="rId19"/>
    <p:sldId id="272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6327"/>
  </p:normalViewPr>
  <p:slideViewPr>
    <p:cSldViewPr snapToGrid="0">
      <p:cViewPr varScale="1">
        <p:scale>
          <a:sx n="124" d="100"/>
          <a:sy n="124" d="100"/>
        </p:scale>
        <p:origin x="54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A85917-96BC-A94E-B108-436BB51A4016}" type="datetimeFigureOut">
              <a:rPr lang="en-US" smtClean="0"/>
              <a:t>4/12/25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7D7AC3-3E93-9544-BDE3-B37120F625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3113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tif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alphaModFix amt="18000"/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63910EB-624E-F321-925E-A562C9A67D9E}"/>
              </a:ext>
            </a:extLst>
          </p:cNvPr>
          <p:cNvSpPr/>
          <p:nvPr/>
        </p:nvSpPr>
        <p:spPr>
          <a:xfrm>
            <a:off x="0" y="3967089"/>
            <a:ext cx="12192000" cy="28909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02AA4C-3692-DC40-ADE0-508B5814C6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ctr"/>
          <a:lstStyle>
            <a:lvl1pPr algn="ctr">
              <a:defRPr sz="6000" b="1">
                <a:latin typeface="Comfortaa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C45597-59BF-184F-B29C-07C34F956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5439"/>
            <a:ext cx="9144000" cy="25077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AE298B4-CBF1-A27B-8D25-C419C3CADF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102" y="194835"/>
            <a:ext cx="1827329" cy="4983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42AF4F5-29E0-2B33-92C6-CE5EF5BBD02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917596" y="-103400"/>
            <a:ext cx="2259506" cy="1129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3986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F7F50D6C-3207-323C-0510-C9484EEA4EB6}"/>
              </a:ext>
            </a:extLst>
          </p:cNvPr>
          <p:cNvSpPr txBox="1">
            <a:spLocks/>
          </p:cNvSpPr>
          <p:nvPr/>
        </p:nvSpPr>
        <p:spPr>
          <a:xfrm>
            <a:off x="0" y="6241311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09CD1E7-C4F0-95C5-0A44-6191CC4FB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1FEE8F5-8318-DF2F-E442-91BB7855E5FB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8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363CF6F2-FFCC-A044-F740-D3124ECBF5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BCE3CA2-68AC-7035-AD06-B998211FB25A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488327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4FA3D7D2-81E0-C7BD-F826-D44EE9292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17610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641050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541527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1098592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5C82817C-9A17-70D9-A3ED-5FF6BA77B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8AEAB8-52D6-E237-CB19-AA22E49E3315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6640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40962-E512-134A-8B89-5D29AB8A5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2"/>
            <a:ext cx="11927840" cy="81555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3396AA0-6A00-40CA-3991-A57289C8026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0" y="2208435"/>
            <a:ext cx="12192000" cy="306090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>
            <a:normAutofit/>
          </a:bodyPr>
          <a:lstStyle>
            <a:lvl1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buNone/>
              <a:defRPr sz="2000" b="0" i="0">
                <a:solidFill>
                  <a:schemeClr val="tx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  <a:lvl2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984DF8B-A115-675A-61F9-8356FDECA404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C464067F-913B-5D2F-4D60-C68E0D113AF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BD928EA-5AB5-0522-8B22-A7613F8BD453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E540942B-247F-A801-9F56-58FABF5C3A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BBBE6AF-EEDA-0260-4F7F-1540DBFC67C9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21C008F8-259C-B1B6-F2C6-5E542D36F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A93BB3C8-3227-B030-E53E-4C655475F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830055-81E6-701B-7B90-7911D8FFB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05261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rea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56CDD01-E503-F840-9A2A-3783A49052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1000"/>
          </a:blip>
          <a:stretch>
            <a:fillRect/>
          </a:stretch>
        </p:blipFill>
        <p:spPr>
          <a:xfrm>
            <a:off x="-9942" y="-1"/>
            <a:ext cx="12192000" cy="181833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0251D2-43BA-C946-A8E2-C1666250C02C}"/>
              </a:ext>
            </a:extLst>
          </p:cNvPr>
          <p:cNvSpPr txBox="1"/>
          <p:nvPr/>
        </p:nvSpPr>
        <p:spPr>
          <a:xfrm>
            <a:off x="-9939" y="0"/>
            <a:ext cx="12201939" cy="18193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44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147D1BD-9050-E74A-ACDB-B2A1C15F83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525" y="0"/>
            <a:ext cx="12182475" cy="1817688"/>
          </a:xfrm>
        </p:spPr>
        <p:txBody>
          <a:bodyPr anchor="ctr">
            <a:normAutofit/>
          </a:bodyPr>
          <a:lstStyle>
            <a:lvl1pPr algn="ctr">
              <a:buNone/>
              <a:defRPr lang="en-GB" sz="4000" b="1" kern="1200" dirty="0" smtClean="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5C82817C-9A17-70D9-A3ED-5FF6BA77B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8AEAB8-52D6-E237-CB19-AA22E49E331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36503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07283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alphaModFix amt="18000"/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63910EB-624E-F321-925E-A562C9A67D9E}"/>
              </a:ext>
            </a:extLst>
          </p:cNvPr>
          <p:cNvSpPr/>
          <p:nvPr/>
        </p:nvSpPr>
        <p:spPr>
          <a:xfrm>
            <a:off x="0" y="3967089"/>
            <a:ext cx="12192000" cy="28909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02AA4C-3692-DC40-ADE0-508B5814C6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ctr"/>
          <a:lstStyle>
            <a:lvl1pPr algn="ctr">
              <a:defRPr sz="6000" b="1">
                <a:latin typeface="Comfortaa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C45597-59BF-184F-B29C-07C34F956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5439"/>
            <a:ext cx="9144000" cy="25077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F122F163-4E41-A425-055F-31E35A8149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4189" y="5394961"/>
            <a:ext cx="2587811" cy="14565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999916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F7F50D6C-3207-323C-0510-C9484EEA4EB6}"/>
              </a:ext>
            </a:extLst>
          </p:cNvPr>
          <p:cNvSpPr txBox="1">
            <a:spLocks/>
          </p:cNvSpPr>
          <p:nvPr/>
        </p:nvSpPr>
        <p:spPr>
          <a:xfrm>
            <a:off x="0" y="6241311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09CD1E7-C4F0-95C5-0A44-6191CC4FB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1FEE8F5-8318-DF2F-E442-91BB7855E5FB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488327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4FA3D7D2-81E0-C7BD-F826-D44EE9292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1CE93C2-6544-85EA-AA67-941E7AC3F3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11360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641050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541527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2641190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ACF294A-06F4-3E28-947D-A951D1C6DB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57129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40962-E512-134A-8B89-5D29AB8A5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2"/>
            <a:ext cx="11927840" cy="81555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3396AA0-6A00-40CA-3991-A57289C8026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0" y="2208435"/>
            <a:ext cx="12192000" cy="306090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>
            <a:normAutofit/>
          </a:bodyPr>
          <a:lstStyle>
            <a:lvl1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buNone/>
              <a:defRPr sz="2000" b="0" i="0">
                <a:solidFill>
                  <a:schemeClr val="tx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  <a:lvl2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984DF8B-A115-675A-61F9-8356FDECA404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C464067F-913B-5D2F-4D60-C68E0D113AF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BD928EA-5AB5-0522-8B22-A7613F8BD453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itle 1">
            <a:extLst>
              <a:ext uri="{FF2B5EF4-FFF2-40B4-BE49-F238E27FC236}">
                <a16:creationId xmlns:a16="http://schemas.microsoft.com/office/drawing/2014/main" id="{21C008F8-259C-B1B6-F2C6-5E542D36F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A93BB3C8-3227-B030-E53E-4C655475F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830055-81E6-701B-7B90-7911D8FFB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122516-0AF4-B0FD-F224-516E3D63E4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67682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rea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56CDD01-E503-F840-9A2A-3783A49052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1000"/>
          </a:blip>
          <a:stretch>
            <a:fillRect/>
          </a:stretch>
        </p:blipFill>
        <p:spPr>
          <a:xfrm>
            <a:off x="-9942" y="-1"/>
            <a:ext cx="12192000" cy="181833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0251D2-43BA-C946-A8E2-C1666250C02C}"/>
              </a:ext>
            </a:extLst>
          </p:cNvPr>
          <p:cNvSpPr txBox="1"/>
          <p:nvPr/>
        </p:nvSpPr>
        <p:spPr>
          <a:xfrm>
            <a:off x="-9939" y="0"/>
            <a:ext cx="12201939" cy="18193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44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147D1BD-9050-E74A-ACDB-B2A1C15F83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525" y="0"/>
            <a:ext cx="12182475" cy="1817688"/>
          </a:xfrm>
        </p:spPr>
        <p:txBody>
          <a:bodyPr anchor="ctr">
            <a:normAutofit/>
          </a:bodyPr>
          <a:lstStyle>
            <a:lvl1pPr algn="ctr">
              <a:buNone/>
              <a:defRPr lang="en-GB" sz="4000" b="1" kern="1200" dirty="0" smtClean="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CA154C1-BADA-FCD4-0D33-C98DC8B159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79454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79944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99439E-A8C1-0147-878A-E596CBCA7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E68514-C71E-D749-B402-559977473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529C53-DC6E-5B43-AE85-3EF6A4F76C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34DA9-DD42-8445-BB79-DF30D799A8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Epigenomics Data Analysis — Physalia 2025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4CFCD4-3911-E943-8744-54979FE9BE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14542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3" r:id="rId2"/>
    <p:sldLayoutId id="2147483675" r:id="rId3"/>
    <p:sldLayoutId id="2147483674" r:id="rId4"/>
    <p:sldLayoutId id="2147483672" r:id="rId5"/>
    <p:sldLayoutId id="2147483664" r:id="rId6"/>
    <p:sldLayoutId id="2147483673" r:id="rId7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99439E-A8C1-0147-878A-E596CBCA7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E68514-C71E-D749-B402-559977473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529C53-DC6E-5B43-AE85-3EF6A4F76C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34DA9-DD42-8445-BB79-DF30D799A8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Epigenomics Data Analysis — Physalia 2025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4CFCD4-3911-E943-8744-54979FE9BE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97712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D19899D-021E-02BA-CBD8-FEA50B2533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" y="1122363"/>
            <a:ext cx="11582400" cy="2387600"/>
          </a:xfrm>
        </p:spPr>
        <p:txBody>
          <a:bodyPr>
            <a:normAutofit/>
          </a:bodyPr>
          <a:lstStyle/>
          <a:p>
            <a:r>
              <a:rPr lang="en-GB" i="0" dirty="0">
                <a:solidFill>
                  <a:srgbClr val="222222"/>
                </a:solidFill>
                <a:effectLst/>
                <a:latin typeface="Open Sans" panose="020B0606030504020204" pitchFamily="34" charset="0"/>
              </a:rPr>
              <a:t>Introduction to epigenomics</a:t>
            </a:r>
            <a:br>
              <a:rPr lang="en-GB" b="0" i="0" dirty="0">
                <a:solidFill>
                  <a:srgbClr val="222222"/>
                </a:solidFill>
                <a:effectLst/>
                <a:latin typeface="Open Sans" panose="020B0606030504020204" pitchFamily="34" charset="0"/>
              </a:rPr>
            </a:br>
            <a:br>
              <a:rPr lang="en-GB" sz="2000" b="0" i="0" dirty="0">
                <a:solidFill>
                  <a:srgbClr val="222222"/>
                </a:solidFill>
                <a:effectLst/>
                <a:latin typeface="Open Sans" panose="020B0606030504020204" pitchFamily="34" charset="0"/>
              </a:rPr>
            </a:br>
            <a:r>
              <a:rPr lang="en-GB" sz="3000" b="0" i="0" dirty="0">
                <a:solidFill>
                  <a:srgbClr val="222222"/>
                </a:solidFill>
                <a:effectLst/>
                <a:latin typeface="Open Sans" panose="020B0606030504020204" pitchFamily="34" charset="0"/>
              </a:rPr>
              <a:t>Or how genes are regulated…</a:t>
            </a:r>
            <a:endParaRPr lang="en-US" sz="3000" dirty="0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D07EAE9F-3B09-09D5-50EC-A51FBB06AC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Epigenomics Data Analysis</a:t>
            </a:r>
          </a:p>
          <a:p>
            <a:r>
              <a:rPr lang="en-US" dirty="0"/>
              <a:t>Jacques </a:t>
            </a:r>
            <a:r>
              <a:rPr lang="en-US" dirty="0" err="1"/>
              <a:t>Serizay</a:t>
            </a:r>
            <a:endParaRPr lang="en-US" dirty="0"/>
          </a:p>
          <a:p>
            <a:r>
              <a:rPr lang="en-US" dirty="0" err="1"/>
              <a:t>Physalia</a:t>
            </a:r>
            <a:r>
              <a:rPr lang="en-US" dirty="0"/>
              <a:t> 2025</a:t>
            </a:r>
          </a:p>
        </p:txBody>
      </p:sp>
    </p:spTree>
    <p:extLst>
      <p:ext uri="{BB962C8B-B14F-4D97-AF65-F5344CB8AC3E}">
        <p14:creationId xmlns:p14="http://schemas.microsoft.com/office/powerpoint/2010/main" val="25345522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F744CC-0161-DA1D-0868-ECFA34C74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Chromatin is complex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ABCD01-5213-B30F-0FFD-4E1FDF6795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0FBE67-001F-EDCC-125E-8428882AD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2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B50CF5-FFA8-B1DD-B516-7CC229C95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6F51C7-FB82-6F82-D0C5-674BF7A4B5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966" y="989258"/>
            <a:ext cx="11508068" cy="4879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7989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65581EE-7886-2E72-6EB9-D63CD2DD3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Chromatin composition varies along the genome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230C40E-032E-07B9-B35A-5DA0D267D5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0FBE67-001F-EDCC-125E-8428882AD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3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C37A3F4-583C-7D56-FF14-6F961704F9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DNA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B50CF5-FFA8-B1DD-B516-7CC229C95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F099EA-E028-B916-EC49-6DA58D4F88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8800" y="3140648"/>
            <a:ext cx="7772400" cy="576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73587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65581EE-7886-2E72-6EB9-D63CD2DD3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Chromatin composition varies along the genome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230C40E-032E-07B9-B35A-5DA0D267D5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0FBE67-001F-EDCC-125E-8428882AD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4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C37A3F4-583C-7D56-FF14-6F961704F9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DNA</a:t>
            </a:r>
          </a:p>
          <a:p>
            <a:r>
              <a:rPr lang="en-US" dirty="0"/>
              <a:t>+ Histone cores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B50CF5-FFA8-B1DD-B516-7CC229C95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7D6EBFA-BD28-63C0-4833-AF423E11B5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3400" y="2976278"/>
            <a:ext cx="7772400" cy="905444"/>
          </a:xfrm>
          <a:prstGeom prst="rect">
            <a:avLst/>
          </a:prstGeom>
        </p:spPr>
      </p:pic>
      <p:sp>
        <p:nvSpPr>
          <p:cNvPr id="3" name="Right Brace 2">
            <a:extLst>
              <a:ext uri="{FF2B5EF4-FFF2-40B4-BE49-F238E27FC236}">
                <a16:creationId xmlns:a16="http://schemas.microsoft.com/office/drawing/2014/main" id="{10A77967-4E6D-A03C-B24E-5F3AC8BE9088}"/>
              </a:ext>
            </a:extLst>
          </p:cNvPr>
          <p:cNvSpPr/>
          <p:nvPr/>
        </p:nvSpPr>
        <p:spPr>
          <a:xfrm>
            <a:off x="2137025" y="955497"/>
            <a:ext cx="236305" cy="729465"/>
          </a:xfrm>
          <a:prstGeom prst="rightBrace">
            <a:avLst>
              <a:gd name="adj1" fmla="val 32145"/>
              <a:gd name="adj2" fmla="val 50000"/>
            </a:avLst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EF13A3-1B5E-D009-84BE-8BC4B5558B56}"/>
              </a:ext>
            </a:extLst>
          </p:cNvPr>
          <p:cNvSpPr txBox="1"/>
          <p:nvPr/>
        </p:nvSpPr>
        <p:spPr>
          <a:xfrm>
            <a:off x="2426677" y="1100962"/>
            <a:ext cx="46858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Nucleosomes: core chromatin </a:t>
            </a:r>
            <a:r>
              <a:rPr lang="en-US"/>
              <a:t>structural unit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01631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65581EE-7886-2E72-6EB9-D63CD2DD3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Chromatin composition varies along the genome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230C40E-032E-07B9-B35A-5DA0D267D5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0FBE67-001F-EDCC-125E-8428882AD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5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C37A3F4-583C-7D56-FF14-6F961704F9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DNA</a:t>
            </a:r>
          </a:p>
          <a:p>
            <a:r>
              <a:rPr lang="en-US" dirty="0"/>
              <a:t>+ Histone cores</a:t>
            </a:r>
          </a:p>
          <a:p>
            <a:r>
              <a:rPr lang="en-US" dirty="0"/>
              <a:t>+ nucleosome positioning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B50CF5-FFA8-B1DD-B516-7CC229C95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sp>
        <p:nvSpPr>
          <p:cNvPr id="3" name="Right Brace 2">
            <a:extLst>
              <a:ext uri="{FF2B5EF4-FFF2-40B4-BE49-F238E27FC236}">
                <a16:creationId xmlns:a16="http://schemas.microsoft.com/office/drawing/2014/main" id="{10A77967-4E6D-A03C-B24E-5F3AC8BE9088}"/>
              </a:ext>
            </a:extLst>
          </p:cNvPr>
          <p:cNvSpPr/>
          <p:nvPr/>
        </p:nvSpPr>
        <p:spPr>
          <a:xfrm>
            <a:off x="2137025" y="955497"/>
            <a:ext cx="236305" cy="729465"/>
          </a:xfrm>
          <a:prstGeom prst="rightBrace">
            <a:avLst>
              <a:gd name="adj1" fmla="val 32145"/>
              <a:gd name="adj2" fmla="val 50000"/>
            </a:avLst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EF13A3-1B5E-D009-84BE-8BC4B5558B56}"/>
              </a:ext>
            </a:extLst>
          </p:cNvPr>
          <p:cNvSpPr txBox="1"/>
          <p:nvPr/>
        </p:nvSpPr>
        <p:spPr>
          <a:xfrm>
            <a:off x="2426677" y="1100962"/>
            <a:ext cx="46858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Nucleosomes: core chromatin </a:t>
            </a:r>
            <a:r>
              <a:rPr lang="en-US"/>
              <a:t>structural unit</a:t>
            </a:r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1B97992-728D-A449-4513-DF9631FED4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3100" y="3113866"/>
            <a:ext cx="7772400" cy="655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8389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65581EE-7886-2E72-6EB9-D63CD2DD3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Chromatin composition varies along the genome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230C40E-032E-07B9-B35A-5DA0D267D5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0FBE67-001F-EDCC-125E-8428882AD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6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C37A3F4-583C-7D56-FF14-6F961704F9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DNA</a:t>
            </a:r>
          </a:p>
          <a:p>
            <a:r>
              <a:rPr lang="en-US" dirty="0"/>
              <a:t>+ Histone cores</a:t>
            </a:r>
          </a:p>
          <a:p>
            <a:r>
              <a:rPr lang="en-US" dirty="0"/>
              <a:t>+ nucleosome positioning</a:t>
            </a:r>
          </a:p>
          <a:p>
            <a:r>
              <a:rPr lang="en-US" dirty="0"/>
              <a:t>+ transcription factors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B50CF5-FFA8-B1DD-B516-7CC229C95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sp>
        <p:nvSpPr>
          <p:cNvPr id="3" name="Right Brace 2">
            <a:extLst>
              <a:ext uri="{FF2B5EF4-FFF2-40B4-BE49-F238E27FC236}">
                <a16:creationId xmlns:a16="http://schemas.microsoft.com/office/drawing/2014/main" id="{10A77967-4E6D-A03C-B24E-5F3AC8BE9088}"/>
              </a:ext>
            </a:extLst>
          </p:cNvPr>
          <p:cNvSpPr/>
          <p:nvPr/>
        </p:nvSpPr>
        <p:spPr>
          <a:xfrm>
            <a:off x="2137025" y="955497"/>
            <a:ext cx="236305" cy="729465"/>
          </a:xfrm>
          <a:prstGeom prst="rightBrace">
            <a:avLst>
              <a:gd name="adj1" fmla="val 32145"/>
              <a:gd name="adj2" fmla="val 50000"/>
            </a:avLst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EF13A3-1B5E-D009-84BE-8BC4B5558B56}"/>
              </a:ext>
            </a:extLst>
          </p:cNvPr>
          <p:cNvSpPr txBox="1"/>
          <p:nvPr/>
        </p:nvSpPr>
        <p:spPr>
          <a:xfrm>
            <a:off x="2426677" y="1100962"/>
            <a:ext cx="46858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Nucleosomes: core chromatin </a:t>
            </a:r>
            <a:r>
              <a:rPr lang="en-US"/>
              <a:t>structural unit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54AD2E1-6D7C-FC39-6BA8-1301B2C030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5575" y="3016662"/>
            <a:ext cx="7772400" cy="773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59400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65581EE-7886-2E72-6EB9-D63CD2DD3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Chromatin composition varies along the genome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230C40E-032E-07B9-B35A-5DA0D267D5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0FBE67-001F-EDCC-125E-8428882AD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7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C37A3F4-583C-7D56-FF14-6F961704F9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DNA</a:t>
            </a:r>
          </a:p>
          <a:p>
            <a:r>
              <a:rPr lang="en-US" dirty="0"/>
              <a:t>+ Histone cores</a:t>
            </a:r>
          </a:p>
          <a:p>
            <a:r>
              <a:rPr lang="en-US" dirty="0"/>
              <a:t>+ nucleosome positioning</a:t>
            </a:r>
          </a:p>
          <a:p>
            <a:r>
              <a:rPr lang="en-US" dirty="0"/>
              <a:t>+ transcription factors</a:t>
            </a:r>
          </a:p>
          <a:p>
            <a:r>
              <a:rPr lang="en-US" dirty="0"/>
              <a:t>+ Promoter accessibility</a:t>
            </a:r>
          </a:p>
          <a:p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B50CF5-FFA8-B1DD-B516-7CC229C95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sp>
        <p:nvSpPr>
          <p:cNvPr id="3" name="Right Brace 2">
            <a:extLst>
              <a:ext uri="{FF2B5EF4-FFF2-40B4-BE49-F238E27FC236}">
                <a16:creationId xmlns:a16="http://schemas.microsoft.com/office/drawing/2014/main" id="{10A77967-4E6D-A03C-B24E-5F3AC8BE9088}"/>
              </a:ext>
            </a:extLst>
          </p:cNvPr>
          <p:cNvSpPr/>
          <p:nvPr/>
        </p:nvSpPr>
        <p:spPr>
          <a:xfrm>
            <a:off x="2137025" y="955497"/>
            <a:ext cx="236305" cy="729465"/>
          </a:xfrm>
          <a:prstGeom prst="rightBrace">
            <a:avLst>
              <a:gd name="adj1" fmla="val 32145"/>
              <a:gd name="adj2" fmla="val 50000"/>
            </a:avLst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EF13A3-1B5E-D009-84BE-8BC4B5558B56}"/>
              </a:ext>
            </a:extLst>
          </p:cNvPr>
          <p:cNvSpPr txBox="1"/>
          <p:nvPr/>
        </p:nvSpPr>
        <p:spPr>
          <a:xfrm>
            <a:off x="2426677" y="1100962"/>
            <a:ext cx="46858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Nucleosomes: core chromatin </a:t>
            </a:r>
            <a:r>
              <a:rPr lang="en-US"/>
              <a:t>structural unit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22035E4-0D0B-3BA7-9DCE-6BAC04226C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975" y="3070170"/>
            <a:ext cx="7772400" cy="717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68936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65581EE-7886-2E72-6EB9-D63CD2DD3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Chromatin composition varies along the genome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230C40E-032E-07B9-B35A-5DA0D267D5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0FBE67-001F-EDCC-125E-8428882AD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8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C37A3F4-583C-7D56-FF14-6F961704F9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DNA</a:t>
            </a:r>
          </a:p>
          <a:p>
            <a:r>
              <a:rPr lang="en-US" dirty="0"/>
              <a:t>+ Histone cores</a:t>
            </a:r>
          </a:p>
          <a:p>
            <a:r>
              <a:rPr lang="en-US" dirty="0"/>
              <a:t>+ nucleosome positioning</a:t>
            </a:r>
          </a:p>
          <a:p>
            <a:r>
              <a:rPr lang="en-US" dirty="0"/>
              <a:t>+ transcription factors</a:t>
            </a:r>
          </a:p>
          <a:p>
            <a:r>
              <a:rPr lang="en-US" dirty="0"/>
              <a:t>+ Promoter accessibility</a:t>
            </a:r>
          </a:p>
          <a:p>
            <a:r>
              <a:rPr lang="en-US" dirty="0"/>
              <a:t>+ Polymerase</a:t>
            </a:r>
          </a:p>
          <a:p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B50CF5-FFA8-B1DD-B516-7CC229C95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sp>
        <p:nvSpPr>
          <p:cNvPr id="3" name="Right Brace 2">
            <a:extLst>
              <a:ext uri="{FF2B5EF4-FFF2-40B4-BE49-F238E27FC236}">
                <a16:creationId xmlns:a16="http://schemas.microsoft.com/office/drawing/2014/main" id="{10A77967-4E6D-A03C-B24E-5F3AC8BE9088}"/>
              </a:ext>
            </a:extLst>
          </p:cNvPr>
          <p:cNvSpPr/>
          <p:nvPr/>
        </p:nvSpPr>
        <p:spPr>
          <a:xfrm>
            <a:off x="2137025" y="955497"/>
            <a:ext cx="236305" cy="729465"/>
          </a:xfrm>
          <a:prstGeom prst="rightBrace">
            <a:avLst>
              <a:gd name="adj1" fmla="val 32145"/>
              <a:gd name="adj2" fmla="val 50000"/>
            </a:avLst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EF13A3-1B5E-D009-84BE-8BC4B5558B56}"/>
              </a:ext>
            </a:extLst>
          </p:cNvPr>
          <p:cNvSpPr txBox="1"/>
          <p:nvPr/>
        </p:nvSpPr>
        <p:spPr>
          <a:xfrm>
            <a:off x="2426677" y="1100962"/>
            <a:ext cx="46858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Nucleosomes: core chromatin </a:t>
            </a:r>
            <a:r>
              <a:rPr lang="en-US"/>
              <a:t>structural unit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6D4CC0E-597F-B82D-9DD8-BF3742B23F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6375" y="2805096"/>
            <a:ext cx="7772400" cy="112080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1B8F5C3-AAB7-9FFB-B809-95A7DC83CA57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972550" y="2363648"/>
            <a:ext cx="1060450" cy="42330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4F4F61C-7E80-9BF7-6490-D77A9393E2E3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794750" y="2160448"/>
            <a:ext cx="1060450" cy="42330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848E246-2F00-68CE-8260-B2A3F764E815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223250" y="2033448"/>
            <a:ext cx="1060450" cy="423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90251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4837E1D2-7EEC-5CCE-2964-AFA3E1482D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6375" y="2617930"/>
            <a:ext cx="7772400" cy="1342740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965581EE-7886-2E72-6EB9-D63CD2DD3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Chromatin composition varies along the genome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230C40E-032E-07B9-B35A-5DA0D267D5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0FBE67-001F-EDCC-125E-8428882AD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9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C37A3F4-583C-7D56-FF14-6F961704F9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4883277"/>
          </a:xfrm>
        </p:spPr>
        <p:txBody>
          <a:bodyPr/>
          <a:lstStyle/>
          <a:p>
            <a:r>
              <a:rPr lang="en-US" dirty="0"/>
              <a:t>DNA</a:t>
            </a:r>
          </a:p>
          <a:p>
            <a:r>
              <a:rPr lang="en-US" dirty="0"/>
              <a:t>+ Histone cores</a:t>
            </a:r>
          </a:p>
          <a:p>
            <a:r>
              <a:rPr lang="en-US" dirty="0"/>
              <a:t>+ nucleosome positioning</a:t>
            </a:r>
          </a:p>
          <a:p>
            <a:r>
              <a:rPr lang="en-US" dirty="0"/>
              <a:t>+ transcription factors</a:t>
            </a:r>
          </a:p>
          <a:p>
            <a:r>
              <a:rPr lang="en-US" dirty="0"/>
              <a:t>+ Promoter accessibility</a:t>
            </a:r>
          </a:p>
          <a:p>
            <a:r>
              <a:rPr lang="en-US" dirty="0"/>
              <a:t>+ Polymerase</a:t>
            </a:r>
          </a:p>
          <a:p>
            <a:r>
              <a:rPr lang="en-US" dirty="0"/>
              <a:t>+ Histone PTMs</a:t>
            </a:r>
          </a:p>
          <a:p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B50CF5-FFA8-B1DD-B516-7CC229C95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sp>
        <p:nvSpPr>
          <p:cNvPr id="3" name="Right Brace 2">
            <a:extLst>
              <a:ext uri="{FF2B5EF4-FFF2-40B4-BE49-F238E27FC236}">
                <a16:creationId xmlns:a16="http://schemas.microsoft.com/office/drawing/2014/main" id="{10A77967-4E6D-A03C-B24E-5F3AC8BE9088}"/>
              </a:ext>
            </a:extLst>
          </p:cNvPr>
          <p:cNvSpPr/>
          <p:nvPr/>
        </p:nvSpPr>
        <p:spPr>
          <a:xfrm>
            <a:off x="2137025" y="955497"/>
            <a:ext cx="236305" cy="729465"/>
          </a:xfrm>
          <a:prstGeom prst="rightBrace">
            <a:avLst>
              <a:gd name="adj1" fmla="val 32145"/>
              <a:gd name="adj2" fmla="val 50000"/>
            </a:avLst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EF13A3-1B5E-D009-84BE-8BC4B5558B56}"/>
              </a:ext>
            </a:extLst>
          </p:cNvPr>
          <p:cNvSpPr txBox="1"/>
          <p:nvPr/>
        </p:nvSpPr>
        <p:spPr>
          <a:xfrm>
            <a:off x="2426677" y="1100962"/>
            <a:ext cx="46858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Nucleosomes: core chromatin structural unit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94ECA5E-EC49-51D6-185D-3AD8808F1583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972550" y="2363648"/>
            <a:ext cx="1060450" cy="42330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D2E7FD5-294E-6CF8-741A-56E0583B95B4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794750" y="2160448"/>
            <a:ext cx="1060450" cy="42330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01B02AA-3137-FB11-2B35-D98222A1ADD0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223250" y="2033448"/>
            <a:ext cx="1060450" cy="423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93907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65581EE-7886-2E72-6EB9-D63CD2DD3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Chromatin composition varies along the genome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230C40E-032E-07B9-B35A-5DA0D267D5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0FBE67-001F-EDCC-125E-8428882AD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10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C37A3F4-583C-7D56-FF14-6F961704F9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4883277"/>
          </a:xfrm>
        </p:spPr>
        <p:txBody>
          <a:bodyPr/>
          <a:lstStyle/>
          <a:p>
            <a:r>
              <a:rPr lang="en-US" dirty="0"/>
              <a:t>DNA</a:t>
            </a:r>
          </a:p>
          <a:p>
            <a:r>
              <a:rPr lang="en-US" dirty="0"/>
              <a:t>+ Histone cores</a:t>
            </a:r>
          </a:p>
          <a:p>
            <a:r>
              <a:rPr lang="en-US" dirty="0"/>
              <a:t>+ nucleosome positioning</a:t>
            </a:r>
          </a:p>
          <a:p>
            <a:r>
              <a:rPr lang="en-US" dirty="0"/>
              <a:t>+ transcription factors</a:t>
            </a:r>
          </a:p>
          <a:p>
            <a:r>
              <a:rPr lang="en-US" dirty="0"/>
              <a:t>+ Promoter accessibility</a:t>
            </a:r>
          </a:p>
          <a:p>
            <a:r>
              <a:rPr lang="en-US" dirty="0"/>
              <a:t>+ Polymerase</a:t>
            </a:r>
          </a:p>
          <a:p>
            <a:r>
              <a:rPr lang="en-US" dirty="0"/>
              <a:t>+ Histone PTMs</a:t>
            </a:r>
          </a:p>
          <a:p>
            <a:r>
              <a:rPr lang="en-US" dirty="0"/>
              <a:t>+ Chromatin folding</a:t>
            </a:r>
          </a:p>
          <a:p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B50CF5-FFA8-B1DD-B516-7CC229C95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sp>
        <p:nvSpPr>
          <p:cNvPr id="3" name="Right Brace 2">
            <a:extLst>
              <a:ext uri="{FF2B5EF4-FFF2-40B4-BE49-F238E27FC236}">
                <a16:creationId xmlns:a16="http://schemas.microsoft.com/office/drawing/2014/main" id="{10A77967-4E6D-A03C-B24E-5F3AC8BE9088}"/>
              </a:ext>
            </a:extLst>
          </p:cNvPr>
          <p:cNvSpPr/>
          <p:nvPr/>
        </p:nvSpPr>
        <p:spPr>
          <a:xfrm>
            <a:off x="2137025" y="955497"/>
            <a:ext cx="236305" cy="729465"/>
          </a:xfrm>
          <a:prstGeom prst="rightBrace">
            <a:avLst>
              <a:gd name="adj1" fmla="val 32145"/>
              <a:gd name="adj2" fmla="val 50000"/>
            </a:avLst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EF13A3-1B5E-D009-84BE-8BC4B5558B56}"/>
              </a:ext>
            </a:extLst>
          </p:cNvPr>
          <p:cNvSpPr txBox="1"/>
          <p:nvPr/>
        </p:nvSpPr>
        <p:spPr>
          <a:xfrm>
            <a:off x="2426677" y="1100962"/>
            <a:ext cx="46858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Nucleosomes: core chromatin structural unit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EBB2169-6DE1-0EDB-67F6-36D01C71B3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600" y="1873766"/>
            <a:ext cx="7162800" cy="347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43218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42C954E2-878B-3EC1-523E-850E3E72BE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600" y="1873766"/>
            <a:ext cx="7162800" cy="3479800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965581EE-7886-2E72-6EB9-D63CD2DD3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Chromatin composition varies along the genome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230C40E-032E-07B9-B35A-5DA0D267D5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0FBE67-001F-EDCC-125E-8428882AD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11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C37A3F4-583C-7D56-FF14-6F961704F9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4883277"/>
          </a:xfrm>
        </p:spPr>
        <p:txBody>
          <a:bodyPr/>
          <a:lstStyle/>
          <a:p>
            <a:r>
              <a:rPr lang="en-US" dirty="0"/>
              <a:t>DNA</a:t>
            </a:r>
          </a:p>
          <a:p>
            <a:r>
              <a:rPr lang="en-US" dirty="0"/>
              <a:t>+ Histone cores</a:t>
            </a:r>
          </a:p>
          <a:p>
            <a:r>
              <a:rPr lang="en-US" dirty="0"/>
              <a:t>+ nucleosome positioning</a:t>
            </a:r>
          </a:p>
          <a:p>
            <a:r>
              <a:rPr lang="en-US" dirty="0"/>
              <a:t>+ transcription factors</a:t>
            </a:r>
          </a:p>
          <a:p>
            <a:r>
              <a:rPr lang="en-US" dirty="0"/>
              <a:t>+ Promoter accessibility</a:t>
            </a:r>
          </a:p>
          <a:p>
            <a:r>
              <a:rPr lang="en-US" dirty="0"/>
              <a:t>+ Polymerase</a:t>
            </a:r>
          </a:p>
          <a:p>
            <a:r>
              <a:rPr lang="en-US" dirty="0"/>
              <a:t>+ Histone PTMs</a:t>
            </a:r>
          </a:p>
          <a:p>
            <a:r>
              <a:rPr lang="en-US" dirty="0"/>
              <a:t>+ Chromatin folding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B50CF5-FFA8-B1DD-B516-7CC229C95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sp>
        <p:nvSpPr>
          <p:cNvPr id="3" name="Right Brace 2">
            <a:extLst>
              <a:ext uri="{FF2B5EF4-FFF2-40B4-BE49-F238E27FC236}">
                <a16:creationId xmlns:a16="http://schemas.microsoft.com/office/drawing/2014/main" id="{10A77967-4E6D-A03C-B24E-5F3AC8BE9088}"/>
              </a:ext>
            </a:extLst>
          </p:cNvPr>
          <p:cNvSpPr/>
          <p:nvPr/>
        </p:nvSpPr>
        <p:spPr>
          <a:xfrm>
            <a:off x="2137025" y="955497"/>
            <a:ext cx="236305" cy="729465"/>
          </a:xfrm>
          <a:prstGeom prst="rightBrace">
            <a:avLst>
              <a:gd name="adj1" fmla="val 32145"/>
              <a:gd name="adj2" fmla="val 50000"/>
            </a:avLst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EF13A3-1B5E-D009-84BE-8BC4B5558B56}"/>
              </a:ext>
            </a:extLst>
          </p:cNvPr>
          <p:cNvSpPr txBox="1"/>
          <p:nvPr/>
        </p:nvSpPr>
        <p:spPr>
          <a:xfrm>
            <a:off x="2426677" y="1100962"/>
            <a:ext cx="46858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Nucleosomes: core chromatin structural unit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3A4AD5-4A98-08A4-8A2A-B8EEE641D456}"/>
              </a:ext>
            </a:extLst>
          </p:cNvPr>
          <p:cNvSpPr txBox="1"/>
          <p:nvPr/>
        </p:nvSpPr>
        <p:spPr>
          <a:xfrm>
            <a:off x="943190" y="914345"/>
            <a:ext cx="73609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WGS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E30029-7ED7-64CB-2BEA-9EA3E6C81184}"/>
              </a:ext>
            </a:extLst>
          </p:cNvPr>
          <p:cNvSpPr txBox="1"/>
          <p:nvPr/>
        </p:nvSpPr>
        <p:spPr>
          <a:xfrm>
            <a:off x="2060790" y="1473145"/>
            <a:ext cx="118494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>
                <a:solidFill>
                  <a:srgbClr val="00B050"/>
                </a:solidFill>
              </a:rPr>
              <a:t>ChIP</a:t>
            </a:r>
            <a:r>
              <a:rPr lang="en-US" b="1" dirty="0">
                <a:solidFill>
                  <a:srgbClr val="00B050"/>
                </a:solidFill>
              </a:rPr>
              <a:t>-seq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E4B992-90E1-05A4-E847-3AE79A62E0CA}"/>
              </a:ext>
            </a:extLst>
          </p:cNvPr>
          <p:cNvSpPr txBox="1"/>
          <p:nvPr/>
        </p:nvSpPr>
        <p:spPr>
          <a:xfrm>
            <a:off x="3241890" y="1981145"/>
            <a:ext cx="1402948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>
                <a:solidFill>
                  <a:schemeClr val="accent4">
                    <a:lumMod val="75000"/>
                  </a:schemeClr>
                </a:solidFill>
              </a:rPr>
              <a:t>MNase</a:t>
            </a:r>
            <a:r>
              <a:rPr lang="en-US" b="1" dirty="0">
                <a:solidFill>
                  <a:schemeClr val="accent4">
                    <a:lumMod val="75000"/>
                  </a:schemeClr>
                </a:solidFill>
              </a:rPr>
              <a:t>-seq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98C819A-0A05-16F2-6FD3-49067E36211E}"/>
              </a:ext>
            </a:extLst>
          </p:cNvPr>
          <p:cNvSpPr txBox="1"/>
          <p:nvPr/>
        </p:nvSpPr>
        <p:spPr>
          <a:xfrm>
            <a:off x="2759290" y="2501845"/>
            <a:ext cx="118494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>
                <a:solidFill>
                  <a:srgbClr val="00B050"/>
                </a:solidFill>
              </a:rPr>
              <a:t>ChIP</a:t>
            </a:r>
            <a:r>
              <a:rPr lang="en-US" b="1" dirty="0">
                <a:solidFill>
                  <a:srgbClr val="00B050"/>
                </a:solidFill>
              </a:rPr>
              <a:t>-seq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2CD1B47-EC36-D873-3A7E-B12B83037366}"/>
              </a:ext>
            </a:extLst>
          </p:cNvPr>
          <p:cNvSpPr txBox="1"/>
          <p:nvPr/>
        </p:nvSpPr>
        <p:spPr>
          <a:xfrm>
            <a:off x="3025990" y="3073345"/>
            <a:ext cx="126611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B0F0"/>
                </a:solidFill>
              </a:rPr>
              <a:t>ATAC-seq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C74B08A-9CAE-6C5E-C7DF-7E53B9F7BC21}"/>
              </a:ext>
            </a:extLst>
          </p:cNvPr>
          <p:cNvSpPr txBox="1"/>
          <p:nvPr/>
        </p:nvSpPr>
        <p:spPr>
          <a:xfrm>
            <a:off x="2022690" y="3581345"/>
            <a:ext cx="1159292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RNA-seq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AE536E2-69FF-CE85-BFEC-DB0246A99266}"/>
              </a:ext>
            </a:extLst>
          </p:cNvPr>
          <p:cNvSpPr txBox="1"/>
          <p:nvPr/>
        </p:nvSpPr>
        <p:spPr>
          <a:xfrm>
            <a:off x="2225890" y="4127445"/>
            <a:ext cx="118494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>
                <a:solidFill>
                  <a:srgbClr val="00B050"/>
                </a:solidFill>
              </a:rPr>
              <a:t>ChIP</a:t>
            </a:r>
            <a:r>
              <a:rPr lang="en-US" b="1" dirty="0">
                <a:solidFill>
                  <a:srgbClr val="00B050"/>
                </a:solidFill>
              </a:rPr>
              <a:t>-seq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9DA1C24-7E38-6F2A-9E38-E5B942F29D1E}"/>
              </a:ext>
            </a:extLst>
          </p:cNvPr>
          <p:cNvSpPr txBox="1"/>
          <p:nvPr/>
        </p:nvSpPr>
        <p:spPr>
          <a:xfrm>
            <a:off x="2594190" y="4673545"/>
            <a:ext cx="65915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Hi-C</a:t>
            </a:r>
          </a:p>
        </p:txBody>
      </p:sp>
    </p:spTree>
    <p:extLst>
      <p:ext uri="{BB962C8B-B14F-4D97-AF65-F5344CB8AC3E}">
        <p14:creationId xmlns:p14="http://schemas.microsoft.com/office/powerpoint/2010/main" val="9157909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65581EE-7886-2E72-6EB9-D63CD2DD3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Chromatin is organized in hierarchical structure to enable transcriptional regulation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230C40E-032E-07B9-B35A-5DA0D267D5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 err="1"/>
              <a:t>Lafontain</a:t>
            </a:r>
            <a:r>
              <a:rPr lang="en-US" dirty="0"/>
              <a:t> et al., Current Protocols 2021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0FBE67-001F-EDCC-125E-8428882AD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12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B50CF5-FFA8-B1DD-B516-7CC229C95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pic>
        <p:nvPicPr>
          <p:cNvPr id="3074" name="Picture 2" descr="Fig. 8">
            <a:extLst>
              <a:ext uri="{FF2B5EF4-FFF2-40B4-BE49-F238E27FC236}">
                <a16:creationId xmlns:a16="http://schemas.microsoft.com/office/drawing/2014/main" id="{37C29D3B-04C5-1E22-3B89-5C1546485F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01" y="1075825"/>
            <a:ext cx="4875212" cy="4706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D82F4A4E-E4F5-C042-26B0-4FEE05CB7C87}"/>
              </a:ext>
            </a:extLst>
          </p:cNvPr>
          <p:cNvSpPr/>
          <p:nvPr/>
        </p:nvSpPr>
        <p:spPr>
          <a:xfrm>
            <a:off x="3657601" y="2079812"/>
            <a:ext cx="1471517" cy="234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B0B442-44F5-9803-0C65-1186262D4F67}"/>
              </a:ext>
            </a:extLst>
          </p:cNvPr>
          <p:cNvSpPr txBox="1"/>
          <p:nvPr/>
        </p:nvSpPr>
        <p:spPr>
          <a:xfrm>
            <a:off x="3415271" y="2051163"/>
            <a:ext cx="18261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Heterochromatin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B704133-21C8-7C8E-4EC7-FB02950BE5D1}"/>
              </a:ext>
            </a:extLst>
          </p:cNvPr>
          <p:cNvSpPr/>
          <p:nvPr/>
        </p:nvSpPr>
        <p:spPr>
          <a:xfrm>
            <a:off x="3649580" y="1125307"/>
            <a:ext cx="1471517" cy="234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EF8F941-05A8-B629-7779-B2A0D2277D0E}"/>
              </a:ext>
            </a:extLst>
          </p:cNvPr>
          <p:cNvSpPr txBox="1"/>
          <p:nvPr/>
        </p:nvSpPr>
        <p:spPr>
          <a:xfrm>
            <a:off x="3617255" y="1158510"/>
            <a:ext cx="14382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Euchromatin</a:t>
            </a:r>
          </a:p>
        </p:txBody>
      </p:sp>
    </p:spTree>
    <p:extLst>
      <p:ext uri="{BB962C8B-B14F-4D97-AF65-F5344CB8AC3E}">
        <p14:creationId xmlns:p14="http://schemas.microsoft.com/office/powerpoint/2010/main" val="31271031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65581EE-7886-2E72-6EB9-D63CD2DD3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Chromatin is organized in hierarchical structure to enable transcriptional regulation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230C40E-032E-07B9-B35A-5DA0D267D5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 err="1"/>
              <a:t>Lafontain</a:t>
            </a:r>
            <a:r>
              <a:rPr lang="en-US" dirty="0"/>
              <a:t> et al., Current Protocols 2021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0FBE67-001F-EDCC-125E-8428882AD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13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B50CF5-FFA8-B1DD-B516-7CC229C95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pic>
        <p:nvPicPr>
          <p:cNvPr id="3074" name="Picture 2" descr="Fig. 8">
            <a:extLst>
              <a:ext uri="{FF2B5EF4-FFF2-40B4-BE49-F238E27FC236}">
                <a16:creationId xmlns:a16="http://schemas.microsoft.com/office/drawing/2014/main" id="{37C29D3B-04C5-1E22-3B89-5C1546485F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01" y="1075825"/>
            <a:ext cx="4875212" cy="4706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D82F4A4E-E4F5-C042-26B0-4FEE05CB7C87}"/>
              </a:ext>
            </a:extLst>
          </p:cNvPr>
          <p:cNvSpPr/>
          <p:nvPr/>
        </p:nvSpPr>
        <p:spPr>
          <a:xfrm>
            <a:off x="3657601" y="2079812"/>
            <a:ext cx="1471517" cy="234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B0B442-44F5-9803-0C65-1186262D4F67}"/>
              </a:ext>
            </a:extLst>
          </p:cNvPr>
          <p:cNvSpPr txBox="1"/>
          <p:nvPr/>
        </p:nvSpPr>
        <p:spPr>
          <a:xfrm>
            <a:off x="3415271" y="2051163"/>
            <a:ext cx="18261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Heterochromatin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B704133-21C8-7C8E-4EC7-FB02950BE5D1}"/>
              </a:ext>
            </a:extLst>
          </p:cNvPr>
          <p:cNvSpPr/>
          <p:nvPr/>
        </p:nvSpPr>
        <p:spPr>
          <a:xfrm>
            <a:off x="3649580" y="1125307"/>
            <a:ext cx="1471517" cy="234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EF8F941-05A8-B629-7779-B2A0D2277D0E}"/>
              </a:ext>
            </a:extLst>
          </p:cNvPr>
          <p:cNvSpPr txBox="1"/>
          <p:nvPr/>
        </p:nvSpPr>
        <p:spPr>
          <a:xfrm>
            <a:off x="3617255" y="1158510"/>
            <a:ext cx="14382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Euchromatin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0C63117-1537-6889-545D-85DFAF039460}"/>
              </a:ext>
            </a:extLst>
          </p:cNvPr>
          <p:cNvSpPr txBox="1"/>
          <p:nvPr/>
        </p:nvSpPr>
        <p:spPr>
          <a:xfrm>
            <a:off x="4393359" y="4453582"/>
            <a:ext cx="73609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WGS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AC36499-220E-A4FD-15FA-4028013C24EE}"/>
              </a:ext>
            </a:extLst>
          </p:cNvPr>
          <p:cNvSpPr txBox="1"/>
          <p:nvPr/>
        </p:nvSpPr>
        <p:spPr>
          <a:xfrm>
            <a:off x="6270171" y="5055073"/>
            <a:ext cx="1402948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>
                <a:solidFill>
                  <a:schemeClr val="accent4">
                    <a:lumMod val="75000"/>
                  </a:schemeClr>
                </a:solidFill>
              </a:rPr>
              <a:t>MNase</a:t>
            </a:r>
            <a:r>
              <a:rPr lang="en-US" b="1" dirty="0">
                <a:solidFill>
                  <a:schemeClr val="accent4">
                    <a:lumMod val="75000"/>
                  </a:schemeClr>
                </a:solidFill>
              </a:rPr>
              <a:t>-seq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56DABA4-CBAA-9BD5-F9CA-4AA447DC52CA}"/>
              </a:ext>
            </a:extLst>
          </p:cNvPr>
          <p:cNvSpPr txBox="1"/>
          <p:nvPr/>
        </p:nvSpPr>
        <p:spPr>
          <a:xfrm>
            <a:off x="8610334" y="3847502"/>
            <a:ext cx="126611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B0F0"/>
                </a:solidFill>
              </a:rPr>
              <a:t>ATAC-seq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CBC98B-462E-A8C1-0DC1-A82A8A4BE816}"/>
              </a:ext>
            </a:extLst>
          </p:cNvPr>
          <p:cNvSpPr txBox="1"/>
          <p:nvPr/>
        </p:nvSpPr>
        <p:spPr>
          <a:xfrm>
            <a:off x="6971645" y="3152666"/>
            <a:ext cx="1159292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RNA-seq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2B837C1-67EB-2ABE-632C-4B30D6DF5811}"/>
              </a:ext>
            </a:extLst>
          </p:cNvPr>
          <p:cNvSpPr txBox="1"/>
          <p:nvPr/>
        </p:nvSpPr>
        <p:spPr>
          <a:xfrm>
            <a:off x="8610334" y="4281999"/>
            <a:ext cx="118494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>
                <a:solidFill>
                  <a:srgbClr val="00B050"/>
                </a:solidFill>
              </a:rPr>
              <a:t>ChIP</a:t>
            </a:r>
            <a:r>
              <a:rPr lang="en-US" b="1" dirty="0">
                <a:solidFill>
                  <a:srgbClr val="00B050"/>
                </a:solidFill>
              </a:rPr>
              <a:t>-seq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3D2F95C-3AEB-A3E7-EE40-A275BDA0EBB7}"/>
              </a:ext>
            </a:extLst>
          </p:cNvPr>
          <p:cNvSpPr txBox="1"/>
          <p:nvPr/>
        </p:nvSpPr>
        <p:spPr>
          <a:xfrm>
            <a:off x="2529522" y="1866497"/>
            <a:ext cx="65915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Hi-C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12EFD9D-7AB9-D63D-36BE-507CE4D6EEB5}"/>
              </a:ext>
            </a:extLst>
          </p:cNvPr>
          <p:cNvCxnSpPr/>
          <p:nvPr/>
        </p:nvCxnSpPr>
        <p:spPr>
          <a:xfrm>
            <a:off x="3324013" y="1125307"/>
            <a:ext cx="0" cy="2303693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12712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65581EE-7886-2E72-6EB9-D63CD2DD3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ChIP</a:t>
            </a:r>
            <a:r>
              <a:rPr lang="en-US" dirty="0"/>
              <a:t>-seq vs. ATAC-seq vs </a:t>
            </a:r>
            <a:r>
              <a:rPr lang="en-US" dirty="0" err="1"/>
              <a:t>MNase</a:t>
            </a:r>
            <a:r>
              <a:rPr lang="en-US" dirty="0"/>
              <a:t>-seq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230C40E-032E-07B9-B35A-5DA0D267D5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0FBE67-001F-EDCC-125E-8428882AD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14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B50CF5-FFA8-B1DD-B516-7CC229C95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4BF2D59-192C-1E04-6AC0-DDB090B03F11}"/>
              </a:ext>
            </a:extLst>
          </p:cNvPr>
          <p:cNvGrpSpPr/>
          <p:nvPr/>
        </p:nvGrpSpPr>
        <p:grpSpPr>
          <a:xfrm>
            <a:off x="4284881" y="1142821"/>
            <a:ext cx="3536627" cy="4800834"/>
            <a:chOff x="3733602" y="873761"/>
            <a:chExt cx="3898688" cy="5292315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F1F0925D-E0E5-3F5D-DD56-8B346D37E9C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733602" y="909784"/>
              <a:ext cx="2025060" cy="5114032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089FB3AA-A737-293C-CDD4-6D075C528C5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693580" y="873761"/>
              <a:ext cx="1938710" cy="5292315"/>
            </a:xfrm>
            <a:prstGeom prst="rect">
              <a:avLst/>
            </a:prstGeom>
          </p:spPr>
        </p:pic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D57F045-AE72-FA26-295E-0F9ADE2E68BF}"/>
                </a:ext>
              </a:extLst>
            </p:cNvPr>
            <p:cNvSpPr/>
            <p:nvPr/>
          </p:nvSpPr>
          <p:spPr>
            <a:xfrm>
              <a:off x="5672311" y="1548882"/>
              <a:ext cx="118889" cy="2550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3F162DB6-A93D-9961-FB8B-8BA572E12980}"/>
                </a:ext>
              </a:extLst>
            </p:cNvPr>
            <p:cNvSpPr/>
            <p:nvPr/>
          </p:nvSpPr>
          <p:spPr>
            <a:xfrm>
              <a:off x="5666090" y="4167674"/>
              <a:ext cx="118889" cy="2550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6BE8DD82-EE91-D031-CC5C-C3E53B18E7B9}"/>
                </a:ext>
              </a:extLst>
            </p:cNvPr>
            <p:cNvSpPr/>
            <p:nvPr/>
          </p:nvSpPr>
          <p:spPr>
            <a:xfrm>
              <a:off x="5659870" y="5125617"/>
              <a:ext cx="157195" cy="85862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6163728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65581EE-7886-2E72-6EB9-D63CD2DD3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ATAC-seq </a:t>
            </a:r>
            <a:r>
              <a:rPr lang="en-US" dirty="0"/>
              <a:t>vs </a:t>
            </a:r>
            <a:r>
              <a:rPr lang="en-US" dirty="0" err="1"/>
              <a:t>MNase</a:t>
            </a:r>
            <a:r>
              <a:rPr lang="en-US" dirty="0"/>
              <a:t>-seq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230C40E-032E-07B9-B35A-5DA0D267D5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0FBE67-001F-EDCC-125E-8428882AD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15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B50CF5-FFA8-B1DD-B516-7CC229C95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3D673B9-1548-56F8-4E10-047397D855D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7496" b="16904"/>
          <a:stretch/>
        </p:blipFill>
        <p:spPr>
          <a:xfrm>
            <a:off x="2209800" y="1857375"/>
            <a:ext cx="7772400" cy="3171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8386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65581EE-7886-2E72-6EB9-D63CD2DD3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ATAC-seq </a:t>
            </a:r>
            <a:r>
              <a:rPr lang="en-US" dirty="0"/>
              <a:t>vs </a:t>
            </a:r>
            <a:r>
              <a:rPr lang="en-US" dirty="0" err="1"/>
              <a:t>MNase</a:t>
            </a:r>
            <a:r>
              <a:rPr lang="en-US" dirty="0"/>
              <a:t>-seq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230C40E-032E-07B9-B35A-5DA0D267D5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0FBE67-001F-EDCC-125E-8428882AD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16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B50CF5-FFA8-B1DD-B516-7CC229C95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3D673B9-1548-56F8-4E10-047397D855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011470"/>
            <a:ext cx="7772400" cy="4835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32745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65581EE-7886-2E72-6EB9-D63CD2DD3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RNA-seq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230C40E-032E-07B9-B35A-5DA0D267D5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Stark, </a:t>
            </a:r>
            <a:r>
              <a:rPr lang="en-US" dirty="0" err="1"/>
              <a:t>Grzelak</a:t>
            </a:r>
            <a:r>
              <a:rPr lang="en-US" dirty="0"/>
              <a:t> &amp; Hadfield 2019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0FBE67-001F-EDCC-125E-8428882AD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17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B50CF5-FFA8-B1DD-B516-7CC229C95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31052E3-94BF-FF75-084D-812CD478CD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1413" y="1024466"/>
            <a:ext cx="5191125" cy="115358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092CCE0-9C6A-676E-15A9-56961F36E2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3169" y="2487457"/>
            <a:ext cx="5369358" cy="3699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89979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65581EE-7886-2E72-6EB9-D63CD2DD3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Hi-C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230C40E-032E-07B9-B35A-5DA0D267D5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 err="1"/>
              <a:t>Lafontain</a:t>
            </a:r>
            <a:r>
              <a:rPr lang="en-US" dirty="0"/>
              <a:t> et al., Current Protocols 2021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0FBE67-001F-EDCC-125E-8428882AD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18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B50CF5-FFA8-B1DD-B516-7CC229C95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FCE0943-C16E-0832-BF26-82D9BBCA39A0}"/>
              </a:ext>
            </a:extLst>
          </p:cNvPr>
          <p:cNvGrpSpPr/>
          <p:nvPr/>
        </p:nvGrpSpPr>
        <p:grpSpPr>
          <a:xfrm>
            <a:off x="381000" y="1184113"/>
            <a:ext cx="11430000" cy="4024193"/>
            <a:chOff x="0" y="1051931"/>
            <a:chExt cx="12192000" cy="4292473"/>
          </a:xfrm>
        </p:grpSpPr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AA4330B4-5B13-76C4-DEF6-7D02E8684D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0992"/>
            <a:stretch/>
          </p:blipFill>
          <p:spPr bwMode="auto">
            <a:xfrm>
              <a:off x="0" y="1211263"/>
              <a:ext cx="12192000" cy="39465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E4CB789-8847-D9CE-755B-30C602DFFC47}"/>
                </a:ext>
              </a:extLst>
            </p:cNvPr>
            <p:cNvSpPr/>
            <p:nvPr/>
          </p:nvSpPr>
          <p:spPr>
            <a:xfrm>
              <a:off x="8113646" y="4926435"/>
              <a:ext cx="420753" cy="4179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A226AC1-6C5A-D7D3-0893-9467B5BACD82}"/>
                </a:ext>
              </a:extLst>
            </p:cNvPr>
            <p:cNvSpPr/>
            <p:nvPr/>
          </p:nvSpPr>
          <p:spPr>
            <a:xfrm>
              <a:off x="11758546" y="4926435"/>
              <a:ext cx="420753" cy="4179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F50B1B8-527C-B141-11DD-96CF8F30E677}"/>
                </a:ext>
              </a:extLst>
            </p:cNvPr>
            <p:cNvSpPr/>
            <p:nvPr/>
          </p:nvSpPr>
          <p:spPr>
            <a:xfrm>
              <a:off x="2855846" y="4926435"/>
              <a:ext cx="420753" cy="4179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0322B49-3A0C-FB6F-18D7-855C2B9A058E}"/>
                </a:ext>
              </a:extLst>
            </p:cNvPr>
            <p:cNvSpPr/>
            <p:nvPr/>
          </p:nvSpPr>
          <p:spPr>
            <a:xfrm>
              <a:off x="49146" y="4926435"/>
              <a:ext cx="420753" cy="4179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4E90774-0303-61AB-0BC9-67234222A97B}"/>
                </a:ext>
              </a:extLst>
            </p:cNvPr>
            <p:cNvSpPr/>
            <p:nvPr/>
          </p:nvSpPr>
          <p:spPr>
            <a:xfrm>
              <a:off x="734946" y="1687935"/>
              <a:ext cx="1220854" cy="2170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93E50AA-226B-6401-CC23-1C25C0AF759F}"/>
                </a:ext>
              </a:extLst>
            </p:cNvPr>
            <p:cNvSpPr/>
            <p:nvPr/>
          </p:nvSpPr>
          <p:spPr>
            <a:xfrm>
              <a:off x="165100" y="1408535"/>
              <a:ext cx="838200" cy="254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030E4BE-0A1B-7CC6-C7DB-9C0DC62E2BAE}"/>
                </a:ext>
              </a:extLst>
            </p:cNvPr>
            <p:cNvSpPr txBox="1"/>
            <p:nvPr/>
          </p:nvSpPr>
          <p:spPr>
            <a:xfrm>
              <a:off x="849083" y="1314568"/>
              <a:ext cx="1036524" cy="62376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endParaRPr lang="en-US" sz="1600" b="1" dirty="0">
                <a:solidFill>
                  <a:schemeClr val="accent2"/>
                </a:solidFill>
              </a:endParaRPr>
            </a:p>
            <a:p>
              <a:r>
                <a:rPr lang="en-US" sz="1600" b="1" dirty="0">
                  <a:solidFill>
                    <a:schemeClr val="accent2"/>
                  </a:solidFill>
                </a:rPr>
                <a:t>Fixation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AA85365-6C2C-CE52-6DED-BBFFB8948130}"/>
                </a:ext>
              </a:extLst>
            </p:cNvPr>
            <p:cNvSpPr txBox="1"/>
            <p:nvPr/>
          </p:nvSpPr>
          <p:spPr>
            <a:xfrm>
              <a:off x="2548342" y="1051931"/>
              <a:ext cx="1448153" cy="88639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rgbClr val="00B050"/>
                  </a:solidFill>
                </a:rPr>
                <a:t>Restriction enzyme </a:t>
              </a:r>
              <a:r>
                <a:rPr lang="en-US" sz="1600" dirty="0"/>
                <a:t>digestion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1974934-4011-EB61-F66B-E1047A43234E}"/>
                </a:ext>
              </a:extLst>
            </p:cNvPr>
            <p:cNvSpPr txBox="1"/>
            <p:nvPr/>
          </p:nvSpPr>
          <p:spPr>
            <a:xfrm>
              <a:off x="4066060" y="1051931"/>
              <a:ext cx="2273138" cy="88639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rgbClr val="FF0000"/>
                  </a:solidFill>
                </a:rPr>
                <a:t>Biotin </a:t>
              </a:r>
              <a:r>
                <a:rPr lang="en-US" sz="1600" dirty="0"/>
                <a:t>incorporation </a:t>
              </a:r>
            </a:p>
            <a:p>
              <a:r>
                <a:rPr lang="en-US" sz="1600" dirty="0"/>
                <a:t>End repair</a:t>
              </a:r>
            </a:p>
            <a:p>
              <a:r>
                <a:rPr lang="en-US" sz="1600" dirty="0" err="1"/>
                <a:t>Religation</a:t>
              </a:r>
              <a:endParaRPr lang="en-US" sz="1600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D215EC8-2394-BE8A-06F2-9EC3C24EE6F9}"/>
                </a:ext>
              </a:extLst>
            </p:cNvPr>
            <p:cNvSpPr txBox="1"/>
            <p:nvPr/>
          </p:nvSpPr>
          <p:spPr>
            <a:xfrm>
              <a:off x="5609526" y="1577204"/>
              <a:ext cx="1819238" cy="36112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DNA purification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F7A8E89-45A0-FFE9-2438-88D3C5B87A35}"/>
                </a:ext>
              </a:extLst>
            </p:cNvPr>
            <p:cNvSpPr txBox="1"/>
            <p:nvPr/>
          </p:nvSpPr>
          <p:spPr>
            <a:xfrm>
              <a:off x="7748693" y="1051931"/>
              <a:ext cx="1948329" cy="88639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n-US" sz="1600" dirty="0"/>
            </a:p>
            <a:p>
              <a:endParaRPr lang="en-US" sz="1600" dirty="0"/>
            </a:p>
            <a:p>
              <a:r>
                <a:rPr lang="en-US" sz="1600" dirty="0"/>
                <a:t>Sonication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9D087EB-2EE1-EDF3-34DA-C7D7E5696525}"/>
                </a:ext>
              </a:extLst>
            </p:cNvPr>
            <p:cNvSpPr txBox="1"/>
            <p:nvPr/>
          </p:nvSpPr>
          <p:spPr>
            <a:xfrm>
              <a:off x="9697022" y="1051931"/>
              <a:ext cx="2135084" cy="88639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n-US" sz="1600" dirty="0"/>
            </a:p>
            <a:p>
              <a:endParaRPr lang="en-US" sz="1600" dirty="0"/>
            </a:p>
            <a:p>
              <a:r>
                <a:rPr lang="en-US" sz="1600" dirty="0"/>
                <a:t>Biotin pull-down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35892422"/>
      </p:ext>
    </p:extLst>
  </p:cSld>
  <p:clrMapOvr>
    <a:masterClrMapping/>
  </p:clrMapOvr>
</p:sld>
</file>

<file path=ppt/theme/theme1.xml><?xml version="1.0" encoding="utf-8"?>
<a:theme xmlns:a="http://schemas.openxmlformats.org/drawingml/2006/main" name="PasteurIbens">
  <a:themeElements>
    <a:clrScheme name="Paper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54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asteurIbens" id="{082BC117-FEE3-ED4F-B66F-EAD8503ADF60}" vid="{75DD1838-2F74-B64C-8F9C-677C1FFB48A5}"/>
    </a:ext>
  </a:extLst>
</a:theme>
</file>

<file path=ppt/theme/theme2.xml><?xml version="1.0" encoding="utf-8"?>
<a:theme xmlns:a="http://schemas.openxmlformats.org/drawingml/2006/main" name="Physalia">
  <a:themeElements>
    <a:clrScheme name="Paper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54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hysalia" id="{69934CF8-A18F-7247-8F23-6766B46F796C}" vid="{9CED6D7E-FF7E-C647-8158-BDC011F06FE3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PasteurIbens</Template>
  <TotalTime>128</TotalTime>
  <Words>445</Words>
  <Application>Microsoft Macintosh PowerPoint</Application>
  <PresentationFormat>Widescreen</PresentationFormat>
  <Paragraphs>142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18</vt:i4>
      </vt:variant>
    </vt:vector>
  </HeadingPairs>
  <TitlesOfParts>
    <vt:vector size="27" baseType="lpstr">
      <vt:lpstr>Arial</vt:lpstr>
      <vt:lpstr>Calibri</vt:lpstr>
      <vt:lpstr>Comfortaa</vt:lpstr>
      <vt:lpstr>Courier New</vt:lpstr>
      <vt:lpstr>Menlo</vt:lpstr>
      <vt:lpstr>Open Sans</vt:lpstr>
      <vt:lpstr>Wingdings</vt:lpstr>
      <vt:lpstr>PasteurIbens</vt:lpstr>
      <vt:lpstr>Physalia</vt:lpstr>
      <vt:lpstr>Introduction to epigenomics  Or how genes are regulated…</vt:lpstr>
      <vt:lpstr>Chromatin is complex</vt:lpstr>
      <vt:lpstr>Chromatin composition varies along the genome</vt:lpstr>
      <vt:lpstr>Chromatin composition varies along the genome</vt:lpstr>
      <vt:lpstr>Chromatin composition varies along the genome</vt:lpstr>
      <vt:lpstr>Chromatin composition varies along the genome</vt:lpstr>
      <vt:lpstr>Chromatin composition varies along the genome</vt:lpstr>
      <vt:lpstr>Chromatin composition varies along the genome</vt:lpstr>
      <vt:lpstr>Chromatin composition varies along the genome</vt:lpstr>
      <vt:lpstr>Chromatin composition varies along the genome</vt:lpstr>
      <vt:lpstr>Chromatin composition varies along the genome</vt:lpstr>
      <vt:lpstr>Chromatin is organized in hierarchical structure to enable transcriptional regulation</vt:lpstr>
      <vt:lpstr>Chromatin is organized in hierarchical structure to enable transcriptional regulation</vt:lpstr>
      <vt:lpstr>ChIP-seq vs. ATAC-seq vs MNase-seq</vt:lpstr>
      <vt:lpstr>ATAC-seq vs MNase-seq</vt:lpstr>
      <vt:lpstr>ATAC-seq vs MNase-seq</vt:lpstr>
      <vt:lpstr>RNA-seq</vt:lpstr>
      <vt:lpstr>Hi-C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Jacques  SERIZAY</dc:creator>
  <cp:lastModifiedBy>Jacques Serizay</cp:lastModifiedBy>
  <cp:revision>34</cp:revision>
  <dcterms:created xsi:type="dcterms:W3CDTF">2023-06-26T07:22:32Z</dcterms:created>
  <dcterms:modified xsi:type="dcterms:W3CDTF">2025-04-12T19:05:50Z</dcterms:modified>
</cp:coreProperties>
</file>