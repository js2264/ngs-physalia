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21"/>
  </p:notesMasterIdLst>
  <p:sldIdLst>
    <p:sldId id="256" r:id="rId3"/>
    <p:sldId id="257" r:id="rId4"/>
    <p:sldId id="258" r:id="rId5"/>
    <p:sldId id="260" r:id="rId6"/>
    <p:sldId id="261" r:id="rId7"/>
    <p:sldId id="262" r:id="rId8"/>
    <p:sldId id="267" r:id="rId9"/>
    <p:sldId id="263" r:id="rId10"/>
    <p:sldId id="264" r:id="rId11"/>
    <p:sldId id="266" r:id="rId12"/>
    <p:sldId id="265" r:id="rId13"/>
    <p:sldId id="273" r:id="rId14"/>
    <p:sldId id="274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rmAutofit/>
          </a:bodyPr>
          <a:lstStyle/>
          <a:p>
            <a:r>
              <a:rPr lang="en-GB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Introduction to epigenomics</a:t>
            </a:r>
            <a:br>
              <a:rPr lang="en-GB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br>
              <a:rPr lang="en-GB" sz="20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r>
              <a:rPr lang="en-GB" sz="30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Or how genes are regulated…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err="1"/>
              <a:t>Physalia</a:t>
            </a:r>
            <a:r>
              <a:rPr lang="en-US"/>
              <a:t>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44CC-0161-DA1D-0868-ECFA34C7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is complex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BCD01-5213-B30F-0FFD-4E1FDF6795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F51C7-FB82-6F82-D0C5-674BF7A4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66" y="989258"/>
            <a:ext cx="11508068" cy="487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9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F099EA-E028-B916-EC49-6DA58D4F8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0" y="3140648"/>
            <a:ext cx="7772400" cy="57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58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DNA</a:t>
            </a:r>
          </a:p>
          <a:p>
            <a:r>
              <a:rPr lang="en-US" dirty="0"/>
              <a:t>+ Histone cores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D6EBFA-BD28-63C0-4833-AF423E11B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2976278"/>
            <a:ext cx="7772400" cy="905444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10A77967-4E6D-A03C-B24E-5F3AC8BE9088}"/>
              </a:ext>
            </a:extLst>
          </p:cNvPr>
          <p:cNvSpPr/>
          <p:nvPr/>
        </p:nvSpPr>
        <p:spPr>
          <a:xfrm>
            <a:off x="2137025" y="955497"/>
            <a:ext cx="236305" cy="729465"/>
          </a:xfrm>
          <a:prstGeom prst="rightBrace">
            <a:avLst>
              <a:gd name="adj1" fmla="val 32145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F13A3-1B5E-D009-84BE-8BC4B5558B56}"/>
              </a:ext>
            </a:extLst>
          </p:cNvPr>
          <p:cNvSpPr txBox="1"/>
          <p:nvPr/>
        </p:nvSpPr>
        <p:spPr>
          <a:xfrm>
            <a:off x="2426677" y="110096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Nucleosomes: core chromatin </a:t>
            </a:r>
            <a:r>
              <a:rPr lang="en-US"/>
              <a:t>structural unit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63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DNA</a:t>
            </a:r>
          </a:p>
          <a:p>
            <a:r>
              <a:rPr lang="en-US" dirty="0"/>
              <a:t>+ Histone cores</a:t>
            </a:r>
          </a:p>
          <a:p>
            <a:r>
              <a:rPr lang="en-US" dirty="0"/>
              <a:t>+ nucleosome positioning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0A77967-4E6D-A03C-B24E-5F3AC8BE9088}"/>
              </a:ext>
            </a:extLst>
          </p:cNvPr>
          <p:cNvSpPr/>
          <p:nvPr/>
        </p:nvSpPr>
        <p:spPr>
          <a:xfrm>
            <a:off x="2137025" y="955497"/>
            <a:ext cx="236305" cy="729465"/>
          </a:xfrm>
          <a:prstGeom prst="rightBrace">
            <a:avLst>
              <a:gd name="adj1" fmla="val 32145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F13A3-1B5E-D009-84BE-8BC4B5558B56}"/>
              </a:ext>
            </a:extLst>
          </p:cNvPr>
          <p:cNvSpPr txBox="1"/>
          <p:nvPr/>
        </p:nvSpPr>
        <p:spPr>
          <a:xfrm>
            <a:off x="2426677" y="110096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Nucleosomes: core chromatin </a:t>
            </a:r>
            <a:r>
              <a:rPr lang="en-US"/>
              <a:t>structural unit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B97992-728D-A449-4513-DF9631FED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00" y="3113866"/>
            <a:ext cx="7772400" cy="65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3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DNA</a:t>
            </a:r>
          </a:p>
          <a:p>
            <a:r>
              <a:rPr lang="en-US" dirty="0"/>
              <a:t>+ Histone cores</a:t>
            </a:r>
          </a:p>
          <a:p>
            <a:r>
              <a:rPr lang="en-US" dirty="0"/>
              <a:t>+ nucleosome positioning</a:t>
            </a:r>
          </a:p>
          <a:p>
            <a:r>
              <a:rPr lang="en-US" dirty="0"/>
              <a:t>+ transcription factors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0A77967-4E6D-A03C-B24E-5F3AC8BE9088}"/>
              </a:ext>
            </a:extLst>
          </p:cNvPr>
          <p:cNvSpPr/>
          <p:nvPr/>
        </p:nvSpPr>
        <p:spPr>
          <a:xfrm>
            <a:off x="2137025" y="955497"/>
            <a:ext cx="236305" cy="729465"/>
          </a:xfrm>
          <a:prstGeom prst="rightBrace">
            <a:avLst>
              <a:gd name="adj1" fmla="val 32145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F13A3-1B5E-D009-84BE-8BC4B5558B56}"/>
              </a:ext>
            </a:extLst>
          </p:cNvPr>
          <p:cNvSpPr txBox="1"/>
          <p:nvPr/>
        </p:nvSpPr>
        <p:spPr>
          <a:xfrm>
            <a:off x="2426677" y="110096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Nucleosomes: core chromatin </a:t>
            </a:r>
            <a:r>
              <a:rPr lang="en-US"/>
              <a:t>structural unit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4AD2E1-6D7C-FC39-6BA8-1301B2C0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75" y="3016662"/>
            <a:ext cx="7772400" cy="77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4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DNA</a:t>
            </a:r>
          </a:p>
          <a:p>
            <a:r>
              <a:rPr lang="en-US" dirty="0"/>
              <a:t>+ Histone cores</a:t>
            </a:r>
          </a:p>
          <a:p>
            <a:r>
              <a:rPr lang="en-US" dirty="0"/>
              <a:t>+ nucleosome positioning</a:t>
            </a:r>
          </a:p>
          <a:p>
            <a:r>
              <a:rPr lang="en-US" dirty="0"/>
              <a:t>+ transcription factors</a:t>
            </a:r>
          </a:p>
          <a:p>
            <a:r>
              <a:rPr lang="en-US" dirty="0"/>
              <a:t>+ Promoter accessibility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0A77967-4E6D-A03C-B24E-5F3AC8BE9088}"/>
              </a:ext>
            </a:extLst>
          </p:cNvPr>
          <p:cNvSpPr/>
          <p:nvPr/>
        </p:nvSpPr>
        <p:spPr>
          <a:xfrm>
            <a:off x="2137025" y="955497"/>
            <a:ext cx="236305" cy="729465"/>
          </a:xfrm>
          <a:prstGeom prst="rightBrace">
            <a:avLst>
              <a:gd name="adj1" fmla="val 32145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F13A3-1B5E-D009-84BE-8BC4B5558B56}"/>
              </a:ext>
            </a:extLst>
          </p:cNvPr>
          <p:cNvSpPr txBox="1"/>
          <p:nvPr/>
        </p:nvSpPr>
        <p:spPr>
          <a:xfrm>
            <a:off x="2426677" y="110096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Nucleosomes: core chromatin </a:t>
            </a:r>
            <a:r>
              <a:rPr lang="en-US"/>
              <a:t>structural unit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2035E4-0D0B-3BA7-9DCE-6BAC04226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975" y="3070170"/>
            <a:ext cx="7772400" cy="71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89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DNA</a:t>
            </a:r>
          </a:p>
          <a:p>
            <a:r>
              <a:rPr lang="en-US" dirty="0"/>
              <a:t>+ Histone cores</a:t>
            </a:r>
          </a:p>
          <a:p>
            <a:r>
              <a:rPr lang="en-US" dirty="0"/>
              <a:t>+ nucleosome positioning</a:t>
            </a:r>
          </a:p>
          <a:p>
            <a:r>
              <a:rPr lang="en-US" dirty="0"/>
              <a:t>+ transcription factors</a:t>
            </a:r>
          </a:p>
          <a:p>
            <a:r>
              <a:rPr lang="en-US" dirty="0"/>
              <a:t>+ Promoter accessibility</a:t>
            </a:r>
          </a:p>
          <a:p>
            <a:r>
              <a:rPr lang="en-US" dirty="0"/>
              <a:t>+ Polymerase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0A77967-4E6D-A03C-B24E-5F3AC8BE9088}"/>
              </a:ext>
            </a:extLst>
          </p:cNvPr>
          <p:cNvSpPr/>
          <p:nvPr/>
        </p:nvSpPr>
        <p:spPr>
          <a:xfrm>
            <a:off x="2137025" y="955497"/>
            <a:ext cx="236305" cy="729465"/>
          </a:xfrm>
          <a:prstGeom prst="rightBrace">
            <a:avLst>
              <a:gd name="adj1" fmla="val 32145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F13A3-1B5E-D009-84BE-8BC4B5558B56}"/>
              </a:ext>
            </a:extLst>
          </p:cNvPr>
          <p:cNvSpPr txBox="1"/>
          <p:nvPr/>
        </p:nvSpPr>
        <p:spPr>
          <a:xfrm>
            <a:off x="2426677" y="110096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Nucleosomes: core chromatin </a:t>
            </a:r>
            <a:r>
              <a:rPr lang="en-US"/>
              <a:t>structural unit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D4CC0E-597F-B82D-9DD8-BF3742B2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75" y="2805096"/>
            <a:ext cx="7772400" cy="11208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B8F5C3-AAB7-9FFB-B809-95A7DC83CA5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72550" y="2363648"/>
            <a:ext cx="1060450" cy="4233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F4F61C-7E80-9BF7-6490-D77A9393E2E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4750" y="2160448"/>
            <a:ext cx="1060450" cy="4233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48E246-2F00-68CE-8260-B2A3F764E8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3250" y="2033448"/>
            <a:ext cx="1060450" cy="42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2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37E1D2-7EEC-5CCE-2964-AFA3E1482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75" y="2617930"/>
            <a:ext cx="7772400" cy="134274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</p:spPr>
        <p:txBody>
          <a:bodyPr/>
          <a:lstStyle/>
          <a:p>
            <a:r>
              <a:rPr lang="en-US" dirty="0"/>
              <a:t>DNA</a:t>
            </a:r>
          </a:p>
          <a:p>
            <a:r>
              <a:rPr lang="en-US" dirty="0"/>
              <a:t>+ Histone cores</a:t>
            </a:r>
          </a:p>
          <a:p>
            <a:r>
              <a:rPr lang="en-US" dirty="0"/>
              <a:t>+ nucleosome positioning</a:t>
            </a:r>
          </a:p>
          <a:p>
            <a:r>
              <a:rPr lang="en-US" dirty="0"/>
              <a:t>+ transcription factors</a:t>
            </a:r>
          </a:p>
          <a:p>
            <a:r>
              <a:rPr lang="en-US" dirty="0"/>
              <a:t>+ Promoter accessibility</a:t>
            </a:r>
          </a:p>
          <a:p>
            <a:r>
              <a:rPr lang="en-US" dirty="0"/>
              <a:t>+ Polymerase</a:t>
            </a:r>
          </a:p>
          <a:p>
            <a:r>
              <a:rPr lang="en-US" dirty="0"/>
              <a:t>+ Histone PTMs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0A77967-4E6D-A03C-B24E-5F3AC8BE9088}"/>
              </a:ext>
            </a:extLst>
          </p:cNvPr>
          <p:cNvSpPr/>
          <p:nvPr/>
        </p:nvSpPr>
        <p:spPr>
          <a:xfrm>
            <a:off x="2137025" y="955497"/>
            <a:ext cx="236305" cy="729465"/>
          </a:xfrm>
          <a:prstGeom prst="rightBrace">
            <a:avLst>
              <a:gd name="adj1" fmla="val 32145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F13A3-1B5E-D009-84BE-8BC4B5558B56}"/>
              </a:ext>
            </a:extLst>
          </p:cNvPr>
          <p:cNvSpPr txBox="1"/>
          <p:nvPr/>
        </p:nvSpPr>
        <p:spPr>
          <a:xfrm>
            <a:off x="2426677" y="110096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Nucleosomes: core chromatin structural unit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4ECA5E-EC49-51D6-185D-3AD8808F158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72550" y="2363648"/>
            <a:ext cx="1060450" cy="4233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2E7FD5-294E-6CF8-741A-56E0583B95B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4750" y="2160448"/>
            <a:ext cx="1060450" cy="4233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1B02AA-3137-FB11-2B35-D98222A1ADD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3250" y="2033448"/>
            <a:ext cx="1060450" cy="42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9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</p:spPr>
        <p:txBody>
          <a:bodyPr/>
          <a:lstStyle/>
          <a:p>
            <a:r>
              <a:rPr lang="en-US" dirty="0"/>
              <a:t>DNA</a:t>
            </a:r>
          </a:p>
          <a:p>
            <a:r>
              <a:rPr lang="en-US" dirty="0"/>
              <a:t>+ Histone cores</a:t>
            </a:r>
          </a:p>
          <a:p>
            <a:r>
              <a:rPr lang="en-US" dirty="0"/>
              <a:t>+ nucleosome positioning</a:t>
            </a:r>
          </a:p>
          <a:p>
            <a:r>
              <a:rPr lang="en-US" dirty="0"/>
              <a:t>+ transcription factors</a:t>
            </a:r>
          </a:p>
          <a:p>
            <a:r>
              <a:rPr lang="en-US" dirty="0"/>
              <a:t>+ Promoter accessibility</a:t>
            </a:r>
          </a:p>
          <a:p>
            <a:r>
              <a:rPr lang="en-US" dirty="0"/>
              <a:t>+ Polymerase</a:t>
            </a:r>
          </a:p>
          <a:p>
            <a:r>
              <a:rPr lang="en-US" dirty="0"/>
              <a:t>+ Histone PTMs</a:t>
            </a:r>
          </a:p>
          <a:p>
            <a:r>
              <a:rPr lang="en-US" dirty="0"/>
              <a:t>+ Chromatin folding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0A77967-4E6D-A03C-B24E-5F3AC8BE9088}"/>
              </a:ext>
            </a:extLst>
          </p:cNvPr>
          <p:cNvSpPr/>
          <p:nvPr/>
        </p:nvSpPr>
        <p:spPr>
          <a:xfrm>
            <a:off x="2137025" y="955497"/>
            <a:ext cx="236305" cy="729465"/>
          </a:xfrm>
          <a:prstGeom prst="rightBrace">
            <a:avLst>
              <a:gd name="adj1" fmla="val 32145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F13A3-1B5E-D009-84BE-8BC4B5558B56}"/>
              </a:ext>
            </a:extLst>
          </p:cNvPr>
          <p:cNvSpPr txBox="1"/>
          <p:nvPr/>
        </p:nvSpPr>
        <p:spPr>
          <a:xfrm>
            <a:off x="2426677" y="110096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Nucleosomes: core chromatin structural unit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BB2169-6DE1-0EDB-67F6-36D01C71B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00" y="1873766"/>
            <a:ext cx="71628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21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2C954E2-878B-3EC1-523E-850E3E72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00" y="1873766"/>
            <a:ext cx="7162800" cy="34798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composition varies along the genome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7A3F4-583C-7D56-FF14-6F961704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</p:spPr>
        <p:txBody>
          <a:bodyPr/>
          <a:lstStyle/>
          <a:p>
            <a:r>
              <a:rPr lang="en-US" dirty="0"/>
              <a:t>DNA</a:t>
            </a:r>
          </a:p>
          <a:p>
            <a:r>
              <a:rPr lang="en-US" dirty="0"/>
              <a:t>+ Histone cores</a:t>
            </a:r>
          </a:p>
          <a:p>
            <a:r>
              <a:rPr lang="en-US" dirty="0"/>
              <a:t>+ nucleosome positioning</a:t>
            </a:r>
          </a:p>
          <a:p>
            <a:r>
              <a:rPr lang="en-US" dirty="0"/>
              <a:t>+ transcription factors</a:t>
            </a:r>
          </a:p>
          <a:p>
            <a:r>
              <a:rPr lang="en-US" dirty="0"/>
              <a:t>+ Promoter accessibility</a:t>
            </a:r>
          </a:p>
          <a:p>
            <a:r>
              <a:rPr lang="en-US" dirty="0"/>
              <a:t>+ Polymerase</a:t>
            </a:r>
          </a:p>
          <a:p>
            <a:r>
              <a:rPr lang="en-US" dirty="0"/>
              <a:t>+ Histone PTMs</a:t>
            </a:r>
          </a:p>
          <a:p>
            <a:r>
              <a:rPr lang="en-US" dirty="0"/>
              <a:t>+ Chromatin folding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0A77967-4E6D-A03C-B24E-5F3AC8BE9088}"/>
              </a:ext>
            </a:extLst>
          </p:cNvPr>
          <p:cNvSpPr/>
          <p:nvPr/>
        </p:nvSpPr>
        <p:spPr>
          <a:xfrm>
            <a:off x="2137025" y="955497"/>
            <a:ext cx="236305" cy="729465"/>
          </a:xfrm>
          <a:prstGeom prst="rightBrace">
            <a:avLst>
              <a:gd name="adj1" fmla="val 32145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F13A3-1B5E-D009-84BE-8BC4B5558B56}"/>
              </a:ext>
            </a:extLst>
          </p:cNvPr>
          <p:cNvSpPr txBox="1"/>
          <p:nvPr/>
        </p:nvSpPr>
        <p:spPr>
          <a:xfrm>
            <a:off x="2426677" y="110096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Nucleosomes: core chromatin structural unit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A4AD5-4A98-08A4-8A2A-B8EEE641D456}"/>
              </a:ext>
            </a:extLst>
          </p:cNvPr>
          <p:cNvSpPr txBox="1"/>
          <p:nvPr/>
        </p:nvSpPr>
        <p:spPr>
          <a:xfrm>
            <a:off x="943190" y="914345"/>
            <a:ext cx="73609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E30029-7ED7-64CB-2BEA-9EA3E6C81184}"/>
              </a:ext>
            </a:extLst>
          </p:cNvPr>
          <p:cNvSpPr txBox="1"/>
          <p:nvPr/>
        </p:nvSpPr>
        <p:spPr>
          <a:xfrm>
            <a:off x="2060790" y="1473145"/>
            <a:ext cx="11849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ChIP</a:t>
            </a:r>
            <a:r>
              <a:rPr lang="en-US" b="1" dirty="0">
                <a:solidFill>
                  <a:srgbClr val="00B050"/>
                </a:solidFill>
              </a:rPr>
              <a:t>-seq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4B992-90E1-05A4-E847-3AE79A62E0CA}"/>
              </a:ext>
            </a:extLst>
          </p:cNvPr>
          <p:cNvSpPr txBox="1"/>
          <p:nvPr/>
        </p:nvSpPr>
        <p:spPr>
          <a:xfrm>
            <a:off x="3241890" y="1981145"/>
            <a:ext cx="14029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MNase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-seq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8C819A-0A05-16F2-6FD3-49067E36211E}"/>
              </a:ext>
            </a:extLst>
          </p:cNvPr>
          <p:cNvSpPr txBox="1"/>
          <p:nvPr/>
        </p:nvSpPr>
        <p:spPr>
          <a:xfrm>
            <a:off x="2759290" y="2501845"/>
            <a:ext cx="11849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ChIP</a:t>
            </a:r>
            <a:r>
              <a:rPr lang="en-US" b="1" dirty="0">
                <a:solidFill>
                  <a:srgbClr val="00B050"/>
                </a:solidFill>
              </a:rPr>
              <a:t>-seq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D1B47-EC36-D873-3A7E-B12B83037366}"/>
              </a:ext>
            </a:extLst>
          </p:cNvPr>
          <p:cNvSpPr txBox="1"/>
          <p:nvPr/>
        </p:nvSpPr>
        <p:spPr>
          <a:xfrm>
            <a:off x="3025990" y="3073345"/>
            <a:ext cx="12661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ATAC-seq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4B08A-9CAE-6C5E-C7DF-7E53B9F7BC21}"/>
              </a:ext>
            </a:extLst>
          </p:cNvPr>
          <p:cNvSpPr txBox="1"/>
          <p:nvPr/>
        </p:nvSpPr>
        <p:spPr>
          <a:xfrm>
            <a:off x="2022690" y="3581345"/>
            <a:ext cx="115929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RNA-seq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E536E2-69FF-CE85-BFEC-DB0246A99266}"/>
              </a:ext>
            </a:extLst>
          </p:cNvPr>
          <p:cNvSpPr txBox="1"/>
          <p:nvPr/>
        </p:nvSpPr>
        <p:spPr>
          <a:xfrm>
            <a:off x="2225890" y="4127445"/>
            <a:ext cx="11849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ChIP</a:t>
            </a:r>
            <a:r>
              <a:rPr lang="en-US" b="1" dirty="0">
                <a:solidFill>
                  <a:srgbClr val="00B050"/>
                </a:solidFill>
              </a:rPr>
              <a:t>-seq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DA1C24-7E38-6F2A-9E38-E5B942F29D1E}"/>
              </a:ext>
            </a:extLst>
          </p:cNvPr>
          <p:cNvSpPr txBox="1"/>
          <p:nvPr/>
        </p:nvSpPr>
        <p:spPr>
          <a:xfrm>
            <a:off x="2594190" y="4673545"/>
            <a:ext cx="6591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Hi-C</a:t>
            </a:r>
          </a:p>
        </p:txBody>
      </p:sp>
    </p:spTree>
    <p:extLst>
      <p:ext uri="{BB962C8B-B14F-4D97-AF65-F5344CB8AC3E}">
        <p14:creationId xmlns:p14="http://schemas.microsoft.com/office/powerpoint/2010/main" val="91579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is organized in hierarchical structure to enable transcriptional regulation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Lafontain</a:t>
            </a:r>
            <a:r>
              <a:rPr lang="en-US" dirty="0"/>
              <a:t> et al., Current Protocols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3074" name="Picture 2" descr="Fig. 8">
            <a:extLst>
              <a:ext uri="{FF2B5EF4-FFF2-40B4-BE49-F238E27FC236}">
                <a16:creationId xmlns:a16="http://schemas.microsoft.com/office/drawing/2014/main" id="{37C29D3B-04C5-1E22-3B89-5C1546485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1075825"/>
            <a:ext cx="4875212" cy="470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2F4A4E-E4F5-C042-26B0-4FEE05CB7C87}"/>
              </a:ext>
            </a:extLst>
          </p:cNvPr>
          <p:cNvSpPr/>
          <p:nvPr/>
        </p:nvSpPr>
        <p:spPr>
          <a:xfrm>
            <a:off x="3657601" y="2079812"/>
            <a:ext cx="1471517" cy="234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0B442-44F5-9803-0C65-1186262D4F67}"/>
              </a:ext>
            </a:extLst>
          </p:cNvPr>
          <p:cNvSpPr txBox="1"/>
          <p:nvPr/>
        </p:nvSpPr>
        <p:spPr>
          <a:xfrm>
            <a:off x="3415271" y="205116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Heterochromatin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704133-21C8-7C8E-4EC7-FB02950BE5D1}"/>
              </a:ext>
            </a:extLst>
          </p:cNvPr>
          <p:cNvSpPr/>
          <p:nvPr/>
        </p:nvSpPr>
        <p:spPr>
          <a:xfrm>
            <a:off x="3649580" y="1125307"/>
            <a:ext cx="1471517" cy="234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8F941-05A8-B629-7779-B2A0D2277D0E}"/>
              </a:ext>
            </a:extLst>
          </p:cNvPr>
          <p:cNvSpPr txBox="1"/>
          <p:nvPr/>
        </p:nvSpPr>
        <p:spPr>
          <a:xfrm>
            <a:off x="3617255" y="1158510"/>
            <a:ext cx="1438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Euchromatin</a:t>
            </a:r>
          </a:p>
        </p:txBody>
      </p:sp>
    </p:spTree>
    <p:extLst>
      <p:ext uri="{BB962C8B-B14F-4D97-AF65-F5344CB8AC3E}">
        <p14:creationId xmlns:p14="http://schemas.microsoft.com/office/powerpoint/2010/main" val="3127103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is organized in hierarchical structure to enable transcriptional regulation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Lafontain</a:t>
            </a:r>
            <a:r>
              <a:rPr lang="en-US" dirty="0"/>
              <a:t> et al., Current Protocols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3074" name="Picture 2" descr="Fig. 8">
            <a:extLst>
              <a:ext uri="{FF2B5EF4-FFF2-40B4-BE49-F238E27FC236}">
                <a16:creationId xmlns:a16="http://schemas.microsoft.com/office/drawing/2014/main" id="{37C29D3B-04C5-1E22-3B89-5C1546485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1075825"/>
            <a:ext cx="4875212" cy="470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2F4A4E-E4F5-C042-26B0-4FEE05CB7C87}"/>
              </a:ext>
            </a:extLst>
          </p:cNvPr>
          <p:cNvSpPr/>
          <p:nvPr/>
        </p:nvSpPr>
        <p:spPr>
          <a:xfrm>
            <a:off x="3657601" y="2079812"/>
            <a:ext cx="1471517" cy="234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0B442-44F5-9803-0C65-1186262D4F67}"/>
              </a:ext>
            </a:extLst>
          </p:cNvPr>
          <p:cNvSpPr txBox="1"/>
          <p:nvPr/>
        </p:nvSpPr>
        <p:spPr>
          <a:xfrm>
            <a:off x="3415271" y="205116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Heterochromatin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704133-21C8-7C8E-4EC7-FB02950BE5D1}"/>
              </a:ext>
            </a:extLst>
          </p:cNvPr>
          <p:cNvSpPr/>
          <p:nvPr/>
        </p:nvSpPr>
        <p:spPr>
          <a:xfrm>
            <a:off x="3649580" y="1125307"/>
            <a:ext cx="1471517" cy="234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8F941-05A8-B629-7779-B2A0D2277D0E}"/>
              </a:ext>
            </a:extLst>
          </p:cNvPr>
          <p:cNvSpPr txBox="1"/>
          <p:nvPr/>
        </p:nvSpPr>
        <p:spPr>
          <a:xfrm>
            <a:off x="3617255" y="1158510"/>
            <a:ext cx="1438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Euchromatin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C63117-1537-6889-545D-85DFAF039460}"/>
              </a:ext>
            </a:extLst>
          </p:cNvPr>
          <p:cNvSpPr txBox="1"/>
          <p:nvPr/>
        </p:nvSpPr>
        <p:spPr>
          <a:xfrm>
            <a:off x="4393359" y="4453582"/>
            <a:ext cx="73609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WGS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C36499-220E-A4FD-15FA-4028013C24EE}"/>
              </a:ext>
            </a:extLst>
          </p:cNvPr>
          <p:cNvSpPr txBox="1"/>
          <p:nvPr/>
        </p:nvSpPr>
        <p:spPr>
          <a:xfrm>
            <a:off x="6270171" y="5055073"/>
            <a:ext cx="14029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MNase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-seq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6DABA4-CBAA-9BD5-F9CA-4AA447DC52CA}"/>
              </a:ext>
            </a:extLst>
          </p:cNvPr>
          <p:cNvSpPr txBox="1"/>
          <p:nvPr/>
        </p:nvSpPr>
        <p:spPr>
          <a:xfrm>
            <a:off x="8610334" y="3847502"/>
            <a:ext cx="12661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ATAC-seq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CBC98B-462E-A8C1-0DC1-A82A8A4BE816}"/>
              </a:ext>
            </a:extLst>
          </p:cNvPr>
          <p:cNvSpPr txBox="1"/>
          <p:nvPr/>
        </p:nvSpPr>
        <p:spPr>
          <a:xfrm>
            <a:off x="6971645" y="3152666"/>
            <a:ext cx="115929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RNA-seq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B837C1-67EB-2ABE-632C-4B30D6DF5811}"/>
              </a:ext>
            </a:extLst>
          </p:cNvPr>
          <p:cNvSpPr txBox="1"/>
          <p:nvPr/>
        </p:nvSpPr>
        <p:spPr>
          <a:xfrm>
            <a:off x="8610334" y="4281999"/>
            <a:ext cx="11849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ChIP</a:t>
            </a:r>
            <a:r>
              <a:rPr lang="en-US" b="1" dirty="0">
                <a:solidFill>
                  <a:srgbClr val="00B050"/>
                </a:solidFill>
              </a:rPr>
              <a:t>-seq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D2F95C-3AEB-A3E7-EE40-A275BDA0EBB7}"/>
              </a:ext>
            </a:extLst>
          </p:cNvPr>
          <p:cNvSpPr txBox="1"/>
          <p:nvPr/>
        </p:nvSpPr>
        <p:spPr>
          <a:xfrm>
            <a:off x="2529522" y="1866497"/>
            <a:ext cx="6591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Hi-C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2EFD9D-7AB9-D63D-36BE-507CE4D6EEB5}"/>
              </a:ext>
            </a:extLst>
          </p:cNvPr>
          <p:cNvCxnSpPr/>
          <p:nvPr/>
        </p:nvCxnSpPr>
        <p:spPr>
          <a:xfrm>
            <a:off x="3324013" y="1125307"/>
            <a:ext cx="0" cy="2303693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27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ChIP</a:t>
            </a:r>
            <a:r>
              <a:rPr lang="en-US" dirty="0"/>
              <a:t>-seq vs. ATAC-seq vs </a:t>
            </a:r>
            <a:r>
              <a:rPr lang="en-US" dirty="0" err="1"/>
              <a:t>MNase</a:t>
            </a:r>
            <a:r>
              <a:rPr lang="en-US" dirty="0"/>
              <a:t>-seq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BF2D59-192C-1E04-6AC0-DDB090B03F11}"/>
              </a:ext>
            </a:extLst>
          </p:cNvPr>
          <p:cNvGrpSpPr/>
          <p:nvPr/>
        </p:nvGrpSpPr>
        <p:grpSpPr>
          <a:xfrm>
            <a:off x="4284881" y="1142821"/>
            <a:ext cx="3536627" cy="4800834"/>
            <a:chOff x="3733602" y="873761"/>
            <a:chExt cx="3898688" cy="529231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1F0925D-E0E5-3F5D-DD56-8B346D37E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3602" y="909784"/>
              <a:ext cx="2025060" cy="511403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89FB3AA-A737-293C-CDD4-6D075C52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3580" y="873761"/>
              <a:ext cx="1938710" cy="529231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D57F045-AE72-FA26-295E-0F9ADE2E68BF}"/>
                </a:ext>
              </a:extLst>
            </p:cNvPr>
            <p:cNvSpPr/>
            <p:nvPr/>
          </p:nvSpPr>
          <p:spPr>
            <a:xfrm>
              <a:off x="5672311" y="1548882"/>
              <a:ext cx="118889" cy="255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F162DB6-A93D-9961-FB8B-8BA572E12980}"/>
                </a:ext>
              </a:extLst>
            </p:cNvPr>
            <p:cNvSpPr/>
            <p:nvPr/>
          </p:nvSpPr>
          <p:spPr>
            <a:xfrm>
              <a:off x="5666090" y="4167674"/>
              <a:ext cx="118889" cy="255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E8DD82-EE91-D031-CC5C-C3E53B18E7B9}"/>
                </a:ext>
              </a:extLst>
            </p:cNvPr>
            <p:cNvSpPr/>
            <p:nvPr/>
          </p:nvSpPr>
          <p:spPr>
            <a:xfrm>
              <a:off x="5659870" y="5125617"/>
              <a:ext cx="157195" cy="8586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6372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ATAC-seq </a:t>
            </a:r>
            <a:r>
              <a:rPr lang="en-US" dirty="0"/>
              <a:t>vs </a:t>
            </a:r>
            <a:r>
              <a:rPr lang="en-US" dirty="0" err="1"/>
              <a:t>MNase</a:t>
            </a:r>
            <a:r>
              <a:rPr lang="en-US" dirty="0"/>
              <a:t>-seq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D673B9-1548-56F8-4E10-047397D855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96" b="16904"/>
          <a:stretch/>
        </p:blipFill>
        <p:spPr>
          <a:xfrm>
            <a:off x="2209800" y="1857375"/>
            <a:ext cx="77724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38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ATAC-seq </a:t>
            </a:r>
            <a:r>
              <a:rPr lang="en-US" dirty="0"/>
              <a:t>vs </a:t>
            </a:r>
            <a:r>
              <a:rPr lang="en-US" dirty="0" err="1"/>
              <a:t>MNase</a:t>
            </a:r>
            <a:r>
              <a:rPr lang="en-US" dirty="0"/>
              <a:t>-seq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D673B9-1548-56F8-4E10-047397D85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11470"/>
            <a:ext cx="7772400" cy="483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74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RNA-seq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Stark, </a:t>
            </a:r>
            <a:r>
              <a:rPr lang="en-US" dirty="0" err="1"/>
              <a:t>Grzelak</a:t>
            </a:r>
            <a:r>
              <a:rPr lang="en-US" dirty="0"/>
              <a:t> &amp; Hadfield 2019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1052E3-94BF-FF75-084D-812CD478C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413" y="1024466"/>
            <a:ext cx="5191125" cy="1153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92CCE0-9C6A-676E-15A9-56961F36E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169" y="2487457"/>
            <a:ext cx="5369358" cy="369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97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5581EE-7886-2E72-6EB9-D63CD2DD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30C40E-032E-07B9-B35A-5DA0D267D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Lafontain</a:t>
            </a:r>
            <a:r>
              <a:rPr lang="en-US" dirty="0"/>
              <a:t> et al., Current Protocols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BE67-001F-EDCC-125E-8428882A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50CF5-FFA8-B1DD-B516-7CC229C9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CE0943-C16E-0832-BF26-82D9BBCA39A0}"/>
              </a:ext>
            </a:extLst>
          </p:cNvPr>
          <p:cNvGrpSpPr/>
          <p:nvPr/>
        </p:nvGrpSpPr>
        <p:grpSpPr>
          <a:xfrm>
            <a:off x="381000" y="1184113"/>
            <a:ext cx="11430000" cy="4024193"/>
            <a:chOff x="0" y="1051931"/>
            <a:chExt cx="12192000" cy="429247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4330B4-5B13-76C4-DEF6-7D02E8684D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992"/>
            <a:stretch/>
          </p:blipFill>
          <p:spPr bwMode="auto">
            <a:xfrm>
              <a:off x="0" y="1211263"/>
              <a:ext cx="12192000" cy="3946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4CB789-8847-D9CE-755B-30C602DFFC47}"/>
                </a:ext>
              </a:extLst>
            </p:cNvPr>
            <p:cNvSpPr/>
            <p:nvPr/>
          </p:nvSpPr>
          <p:spPr>
            <a:xfrm>
              <a:off x="8113646" y="4926435"/>
              <a:ext cx="420753" cy="417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226AC1-6C5A-D7D3-0893-9467B5BACD82}"/>
                </a:ext>
              </a:extLst>
            </p:cNvPr>
            <p:cNvSpPr/>
            <p:nvPr/>
          </p:nvSpPr>
          <p:spPr>
            <a:xfrm>
              <a:off x="11758546" y="4926435"/>
              <a:ext cx="420753" cy="417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50B1B8-527C-B141-11DD-96CF8F30E677}"/>
                </a:ext>
              </a:extLst>
            </p:cNvPr>
            <p:cNvSpPr/>
            <p:nvPr/>
          </p:nvSpPr>
          <p:spPr>
            <a:xfrm>
              <a:off x="2855846" y="4926435"/>
              <a:ext cx="420753" cy="417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0322B49-3A0C-FB6F-18D7-855C2B9A058E}"/>
                </a:ext>
              </a:extLst>
            </p:cNvPr>
            <p:cNvSpPr/>
            <p:nvPr/>
          </p:nvSpPr>
          <p:spPr>
            <a:xfrm>
              <a:off x="49146" y="4926435"/>
              <a:ext cx="420753" cy="417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E90774-0303-61AB-0BC9-67234222A97B}"/>
                </a:ext>
              </a:extLst>
            </p:cNvPr>
            <p:cNvSpPr/>
            <p:nvPr/>
          </p:nvSpPr>
          <p:spPr>
            <a:xfrm>
              <a:off x="734946" y="1687935"/>
              <a:ext cx="1220854" cy="217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3E50AA-226B-6401-CC23-1C25C0AF759F}"/>
                </a:ext>
              </a:extLst>
            </p:cNvPr>
            <p:cNvSpPr/>
            <p:nvPr/>
          </p:nvSpPr>
          <p:spPr>
            <a:xfrm>
              <a:off x="165100" y="1408535"/>
              <a:ext cx="838200" cy="25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30E4BE-0A1B-7CC6-C7DB-9C0DC62E2BAE}"/>
                </a:ext>
              </a:extLst>
            </p:cNvPr>
            <p:cNvSpPr txBox="1"/>
            <p:nvPr/>
          </p:nvSpPr>
          <p:spPr>
            <a:xfrm>
              <a:off x="849083" y="1314568"/>
              <a:ext cx="1036524" cy="62376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endParaRPr lang="en-US" sz="1600" b="1" dirty="0">
                <a:solidFill>
                  <a:schemeClr val="accent2"/>
                </a:solidFill>
              </a:endParaRPr>
            </a:p>
            <a:p>
              <a:r>
                <a:rPr lang="en-US" sz="1600" b="1" dirty="0">
                  <a:solidFill>
                    <a:schemeClr val="accent2"/>
                  </a:solidFill>
                </a:rPr>
                <a:t>Fixation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A85365-6C2C-CE52-6DED-BBFFB8948130}"/>
                </a:ext>
              </a:extLst>
            </p:cNvPr>
            <p:cNvSpPr txBox="1"/>
            <p:nvPr/>
          </p:nvSpPr>
          <p:spPr>
            <a:xfrm>
              <a:off x="2548342" y="1051931"/>
              <a:ext cx="1448153" cy="8863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0B050"/>
                  </a:solidFill>
                </a:rPr>
                <a:t>Restriction enzyme </a:t>
              </a:r>
              <a:r>
                <a:rPr lang="en-US" sz="1600" dirty="0"/>
                <a:t>digestion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974934-4011-EB61-F66B-E1047A43234E}"/>
                </a:ext>
              </a:extLst>
            </p:cNvPr>
            <p:cNvSpPr txBox="1"/>
            <p:nvPr/>
          </p:nvSpPr>
          <p:spPr>
            <a:xfrm>
              <a:off x="4066060" y="1051931"/>
              <a:ext cx="2273138" cy="8863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Biotin </a:t>
              </a:r>
              <a:r>
                <a:rPr lang="en-US" sz="1600" dirty="0"/>
                <a:t>incorporation </a:t>
              </a:r>
            </a:p>
            <a:p>
              <a:r>
                <a:rPr lang="en-US" sz="1600" dirty="0"/>
                <a:t>End repair</a:t>
              </a:r>
            </a:p>
            <a:p>
              <a:r>
                <a:rPr lang="en-US" sz="1600" dirty="0" err="1"/>
                <a:t>Religation</a:t>
              </a:r>
              <a:endParaRPr lang="en-US" sz="16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D215EC8-2394-BE8A-06F2-9EC3C24EE6F9}"/>
                </a:ext>
              </a:extLst>
            </p:cNvPr>
            <p:cNvSpPr txBox="1"/>
            <p:nvPr/>
          </p:nvSpPr>
          <p:spPr>
            <a:xfrm>
              <a:off x="5609526" y="1577204"/>
              <a:ext cx="1819238" cy="36112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DNA purification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7A8E89-45A0-FFE9-2438-88D3C5B87A35}"/>
                </a:ext>
              </a:extLst>
            </p:cNvPr>
            <p:cNvSpPr txBox="1"/>
            <p:nvPr/>
          </p:nvSpPr>
          <p:spPr>
            <a:xfrm>
              <a:off x="7748693" y="1051931"/>
              <a:ext cx="1948329" cy="8863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600" dirty="0"/>
            </a:p>
            <a:p>
              <a:endParaRPr lang="en-US" sz="1600" dirty="0"/>
            </a:p>
            <a:p>
              <a:r>
                <a:rPr lang="en-US" sz="1600" dirty="0"/>
                <a:t>Sonication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D087EB-2EE1-EDF3-34DA-C7D7E5696525}"/>
                </a:ext>
              </a:extLst>
            </p:cNvPr>
            <p:cNvSpPr txBox="1"/>
            <p:nvPr/>
          </p:nvSpPr>
          <p:spPr>
            <a:xfrm>
              <a:off x="9697022" y="1051931"/>
              <a:ext cx="2135084" cy="8863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600" dirty="0"/>
            </a:p>
            <a:p>
              <a:endParaRPr lang="en-US" sz="1600" dirty="0"/>
            </a:p>
            <a:p>
              <a:r>
                <a:rPr lang="en-US" sz="1600" dirty="0"/>
                <a:t>Biotin pull-down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5892422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128</TotalTime>
  <Words>445</Words>
  <Application>Microsoft Macintosh PowerPoint</Application>
  <PresentationFormat>Widescreen</PresentationFormat>
  <Paragraphs>142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Comfortaa</vt:lpstr>
      <vt:lpstr>Courier New</vt:lpstr>
      <vt:lpstr>Menlo</vt:lpstr>
      <vt:lpstr>Open Sans</vt:lpstr>
      <vt:lpstr>Wingdings</vt:lpstr>
      <vt:lpstr>PasteurIbens</vt:lpstr>
      <vt:lpstr>Physalia</vt:lpstr>
      <vt:lpstr>Introduction to epigenomics  Or how genes are regulated…</vt:lpstr>
      <vt:lpstr>Chromatin is complex</vt:lpstr>
      <vt:lpstr>Chromatin composition varies along the genome</vt:lpstr>
      <vt:lpstr>Chromatin composition varies along the genome</vt:lpstr>
      <vt:lpstr>Chromatin composition varies along the genome</vt:lpstr>
      <vt:lpstr>Chromatin composition varies along the genome</vt:lpstr>
      <vt:lpstr>Chromatin composition varies along the genome</vt:lpstr>
      <vt:lpstr>Chromatin composition varies along the genome</vt:lpstr>
      <vt:lpstr>Chromatin composition varies along the genome</vt:lpstr>
      <vt:lpstr>Chromatin composition varies along the genome</vt:lpstr>
      <vt:lpstr>Chromatin composition varies along the genome</vt:lpstr>
      <vt:lpstr>Chromatin is organized in hierarchical structure to enable transcriptional regulation</vt:lpstr>
      <vt:lpstr>Chromatin is organized in hierarchical structure to enable transcriptional regulation</vt:lpstr>
      <vt:lpstr>ChIP-seq vs. ATAC-seq vs MNase-seq</vt:lpstr>
      <vt:lpstr>ATAC-seq vs MNase-seq</vt:lpstr>
      <vt:lpstr>ATAC-seq vs MNase-seq</vt:lpstr>
      <vt:lpstr>RNA-seq</vt:lpstr>
      <vt:lpstr>Hi-C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35</cp:revision>
  <dcterms:created xsi:type="dcterms:W3CDTF">2023-06-26T07:22:32Z</dcterms:created>
  <dcterms:modified xsi:type="dcterms:W3CDTF">2026-04-07T08:33:18Z</dcterms:modified>
</cp:coreProperties>
</file>