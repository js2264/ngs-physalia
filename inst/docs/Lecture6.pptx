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19"/>
  </p:notesMasterIdLst>
  <p:sldIdLst>
    <p:sldId id="256" r:id="rId3"/>
    <p:sldId id="310" r:id="rId4"/>
    <p:sldId id="311" r:id="rId5"/>
    <p:sldId id="313" r:id="rId6"/>
    <p:sldId id="312" r:id="rId7"/>
    <p:sldId id="315" r:id="rId8"/>
    <p:sldId id="316" r:id="rId9"/>
    <p:sldId id="317" r:id="rId10"/>
    <p:sldId id="309" r:id="rId11"/>
    <p:sldId id="318" r:id="rId12"/>
    <p:sldId id="321" r:id="rId13"/>
    <p:sldId id="322" r:id="rId14"/>
    <p:sldId id="323" r:id="rId15"/>
    <p:sldId id="320" r:id="rId16"/>
    <p:sldId id="319" r:id="rId17"/>
    <p:sldId id="31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05"/>
    <p:restoredTop sz="96327"/>
  </p:normalViewPr>
  <p:slideViewPr>
    <p:cSldViewPr snapToGrid="0">
      <p:cViewPr varScale="1">
        <p:scale>
          <a:sx n="181" d="100"/>
          <a:sy n="181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5-08844-z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doi.org/10.1016/j.cell.2018.01.029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doi.org/10.1016/j.cell.2018.01.029" TargetMode="Externa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meme-suite.org/meme/" TargetMode="Externa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jaspar.elixir.no/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Motif identification from ChIP-seq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dirty="0" err="1"/>
              <a:t>Physalia</a:t>
            </a:r>
            <a:r>
              <a:rPr lang="en-US"/>
              <a:t>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BB33E-B862-CAF3-56F5-2A6242A7C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2A748-149E-4561-C799-54C8A135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Accessible sites are often regulatory elements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991E2-D538-87BC-B4CE-907557ED4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b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427CF-35FB-6F8C-838A-90D2D848B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548" y="949161"/>
            <a:ext cx="6054904" cy="514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886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47545-F576-367E-135B-E1B6869F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A520A-3C8F-57D6-7692-DD48C0DC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transcription machinery is assembled around promoters using sequence affinity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9080E-A480-D833-1246-56DA959E7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9BF1AD-CBF6-B41B-E9A6-0F16B8BA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2" r="45076"/>
          <a:stretch/>
        </p:blipFill>
        <p:spPr>
          <a:xfrm>
            <a:off x="3848100" y="833097"/>
            <a:ext cx="4208125" cy="31195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1FDA20-A549-8CD0-5866-B1CE76C4F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211" y="3953339"/>
            <a:ext cx="6979578" cy="218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161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EF6F6-1F0A-6D3E-1843-82CA9806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76D66-2893-E659-5AE3-686C7CFA0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Transcription factors can be recruited directly to DNA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A42CD-B46A-560F-B9F2-FAC9BA46D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b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E46724-EC2A-CDC9-24C1-09E6140F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550" y="1035050"/>
            <a:ext cx="3898900" cy="4787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FB303F-64CA-A80E-A99B-601BDF8C26FC}"/>
              </a:ext>
            </a:extLst>
          </p:cNvPr>
          <p:cNvSpPr/>
          <p:nvPr/>
        </p:nvSpPr>
        <p:spPr>
          <a:xfrm>
            <a:off x="4130211" y="1099335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87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5A83D-F922-71E3-0040-8C3FED52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B19AA2-ED55-EA48-D71B-F28B53CD3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67692"/>
            <a:ext cx="7772400" cy="39226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FA090B-C23C-5243-80A1-AC5786A3A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TFs can also mediate INDIRECT recruitment of factors to chromatin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563DB-8473-F466-7C82-900ECFAD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3CEFCD-27A0-DCB4-6E67-49EC08402AA5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60DC8-29D2-BA00-34BE-BC5EED41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A0CC1-DA06-9ED8-017C-5B9F3F648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Motifs are important in shaping all biological processes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63058-8EFF-647E-D6F8-F841E06F2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B69C79-AEB2-BD89-7707-A80CA1AD1C8B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851D21-1540-DFBA-3FA9-1DEE66AEE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040" y="1114544"/>
            <a:ext cx="6841920" cy="4905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6DC4F9-1661-F5D7-EA2D-E311B465CC93}"/>
              </a:ext>
            </a:extLst>
          </p:cNvPr>
          <p:cNvSpPr txBox="1"/>
          <p:nvPr/>
        </p:nvSpPr>
        <p:spPr>
          <a:xfrm>
            <a:off x="92467" y="5881955"/>
            <a:ext cx="3810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https://www.nature.com/articles/s41586-025-08844-z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7232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467E-C072-9DEE-60B4-03E4366C3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922A-326B-C4A4-0308-F905513DB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Motifs are important in shaping all biological processes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FB00F-6617-41AD-B06D-6CB0E5079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025039-EF74-21F8-2234-4C0E752DDED1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D04A5-6D48-D6E1-60B0-C63221302CE2}"/>
              </a:ext>
            </a:extLst>
          </p:cNvPr>
          <p:cNvSpPr txBox="1"/>
          <p:nvPr/>
        </p:nvSpPr>
        <p:spPr>
          <a:xfrm>
            <a:off x="92467" y="5881955"/>
            <a:ext cx="29995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2"/>
              </a:rPr>
              <a:t>https://doi.org/10.1016/j.cell.2018.01.029</a:t>
            </a:r>
            <a:r>
              <a:rPr lang="en-US" sz="1200" dirty="0"/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AE381F-7B37-D550-91CA-32879BC7B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678" y="817551"/>
            <a:ext cx="4385058" cy="522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B84C88-802E-3AC7-E7E5-7D42CD2625EF}"/>
              </a:ext>
            </a:extLst>
          </p:cNvPr>
          <p:cNvSpPr/>
          <p:nvPr/>
        </p:nvSpPr>
        <p:spPr>
          <a:xfrm>
            <a:off x="3697195" y="5075434"/>
            <a:ext cx="4974194" cy="5753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37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5DF7-04A7-5A2E-A3A8-07B4244E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F83-4C65-7D55-483A-4F0ED47CE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 gene expression: an orthogonal approach to estimate TF’s activity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4242B-8729-D2E7-C41C-0705B939F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D817B1-7898-B33D-2CC7-B0C09DB09BD2}"/>
              </a:ext>
            </a:extLst>
          </p:cNvPr>
          <p:cNvSpPr/>
          <p:nvPr/>
        </p:nvSpPr>
        <p:spPr>
          <a:xfrm>
            <a:off x="2209800" y="1541124"/>
            <a:ext cx="503434" cy="3904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204340-9747-CB1F-0130-A7AD3CBA61FB}"/>
              </a:ext>
            </a:extLst>
          </p:cNvPr>
          <p:cNvSpPr txBox="1"/>
          <p:nvPr/>
        </p:nvSpPr>
        <p:spPr>
          <a:xfrm>
            <a:off x="92467" y="5881955"/>
            <a:ext cx="29995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2"/>
              </a:rPr>
              <a:t>https://doi.org/10.1016/j.cell.2018.01.029</a:t>
            </a:r>
            <a:r>
              <a:rPr lang="en-US" sz="12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315A9B-22FD-DDEC-86F5-6D50C00B8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136667"/>
            <a:ext cx="7772400" cy="458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22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MEME is a versatile suite of </a:t>
            </a:r>
            <a:r>
              <a:rPr lang="en-GB" dirty="0" err="1"/>
              <a:t>softwares</a:t>
            </a:r>
            <a:r>
              <a:rPr lang="en-GB" dirty="0"/>
              <a:t> largely used to identify known or </a:t>
            </a:r>
            <a:r>
              <a:rPr lang="en-GB" i="1" dirty="0"/>
              <a:t>de novo</a:t>
            </a:r>
            <a:r>
              <a:rPr lang="en-GB" dirty="0"/>
              <a:t> motifs enriched in a given set of sequences of interest.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motifs enriched in sequences extracted from </a:t>
            </a:r>
            <a:r>
              <a:rPr lang="en-US" dirty="0" err="1"/>
              <a:t>ChIP</a:t>
            </a:r>
            <a:r>
              <a:rPr lang="en-US" dirty="0"/>
              <a:t>-seq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698367-856C-E932-BDBE-4FDB512A211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1026" name="Picture 2" descr="Introduction - MEME Suite">
            <a:extLst>
              <a:ext uri="{FF2B5EF4-FFF2-40B4-BE49-F238E27FC236}">
                <a16:creationId xmlns:a16="http://schemas.microsoft.com/office/drawing/2014/main" id="{55FDD84C-CC79-9E9D-E8F5-D90D56827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444" y="1946383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C8B62B-100D-B0DD-DC5E-988DDFA6C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638" y="2383604"/>
            <a:ext cx="3690018" cy="20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766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0DB52-EB72-A32E-9E20-03BE4C1E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0BC1-3F8D-3327-87C0-CC60620A3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A730-3AF7-D104-16BA-0302093C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F3F00-853C-A9C4-EC31-74A682304A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9" name="Picture 2" descr="Introduction - MEME Suite">
            <a:extLst>
              <a:ext uri="{FF2B5EF4-FFF2-40B4-BE49-F238E27FC236}">
                <a16:creationId xmlns:a16="http://schemas.microsoft.com/office/drawing/2014/main" id="{536E25C0-20E2-8ABE-5762-4163FDCD4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2325" y="1530662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155EA85-2490-AEEB-9428-998307A8A0D5}"/>
              </a:ext>
            </a:extLst>
          </p:cNvPr>
          <p:cNvSpPr/>
          <p:nvPr/>
        </p:nvSpPr>
        <p:spPr>
          <a:xfrm>
            <a:off x="2085653" y="2731325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F87485-AA69-EF7B-B54F-460BACB0F0B5}"/>
              </a:ext>
            </a:extLst>
          </p:cNvPr>
          <p:cNvSpPr/>
          <p:nvPr/>
        </p:nvSpPr>
        <p:spPr>
          <a:xfrm>
            <a:off x="6372645" y="3182587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20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9BC0-0D7C-D96A-8A94-7ECD0A622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9F359-34F2-3368-2A79-C1613263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693E9-28A6-8BD0-0FC4-D79CBD19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3CC93B-6B7D-3BB1-4C47-0E34CD248D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0E58EC-14BF-FB9F-C080-58CB4DD7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268" y="1338035"/>
            <a:ext cx="3811695" cy="35757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52D7F8-DA67-0EAF-D7B3-A2168489D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68" y="1484270"/>
            <a:ext cx="3811695" cy="317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38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419F0-08E2-B82C-8387-3AD418589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44884-18DB-4E88-C8CC-83403AC93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46F5D-6F7C-B337-F007-5EAC76C5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AF49E6-426E-7285-BC58-96F4A0A94C8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E0FA63-B3EF-A6CF-0C02-3EE42ADFC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498" y="1220515"/>
            <a:ext cx="6191004" cy="432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52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95690-2281-4C65-1680-81BB3E6B5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610DF-28BC-70A2-C24C-BD6B41A94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DF497-6BCC-F83C-BFFD-FA79BBA0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E968A4-47F1-D632-5287-DB39EAD0A5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2A5B-A31B-F302-FEAC-3AB59A8A3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876" y="1660383"/>
            <a:ext cx="5349218" cy="3135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765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A570-8C1F-E316-BF70-5187C95B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06B3B-5275-A736-972C-3FE0D677B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2FE0B2-ECBD-8DDC-58D4-92A6B39A3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1EEA9-7017-29DD-8779-D6E4F14BEF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9" name="Picture 2" descr="Introduction - MEME Suite">
            <a:extLst>
              <a:ext uri="{FF2B5EF4-FFF2-40B4-BE49-F238E27FC236}">
                <a16:creationId xmlns:a16="http://schemas.microsoft.com/office/drawing/2014/main" id="{7F225330-E73C-E0B6-99C2-282F50981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2325" y="1530662"/>
            <a:ext cx="7381819" cy="310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F2ED5B-AC5B-5267-C8AA-21E3C02C08D1}"/>
              </a:ext>
            </a:extLst>
          </p:cNvPr>
          <p:cNvSpPr/>
          <p:nvPr/>
        </p:nvSpPr>
        <p:spPr>
          <a:xfrm>
            <a:off x="6384520" y="1080655"/>
            <a:ext cx="4288157" cy="2113806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98D810-EDC7-02F0-94E6-5E75ABB46B32}"/>
              </a:ext>
            </a:extLst>
          </p:cNvPr>
          <p:cNvSpPr/>
          <p:nvPr/>
        </p:nvSpPr>
        <p:spPr>
          <a:xfrm>
            <a:off x="2026278" y="1252647"/>
            <a:ext cx="3091988" cy="1478678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F548D6-C921-C23F-46CE-5633A323DC3E}"/>
              </a:ext>
            </a:extLst>
          </p:cNvPr>
          <p:cNvSpPr/>
          <p:nvPr/>
        </p:nvSpPr>
        <p:spPr>
          <a:xfrm>
            <a:off x="3265714" y="2731324"/>
            <a:ext cx="2975940" cy="676893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4C9EAC-ABD1-CC50-AF72-193C2D8A7849}"/>
              </a:ext>
            </a:extLst>
          </p:cNvPr>
          <p:cNvSpPr/>
          <p:nvPr/>
        </p:nvSpPr>
        <p:spPr>
          <a:xfrm>
            <a:off x="3265714" y="3408217"/>
            <a:ext cx="1852552" cy="486889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507D2-7706-2EEB-E03E-07B4496372A7}"/>
              </a:ext>
            </a:extLst>
          </p:cNvPr>
          <p:cNvSpPr/>
          <p:nvPr/>
        </p:nvSpPr>
        <p:spPr>
          <a:xfrm>
            <a:off x="3515095" y="3895106"/>
            <a:ext cx="2726559" cy="676892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EB468E-11AB-23B9-BD77-BCA2749A7114}"/>
              </a:ext>
            </a:extLst>
          </p:cNvPr>
          <p:cNvSpPr/>
          <p:nvPr/>
        </p:nvSpPr>
        <p:spPr>
          <a:xfrm>
            <a:off x="5011387" y="3408217"/>
            <a:ext cx="1230267" cy="486889"/>
          </a:xfrm>
          <a:prstGeom prst="rect">
            <a:avLst/>
          </a:prstGeom>
          <a:solidFill>
            <a:schemeClr val="bg1">
              <a:alpha val="9344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930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E369-7412-F04D-0C75-C41E7F8FF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0A113-52A3-BEB0-4BB2-5D04C799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NOVO identification vs COMPARISON to known motifs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98209-FAC9-9C0B-D45F-DDE7CDFD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5EE041-FB91-CE35-0A9D-3FD280C95D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https://meme-suite.org/meme/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04E84-37BD-4BE3-2A5D-ACF2A4015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782" y="1288695"/>
            <a:ext cx="5359565" cy="40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2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B1212-0A22-47BC-1747-04AAF6D97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0F552-AFDA-90F2-6751-B2739777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motif databases provide extensive knowledge of TFBS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954F6-EE5E-0015-B605-7AD6693E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B54DDD-9096-E587-ACF0-C149ABDAE00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https://jaspar.elixir.no/</a:t>
            </a:r>
            <a:endParaRPr lang="en-US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EECC35-4A25-88E9-E093-CEA0E6752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836" y="825243"/>
            <a:ext cx="4493231" cy="540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41923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978</TotalTime>
  <Words>280</Words>
  <Application>Microsoft Macintosh PowerPoint</Application>
  <PresentationFormat>Widescreen</PresentationFormat>
  <Paragraphs>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Motif identification from ChIP-seq</vt:lpstr>
      <vt:lpstr>Accessible sites are often regulatory elements</vt:lpstr>
      <vt:lpstr>General transcription machinery is assembled around promoters using sequence affinity</vt:lpstr>
      <vt:lpstr>Transcription factors can be recruited directly to DNA motifs</vt:lpstr>
      <vt:lpstr>TFs can also mediate INDIRECT recruitment of factors to chromatin</vt:lpstr>
      <vt:lpstr>Motifs are important in shaping all biological processes</vt:lpstr>
      <vt:lpstr>Motifs are important in shaping all biological processes</vt:lpstr>
      <vt:lpstr>TF gene expression: an orthogonal approach to estimate TF’s activity</vt:lpstr>
      <vt:lpstr>Finding motifs enriched in sequences extracted from ChIP-seq peaks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DE NOVO identification vs COMPARISON to known motifs</vt:lpstr>
      <vt:lpstr>Public motif databases provide extensive knowledge of TFBS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194</cp:revision>
  <dcterms:created xsi:type="dcterms:W3CDTF">2023-06-26T07:22:32Z</dcterms:created>
  <dcterms:modified xsi:type="dcterms:W3CDTF">2025-04-16T15:53:09Z</dcterms:modified>
</cp:coreProperties>
</file>