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tiff" ContentType="image/tiff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autoCompressPictures="0">
  <p:sldMasterIdLst>
    <p:sldMasterId id="2147483660" r:id="rId1"/>
    <p:sldMasterId id="2147483676" r:id="rId2"/>
  </p:sldMasterIdLst>
  <p:notesMasterIdLst>
    <p:notesMasterId r:id="rId19"/>
  </p:notesMasterIdLst>
  <p:sldIdLst>
    <p:sldId id="256" r:id="rId3"/>
    <p:sldId id="310" r:id="rId4"/>
    <p:sldId id="311" r:id="rId5"/>
    <p:sldId id="313" r:id="rId6"/>
    <p:sldId id="312" r:id="rId7"/>
    <p:sldId id="315" r:id="rId8"/>
    <p:sldId id="316" r:id="rId9"/>
    <p:sldId id="317" r:id="rId10"/>
    <p:sldId id="309" r:id="rId11"/>
    <p:sldId id="318" r:id="rId12"/>
    <p:sldId id="321" r:id="rId13"/>
    <p:sldId id="322" r:id="rId14"/>
    <p:sldId id="323" r:id="rId15"/>
    <p:sldId id="320" r:id="rId16"/>
    <p:sldId id="319" r:id="rId17"/>
    <p:sldId id="314" r:id="rId18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6EB4E4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1505"/>
    <p:restoredTop sz="96327"/>
  </p:normalViewPr>
  <p:slideViewPr>
    <p:cSldViewPr snapToGrid="0">
      <p:cViewPr varScale="1">
        <p:scale>
          <a:sx n="124" d="100"/>
          <a:sy n="124" d="100"/>
        </p:scale>
        <p:origin x="800" y="16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6.xml"/><Relationship Id="rId13" Type="http://schemas.openxmlformats.org/officeDocument/2006/relationships/slide" Target="slides/slide11.xml"/><Relationship Id="rId18" Type="http://schemas.openxmlformats.org/officeDocument/2006/relationships/slide" Target="slides/slide16.xml"/><Relationship Id="rId3" Type="http://schemas.openxmlformats.org/officeDocument/2006/relationships/slide" Target="slides/slide1.xml"/><Relationship Id="rId21" Type="http://schemas.openxmlformats.org/officeDocument/2006/relationships/viewProps" Target="viewProps.xml"/><Relationship Id="rId7" Type="http://schemas.openxmlformats.org/officeDocument/2006/relationships/slide" Target="slides/slide5.xml"/><Relationship Id="rId12" Type="http://schemas.openxmlformats.org/officeDocument/2006/relationships/slide" Target="slides/slide10.xml"/><Relationship Id="rId17" Type="http://schemas.openxmlformats.org/officeDocument/2006/relationships/slide" Target="slides/slide15.xml"/><Relationship Id="rId2" Type="http://schemas.openxmlformats.org/officeDocument/2006/relationships/slideMaster" Target="slideMasters/slideMaster2.xml"/><Relationship Id="rId16" Type="http://schemas.openxmlformats.org/officeDocument/2006/relationships/slide" Target="slides/slide14.xml"/><Relationship Id="rId20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4.xml"/><Relationship Id="rId11" Type="http://schemas.openxmlformats.org/officeDocument/2006/relationships/slide" Target="slides/slide9.xml"/><Relationship Id="rId5" Type="http://schemas.openxmlformats.org/officeDocument/2006/relationships/slide" Target="slides/slide3.xml"/><Relationship Id="rId15" Type="http://schemas.openxmlformats.org/officeDocument/2006/relationships/slide" Target="slides/slide13.xml"/><Relationship Id="rId23" Type="http://schemas.openxmlformats.org/officeDocument/2006/relationships/tableStyles" Target="tableStyles.xml"/><Relationship Id="rId10" Type="http://schemas.openxmlformats.org/officeDocument/2006/relationships/slide" Target="slides/slide8.xml"/><Relationship Id="rId19" Type="http://schemas.openxmlformats.org/officeDocument/2006/relationships/notesMaster" Target="notesMasters/notesMaster1.xml"/><Relationship Id="rId4" Type="http://schemas.openxmlformats.org/officeDocument/2006/relationships/slide" Target="slides/slide2.xml"/><Relationship Id="rId9" Type="http://schemas.openxmlformats.org/officeDocument/2006/relationships/slide" Target="slides/slide7.xml"/><Relationship Id="rId14" Type="http://schemas.openxmlformats.org/officeDocument/2006/relationships/slide" Target="slides/slide12.xml"/><Relationship Id="rId22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BA85917-96BC-A94E-B108-436BB51A4016}" type="datetimeFigureOut">
              <a:rPr lang="en-US" smtClean="0"/>
              <a:t>4/7/26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357D7AC3-3E93-9544-BDE3-B37120F6255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4531132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jp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3.tiff"/></Relationships>
</file>

<file path=ppt/slideLayouts/_rels/slideLayout2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5.png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1.jpg"/><Relationship Id="rId1" Type="http://schemas.openxmlformats.org/officeDocument/2006/relationships/slideMaster" Target="../slideMasters/slideMaster2.xml"/></Relationships>
</file>

<file path=ppt/slideLayouts/_rels/slideLayout9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Master" Target="../slideMasters/slideMaster2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Master" Target="../slideMasters/slideMaster2.xml"/></Relationships>
</file>

<file path=ppt/slideLayouts/_rels/slideLayout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Master" Target="../slideMasters/slideMaster2.xml"/></Relationships>
</file>

<file path=ppt/slideLayouts/_rels/slideLayout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2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bg>
      <p:bgPr>
        <a:blipFill dpi="0" rotWithShape="1">
          <a:blip r:embed="rId2">
            <a:alphaModFix amt="18000"/>
            <a:lum/>
          </a:blip>
          <a:srcRect/>
          <a:stretch>
            <a:fillRect l="-1000" r="-1000"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>
            <a:extLst>
              <a:ext uri="{FF2B5EF4-FFF2-40B4-BE49-F238E27FC236}">
                <a16:creationId xmlns:a16="http://schemas.microsoft.com/office/drawing/2014/main" id="{563910EB-624E-F321-925E-A562C9A67D9E}"/>
              </a:ext>
            </a:extLst>
          </p:cNvPr>
          <p:cNvSpPr/>
          <p:nvPr/>
        </p:nvSpPr>
        <p:spPr>
          <a:xfrm>
            <a:off x="0" y="3967089"/>
            <a:ext cx="12192000" cy="2890911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A302AA4C-3692-DC40-ADE0-508B5814C63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  <a:prstGeom prst="rect">
            <a:avLst/>
          </a:prstGeom>
        </p:spPr>
        <p:txBody>
          <a:bodyPr anchor="ctr"/>
          <a:lstStyle>
            <a:lvl1pPr algn="ctr">
              <a:defRPr sz="6000" b="1">
                <a:latin typeface="Comfortaa" pitchFamily="2" charset="0"/>
              </a:defRPr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D1C45597-59BF-184F-B29C-07C34F9562A5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4155439"/>
            <a:ext cx="9144000" cy="2507725"/>
          </a:xfrm>
          <a:prstGeom prst="rect">
            <a:avLst/>
          </a:prstGeom>
        </p:spPr>
        <p:txBody>
          <a:bodyPr anchor="ctr"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GB"/>
              <a:t>Click to edit Master subtitle style</a:t>
            </a:r>
            <a:endParaRPr lang="en-US" dirty="0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EAE298B4-CBF1-A27B-8D25-C419C3CADF4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177102" y="194835"/>
            <a:ext cx="1827329" cy="498360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B42AF4F5-29E0-2B33-92C6-CE5EF5BBD02F}"/>
              </a:ext>
            </a:extLst>
          </p:cNvPr>
          <p:cNvPicPr>
            <a:picLocks noChangeAspect="1"/>
          </p:cNvPicPr>
          <p:nvPr/>
        </p:nvPicPr>
        <p:blipFill>
          <a:blip r:embed="rId4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7917596" y="-103400"/>
            <a:ext cx="2259506" cy="112975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1439865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Title 1">
            <a:extLst>
              <a:ext uri="{FF2B5EF4-FFF2-40B4-BE49-F238E27FC236}">
                <a16:creationId xmlns:a16="http://schemas.microsoft.com/office/drawing/2014/main" id="{F7F50D6C-3207-323C-0510-C9484EEA4EB6}"/>
              </a:ext>
            </a:extLst>
          </p:cNvPr>
          <p:cNvSpPr txBox="1">
            <a:spLocks/>
          </p:cNvSpPr>
          <p:nvPr/>
        </p:nvSpPr>
        <p:spPr>
          <a:xfrm>
            <a:off x="0" y="6241311"/>
            <a:ext cx="12192000" cy="616689"/>
          </a:xfrm>
          <a:prstGeom prst="rect">
            <a:avLst/>
          </a:prstGeom>
          <a:solidFill>
            <a:schemeClr val="bg1">
              <a:lumMod val="85000"/>
              <a:alpha val="29804"/>
            </a:schemeClr>
          </a:solidFill>
        </p:spPr>
        <p:txBody>
          <a:bodyPr vert="horz" lIns="91440" tIns="45720" rIns="91440" bIns="45720" rtlCol="0" anchor="ctr">
            <a:no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2400" b="1" kern="1200">
                <a:solidFill>
                  <a:schemeClr val="tx1"/>
                </a:solidFill>
                <a:latin typeface="Comfortaa" pitchFamily="2" charset="0"/>
                <a:ea typeface="Dotum" panose="020B0600000101010101" pitchFamily="34" charset="-127"/>
                <a:cs typeface="Menlo" panose="020B0609030804020204" pitchFamily="49" charset="0"/>
              </a:defRPr>
            </a:lvl1pPr>
          </a:lstStyle>
          <a:p>
            <a:endParaRPr lang="en-US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D0132174-956C-CE42-AF06-2CC1F76FD1B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12192000" cy="802640"/>
          </a:xfrm>
          <a:prstGeom prst="rect">
            <a:avLst/>
          </a:prstGeom>
          <a:solidFill>
            <a:schemeClr val="bg1">
              <a:lumMod val="85000"/>
              <a:alpha val="29804"/>
            </a:schemeClr>
          </a:solidFill>
        </p:spPr>
        <p:txBody>
          <a:bodyPr anchor="ctr">
            <a:noAutofit/>
          </a:bodyPr>
          <a:lstStyle>
            <a:lvl1pPr algn="ctr">
              <a:defRPr sz="2400" b="1">
                <a:latin typeface="Comfortaa" pitchFamily="2" charset="0"/>
                <a:ea typeface="Dotum" panose="020B0600000101010101" pitchFamily="34" charset="-127"/>
                <a:cs typeface="Menlo" panose="020B0609030804020204" pitchFamily="49" charset="0"/>
              </a:defRPr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11" name="Text Placeholder 10">
            <a:extLst>
              <a:ext uri="{FF2B5EF4-FFF2-40B4-BE49-F238E27FC236}">
                <a16:creationId xmlns:a16="http://schemas.microsoft.com/office/drawing/2014/main" id="{7A7B3241-74CA-D249-BD38-4C57AA297FE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385444" y="5872025"/>
            <a:ext cx="4288156" cy="314642"/>
          </a:xfrm>
        </p:spPr>
        <p:txBody>
          <a:bodyPr>
            <a:normAutofit/>
          </a:bodyPr>
          <a:lstStyle>
            <a:lvl1pPr>
              <a:buNone/>
              <a:defRPr lang="en-US" sz="1000" i="1" kern="1200" dirty="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Slide Number Placeholder 5">
            <a:extLst>
              <a:ext uri="{FF2B5EF4-FFF2-40B4-BE49-F238E27FC236}">
                <a16:creationId xmlns:a16="http://schemas.microsoft.com/office/drawing/2014/main" id="{F09CD1E7-C4F0-95C5-0A44-6191CC4FBA8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296400" y="6377889"/>
            <a:ext cx="2743200" cy="365125"/>
          </a:xfrm>
          <a:prstGeom prst="rect">
            <a:avLst/>
          </a:prstGeom>
        </p:spPr>
        <p:txBody>
          <a:bodyPr/>
          <a:lstStyle/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41FEE8F5-8318-DF2F-E442-91BB7855E5FB}"/>
              </a:ext>
            </a:extLst>
          </p:cNvPr>
          <p:cNvCxnSpPr/>
          <p:nvPr/>
        </p:nvCxnSpPr>
        <p:spPr>
          <a:xfrm>
            <a:off x="0" y="6248400"/>
            <a:ext cx="12192000" cy="0"/>
          </a:xfrm>
          <a:prstGeom prst="line">
            <a:avLst/>
          </a:prstGeom>
          <a:ln w="6350"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028" name="Picture 4" descr="Institut Pasteur, Paris, France — Google Arts &amp; Culture">
            <a:extLst>
              <a:ext uri="{FF2B5EF4-FFF2-40B4-BE49-F238E27FC236}">
                <a16:creationId xmlns:a16="http://schemas.microsoft.com/office/drawing/2014/main" id="{363CF6F2-FFCC-A044-F740-D3124ECBF59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52400" y="6377889"/>
            <a:ext cx="1188185" cy="32025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FBCE3CA2-68AC-7035-AD06-B998211FB25A}"/>
              </a:ext>
            </a:extLst>
          </p:cNvPr>
          <p:cNvPicPr>
            <a:picLocks noChangeAspect="1"/>
          </p:cNvPicPr>
          <p:nvPr/>
        </p:nvPicPr>
        <p:blipFill>
          <a:blip r:embed="rId3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1856549" y="6279787"/>
            <a:ext cx="1207672" cy="534046"/>
          </a:xfrm>
          <a:prstGeom prst="rect">
            <a:avLst/>
          </a:prstGeom>
        </p:spPr>
      </p:pic>
      <p:sp>
        <p:nvSpPr>
          <p:cNvPr id="15" name="Content Placeholder 2">
            <a:extLst>
              <a:ext uri="{FF2B5EF4-FFF2-40B4-BE49-F238E27FC236}">
                <a16:creationId xmlns:a16="http://schemas.microsoft.com/office/drawing/2014/main" id="{32967DF6-DDDE-B851-D43B-850B377AED9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11760" y="873761"/>
            <a:ext cx="11927840" cy="4883277"/>
          </a:xfrm>
          <a:prstGeom prst="rect">
            <a:avLst/>
          </a:prstGeom>
        </p:spPr>
        <p:txBody>
          <a:bodyPr>
            <a:normAutofit/>
          </a:bodyPr>
          <a:lstStyle>
            <a:lvl1pPr>
              <a:lnSpc>
                <a:spcPct val="100000"/>
              </a:lnSpc>
              <a:spcBef>
                <a:spcPts val="0"/>
              </a:spcBef>
              <a:spcAft>
                <a:spcPts val="1800"/>
              </a:spcAft>
              <a:buNone/>
              <a:defRPr sz="20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685800" indent="-228600">
              <a:lnSpc>
                <a:spcPct val="100000"/>
              </a:lnSpc>
              <a:spcBef>
                <a:spcPts val="0"/>
              </a:spcBef>
              <a:spcAft>
                <a:spcPts val="1800"/>
              </a:spcAft>
              <a:buFont typeface="Courier New" panose="02070309020205020404" pitchFamily="49" charset="0"/>
              <a:buChar char="o"/>
              <a:defRPr sz="18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2pPr>
            <a:lvl3pPr marL="1143000" indent="-228600">
              <a:lnSpc>
                <a:spcPct val="100000"/>
              </a:lnSpc>
              <a:spcBef>
                <a:spcPts val="0"/>
              </a:spcBef>
              <a:spcAft>
                <a:spcPts val="1800"/>
              </a:spcAft>
              <a:buFont typeface="Wingdings" pitchFamily="2" charset="2"/>
              <a:buChar char="v"/>
              <a:defRPr sz="16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3pPr>
            <a:lvl4pPr marL="1600200" indent="-228600">
              <a:lnSpc>
                <a:spcPct val="100000"/>
              </a:lnSpc>
              <a:spcBef>
                <a:spcPts val="0"/>
              </a:spcBef>
              <a:spcAft>
                <a:spcPts val="1800"/>
              </a:spcAft>
              <a:buFont typeface="Wingdings" pitchFamily="2" charset="2"/>
              <a:buChar char="Ø"/>
              <a:defRPr sz="14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4pPr>
            <a:lvl5pPr>
              <a:lnSpc>
                <a:spcPct val="100000"/>
              </a:lnSpc>
              <a:spcBef>
                <a:spcPts val="0"/>
              </a:spcBef>
              <a:spcAft>
                <a:spcPts val="1800"/>
              </a:spcAft>
              <a:defRPr sz="14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5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</p:txBody>
      </p:sp>
      <p:sp>
        <p:nvSpPr>
          <p:cNvPr id="16" name="Footer Placeholder 4">
            <a:extLst>
              <a:ext uri="{FF2B5EF4-FFF2-40B4-BE49-F238E27FC236}">
                <a16:creationId xmlns:a16="http://schemas.microsoft.com/office/drawing/2014/main" id="{4FA3D7D2-81E0-C7BD-F826-D44EE929289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3396343" y="6373284"/>
            <a:ext cx="5747657" cy="365125"/>
          </a:xfrm>
          <a:prstGeom prst="rect">
            <a:avLst/>
          </a:prstGeom>
        </p:spPr>
        <p:txBody>
          <a:bodyPr/>
          <a:lstStyle/>
          <a:p>
            <a:r>
              <a:rPr lang="en-US"/>
              <a:t>Epigenomics Data Analysis — Physalia 2023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381761014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o foo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0132174-956C-CE42-AF06-2CC1F76FD1B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12192000" cy="802640"/>
          </a:xfrm>
          <a:prstGeom prst="rect">
            <a:avLst/>
          </a:prstGeom>
          <a:solidFill>
            <a:schemeClr val="bg1">
              <a:lumMod val="85000"/>
              <a:alpha val="29804"/>
            </a:schemeClr>
          </a:solidFill>
        </p:spPr>
        <p:txBody>
          <a:bodyPr anchor="ctr">
            <a:noAutofit/>
          </a:bodyPr>
          <a:lstStyle>
            <a:lvl1pPr algn="ctr">
              <a:defRPr sz="2400" b="1">
                <a:latin typeface="Comfortaa" pitchFamily="2" charset="0"/>
                <a:ea typeface="Dotum" panose="020B0600000101010101" pitchFamily="34" charset="-127"/>
                <a:cs typeface="Menlo" panose="020B0609030804020204" pitchFamily="49" charset="0"/>
              </a:defRPr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11" name="Text Placeholder 10">
            <a:extLst>
              <a:ext uri="{FF2B5EF4-FFF2-40B4-BE49-F238E27FC236}">
                <a16:creationId xmlns:a16="http://schemas.microsoft.com/office/drawing/2014/main" id="{7A7B3241-74CA-D249-BD38-4C57AA297FE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385444" y="6410505"/>
            <a:ext cx="4288156" cy="314642"/>
          </a:xfrm>
        </p:spPr>
        <p:txBody>
          <a:bodyPr>
            <a:normAutofit/>
          </a:bodyPr>
          <a:lstStyle>
            <a:lvl1pPr>
              <a:buNone/>
              <a:defRPr lang="en-US" sz="1000" i="1" kern="1200" dirty="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15" name="Content Placeholder 2">
            <a:extLst>
              <a:ext uri="{FF2B5EF4-FFF2-40B4-BE49-F238E27FC236}">
                <a16:creationId xmlns:a16="http://schemas.microsoft.com/office/drawing/2014/main" id="{32967DF6-DDDE-B851-D43B-850B377AED9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11760" y="873761"/>
            <a:ext cx="11927840" cy="5415279"/>
          </a:xfrm>
          <a:prstGeom prst="rect">
            <a:avLst/>
          </a:prstGeom>
        </p:spPr>
        <p:txBody>
          <a:bodyPr>
            <a:normAutofit/>
          </a:bodyPr>
          <a:lstStyle>
            <a:lvl1pPr>
              <a:lnSpc>
                <a:spcPct val="100000"/>
              </a:lnSpc>
              <a:spcBef>
                <a:spcPts val="0"/>
              </a:spcBef>
              <a:spcAft>
                <a:spcPts val="1800"/>
              </a:spcAft>
              <a:buNone/>
              <a:defRPr sz="20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685800" indent="-228600">
              <a:lnSpc>
                <a:spcPct val="100000"/>
              </a:lnSpc>
              <a:spcBef>
                <a:spcPts val="0"/>
              </a:spcBef>
              <a:spcAft>
                <a:spcPts val="1800"/>
              </a:spcAft>
              <a:buFont typeface="Courier New" panose="02070309020205020404" pitchFamily="49" charset="0"/>
              <a:buChar char="o"/>
              <a:defRPr sz="18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2pPr>
            <a:lvl3pPr marL="1143000" indent="-228600">
              <a:lnSpc>
                <a:spcPct val="100000"/>
              </a:lnSpc>
              <a:spcBef>
                <a:spcPts val="0"/>
              </a:spcBef>
              <a:spcAft>
                <a:spcPts val="1800"/>
              </a:spcAft>
              <a:buFont typeface="Wingdings" pitchFamily="2" charset="2"/>
              <a:buChar char="v"/>
              <a:defRPr sz="16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3pPr>
            <a:lvl4pPr marL="1600200" indent="-228600">
              <a:lnSpc>
                <a:spcPct val="100000"/>
              </a:lnSpc>
              <a:spcBef>
                <a:spcPts val="0"/>
              </a:spcBef>
              <a:spcAft>
                <a:spcPts val="1800"/>
              </a:spcAft>
              <a:buFont typeface="Wingdings" pitchFamily="2" charset="2"/>
              <a:buChar char="Ø"/>
              <a:defRPr sz="14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4pPr>
            <a:lvl5pPr>
              <a:lnSpc>
                <a:spcPct val="100000"/>
              </a:lnSpc>
              <a:spcBef>
                <a:spcPts val="0"/>
              </a:spcBef>
              <a:spcAft>
                <a:spcPts val="1800"/>
              </a:spcAft>
              <a:defRPr sz="14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5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</p:txBody>
      </p:sp>
    </p:spTree>
    <p:extLst>
      <p:ext uri="{BB962C8B-B14F-4D97-AF65-F5344CB8AC3E}">
        <p14:creationId xmlns:p14="http://schemas.microsoft.com/office/powerpoint/2010/main" val="4109859233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o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1">
            <a:extLst>
              <a:ext uri="{FF2B5EF4-FFF2-40B4-BE49-F238E27FC236}">
                <a16:creationId xmlns:a16="http://schemas.microsoft.com/office/drawing/2014/main" id="{94140DE3-AE3F-48D6-668B-DAF0D0698C0C}"/>
              </a:ext>
            </a:extLst>
          </p:cNvPr>
          <p:cNvSpPr txBox="1">
            <a:spLocks/>
          </p:cNvSpPr>
          <p:nvPr/>
        </p:nvSpPr>
        <p:spPr>
          <a:xfrm>
            <a:off x="0" y="6248400"/>
            <a:ext cx="12192000" cy="616689"/>
          </a:xfrm>
          <a:prstGeom prst="rect">
            <a:avLst/>
          </a:prstGeom>
          <a:solidFill>
            <a:schemeClr val="bg1">
              <a:lumMod val="85000"/>
              <a:alpha val="29804"/>
            </a:schemeClr>
          </a:solidFill>
        </p:spPr>
        <p:txBody>
          <a:bodyPr vert="horz" lIns="91440" tIns="45720" rIns="91440" bIns="45720" rtlCol="0" anchor="ctr">
            <a:no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2400" b="1" kern="1200">
                <a:solidFill>
                  <a:schemeClr val="tx1"/>
                </a:solidFill>
                <a:latin typeface="Comfortaa" pitchFamily="2" charset="0"/>
                <a:ea typeface="Dotum" panose="020B0600000101010101" pitchFamily="34" charset="-127"/>
                <a:cs typeface="Menlo" panose="020B0609030804020204" pitchFamily="49" charset="0"/>
              </a:defRPr>
            </a:lvl1pPr>
          </a:lstStyle>
          <a:p>
            <a:endParaRPr lang="en-US" dirty="0"/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2DB1775B-D24B-979A-7BDF-F003D3300A08}"/>
              </a:ext>
            </a:extLst>
          </p:cNvPr>
          <p:cNvCxnSpPr/>
          <p:nvPr/>
        </p:nvCxnSpPr>
        <p:spPr>
          <a:xfrm>
            <a:off x="0" y="6248400"/>
            <a:ext cx="12192000" cy="0"/>
          </a:xfrm>
          <a:prstGeom prst="line">
            <a:avLst/>
          </a:prstGeom>
          <a:ln w="6350"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8" name="Picture 4" descr="Institut Pasteur, Paris, France — Google Arts &amp; Culture">
            <a:extLst>
              <a:ext uri="{FF2B5EF4-FFF2-40B4-BE49-F238E27FC236}">
                <a16:creationId xmlns:a16="http://schemas.microsoft.com/office/drawing/2014/main" id="{5C82817C-9A17-70D9-A3ED-5FF6BA77B7B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52400" y="6377889"/>
            <a:ext cx="1188185" cy="32025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BF8AEAB8-52D6-E237-CB19-AA22E49E3315}"/>
              </a:ext>
            </a:extLst>
          </p:cNvPr>
          <p:cNvPicPr>
            <a:picLocks noChangeAspect="1"/>
          </p:cNvPicPr>
          <p:nvPr/>
        </p:nvPicPr>
        <p:blipFill>
          <a:blip r:embed="rId3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1856549" y="6279787"/>
            <a:ext cx="1207672" cy="534046"/>
          </a:xfrm>
          <a:prstGeom prst="rect">
            <a:avLst/>
          </a:prstGeom>
        </p:spPr>
      </p:pic>
      <p:sp>
        <p:nvSpPr>
          <p:cNvPr id="4" name="Slide Number Placeholder 5">
            <a:extLst>
              <a:ext uri="{FF2B5EF4-FFF2-40B4-BE49-F238E27FC236}">
                <a16:creationId xmlns:a16="http://schemas.microsoft.com/office/drawing/2014/main" id="{1156D004-53FB-9622-2593-36C9B40B072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296400" y="6377889"/>
            <a:ext cx="2743200" cy="365125"/>
          </a:xfrm>
          <a:prstGeom prst="rect">
            <a:avLst/>
          </a:prstGeom>
        </p:spPr>
        <p:txBody>
          <a:bodyPr/>
          <a:lstStyle/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  <p:sp>
        <p:nvSpPr>
          <p:cNvPr id="10" name="Footer Placeholder 4">
            <a:extLst>
              <a:ext uri="{FF2B5EF4-FFF2-40B4-BE49-F238E27FC236}">
                <a16:creationId xmlns:a16="http://schemas.microsoft.com/office/drawing/2014/main" id="{5878757D-A12E-AC9E-7264-3EA4BD4B97B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3396343" y="6373284"/>
            <a:ext cx="5747657" cy="365125"/>
          </a:xfrm>
          <a:prstGeom prst="rect">
            <a:avLst/>
          </a:prstGeom>
        </p:spPr>
        <p:txBody>
          <a:bodyPr/>
          <a:lstStyle/>
          <a:p>
            <a:r>
              <a:rPr lang="en-US"/>
              <a:t>Epigenomics Data Analysis — Physalia 2023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536640434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Co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8840962-E512-134A-8B89-5D29AB8A57F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11760" y="873762"/>
            <a:ext cx="11927840" cy="815554"/>
          </a:xfrm>
          <a:prstGeom prst="rect">
            <a:avLst/>
          </a:prstGeom>
        </p:spPr>
        <p:txBody>
          <a:bodyPr>
            <a:normAutofit/>
          </a:bodyPr>
          <a:lstStyle>
            <a:lvl1pPr>
              <a:lnSpc>
                <a:spcPct val="100000"/>
              </a:lnSpc>
              <a:spcBef>
                <a:spcPts val="0"/>
              </a:spcBef>
              <a:spcAft>
                <a:spcPts val="1800"/>
              </a:spcAft>
              <a:buNone/>
              <a:defRPr sz="20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685800" indent="-228600">
              <a:lnSpc>
                <a:spcPct val="100000"/>
              </a:lnSpc>
              <a:spcBef>
                <a:spcPts val="0"/>
              </a:spcBef>
              <a:spcAft>
                <a:spcPts val="1800"/>
              </a:spcAft>
              <a:buFont typeface="Courier New" panose="02070309020205020404" pitchFamily="49" charset="0"/>
              <a:buChar char="o"/>
              <a:defRPr sz="18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2pPr>
            <a:lvl3pPr marL="1143000" indent="-228600">
              <a:lnSpc>
                <a:spcPct val="100000"/>
              </a:lnSpc>
              <a:spcBef>
                <a:spcPts val="0"/>
              </a:spcBef>
              <a:spcAft>
                <a:spcPts val="1800"/>
              </a:spcAft>
              <a:buFont typeface="Wingdings" pitchFamily="2" charset="2"/>
              <a:buChar char="v"/>
              <a:defRPr sz="16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3pPr>
            <a:lvl4pPr marL="1600200" indent="-228600">
              <a:lnSpc>
                <a:spcPct val="100000"/>
              </a:lnSpc>
              <a:spcBef>
                <a:spcPts val="0"/>
              </a:spcBef>
              <a:spcAft>
                <a:spcPts val="1800"/>
              </a:spcAft>
              <a:buFont typeface="Wingdings" pitchFamily="2" charset="2"/>
              <a:buChar char="Ø"/>
              <a:defRPr sz="14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4pPr>
            <a:lvl5pPr>
              <a:lnSpc>
                <a:spcPct val="100000"/>
              </a:lnSpc>
              <a:spcBef>
                <a:spcPts val="0"/>
              </a:spcBef>
              <a:spcAft>
                <a:spcPts val="1800"/>
              </a:spcAft>
              <a:defRPr sz="14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5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93396AA0-6A00-40CA-3991-A57289C80267}"/>
              </a:ext>
            </a:extLst>
          </p:cNvPr>
          <p:cNvSpPr>
            <a:spLocks noGrp="1"/>
          </p:cNvSpPr>
          <p:nvPr>
            <p:ph idx="14"/>
          </p:nvPr>
        </p:nvSpPr>
        <p:spPr>
          <a:xfrm>
            <a:off x="0" y="2208435"/>
            <a:ext cx="12192000" cy="3060905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txBody>
          <a:bodyPr>
            <a:normAutofit/>
          </a:bodyPr>
          <a:lstStyle>
            <a:lvl1pPr>
              <a:lnSpc>
                <a:spcPct val="150000"/>
              </a:lnSpc>
              <a:spcBef>
                <a:spcPts val="0"/>
              </a:spcBef>
              <a:spcAft>
                <a:spcPts val="1800"/>
              </a:spcAft>
              <a:buNone/>
              <a:defRPr sz="2000" b="0" i="0">
                <a:solidFill>
                  <a:schemeClr val="tx1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defRPr>
            </a:lvl1pPr>
            <a:lvl2pPr>
              <a:lnSpc>
                <a:spcPct val="150000"/>
              </a:lnSpc>
              <a:spcBef>
                <a:spcPts val="0"/>
              </a:spcBef>
              <a:spcAft>
                <a:spcPts val="1800"/>
              </a:spcAft>
              <a:defRPr sz="18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2pPr>
            <a:lvl3pPr>
              <a:lnSpc>
                <a:spcPct val="150000"/>
              </a:lnSpc>
              <a:spcBef>
                <a:spcPts val="0"/>
              </a:spcBef>
              <a:spcAft>
                <a:spcPts val="1800"/>
              </a:spcAft>
              <a:defRPr sz="16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3pPr>
            <a:lvl4pPr>
              <a:lnSpc>
                <a:spcPct val="150000"/>
              </a:lnSpc>
              <a:spcBef>
                <a:spcPts val="0"/>
              </a:spcBef>
              <a:spcAft>
                <a:spcPts val="1800"/>
              </a:spcAft>
              <a:defRPr sz="14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4pPr>
            <a:lvl5pPr>
              <a:lnSpc>
                <a:spcPct val="150000"/>
              </a:lnSpc>
              <a:spcBef>
                <a:spcPts val="0"/>
              </a:spcBef>
              <a:spcAft>
                <a:spcPts val="1800"/>
              </a:spcAft>
              <a:defRPr sz="14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5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7" name="Title 1">
            <a:extLst>
              <a:ext uri="{FF2B5EF4-FFF2-40B4-BE49-F238E27FC236}">
                <a16:creationId xmlns:a16="http://schemas.microsoft.com/office/drawing/2014/main" id="{C984DF8B-A115-675A-61F9-8356FDECA404}"/>
              </a:ext>
            </a:extLst>
          </p:cNvPr>
          <p:cNvSpPr txBox="1">
            <a:spLocks/>
          </p:cNvSpPr>
          <p:nvPr/>
        </p:nvSpPr>
        <p:spPr>
          <a:xfrm>
            <a:off x="0" y="6248400"/>
            <a:ext cx="12192000" cy="616689"/>
          </a:xfrm>
          <a:prstGeom prst="rect">
            <a:avLst/>
          </a:prstGeom>
          <a:solidFill>
            <a:schemeClr val="bg1">
              <a:lumMod val="85000"/>
              <a:alpha val="29804"/>
            </a:schemeClr>
          </a:solidFill>
        </p:spPr>
        <p:txBody>
          <a:bodyPr vert="horz" lIns="91440" tIns="45720" rIns="91440" bIns="45720" rtlCol="0" anchor="ctr">
            <a:no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2400" b="1" kern="1200">
                <a:solidFill>
                  <a:schemeClr val="tx1"/>
                </a:solidFill>
                <a:latin typeface="Comfortaa" pitchFamily="2" charset="0"/>
                <a:ea typeface="Dotum" panose="020B0600000101010101" pitchFamily="34" charset="-127"/>
                <a:cs typeface="Menlo" panose="020B0609030804020204" pitchFamily="49" charset="0"/>
              </a:defRPr>
            </a:lvl1pPr>
          </a:lstStyle>
          <a:p>
            <a:endParaRPr lang="en-US" dirty="0"/>
          </a:p>
        </p:txBody>
      </p:sp>
      <p:sp>
        <p:nvSpPr>
          <p:cNvPr id="9" name="Text Placeholder 10">
            <a:extLst>
              <a:ext uri="{FF2B5EF4-FFF2-40B4-BE49-F238E27FC236}">
                <a16:creationId xmlns:a16="http://schemas.microsoft.com/office/drawing/2014/main" id="{C464067F-913B-5D2F-4D60-C68E0D113AF2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385444" y="5872025"/>
            <a:ext cx="4288156" cy="314642"/>
          </a:xfrm>
        </p:spPr>
        <p:txBody>
          <a:bodyPr>
            <a:normAutofit/>
          </a:bodyPr>
          <a:lstStyle>
            <a:lvl1pPr>
              <a:buNone/>
              <a:defRPr lang="en-US" sz="1000" i="1" kern="1200" dirty="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</a:lstStyle>
          <a:p>
            <a:pPr lvl="0"/>
            <a:r>
              <a:rPr lang="en-GB"/>
              <a:t>Click to edit Master text styles</a:t>
            </a:r>
          </a:p>
        </p:txBody>
      </p: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EBD928EA-5AB5-0522-8B22-A7613F8BD453}"/>
              </a:ext>
            </a:extLst>
          </p:cNvPr>
          <p:cNvCxnSpPr/>
          <p:nvPr/>
        </p:nvCxnSpPr>
        <p:spPr>
          <a:xfrm>
            <a:off x="0" y="6248400"/>
            <a:ext cx="12192000" cy="0"/>
          </a:xfrm>
          <a:prstGeom prst="line">
            <a:avLst/>
          </a:prstGeom>
          <a:ln w="6350"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3" name="Picture 4" descr="Institut Pasteur, Paris, France — Google Arts &amp; Culture">
            <a:extLst>
              <a:ext uri="{FF2B5EF4-FFF2-40B4-BE49-F238E27FC236}">
                <a16:creationId xmlns:a16="http://schemas.microsoft.com/office/drawing/2014/main" id="{E540942B-247F-A801-9F56-58FABF5C3A9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52400" y="6377889"/>
            <a:ext cx="1188185" cy="32025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4" name="Picture 13">
            <a:extLst>
              <a:ext uri="{FF2B5EF4-FFF2-40B4-BE49-F238E27FC236}">
                <a16:creationId xmlns:a16="http://schemas.microsoft.com/office/drawing/2014/main" id="{DBBBE6AF-EEDA-0260-4F7F-1540DBFC67C9}"/>
              </a:ext>
            </a:extLst>
          </p:cNvPr>
          <p:cNvPicPr>
            <a:picLocks noChangeAspect="1"/>
          </p:cNvPicPr>
          <p:nvPr/>
        </p:nvPicPr>
        <p:blipFill>
          <a:blip r:embed="rId3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1856549" y="6279787"/>
            <a:ext cx="1207672" cy="534046"/>
          </a:xfrm>
          <a:prstGeom prst="rect">
            <a:avLst/>
          </a:prstGeom>
        </p:spPr>
      </p:pic>
      <p:sp>
        <p:nvSpPr>
          <p:cNvPr id="15" name="Title 1">
            <a:extLst>
              <a:ext uri="{FF2B5EF4-FFF2-40B4-BE49-F238E27FC236}">
                <a16:creationId xmlns:a16="http://schemas.microsoft.com/office/drawing/2014/main" id="{21C008F8-259C-B1B6-F2C6-5E542D36FB4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12192000" cy="802640"/>
          </a:xfrm>
          <a:prstGeom prst="rect">
            <a:avLst/>
          </a:prstGeom>
          <a:solidFill>
            <a:schemeClr val="bg1">
              <a:lumMod val="85000"/>
              <a:alpha val="29804"/>
            </a:schemeClr>
          </a:solidFill>
        </p:spPr>
        <p:txBody>
          <a:bodyPr anchor="ctr">
            <a:noAutofit/>
          </a:bodyPr>
          <a:lstStyle>
            <a:lvl1pPr algn="ctr">
              <a:defRPr sz="2400" b="1">
                <a:latin typeface="Comfortaa" pitchFamily="2" charset="0"/>
                <a:ea typeface="Dotum" panose="020B0600000101010101" pitchFamily="34" charset="-127"/>
                <a:cs typeface="Menlo" panose="020B0609030804020204" pitchFamily="49" charset="0"/>
              </a:defRPr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2" name="Slide Number Placeholder 5">
            <a:extLst>
              <a:ext uri="{FF2B5EF4-FFF2-40B4-BE49-F238E27FC236}">
                <a16:creationId xmlns:a16="http://schemas.microsoft.com/office/drawing/2014/main" id="{A93BB3C8-3227-B030-E53E-4C655475F46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296400" y="6377889"/>
            <a:ext cx="2743200" cy="365125"/>
          </a:xfrm>
          <a:prstGeom prst="rect">
            <a:avLst/>
          </a:prstGeom>
        </p:spPr>
        <p:txBody>
          <a:bodyPr/>
          <a:lstStyle/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1830055-81E6-701B-7B90-7911D8FFB67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3396343" y="6373284"/>
            <a:ext cx="5747657" cy="365125"/>
          </a:xfrm>
          <a:prstGeom prst="rect">
            <a:avLst/>
          </a:prstGeom>
        </p:spPr>
        <p:txBody>
          <a:bodyPr/>
          <a:lstStyle/>
          <a:p>
            <a:r>
              <a:rPr lang="en-US"/>
              <a:t>Epigenomics Data Analysis — Physalia 2023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290526137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Break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C56CDD01-E503-F840-9A2A-3783A49052FB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 amt="11000"/>
          </a:blip>
          <a:stretch>
            <a:fillRect/>
          </a:stretch>
        </p:blipFill>
        <p:spPr>
          <a:xfrm>
            <a:off x="-9942" y="-1"/>
            <a:ext cx="12192000" cy="1818335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510251D2-43BA-C946-A8E2-C1666250C02C}"/>
              </a:ext>
            </a:extLst>
          </p:cNvPr>
          <p:cNvSpPr txBox="1"/>
          <p:nvPr/>
        </p:nvSpPr>
        <p:spPr>
          <a:xfrm>
            <a:off x="-9939" y="0"/>
            <a:ext cx="12201939" cy="1819373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 anchor="ctr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GB" sz="4400" b="1" i="0" u="none" strike="noStrike" kern="1200" cap="none" spc="0" normalizeH="0" baseline="0" noProof="0" dirty="0">
              <a:ln>
                <a:noFill/>
              </a:ln>
              <a:solidFill>
                <a:srgbClr val="C00000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2" name="Text Placeholder 11">
            <a:extLst>
              <a:ext uri="{FF2B5EF4-FFF2-40B4-BE49-F238E27FC236}">
                <a16:creationId xmlns:a16="http://schemas.microsoft.com/office/drawing/2014/main" id="{E147D1BD-9050-E74A-ACDB-B2A1C15F83CC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9525" y="0"/>
            <a:ext cx="12182475" cy="1817688"/>
          </a:xfrm>
        </p:spPr>
        <p:txBody>
          <a:bodyPr anchor="ctr">
            <a:normAutofit/>
          </a:bodyPr>
          <a:lstStyle>
            <a:lvl1pPr algn="ctr">
              <a:buNone/>
              <a:defRPr lang="en-GB" sz="4000" b="1" kern="1200" dirty="0" smtClean="0">
                <a:solidFill>
                  <a:schemeClr val="tx1"/>
                </a:solidFill>
                <a:latin typeface="Comfortaa" pitchFamily="2" charset="0"/>
                <a:ea typeface="Dotum" panose="020B0600000101010101" pitchFamily="34" charset="-127"/>
                <a:cs typeface="Menlo" panose="020B0609030804020204" pitchFamily="49" charset="0"/>
              </a:defRPr>
            </a:lvl1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Title 1">
            <a:extLst>
              <a:ext uri="{FF2B5EF4-FFF2-40B4-BE49-F238E27FC236}">
                <a16:creationId xmlns:a16="http://schemas.microsoft.com/office/drawing/2014/main" id="{94140DE3-AE3F-48D6-668B-DAF0D0698C0C}"/>
              </a:ext>
            </a:extLst>
          </p:cNvPr>
          <p:cNvSpPr txBox="1">
            <a:spLocks/>
          </p:cNvSpPr>
          <p:nvPr/>
        </p:nvSpPr>
        <p:spPr>
          <a:xfrm>
            <a:off x="0" y="6248400"/>
            <a:ext cx="12192000" cy="616689"/>
          </a:xfrm>
          <a:prstGeom prst="rect">
            <a:avLst/>
          </a:prstGeom>
          <a:solidFill>
            <a:schemeClr val="bg1">
              <a:lumMod val="85000"/>
              <a:alpha val="29804"/>
            </a:schemeClr>
          </a:solidFill>
        </p:spPr>
        <p:txBody>
          <a:bodyPr vert="horz" lIns="91440" tIns="45720" rIns="91440" bIns="45720" rtlCol="0" anchor="ctr">
            <a:no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2400" b="1" kern="1200">
                <a:solidFill>
                  <a:schemeClr val="tx1"/>
                </a:solidFill>
                <a:latin typeface="Comfortaa" pitchFamily="2" charset="0"/>
                <a:ea typeface="Dotum" panose="020B0600000101010101" pitchFamily="34" charset="-127"/>
                <a:cs typeface="Menlo" panose="020B0609030804020204" pitchFamily="49" charset="0"/>
              </a:defRPr>
            </a:lvl1pPr>
          </a:lstStyle>
          <a:p>
            <a:endParaRPr lang="en-US" dirty="0"/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2DB1775B-D24B-979A-7BDF-F003D3300A08}"/>
              </a:ext>
            </a:extLst>
          </p:cNvPr>
          <p:cNvCxnSpPr/>
          <p:nvPr/>
        </p:nvCxnSpPr>
        <p:spPr>
          <a:xfrm>
            <a:off x="0" y="6248400"/>
            <a:ext cx="12192000" cy="0"/>
          </a:xfrm>
          <a:prstGeom prst="line">
            <a:avLst/>
          </a:prstGeom>
          <a:ln w="6350"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8" name="Picture 4" descr="Institut Pasteur, Paris, France — Google Arts &amp; Culture">
            <a:extLst>
              <a:ext uri="{FF2B5EF4-FFF2-40B4-BE49-F238E27FC236}">
                <a16:creationId xmlns:a16="http://schemas.microsoft.com/office/drawing/2014/main" id="{5C82817C-9A17-70D9-A3ED-5FF6BA77B7B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52400" y="6377889"/>
            <a:ext cx="1188185" cy="32025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BF8AEAB8-52D6-E237-CB19-AA22E49E3315}"/>
              </a:ext>
            </a:extLst>
          </p:cNvPr>
          <p:cNvPicPr>
            <a:picLocks noChangeAspect="1"/>
          </p:cNvPicPr>
          <p:nvPr/>
        </p:nvPicPr>
        <p:blipFill>
          <a:blip r:embed="rId4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1856549" y="6279787"/>
            <a:ext cx="1207672" cy="534046"/>
          </a:xfrm>
          <a:prstGeom prst="rect">
            <a:avLst/>
          </a:prstGeom>
        </p:spPr>
      </p:pic>
      <p:sp>
        <p:nvSpPr>
          <p:cNvPr id="4" name="Slide Number Placeholder 5">
            <a:extLst>
              <a:ext uri="{FF2B5EF4-FFF2-40B4-BE49-F238E27FC236}">
                <a16:creationId xmlns:a16="http://schemas.microsoft.com/office/drawing/2014/main" id="{1156D004-53FB-9622-2593-36C9B40B072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296400" y="6377889"/>
            <a:ext cx="2743200" cy="365125"/>
          </a:xfrm>
          <a:prstGeom prst="rect">
            <a:avLst/>
          </a:prstGeom>
        </p:spPr>
        <p:txBody>
          <a:bodyPr/>
          <a:lstStyle/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  <p:sp>
        <p:nvSpPr>
          <p:cNvPr id="10" name="Footer Placeholder 4">
            <a:extLst>
              <a:ext uri="{FF2B5EF4-FFF2-40B4-BE49-F238E27FC236}">
                <a16:creationId xmlns:a16="http://schemas.microsoft.com/office/drawing/2014/main" id="{5878757D-A12E-AC9E-7264-3EA4BD4B97B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3396343" y="6373284"/>
            <a:ext cx="5747657" cy="365125"/>
          </a:xfrm>
          <a:prstGeom prst="rect">
            <a:avLst/>
          </a:prstGeom>
        </p:spPr>
        <p:txBody>
          <a:bodyPr/>
          <a:lstStyle/>
          <a:p>
            <a:r>
              <a:rPr lang="en-US"/>
              <a:t>Epigenomics Data Analysis — Physalia 2023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713650395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Empt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67072833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bg>
      <p:bgPr>
        <a:blipFill dpi="0" rotWithShape="1">
          <a:blip r:embed="rId2">
            <a:alphaModFix amt="18000"/>
            <a:lum/>
          </a:blip>
          <a:srcRect/>
          <a:stretch>
            <a:fillRect l="-1000" r="-1000"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>
            <a:extLst>
              <a:ext uri="{FF2B5EF4-FFF2-40B4-BE49-F238E27FC236}">
                <a16:creationId xmlns:a16="http://schemas.microsoft.com/office/drawing/2014/main" id="{563910EB-624E-F321-925E-A562C9A67D9E}"/>
              </a:ext>
            </a:extLst>
          </p:cNvPr>
          <p:cNvSpPr/>
          <p:nvPr/>
        </p:nvSpPr>
        <p:spPr>
          <a:xfrm>
            <a:off x="0" y="3967089"/>
            <a:ext cx="12192000" cy="2890911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A302AA4C-3692-DC40-ADE0-508B5814C63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  <a:prstGeom prst="rect">
            <a:avLst/>
          </a:prstGeom>
        </p:spPr>
        <p:txBody>
          <a:bodyPr anchor="ctr"/>
          <a:lstStyle>
            <a:lvl1pPr algn="ctr">
              <a:defRPr sz="6000" b="1">
                <a:latin typeface="Comfortaa" pitchFamily="2" charset="0"/>
              </a:defRPr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D1C45597-59BF-184F-B29C-07C34F9562A5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4155439"/>
            <a:ext cx="9144000" cy="2507725"/>
          </a:xfrm>
          <a:prstGeom prst="rect">
            <a:avLst/>
          </a:prstGeom>
        </p:spPr>
        <p:txBody>
          <a:bodyPr anchor="ctr"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GB"/>
              <a:t>Click to edit Master subtitle style</a:t>
            </a:r>
            <a:endParaRPr lang="en-US" dirty="0"/>
          </a:p>
        </p:txBody>
      </p:sp>
      <p:pic>
        <p:nvPicPr>
          <p:cNvPr id="4" name="Picture 2">
            <a:extLst>
              <a:ext uri="{FF2B5EF4-FFF2-40B4-BE49-F238E27FC236}">
                <a16:creationId xmlns:a16="http://schemas.microsoft.com/office/drawing/2014/main" id="{F122F163-4E41-A425-055F-31E35A8149F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604189" y="5394961"/>
            <a:ext cx="2587811" cy="145655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799991654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Title 1">
            <a:extLst>
              <a:ext uri="{FF2B5EF4-FFF2-40B4-BE49-F238E27FC236}">
                <a16:creationId xmlns:a16="http://schemas.microsoft.com/office/drawing/2014/main" id="{F7F50D6C-3207-323C-0510-C9484EEA4EB6}"/>
              </a:ext>
            </a:extLst>
          </p:cNvPr>
          <p:cNvSpPr txBox="1">
            <a:spLocks/>
          </p:cNvSpPr>
          <p:nvPr/>
        </p:nvSpPr>
        <p:spPr>
          <a:xfrm>
            <a:off x="0" y="6241311"/>
            <a:ext cx="12192000" cy="616689"/>
          </a:xfrm>
          <a:prstGeom prst="rect">
            <a:avLst/>
          </a:prstGeom>
          <a:solidFill>
            <a:schemeClr val="bg1">
              <a:lumMod val="85000"/>
              <a:alpha val="29804"/>
            </a:schemeClr>
          </a:solidFill>
        </p:spPr>
        <p:txBody>
          <a:bodyPr vert="horz" lIns="91440" tIns="45720" rIns="91440" bIns="45720" rtlCol="0" anchor="ctr">
            <a:no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2400" b="1" kern="1200">
                <a:solidFill>
                  <a:schemeClr val="tx1"/>
                </a:solidFill>
                <a:latin typeface="Comfortaa" pitchFamily="2" charset="0"/>
                <a:ea typeface="Dotum" panose="020B0600000101010101" pitchFamily="34" charset="-127"/>
                <a:cs typeface="Menlo" panose="020B0609030804020204" pitchFamily="49" charset="0"/>
              </a:defRPr>
            </a:lvl1pPr>
          </a:lstStyle>
          <a:p>
            <a:endParaRPr lang="en-US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D0132174-956C-CE42-AF06-2CC1F76FD1B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12192000" cy="802640"/>
          </a:xfrm>
          <a:prstGeom prst="rect">
            <a:avLst/>
          </a:prstGeom>
          <a:solidFill>
            <a:schemeClr val="bg1">
              <a:lumMod val="85000"/>
              <a:alpha val="29804"/>
            </a:schemeClr>
          </a:solidFill>
        </p:spPr>
        <p:txBody>
          <a:bodyPr anchor="ctr">
            <a:noAutofit/>
          </a:bodyPr>
          <a:lstStyle>
            <a:lvl1pPr algn="ctr">
              <a:defRPr sz="2400" b="1">
                <a:latin typeface="Comfortaa" pitchFamily="2" charset="0"/>
                <a:ea typeface="Dotum" panose="020B0600000101010101" pitchFamily="34" charset="-127"/>
                <a:cs typeface="Menlo" panose="020B0609030804020204" pitchFamily="49" charset="0"/>
              </a:defRPr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11" name="Text Placeholder 10">
            <a:extLst>
              <a:ext uri="{FF2B5EF4-FFF2-40B4-BE49-F238E27FC236}">
                <a16:creationId xmlns:a16="http://schemas.microsoft.com/office/drawing/2014/main" id="{7A7B3241-74CA-D249-BD38-4C57AA297FE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385444" y="5872025"/>
            <a:ext cx="4288156" cy="314642"/>
          </a:xfrm>
        </p:spPr>
        <p:txBody>
          <a:bodyPr>
            <a:normAutofit/>
          </a:bodyPr>
          <a:lstStyle>
            <a:lvl1pPr>
              <a:buNone/>
              <a:defRPr lang="en-US" sz="1000" i="1" kern="1200" dirty="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Slide Number Placeholder 5">
            <a:extLst>
              <a:ext uri="{FF2B5EF4-FFF2-40B4-BE49-F238E27FC236}">
                <a16:creationId xmlns:a16="http://schemas.microsoft.com/office/drawing/2014/main" id="{F09CD1E7-C4F0-95C5-0A44-6191CC4FBA8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296400" y="6377889"/>
            <a:ext cx="2743200" cy="365125"/>
          </a:xfrm>
          <a:prstGeom prst="rect">
            <a:avLst/>
          </a:prstGeom>
        </p:spPr>
        <p:txBody>
          <a:bodyPr/>
          <a:lstStyle/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41FEE8F5-8318-DF2F-E442-91BB7855E5FB}"/>
              </a:ext>
            </a:extLst>
          </p:cNvPr>
          <p:cNvCxnSpPr/>
          <p:nvPr/>
        </p:nvCxnSpPr>
        <p:spPr>
          <a:xfrm>
            <a:off x="0" y="6248400"/>
            <a:ext cx="12192000" cy="0"/>
          </a:xfrm>
          <a:prstGeom prst="line">
            <a:avLst/>
          </a:prstGeom>
          <a:ln w="6350"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" name="Content Placeholder 2">
            <a:extLst>
              <a:ext uri="{FF2B5EF4-FFF2-40B4-BE49-F238E27FC236}">
                <a16:creationId xmlns:a16="http://schemas.microsoft.com/office/drawing/2014/main" id="{32967DF6-DDDE-B851-D43B-850B377AED9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11760" y="873761"/>
            <a:ext cx="11927840" cy="4883277"/>
          </a:xfrm>
          <a:prstGeom prst="rect">
            <a:avLst/>
          </a:prstGeom>
        </p:spPr>
        <p:txBody>
          <a:bodyPr>
            <a:normAutofit/>
          </a:bodyPr>
          <a:lstStyle>
            <a:lvl1pPr>
              <a:lnSpc>
                <a:spcPct val="100000"/>
              </a:lnSpc>
              <a:spcBef>
                <a:spcPts val="0"/>
              </a:spcBef>
              <a:spcAft>
                <a:spcPts val="1800"/>
              </a:spcAft>
              <a:buNone/>
              <a:defRPr sz="20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685800" indent="-228600">
              <a:lnSpc>
                <a:spcPct val="100000"/>
              </a:lnSpc>
              <a:spcBef>
                <a:spcPts val="0"/>
              </a:spcBef>
              <a:spcAft>
                <a:spcPts val="1800"/>
              </a:spcAft>
              <a:buFont typeface="Courier New" panose="02070309020205020404" pitchFamily="49" charset="0"/>
              <a:buChar char="o"/>
              <a:defRPr sz="18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2pPr>
            <a:lvl3pPr marL="1143000" indent="-228600">
              <a:lnSpc>
                <a:spcPct val="100000"/>
              </a:lnSpc>
              <a:spcBef>
                <a:spcPts val="0"/>
              </a:spcBef>
              <a:spcAft>
                <a:spcPts val="1800"/>
              </a:spcAft>
              <a:buFont typeface="Wingdings" pitchFamily="2" charset="2"/>
              <a:buChar char="v"/>
              <a:defRPr sz="16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3pPr>
            <a:lvl4pPr marL="1600200" indent="-228600">
              <a:lnSpc>
                <a:spcPct val="100000"/>
              </a:lnSpc>
              <a:spcBef>
                <a:spcPts val="0"/>
              </a:spcBef>
              <a:spcAft>
                <a:spcPts val="1800"/>
              </a:spcAft>
              <a:buFont typeface="Wingdings" pitchFamily="2" charset="2"/>
              <a:buChar char="Ø"/>
              <a:defRPr sz="14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4pPr>
            <a:lvl5pPr>
              <a:lnSpc>
                <a:spcPct val="100000"/>
              </a:lnSpc>
              <a:spcBef>
                <a:spcPts val="0"/>
              </a:spcBef>
              <a:spcAft>
                <a:spcPts val="1800"/>
              </a:spcAft>
              <a:defRPr sz="14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5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</p:txBody>
      </p:sp>
      <p:sp>
        <p:nvSpPr>
          <p:cNvPr id="16" name="Footer Placeholder 4">
            <a:extLst>
              <a:ext uri="{FF2B5EF4-FFF2-40B4-BE49-F238E27FC236}">
                <a16:creationId xmlns:a16="http://schemas.microsoft.com/office/drawing/2014/main" id="{4FA3D7D2-81E0-C7BD-F826-D44EE929289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3396343" y="6373284"/>
            <a:ext cx="5747657" cy="365125"/>
          </a:xfrm>
          <a:prstGeom prst="rect">
            <a:avLst/>
          </a:prstGeom>
        </p:spPr>
        <p:txBody>
          <a:bodyPr/>
          <a:lstStyle/>
          <a:p>
            <a:r>
              <a:rPr lang="en-US"/>
              <a:t>Epigenomics Data Analysis — Physalia 2023</a:t>
            </a:r>
            <a:endParaRPr lang="en-US" dirty="0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51CE93C2-6544-85EA-AA67-941E7AC3F37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0182" y="6255490"/>
            <a:ext cx="1048153" cy="58995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681136002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o foo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0132174-956C-CE42-AF06-2CC1F76FD1B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12192000" cy="802640"/>
          </a:xfrm>
          <a:prstGeom prst="rect">
            <a:avLst/>
          </a:prstGeom>
          <a:solidFill>
            <a:schemeClr val="bg1">
              <a:lumMod val="85000"/>
              <a:alpha val="29804"/>
            </a:schemeClr>
          </a:solidFill>
        </p:spPr>
        <p:txBody>
          <a:bodyPr anchor="ctr">
            <a:noAutofit/>
          </a:bodyPr>
          <a:lstStyle>
            <a:lvl1pPr algn="ctr">
              <a:defRPr sz="2400" b="1">
                <a:latin typeface="Comfortaa" pitchFamily="2" charset="0"/>
                <a:ea typeface="Dotum" panose="020B0600000101010101" pitchFamily="34" charset="-127"/>
                <a:cs typeface="Menlo" panose="020B0609030804020204" pitchFamily="49" charset="0"/>
              </a:defRPr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11" name="Text Placeholder 10">
            <a:extLst>
              <a:ext uri="{FF2B5EF4-FFF2-40B4-BE49-F238E27FC236}">
                <a16:creationId xmlns:a16="http://schemas.microsoft.com/office/drawing/2014/main" id="{7A7B3241-74CA-D249-BD38-4C57AA297FE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385444" y="6410505"/>
            <a:ext cx="4288156" cy="314642"/>
          </a:xfrm>
        </p:spPr>
        <p:txBody>
          <a:bodyPr>
            <a:normAutofit/>
          </a:bodyPr>
          <a:lstStyle>
            <a:lvl1pPr>
              <a:buNone/>
              <a:defRPr lang="en-US" sz="1000" i="1" kern="1200" dirty="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15" name="Content Placeholder 2">
            <a:extLst>
              <a:ext uri="{FF2B5EF4-FFF2-40B4-BE49-F238E27FC236}">
                <a16:creationId xmlns:a16="http://schemas.microsoft.com/office/drawing/2014/main" id="{32967DF6-DDDE-B851-D43B-850B377AED9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11760" y="873761"/>
            <a:ext cx="11927840" cy="5415279"/>
          </a:xfrm>
          <a:prstGeom prst="rect">
            <a:avLst/>
          </a:prstGeom>
        </p:spPr>
        <p:txBody>
          <a:bodyPr>
            <a:normAutofit/>
          </a:bodyPr>
          <a:lstStyle>
            <a:lvl1pPr>
              <a:lnSpc>
                <a:spcPct val="100000"/>
              </a:lnSpc>
              <a:spcBef>
                <a:spcPts val="0"/>
              </a:spcBef>
              <a:spcAft>
                <a:spcPts val="1800"/>
              </a:spcAft>
              <a:buNone/>
              <a:defRPr sz="20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685800" indent="-228600">
              <a:lnSpc>
                <a:spcPct val="100000"/>
              </a:lnSpc>
              <a:spcBef>
                <a:spcPts val="0"/>
              </a:spcBef>
              <a:spcAft>
                <a:spcPts val="1800"/>
              </a:spcAft>
              <a:buFont typeface="Courier New" panose="02070309020205020404" pitchFamily="49" charset="0"/>
              <a:buChar char="o"/>
              <a:defRPr sz="18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2pPr>
            <a:lvl3pPr marL="1143000" indent="-228600">
              <a:lnSpc>
                <a:spcPct val="100000"/>
              </a:lnSpc>
              <a:spcBef>
                <a:spcPts val="0"/>
              </a:spcBef>
              <a:spcAft>
                <a:spcPts val="1800"/>
              </a:spcAft>
              <a:buFont typeface="Wingdings" pitchFamily="2" charset="2"/>
              <a:buChar char="v"/>
              <a:defRPr sz="16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3pPr>
            <a:lvl4pPr marL="1600200" indent="-228600">
              <a:lnSpc>
                <a:spcPct val="100000"/>
              </a:lnSpc>
              <a:spcBef>
                <a:spcPts val="0"/>
              </a:spcBef>
              <a:spcAft>
                <a:spcPts val="1800"/>
              </a:spcAft>
              <a:buFont typeface="Wingdings" pitchFamily="2" charset="2"/>
              <a:buChar char="Ø"/>
              <a:defRPr sz="14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4pPr>
            <a:lvl5pPr>
              <a:lnSpc>
                <a:spcPct val="100000"/>
              </a:lnSpc>
              <a:spcBef>
                <a:spcPts val="0"/>
              </a:spcBef>
              <a:spcAft>
                <a:spcPts val="1800"/>
              </a:spcAft>
              <a:defRPr sz="14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5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</p:txBody>
      </p:sp>
    </p:spTree>
    <p:extLst>
      <p:ext uri="{BB962C8B-B14F-4D97-AF65-F5344CB8AC3E}">
        <p14:creationId xmlns:p14="http://schemas.microsoft.com/office/powerpoint/2010/main" val="3264119094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o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1">
            <a:extLst>
              <a:ext uri="{FF2B5EF4-FFF2-40B4-BE49-F238E27FC236}">
                <a16:creationId xmlns:a16="http://schemas.microsoft.com/office/drawing/2014/main" id="{94140DE3-AE3F-48D6-668B-DAF0D0698C0C}"/>
              </a:ext>
            </a:extLst>
          </p:cNvPr>
          <p:cNvSpPr txBox="1">
            <a:spLocks/>
          </p:cNvSpPr>
          <p:nvPr/>
        </p:nvSpPr>
        <p:spPr>
          <a:xfrm>
            <a:off x="0" y="6248400"/>
            <a:ext cx="12192000" cy="616689"/>
          </a:xfrm>
          <a:prstGeom prst="rect">
            <a:avLst/>
          </a:prstGeom>
          <a:solidFill>
            <a:schemeClr val="bg1">
              <a:lumMod val="85000"/>
              <a:alpha val="29804"/>
            </a:schemeClr>
          </a:solidFill>
        </p:spPr>
        <p:txBody>
          <a:bodyPr vert="horz" lIns="91440" tIns="45720" rIns="91440" bIns="45720" rtlCol="0" anchor="ctr">
            <a:no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2400" b="1" kern="1200">
                <a:solidFill>
                  <a:schemeClr val="tx1"/>
                </a:solidFill>
                <a:latin typeface="Comfortaa" pitchFamily="2" charset="0"/>
                <a:ea typeface="Dotum" panose="020B0600000101010101" pitchFamily="34" charset="-127"/>
                <a:cs typeface="Menlo" panose="020B0609030804020204" pitchFamily="49" charset="0"/>
              </a:defRPr>
            </a:lvl1pPr>
          </a:lstStyle>
          <a:p>
            <a:endParaRPr lang="en-US" dirty="0"/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2DB1775B-D24B-979A-7BDF-F003D3300A08}"/>
              </a:ext>
            </a:extLst>
          </p:cNvPr>
          <p:cNvCxnSpPr/>
          <p:nvPr/>
        </p:nvCxnSpPr>
        <p:spPr>
          <a:xfrm>
            <a:off x="0" y="6248400"/>
            <a:ext cx="12192000" cy="0"/>
          </a:xfrm>
          <a:prstGeom prst="line">
            <a:avLst/>
          </a:prstGeom>
          <a:ln w="6350"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Slide Number Placeholder 5">
            <a:extLst>
              <a:ext uri="{FF2B5EF4-FFF2-40B4-BE49-F238E27FC236}">
                <a16:creationId xmlns:a16="http://schemas.microsoft.com/office/drawing/2014/main" id="{1156D004-53FB-9622-2593-36C9B40B072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296400" y="6377889"/>
            <a:ext cx="2743200" cy="365125"/>
          </a:xfrm>
          <a:prstGeom prst="rect">
            <a:avLst/>
          </a:prstGeom>
        </p:spPr>
        <p:txBody>
          <a:bodyPr/>
          <a:lstStyle/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  <p:sp>
        <p:nvSpPr>
          <p:cNvPr id="10" name="Footer Placeholder 4">
            <a:extLst>
              <a:ext uri="{FF2B5EF4-FFF2-40B4-BE49-F238E27FC236}">
                <a16:creationId xmlns:a16="http://schemas.microsoft.com/office/drawing/2014/main" id="{5878757D-A12E-AC9E-7264-3EA4BD4B97B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3396343" y="6373284"/>
            <a:ext cx="5747657" cy="365125"/>
          </a:xfrm>
          <a:prstGeom prst="rect">
            <a:avLst/>
          </a:prstGeom>
        </p:spPr>
        <p:txBody>
          <a:bodyPr/>
          <a:lstStyle/>
          <a:p>
            <a:r>
              <a:rPr lang="en-US"/>
              <a:t>Epigenomics Data Analysis — Physalia 2023</a:t>
            </a:r>
            <a:endParaRPr lang="en-US" dirty="0"/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4ACF294A-06F4-3E28-947D-A951D1C6DB6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0182" y="6255490"/>
            <a:ext cx="1048153" cy="58995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445712912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Co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8840962-E512-134A-8B89-5D29AB8A57F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11760" y="873762"/>
            <a:ext cx="11927840" cy="815554"/>
          </a:xfrm>
          <a:prstGeom prst="rect">
            <a:avLst/>
          </a:prstGeom>
        </p:spPr>
        <p:txBody>
          <a:bodyPr>
            <a:normAutofit/>
          </a:bodyPr>
          <a:lstStyle>
            <a:lvl1pPr>
              <a:lnSpc>
                <a:spcPct val="100000"/>
              </a:lnSpc>
              <a:spcBef>
                <a:spcPts val="0"/>
              </a:spcBef>
              <a:spcAft>
                <a:spcPts val="1800"/>
              </a:spcAft>
              <a:buNone/>
              <a:defRPr sz="20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685800" indent="-228600">
              <a:lnSpc>
                <a:spcPct val="100000"/>
              </a:lnSpc>
              <a:spcBef>
                <a:spcPts val="0"/>
              </a:spcBef>
              <a:spcAft>
                <a:spcPts val="1800"/>
              </a:spcAft>
              <a:buFont typeface="Courier New" panose="02070309020205020404" pitchFamily="49" charset="0"/>
              <a:buChar char="o"/>
              <a:defRPr sz="18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2pPr>
            <a:lvl3pPr marL="1143000" indent="-228600">
              <a:lnSpc>
                <a:spcPct val="100000"/>
              </a:lnSpc>
              <a:spcBef>
                <a:spcPts val="0"/>
              </a:spcBef>
              <a:spcAft>
                <a:spcPts val="1800"/>
              </a:spcAft>
              <a:buFont typeface="Wingdings" pitchFamily="2" charset="2"/>
              <a:buChar char="v"/>
              <a:defRPr sz="16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3pPr>
            <a:lvl4pPr marL="1600200" indent="-228600">
              <a:lnSpc>
                <a:spcPct val="100000"/>
              </a:lnSpc>
              <a:spcBef>
                <a:spcPts val="0"/>
              </a:spcBef>
              <a:spcAft>
                <a:spcPts val="1800"/>
              </a:spcAft>
              <a:buFont typeface="Wingdings" pitchFamily="2" charset="2"/>
              <a:buChar char="Ø"/>
              <a:defRPr sz="14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4pPr>
            <a:lvl5pPr>
              <a:lnSpc>
                <a:spcPct val="100000"/>
              </a:lnSpc>
              <a:spcBef>
                <a:spcPts val="0"/>
              </a:spcBef>
              <a:spcAft>
                <a:spcPts val="1800"/>
              </a:spcAft>
              <a:defRPr sz="14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5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93396AA0-6A00-40CA-3991-A57289C80267}"/>
              </a:ext>
            </a:extLst>
          </p:cNvPr>
          <p:cNvSpPr>
            <a:spLocks noGrp="1"/>
          </p:cNvSpPr>
          <p:nvPr>
            <p:ph idx="14"/>
          </p:nvPr>
        </p:nvSpPr>
        <p:spPr>
          <a:xfrm>
            <a:off x="0" y="2208435"/>
            <a:ext cx="12192000" cy="3060905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txBody>
          <a:bodyPr>
            <a:normAutofit/>
          </a:bodyPr>
          <a:lstStyle>
            <a:lvl1pPr>
              <a:lnSpc>
                <a:spcPct val="150000"/>
              </a:lnSpc>
              <a:spcBef>
                <a:spcPts val="0"/>
              </a:spcBef>
              <a:spcAft>
                <a:spcPts val="1800"/>
              </a:spcAft>
              <a:buNone/>
              <a:defRPr sz="2000" b="0" i="0">
                <a:solidFill>
                  <a:schemeClr val="tx1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defRPr>
            </a:lvl1pPr>
            <a:lvl2pPr>
              <a:lnSpc>
                <a:spcPct val="150000"/>
              </a:lnSpc>
              <a:spcBef>
                <a:spcPts val="0"/>
              </a:spcBef>
              <a:spcAft>
                <a:spcPts val="1800"/>
              </a:spcAft>
              <a:defRPr sz="18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2pPr>
            <a:lvl3pPr>
              <a:lnSpc>
                <a:spcPct val="150000"/>
              </a:lnSpc>
              <a:spcBef>
                <a:spcPts val="0"/>
              </a:spcBef>
              <a:spcAft>
                <a:spcPts val="1800"/>
              </a:spcAft>
              <a:defRPr sz="16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3pPr>
            <a:lvl4pPr>
              <a:lnSpc>
                <a:spcPct val="150000"/>
              </a:lnSpc>
              <a:spcBef>
                <a:spcPts val="0"/>
              </a:spcBef>
              <a:spcAft>
                <a:spcPts val="1800"/>
              </a:spcAft>
              <a:defRPr sz="14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4pPr>
            <a:lvl5pPr>
              <a:lnSpc>
                <a:spcPct val="150000"/>
              </a:lnSpc>
              <a:spcBef>
                <a:spcPts val="0"/>
              </a:spcBef>
              <a:spcAft>
                <a:spcPts val="1800"/>
              </a:spcAft>
              <a:defRPr sz="14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5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7" name="Title 1">
            <a:extLst>
              <a:ext uri="{FF2B5EF4-FFF2-40B4-BE49-F238E27FC236}">
                <a16:creationId xmlns:a16="http://schemas.microsoft.com/office/drawing/2014/main" id="{C984DF8B-A115-675A-61F9-8356FDECA404}"/>
              </a:ext>
            </a:extLst>
          </p:cNvPr>
          <p:cNvSpPr txBox="1">
            <a:spLocks/>
          </p:cNvSpPr>
          <p:nvPr/>
        </p:nvSpPr>
        <p:spPr>
          <a:xfrm>
            <a:off x="0" y="6248400"/>
            <a:ext cx="12192000" cy="616689"/>
          </a:xfrm>
          <a:prstGeom prst="rect">
            <a:avLst/>
          </a:prstGeom>
          <a:solidFill>
            <a:schemeClr val="bg1">
              <a:lumMod val="85000"/>
              <a:alpha val="29804"/>
            </a:schemeClr>
          </a:solidFill>
        </p:spPr>
        <p:txBody>
          <a:bodyPr vert="horz" lIns="91440" tIns="45720" rIns="91440" bIns="45720" rtlCol="0" anchor="ctr">
            <a:no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2400" b="1" kern="1200">
                <a:solidFill>
                  <a:schemeClr val="tx1"/>
                </a:solidFill>
                <a:latin typeface="Comfortaa" pitchFamily="2" charset="0"/>
                <a:ea typeface="Dotum" panose="020B0600000101010101" pitchFamily="34" charset="-127"/>
                <a:cs typeface="Menlo" panose="020B0609030804020204" pitchFamily="49" charset="0"/>
              </a:defRPr>
            </a:lvl1pPr>
          </a:lstStyle>
          <a:p>
            <a:endParaRPr lang="en-US" dirty="0"/>
          </a:p>
        </p:txBody>
      </p:sp>
      <p:sp>
        <p:nvSpPr>
          <p:cNvPr id="9" name="Text Placeholder 10">
            <a:extLst>
              <a:ext uri="{FF2B5EF4-FFF2-40B4-BE49-F238E27FC236}">
                <a16:creationId xmlns:a16="http://schemas.microsoft.com/office/drawing/2014/main" id="{C464067F-913B-5D2F-4D60-C68E0D113AF2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385444" y="5872025"/>
            <a:ext cx="4288156" cy="314642"/>
          </a:xfrm>
        </p:spPr>
        <p:txBody>
          <a:bodyPr>
            <a:normAutofit/>
          </a:bodyPr>
          <a:lstStyle>
            <a:lvl1pPr>
              <a:buNone/>
              <a:defRPr lang="en-US" sz="1000" i="1" kern="1200" dirty="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</a:lstStyle>
          <a:p>
            <a:pPr lvl="0"/>
            <a:r>
              <a:rPr lang="en-GB"/>
              <a:t>Click to edit Master text styles</a:t>
            </a:r>
          </a:p>
        </p:txBody>
      </p: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EBD928EA-5AB5-0522-8B22-A7613F8BD453}"/>
              </a:ext>
            </a:extLst>
          </p:cNvPr>
          <p:cNvCxnSpPr/>
          <p:nvPr/>
        </p:nvCxnSpPr>
        <p:spPr>
          <a:xfrm>
            <a:off x="0" y="6248400"/>
            <a:ext cx="12192000" cy="0"/>
          </a:xfrm>
          <a:prstGeom prst="line">
            <a:avLst/>
          </a:prstGeom>
          <a:ln w="6350"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" name="Title 1">
            <a:extLst>
              <a:ext uri="{FF2B5EF4-FFF2-40B4-BE49-F238E27FC236}">
                <a16:creationId xmlns:a16="http://schemas.microsoft.com/office/drawing/2014/main" id="{21C008F8-259C-B1B6-F2C6-5E542D36FB4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12192000" cy="802640"/>
          </a:xfrm>
          <a:prstGeom prst="rect">
            <a:avLst/>
          </a:prstGeom>
          <a:solidFill>
            <a:schemeClr val="bg1">
              <a:lumMod val="85000"/>
              <a:alpha val="29804"/>
            </a:schemeClr>
          </a:solidFill>
        </p:spPr>
        <p:txBody>
          <a:bodyPr anchor="ctr">
            <a:noAutofit/>
          </a:bodyPr>
          <a:lstStyle>
            <a:lvl1pPr algn="ctr">
              <a:defRPr sz="2400" b="1">
                <a:latin typeface="Comfortaa" pitchFamily="2" charset="0"/>
                <a:ea typeface="Dotum" panose="020B0600000101010101" pitchFamily="34" charset="-127"/>
                <a:cs typeface="Menlo" panose="020B0609030804020204" pitchFamily="49" charset="0"/>
              </a:defRPr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2" name="Slide Number Placeholder 5">
            <a:extLst>
              <a:ext uri="{FF2B5EF4-FFF2-40B4-BE49-F238E27FC236}">
                <a16:creationId xmlns:a16="http://schemas.microsoft.com/office/drawing/2014/main" id="{A93BB3C8-3227-B030-E53E-4C655475F46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296400" y="6377889"/>
            <a:ext cx="2743200" cy="365125"/>
          </a:xfrm>
          <a:prstGeom prst="rect">
            <a:avLst/>
          </a:prstGeom>
        </p:spPr>
        <p:txBody>
          <a:bodyPr/>
          <a:lstStyle/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1830055-81E6-701B-7B90-7911D8FFB67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3396343" y="6373284"/>
            <a:ext cx="5747657" cy="365125"/>
          </a:xfrm>
          <a:prstGeom prst="rect">
            <a:avLst/>
          </a:prstGeom>
        </p:spPr>
        <p:txBody>
          <a:bodyPr/>
          <a:lstStyle/>
          <a:p>
            <a:r>
              <a:rPr lang="en-US"/>
              <a:t>Epigenomics Data Analysis — Physalia 2023</a:t>
            </a:r>
            <a:endParaRPr lang="en-US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97122516-0AF4-B0FD-F224-516E3D63E40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0182" y="6255490"/>
            <a:ext cx="1048153" cy="58995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616768215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Break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C56CDD01-E503-F840-9A2A-3783A49052FB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 amt="11000"/>
          </a:blip>
          <a:stretch>
            <a:fillRect/>
          </a:stretch>
        </p:blipFill>
        <p:spPr>
          <a:xfrm>
            <a:off x="-9942" y="-1"/>
            <a:ext cx="12192000" cy="1818335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510251D2-43BA-C946-A8E2-C1666250C02C}"/>
              </a:ext>
            </a:extLst>
          </p:cNvPr>
          <p:cNvSpPr txBox="1"/>
          <p:nvPr/>
        </p:nvSpPr>
        <p:spPr>
          <a:xfrm>
            <a:off x="-9939" y="0"/>
            <a:ext cx="12201939" cy="1819373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 anchor="ctr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GB" sz="4400" b="1" i="0" u="none" strike="noStrike" kern="1200" cap="none" spc="0" normalizeH="0" baseline="0" noProof="0" dirty="0">
              <a:ln>
                <a:noFill/>
              </a:ln>
              <a:solidFill>
                <a:srgbClr val="C00000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2" name="Text Placeholder 11">
            <a:extLst>
              <a:ext uri="{FF2B5EF4-FFF2-40B4-BE49-F238E27FC236}">
                <a16:creationId xmlns:a16="http://schemas.microsoft.com/office/drawing/2014/main" id="{E147D1BD-9050-E74A-ACDB-B2A1C15F83CC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9525" y="0"/>
            <a:ext cx="12182475" cy="1817688"/>
          </a:xfrm>
        </p:spPr>
        <p:txBody>
          <a:bodyPr anchor="ctr">
            <a:normAutofit/>
          </a:bodyPr>
          <a:lstStyle>
            <a:lvl1pPr algn="ctr">
              <a:buNone/>
              <a:defRPr lang="en-GB" sz="4000" b="1" kern="1200" dirty="0" smtClean="0">
                <a:solidFill>
                  <a:schemeClr val="tx1"/>
                </a:solidFill>
                <a:latin typeface="Comfortaa" pitchFamily="2" charset="0"/>
                <a:ea typeface="Dotum" panose="020B0600000101010101" pitchFamily="34" charset="-127"/>
                <a:cs typeface="Menlo" panose="020B0609030804020204" pitchFamily="49" charset="0"/>
              </a:defRPr>
            </a:lvl1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Title 1">
            <a:extLst>
              <a:ext uri="{FF2B5EF4-FFF2-40B4-BE49-F238E27FC236}">
                <a16:creationId xmlns:a16="http://schemas.microsoft.com/office/drawing/2014/main" id="{94140DE3-AE3F-48D6-668B-DAF0D0698C0C}"/>
              </a:ext>
            </a:extLst>
          </p:cNvPr>
          <p:cNvSpPr txBox="1">
            <a:spLocks/>
          </p:cNvSpPr>
          <p:nvPr/>
        </p:nvSpPr>
        <p:spPr>
          <a:xfrm>
            <a:off x="0" y="6248400"/>
            <a:ext cx="12192000" cy="616689"/>
          </a:xfrm>
          <a:prstGeom prst="rect">
            <a:avLst/>
          </a:prstGeom>
          <a:solidFill>
            <a:schemeClr val="bg1">
              <a:lumMod val="85000"/>
              <a:alpha val="29804"/>
            </a:schemeClr>
          </a:solidFill>
        </p:spPr>
        <p:txBody>
          <a:bodyPr vert="horz" lIns="91440" tIns="45720" rIns="91440" bIns="45720" rtlCol="0" anchor="ctr">
            <a:no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2400" b="1" kern="1200">
                <a:solidFill>
                  <a:schemeClr val="tx1"/>
                </a:solidFill>
                <a:latin typeface="Comfortaa" pitchFamily="2" charset="0"/>
                <a:ea typeface="Dotum" panose="020B0600000101010101" pitchFamily="34" charset="-127"/>
                <a:cs typeface="Menlo" panose="020B0609030804020204" pitchFamily="49" charset="0"/>
              </a:defRPr>
            </a:lvl1pPr>
          </a:lstStyle>
          <a:p>
            <a:endParaRPr lang="en-US" dirty="0"/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2DB1775B-D24B-979A-7BDF-F003D3300A08}"/>
              </a:ext>
            </a:extLst>
          </p:cNvPr>
          <p:cNvCxnSpPr/>
          <p:nvPr/>
        </p:nvCxnSpPr>
        <p:spPr>
          <a:xfrm>
            <a:off x="0" y="6248400"/>
            <a:ext cx="12192000" cy="0"/>
          </a:xfrm>
          <a:prstGeom prst="line">
            <a:avLst/>
          </a:prstGeom>
          <a:ln w="6350"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Slide Number Placeholder 5">
            <a:extLst>
              <a:ext uri="{FF2B5EF4-FFF2-40B4-BE49-F238E27FC236}">
                <a16:creationId xmlns:a16="http://schemas.microsoft.com/office/drawing/2014/main" id="{1156D004-53FB-9622-2593-36C9B40B072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296400" y="6377889"/>
            <a:ext cx="2743200" cy="365125"/>
          </a:xfrm>
          <a:prstGeom prst="rect">
            <a:avLst/>
          </a:prstGeom>
        </p:spPr>
        <p:txBody>
          <a:bodyPr/>
          <a:lstStyle/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  <p:sp>
        <p:nvSpPr>
          <p:cNvPr id="10" name="Footer Placeholder 4">
            <a:extLst>
              <a:ext uri="{FF2B5EF4-FFF2-40B4-BE49-F238E27FC236}">
                <a16:creationId xmlns:a16="http://schemas.microsoft.com/office/drawing/2014/main" id="{5878757D-A12E-AC9E-7264-3EA4BD4B97B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3396343" y="6373284"/>
            <a:ext cx="5747657" cy="365125"/>
          </a:xfrm>
          <a:prstGeom prst="rect">
            <a:avLst/>
          </a:prstGeom>
        </p:spPr>
        <p:txBody>
          <a:bodyPr/>
          <a:lstStyle/>
          <a:p>
            <a:r>
              <a:rPr lang="en-US"/>
              <a:t>Epigenomics Data Analysis — Physalia 2023</a:t>
            </a:r>
            <a:endParaRPr lang="en-US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CCA154C1-BADA-FCD4-0D33-C98DC8B1598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0182" y="6255490"/>
            <a:ext cx="1048153" cy="58995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697945475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Empt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147994433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obj">
  <p:cSld name="1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80D9C0A-1549-7443-85EE-55FCCABF3C4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12192000" cy="1341912"/>
          </a:xfrm>
          <a:prstGeom prst="rect">
            <a:avLst/>
          </a:prstGeom>
        </p:spPr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7A1A869-7351-D242-86E9-79866614E91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3CE2C13-B8D7-F44C-9139-6617535B90F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GB"/>
              <a:t>2020/01/13</a:t>
            </a:r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7696C65-553F-C344-AE7F-E5E25FFE641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Introduction to ChIP-seq</a:t>
            </a:r>
          </a:p>
        </p:txBody>
      </p:sp>
      <p:sp>
        <p:nvSpPr>
          <p:cNvPr id="9" name="Slide Number Placeholder 5">
            <a:extLst>
              <a:ext uri="{FF2B5EF4-FFF2-40B4-BE49-F238E27FC236}">
                <a16:creationId xmlns:a16="http://schemas.microsoft.com/office/drawing/2014/main" id="{F767CE44-45AC-9541-9EC5-59AD83678070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019295" y="5951350"/>
            <a:ext cx="1172705" cy="90665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6000" b="1">
                <a:solidFill>
                  <a:schemeClr val="bg1">
                    <a:lumMod val="65000"/>
                  </a:schemeClr>
                </a:solidFill>
              </a:defRPr>
            </a:lvl1pPr>
          </a:lstStyle>
          <a:p>
            <a:fld id="{B9F28562-9D3B-E049-90B5-3EB3B52779B1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85479290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/Relationships>
</file>

<file path=ppt/slideMasters/_rels/slideMaster2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15.xml"/><Relationship Id="rId3" Type="http://schemas.openxmlformats.org/officeDocument/2006/relationships/slideLayout" Target="../slideLayouts/slideLayout10.xml"/><Relationship Id="rId7" Type="http://schemas.openxmlformats.org/officeDocument/2006/relationships/slideLayout" Target="../slideLayouts/slideLayout14.xml"/><Relationship Id="rId2" Type="http://schemas.openxmlformats.org/officeDocument/2006/relationships/slideLayout" Target="../slideLayouts/slideLayout9.xml"/><Relationship Id="rId1" Type="http://schemas.openxmlformats.org/officeDocument/2006/relationships/slideLayout" Target="../slideLayouts/slideLayout8.xml"/><Relationship Id="rId6" Type="http://schemas.openxmlformats.org/officeDocument/2006/relationships/slideLayout" Target="../slideLayouts/slideLayout13.xml"/><Relationship Id="rId5" Type="http://schemas.openxmlformats.org/officeDocument/2006/relationships/slideLayout" Target="../slideLayouts/slideLayout12.xml"/><Relationship Id="rId4" Type="http://schemas.openxmlformats.org/officeDocument/2006/relationships/slideLayout" Target="../slideLayouts/slideLayout11.xml"/><Relationship Id="rId9" Type="http://schemas.openxmlformats.org/officeDocument/2006/relationships/theme" Target="../theme/theme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B899439E-A8C1-0147-878A-E596CBCA791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BE68514-C71E-D749-B402-55997747391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7529C53-DC6E-5B43-AE85-3EF6A4F76C3C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5E34DA9-DD42-8445-BB79-DF30D799A800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r>
              <a:rPr lang="en-US"/>
              <a:t>Epigenomics Data Analysis — Physalia 2023</a:t>
            </a:r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84CFCD4-3911-E943-8744-54979FE9BEA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61145429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3" r:id="rId2"/>
    <p:sldLayoutId id="2147483675" r:id="rId3"/>
    <p:sldLayoutId id="2147483674" r:id="rId4"/>
    <p:sldLayoutId id="2147483672" r:id="rId5"/>
    <p:sldLayoutId id="2147483664" r:id="rId6"/>
    <p:sldLayoutId id="2147483673" r:id="rId7"/>
  </p:sldLayoutIdLst>
  <p:hf hd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Arial" panose="020B0604020202020204" pitchFamily="34" charset="0"/>
          <a:ea typeface="+mj-ea"/>
          <a:cs typeface="Arial" panose="020B0604020202020204" pitchFamily="34" charset="0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B899439E-A8C1-0147-878A-E596CBCA791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BE68514-C71E-D749-B402-55997747391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7529C53-DC6E-5B43-AE85-3EF6A4F76C3C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5E34DA9-DD42-8445-BB79-DF30D799A800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r>
              <a:rPr lang="en-US"/>
              <a:t>Epigenomics Data Analysis — Physalia 2023</a:t>
            </a:r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84CFCD4-3911-E943-8744-54979FE9BEA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13977123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7" r:id="rId1"/>
    <p:sldLayoutId id="2147483678" r:id="rId2"/>
    <p:sldLayoutId id="2147483679" r:id="rId3"/>
    <p:sldLayoutId id="2147483680" r:id="rId4"/>
    <p:sldLayoutId id="2147483681" r:id="rId5"/>
    <p:sldLayoutId id="2147483682" r:id="rId6"/>
    <p:sldLayoutId id="2147483683" r:id="rId7"/>
    <p:sldLayoutId id="2147483684" r:id="rId8"/>
  </p:sldLayoutIdLst>
  <p:hf hd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Arial" panose="020B0604020202020204" pitchFamily="34" charset="0"/>
          <a:ea typeface="+mj-ea"/>
          <a:cs typeface="Arial" panose="020B0604020202020204" pitchFamily="34" charset="0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1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1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1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1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nature.com/articles/s41586-025-08844-z" TargetMode="External"/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1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jpeg"/><Relationship Id="rId2" Type="http://schemas.openxmlformats.org/officeDocument/2006/relationships/hyperlink" Target="https://doi.org/10.1016/j.cell.2018.01.029" TargetMode="External"/><Relationship Id="rId1" Type="http://schemas.openxmlformats.org/officeDocument/2006/relationships/slideLayout" Target="../slideLayouts/slideLayout1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hyperlink" Target="https://doi.org/10.1016/j.cell.2018.01.029" TargetMode="External"/><Relationship Id="rId1" Type="http://schemas.openxmlformats.org/officeDocument/2006/relationships/slideLayout" Target="../slideLayouts/slideLayout1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hyperlink" Target="https://meme-suite.org/meme/" TargetMode="External"/><Relationship Id="rId1" Type="http://schemas.openxmlformats.org/officeDocument/2006/relationships/slideLayout" Target="../slideLayouts/slideLayout12.xml"/><Relationship Id="rId4" Type="http://schemas.openxmlformats.org/officeDocument/2006/relationships/image" Target="../media/image17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hyperlink" Target="https://meme-suite.org/meme/" TargetMode="External"/><Relationship Id="rId1" Type="http://schemas.openxmlformats.org/officeDocument/2006/relationships/slideLayout" Target="../slideLayouts/slideLayout1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hyperlink" Target="https://meme-suite.org/meme/" TargetMode="External"/><Relationship Id="rId1" Type="http://schemas.openxmlformats.org/officeDocument/2006/relationships/slideLayout" Target="../slideLayouts/slideLayout12.xml"/><Relationship Id="rId4" Type="http://schemas.openxmlformats.org/officeDocument/2006/relationships/image" Target="../media/image19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hyperlink" Target="https://meme-suite.org/meme/" TargetMode="External"/><Relationship Id="rId1" Type="http://schemas.openxmlformats.org/officeDocument/2006/relationships/slideLayout" Target="../slideLayouts/slideLayout12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hyperlink" Target="https://meme-suite.org/meme/" TargetMode="External"/><Relationship Id="rId1" Type="http://schemas.openxmlformats.org/officeDocument/2006/relationships/slideLayout" Target="../slideLayouts/slideLayout12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hyperlink" Target="https://meme-suite.org/meme/" TargetMode="External"/><Relationship Id="rId1" Type="http://schemas.openxmlformats.org/officeDocument/2006/relationships/slideLayout" Target="../slideLayouts/slideLayout12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hyperlink" Target="https://meme-suite.org/meme/" TargetMode="External"/><Relationship Id="rId1" Type="http://schemas.openxmlformats.org/officeDocument/2006/relationships/slideLayout" Target="../slideLayouts/slideLayout12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hyperlink" Target="https://jaspar.elixir.no/" TargetMode="External"/><Relationship Id="rId1" Type="http://schemas.openxmlformats.org/officeDocument/2006/relationships/slideLayout" Target="../slideLayouts/slideLayout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6">
            <a:extLst>
              <a:ext uri="{FF2B5EF4-FFF2-40B4-BE49-F238E27FC236}">
                <a16:creationId xmlns:a16="http://schemas.microsoft.com/office/drawing/2014/main" id="{4D19899D-021E-02BA-CBD8-FEA50B25339A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304800" y="1122363"/>
            <a:ext cx="11582400" cy="2387600"/>
          </a:xfrm>
        </p:spPr>
        <p:txBody>
          <a:bodyPr>
            <a:normAutofit/>
          </a:bodyPr>
          <a:lstStyle/>
          <a:p>
            <a:r>
              <a:rPr lang="en-GB" i="0" dirty="0">
                <a:solidFill>
                  <a:srgbClr val="222222"/>
                </a:solidFill>
                <a:effectLst/>
                <a:latin typeface="Open Sans" panose="020B0606030504020204" pitchFamily="34" charset="0"/>
              </a:rPr>
              <a:t>Motif identification from ChIP-seq</a:t>
            </a:r>
            <a:endParaRPr lang="en-US" sz="3000" dirty="0"/>
          </a:p>
        </p:txBody>
      </p:sp>
      <p:sp>
        <p:nvSpPr>
          <p:cNvPr id="8" name="Subtitle 7">
            <a:extLst>
              <a:ext uri="{FF2B5EF4-FFF2-40B4-BE49-F238E27FC236}">
                <a16:creationId xmlns:a16="http://schemas.microsoft.com/office/drawing/2014/main" id="{D07EAE9F-3B09-09D5-50EC-A51FBB06AC2F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 dirty="0"/>
              <a:t>Epigenomics Data Analysis</a:t>
            </a:r>
          </a:p>
          <a:p>
            <a:r>
              <a:rPr lang="en-US" dirty="0"/>
              <a:t>Jacques </a:t>
            </a:r>
            <a:r>
              <a:rPr lang="en-US" dirty="0" err="1"/>
              <a:t>Serizay</a:t>
            </a:r>
            <a:endParaRPr lang="en-US" dirty="0"/>
          </a:p>
          <a:p>
            <a:r>
              <a:rPr lang="en-US"/>
              <a:t>Physalia 2026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53455225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F3BB33E-B862-CAF3-56F5-2A6242A7CA0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732A748-149E-4561-C799-54C8A135749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Accessible sites are often regulatory elements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BF991E2-D538-87BC-B4CE-907557ED481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9F28562-9D3B-E049-90B5-3EB3B52779B1}" type="slidenum">
              <a:rPr lang="en-US" smtClean="0"/>
              <a:pPr/>
              <a:t>2</a:t>
            </a:fld>
            <a:endParaRPr lang="en-US" b="1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F83427CF-35FB-6F8C-838A-90D2D848B13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68548" y="949161"/>
            <a:ext cx="6054904" cy="514461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7188611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E347545-F576-367E-135B-E1B6869F0CE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79A520A-3C8F-57D6-7692-DD48C0DC559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General transcription machinery is assembled around promoters using sequence affinity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D99080E-A480-D833-1246-56DA959E755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9F28562-9D3B-E049-90B5-3EB3B52779B1}" type="slidenum">
              <a:rPr lang="en-US" smtClean="0"/>
              <a:pPr/>
              <a:t>3</a:t>
            </a:fld>
            <a:endParaRPr lang="en-US" b="1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1D9BF1AD-CBF6-B41B-E9A6-0F16B8BAC33C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782" r="45076"/>
          <a:stretch/>
        </p:blipFill>
        <p:spPr>
          <a:xfrm>
            <a:off x="3848100" y="833097"/>
            <a:ext cx="4208125" cy="3119586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C31FDA20-A549-8CD0-5866-B1CE76C4FC7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606211" y="3953339"/>
            <a:ext cx="6979578" cy="218762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6716178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8BEF6F6-1F0A-6D3E-1843-82CA98061E7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D076D66-2893-E659-5AE3-686C7CFA0DC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Transcription factors can be recruited directly to DNA motifs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73A42CD-B46A-560F-B9F2-FAC9BA46D47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9F28562-9D3B-E049-90B5-3EB3B52779B1}" type="slidenum">
              <a:rPr lang="en-US" smtClean="0"/>
              <a:pPr/>
              <a:t>4</a:t>
            </a:fld>
            <a:endParaRPr lang="en-US" b="1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99E46724-EC2A-CDC9-24C1-09E6140F885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46550" y="1035050"/>
            <a:ext cx="3898900" cy="4787900"/>
          </a:xfrm>
          <a:prstGeom prst="rect">
            <a:avLst/>
          </a:prstGeom>
        </p:spPr>
      </p:pic>
      <p:sp>
        <p:nvSpPr>
          <p:cNvPr id="4" name="Rectangle 3">
            <a:extLst>
              <a:ext uri="{FF2B5EF4-FFF2-40B4-BE49-F238E27FC236}">
                <a16:creationId xmlns:a16="http://schemas.microsoft.com/office/drawing/2014/main" id="{42FB303F-64CA-A80E-A99B-601BDF8C26FC}"/>
              </a:ext>
            </a:extLst>
          </p:cNvPr>
          <p:cNvSpPr/>
          <p:nvPr/>
        </p:nvSpPr>
        <p:spPr>
          <a:xfrm>
            <a:off x="4130211" y="1099335"/>
            <a:ext cx="503434" cy="390418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0928734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CD5A83D-F922-71E3-0040-8C3FED52653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A0B19AA2-ED55-EA48-D71B-F28B53CD375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09800" y="1467692"/>
            <a:ext cx="7772400" cy="3922616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4AFA090B-C23C-5243-80A1-AC5786A3ACB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TFs can also mediate INDIRECT recruitment of factors to chromatin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BC563DB-8473-F466-7C82-900ECFADA3F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9F28562-9D3B-E049-90B5-3EB3B52779B1}" type="slidenum">
              <a:rPr lang="en-US" smtClean="0"/>
              <a:pPr/>
              <a:t>5</a:t>
            </a:fld>
            <a:endParaRPr lang="en-US" b="1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3A3CEFCD-27A0-DCB4-6E67-49EC08402AA5}"/>
              </a:ext>
            </a:extLst>
          </p:cNvPr>
          <p:cNvSpPr/>
          <p:nvPr/>
        </p:nvSpPr>
        <p:spPr>
          <a:xfrm>
            <a:off x="2209800" y="1541124"/>
            <a:ext cx="503434" cy="390418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0759900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4660DC8-29D2-BA00-34BE-BC5EED41CD3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10A0CC1-DA06-9ED8-017C-5B9F3F648F5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Motifs are important in shaping all biological processes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6E63058-8EFF-647E-D6F8-F841E06F2AA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9F28562-9D3B-E049-90B5-3EB3B52779B1}" type="slidenum">
              <a:rPr lang="en-US" smtClean="0"/>
              <a:pPr/>
              <a:t>6</a:t>
            </a:fld>
            <a:endParaRPr lang="en-US" b="1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05B69C79-AEB2-BD89-7707-A80CA1AD1C8B}"/>
              </a:ext>
            </a:extLst>
          </p:cNvPr>
          <p:cNvSpPr/>
          <p:nvPr/>
        </p:nvSpPr>
        <p:spPr>
          <a:xfrm>
            <a:off x="2209800" y="1541124"/>
            <a:ext cx="503434" cy="390418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D4851D21-1540-DFBA-3FA9-1DEE66AEE92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75040" y="1114544"/>
            <a:ext cx="6841920" cy="4905910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566DC4F9-1661-F5D7-EA2D-E311B465CC93}"/>
              </a:ext>
            </a:extLst>
          </p:cNvPr>
          <p:cNvSpPr txBox="1"/>
          <p:nvPr/>
        </p:nvSpPr>
        <p:spPr>
          <a:xfrm>
            <a:off x="92467" y="5881955"/>
            <a:ext cx="3810210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>
                <a:hlinkClick r:id="rId3"/>
              </a:rPr>
              <a:t>https://www.nature.com/articles/s41586-025-08844-z</a:t>
            </a:r>
            <a:r>
              <a:rPr lang="en-US" sz="1200" dirty="0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3667232230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DB1467E-C072-9DEE-60B4-03E4366C3FB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063922A-326B-C4A4-0308-F905513DB41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Motifs are important in shaping all biological processes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A1FB00F-6617-41AD-B06D-6CB0E5079C5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9F28562-9D3B-E049-90B5-3EB3B52779B1}" type="slidenum">
              <a:rPr lang="en-US" smtClean="0"/>
              <a:pPr/>
              <a:t>7</a:t>
            </a:fld>
            <a:endParaRPr lang="en-US" b="1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A4025039-EF74-21F8-2234-4C0E752DDED1}"/>
              </a:ext>
            </a:extLst>
          </p:cNvPr>
          <p:cNvSpPr/>
          <p:nvPr/>
        </p:nvSpPr>
        <p:spPr>
          <a:xfrm>
            <a:off x="2209800" y="1541124"/>
            <a:ext cx="503434" cy="390418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4F9D04A5-6D48-D6E1-60B0-C63221302CE2}"/>
              </a:ext>
            </a:extLst>
          </p:cNvPr>
          <p:cNvSpPr txBox="1"/>
          <p:nvPr/>
        </p:nvSpPr>
        <p:spPr>
          <a:xfrm>
            <a:off x="92467" y="5881955"/>
            <a:ext cx="2999539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>
                <a:hlinkClick r:id="rId2"/>
              </a:rPr>
              <a:t>https://doi.org/10.1016/j.cell.2018.01.029</a:t>
            </a:r>
            <a:r>
              <a:rPr lang="en-US" sz="1200" dirty="0"/>
              <a:t> </a:t>
            </a:r>
          </a:p>
        </p:txBody>
      </p:sp>
      <p:pic>
        <p:nvPicPr>
          <p:cNvPr id="1026" name="Picture 2">
            <a:extLst>
              <a:ext uri="{FF2B5EF4-FFF2-40B4-BE49-F238E27FC236}">
                <a16:creationId xmlns:a16="http://schemas.microsoft.com/office/drawing/2014/main" id="{4BAE381F-7B37-D550-91CA-32879BC7B80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902678" y="817551"/>
            <a:ext cx="4385058" cy="522289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" name="Rectangle 4">
            <a:extLst>
              <a:ext uri="{FF2B5EF4-FFF2-40B4-BE49-F238E27FC236}">
                <a16:creationId xmlns:a16="http://schemas.microsoft.com/office/drawing/2014/main" id="{F0B84C88-802E-3AC7-E7E5-7D42CD2625EF}"/>
              </a:ext>
            </a:extLst>
          </p:cNvPr>
          <p:cNvSpPr/>
          <p:nvPr/>
        </p:nvSpPr>
        <p:spPr>
          <a:xfrm>
            <a:off x="3697195" y="5075434"/>
            <a:ext cx="4974194" cy="575353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74372690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D735DF7-04A7-5A2E-A3A8-07B4244E7E4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048FF83-4C65-7D55-483A-4F0ED47CE3B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TF gene expression: an orthogonal approach to estimate TF’s activity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9F4242B-8729-D2E7-C41C-0705B939F67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9F28562-9D3B-E049-90B5-3EB3B52779B1}" type="slidenum">
              <a:rPr lang="en-US" smtClean="0"/>
              <a:pPr/>
              <a:t>8</a:t>
            </a:fld>
            <a:endParaRPr lang="en-US" b="1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73D817B1-7898-B33D-2CC7-B0C09DB09BD2}"/>
              </a:ext>
            </a:extLst>
          </p:cNvPr>
          <p:cNvSpPr/>
          <p:nvPr/>
        </p:nvSpPr>
        <p:spPr>
          <a:xfrm>
            <a:off x="2209800" y="1541124"/>
            <a:ext cx="503434" cy="390418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89204340-9747-CB1F-0130-A7AD3CBA61FB}"/>
              </a:ext>
            </a:extLst>
          </p:cNvPr>
          <p:cNvSpPr txBox="1"/>
          <p:nvPr/>
        </p:nvSpPr>
        <p:spPr>
          <a:xfrm>
            <a:off x="92467" y="5881955"/>
            <a:ext cx="2999539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>
                <a:hlinkClick r:id="rId2"/>
              </a:rPr>
              <a:t>https://doi.org/10.1016/j.cell.2018.01.029</a:t>
            </a:r>
            <a:r>
              <a:rPr lang="en-US" sz="1200" dirty="0"/>
              <a:t> 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77315A9B-22FD-DDEC-86F5-6D50C00B88B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209800" y="1136667"/>
            <a:ext cx="7772400" cy="458466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04226564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1B12CEFD-77D8-3849-BB96-F3630062034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11760" y="873762"/>
            <a:ext cx="11927840" cy="2555238"/>
          </a:xfrm>
        </p:spPr>
        <p:txBody>
          <a:bodyPr>
            <a:normAutofit/>
          </a:bodyPr>
          <a:lstStyle/>
          <a:p>
            <a:r>
              <a:rPr lang="en-GB" dirty="0"/>
              <a:t>MEME is a versatile suite of </a:t>
            </a:r>
            <a:r>
              <a:rPr lang="en-GB" dirty="0" err="1"/>
              <a:t>softwares</a:t>
            </a:r>
            <a:r>
              <a:rPr lang="en-GB" dirty="0"/>
              <a:t> largely used to identify known or </a:t>
            </a:r>
            <a:r>
              <a:rPr lang="en-GB" i="1" dirty="0"/>
              <a:t>de novo</a:t>
            </a:r>
            <a:r>
              <a:rPr lang="en-GB" dirty="0"/>
              <a:t> motifs enriched in a given set of sequences of interest. 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C2BCBB83-5433-344C-BDB0-622BF73A077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Finding motifs enriched in sequences extracted from </a:t>
            </a:r>
            <a:r>
              <a:rPr lang="en-US" dirty="0" err="1"/>
              <a:t>ChIP</a:t>
            </a:r>
            <a:r>
              <a:rPr lang="en-US" dirty="0"/>
              <a:t>-seq peaks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7949C03-C5B6-E94F-8188-53F7E2FF3BA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9F28562-9D3B-E049-90B5-3EB3B52779B1}" type="slidenum">
              <a:rPr lang="en-US" smtClean="0"/>
              <a:pPr/>
              <a:t>9</a:t>
            </a:fld>
            <a:endParaRPr lang="en-US" b="1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59698367-856C-E932-BDBE-4FDB512A2114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/>
        <p:txBody>
          <a:bodyPr/>
          <a:lstStyle/>
          <a:p>
            <a:r>
              <a:rPr lang="en-US" dirty="0">
                <a:hlinkClick r:id="rId2"/>
              </a:rPr>
              <a:t>https://meme-suite.org/meme/</a:t>
            </a:r>
            <a:endParaRPr lang="en-US" dirty="0"/>
          </a:p>
        </p:txBody>
      </p:sp>
      <p:pic>
        <p:nvPicPr>
          <p:cNvPr id="1026" name="Picture 2" descr="Introduction - MEME Suite">
            <a:extLst>
              <a:ext uri="{FF2B5EF4-FFF2-40B4-BE49-F238E27FC236}">
                <a16:creationId xmlns:a16="http://schemas.microsoft.com/office/drawing/2014/main" id="{55FDD84C-CC79-9E9D-E8F5-D90D56827E5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85444" y="1946383"/>
            <a:ext cx="7381819" cy="310747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03C8B62B-100D-B0DD-DC5E-988DDFA6C2D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247638" y="2383604"/>
            <a:ext cx="3690018" cy="209079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78766815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DD0DB52-EB72-A32E-9E20-03BE4C1E153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4CA0BC1-3F8D-3327-87C0-CC60620A346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DE NOVO identification vs COMPARISON to known motifs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A1FA730-3AF7-D104-16BA-0302093C2C9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9F28562-9D3B-E049-90B5-3EB3B52779B1}" type="slidenum">
              <a:rPr lang="en-US" smtClean="0"/>
              <a:pPr/>
              <a:t>10</a:t>
            </a:fld>
            <a:endParaRPr lang="en-US" b="1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186F3F00-853C-A9C4-EC31-74A682304A64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/>
        <p:txBody>
          <a:bodyPr/>
          <a:lstStyle/>
          <a:p>
            <a:r>
              <a:rPr lang="en-US" dirty="0">
                <a:hlinkClick r:id="rId2"/>
              </a:rPr>
              <a:t>https://meme-suite.org/meme/</a:t>
            </a:r>
            <a:endParaRPr lang="en-US" dirty="0"/>
          </a:p>
        </p:txBody>
      </p:sp>
      <p:pic>
        <p:nvPicPr>
          <p:cNvPr id="9" name="Picture 2" descr="Introduction - MEME Suite">
            <a:extLst>
              <a:ext uri="{FF2B5EF4-FFF2-40B4-BE49-F238E27FC236}">
                <a16:creationId xmlns:a16="http://schemas.microsoft.com/office/drawing/2014/main" id="{536E25C0-20E2-8ABE-5762-4163FDCD445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142325" y="1530662"/>
            <a:ext cx="7381819" cy="310747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0" name="Rectangle 9">
            <a:extLst>
              <a:ext uri="{FF2B5EF4-FFF2-40B4-BE49-F238E27FC236}">
                <a16:creationId xmlns:a16="http://schemas.microsoft.com/office/drawing/2014/main" id="{8155EA85-2490-AEEB-9428-998307A8A0D5}"/>
              </a:ext>
            </a:extLst>
          </p:cNvPr>
          <p:cNvSpPr/>
          <p:nvPr/>
        </p:nvSpPr>
        <p:spPr>
          <a:xfrm>
            <a:off x="2085653" y="2731325"/>
            <a:ext cx="4288157" cy="2113806"/>
          </a:xfrm>
          <a:prstGeom prst="rect">
            <a:avLst/>
          </a:prstGeom>
          <a:solidFill>
            <a:schemeClr val="bg1">
              <a:alpha val="93442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4BF87485-AA69-EF7B-B54F-460BACB0F0B5}"/>
              </a:ext>
            </a:extLst>
          </p:cNvPr>
          <p:cNvSpPr/>
          <p:nvPr/>
        </p:nvSpPr>
        <p:spPr>
          <a:xfrm>
            <a:off x="6372645" y="3182587"/>
            <a:ext cx="4288157" cy="2113806"/>
          </a:xfrm>
          <a:prstGeom prst="rect">
            <a:avLst/>
          </a:prstGeom>
          <a:solidFill>
            <a:schemeClr val="bg1">
              <a:alpha val="93442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55120638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A249BC0-0D7C-D96A-8A94-7ECD0A622D7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649F359-34F2-3368-2A79-C161326353B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DE NOVO identification vs COMPARISON to known motifs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BE693E9-28A6-8BD0-0FC4-D79CBD197E6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9F28562-9D3B-E049-90B5-3EB3B52779B1}" type="slidenum">
              <a:rPr lang="en-US" smtClean="0"/>
              <a:pPr/>
              <a:t>11</a:t>
            </a:fld>
            <a:endParaRPr lang="en-US" b="1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613CC93B-6B7D-3BB1-4C47-0E34CD248D9C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/>
        <p:txBody>
          <a:bodyPr/>
          <a:lstStyle/>
          <a:p>
            <a:r>
              <a:rPr lang="en-US" dirty="0">
                <a:hlinkClick r:id="rId2"/>
              </a:rPr>
              <a:t>https://meme-suite.org/meme/</a:t>
            </a:r>
            <a:endParaRPr lang="en-US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A30E58EC-14BF-FB9F-C080-58CB4DD7C8B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657268" y="1338035"/>
            <a:ext cx="3811695" cy="3575768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5752D7F8-DA67-0EAF-D7B3-A2168489D41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88968" y="1484270"/>
            <a:ext cx="3811695" cy="317764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67638907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99419F0-08E2-B82C-8387-3AD41858988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F744884-18DB-4E88-C8CC-83403AC93DB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DE NOVO identification vs COMPARISON to known motifs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8546F5D-6F7C-B337-F007-5EAC76C520D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9F28562-9D3B-E049-90B5-3EB3B52779B1}" type="slidenum">
              <a:rPr lang="en-US" smtClean="0"/>
              <a:pPr/>
              <a:t>12</a:t>
            </a:fld>
            <a:endParaRPr lang="en-US" b="1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72AF49E6-426E-7285-BC58-96F4A0A94C8B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/>
        <p:txBody>
          <a:bodyPr/>
          <a:lstStyle/>
          <a:p>
            <a:r>
              <a:rPr lang="en-US" dirty="0">
                <a:hlinkClick r:id="rId2"/>
              </a:rPr>
              <a:t>https://meme-suite.org/meme/</a:t>
            </a:r>
            <a:endParaRPr lang="en-US" dirty="0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D8E0FA63-B3EF-A6CF-0C02-3EE42ADFCBE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000498" y="1220515"/>
            <a:ext cx="6191004" cy="432661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68452755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5695690-2281-4C65-1680-81BB3E6B515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17610DF-28BC-70A2-C24C-BD6B41A9430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DE NOVO identification vs COMPARISON to known motifs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3FDF497-6BCC-F83C-BFFD-FA79BBA0B03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9F28562-9D3B-E049-90B5-3EB3B52779B1}" type="slidenum">
              <a:rPr lang="en-US" smtClean="0"/>
              <a:pPr/>
              <a:t>13</a:t>
            </a:fld>
            <a:endParaRPr lang="en-US" b="1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FEE968A4-47F1-D632-5287-DB39EAD0A5F3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/>
        <p:txBody>
          <a:bodyPr/>
          <a:lstStyle/>
          <a:p>
            <a:r>
              <a:rPr lang="en-US" dirty="0">
                <a:hlinkClick r:id="rId2"/>
              </a:rPr>
              <a:t>https://meme-suite.org/meme/</a:t>
            </a:r>
            <a:endParaRPr lang="en-US" dirty="0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6A492A5B-A31B-F302-FEAC-3AB59A8A35B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546876" y="1660383"/>
            <a:ext cx="5349218" cy="313503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84765785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DB3A570-8C1F-E316-BF70-5187C95B031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A06B3B-5275-A736-972C-3FE0D677BB8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DE NOVO identification vs COMPARISON to known motifs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B2FE0B2-ECBD-8DDC-58D4-92A6B39A32F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9F28562-9D3B-E049-90B5-3EB3B52779B1}" type="slidenum">
              <a:rPr lang="en-US" smtClean="0"/>
              <a:pPr/>
              <a:t>14</a:t>
            </a:fld>
            <a:endParaRPr lang="en-US" b="1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F9A1EEA9-7017-29DD-8779-D6E4F14BEF6A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/>
        <p:txBody>
          <a:bodyPr/>
          <a:lstStyle/>
          <a:p>
            <a:r>
              <a:rPr lang="en-US" dirty="0">
                <a:hlinkClick r:id="rId2"/>
              </a:rPr>
              <a:t>https://meme-suite.org/meme/</a:t>
            </a:r>
            <a:endParaRPr lang="en-US" dirty="0"/>
          </a:p>
        </p:txBody>
      </p:sp>
      <p:pic>
        <p:nvPicPr>
          <p:cNvPr id="9" name="Picture 2" descr="Introduction - MEME Suite">
            <a:extLst>
              <a:ext uri="{FF2B5EF4-FFF2-40B4-BE49-F238E27FC236}">
                <a16:creationId xmlns:a16="http://schemas.microsoft.com/office/drawing/2014/main" id="{7F225330-E73C-E0B6-99C2-282F509817C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142325" y="1530662"/>
            <a:ext cx="7381819" cy="310747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1" name="Rectangle 10">
            <a:extLst>
              <a:ext uri="{FF2B5EF4-FFF2-40B4-BE49-F238E27FC236}">
                <a16:creationId xmlns:a16="http://schemas.microsoft.com/office/drawing/2014/main" id="{28F2ED5B-AC5B-5267-C8AA-21E3C02C08D1}"/>
              </a:ext>
            </a:extLst>
          </p:cNvPr>
          <p:cNvSpPr/>
          <p:nvPr/>
        </p:nvSpPr>
        <p:spPr>
          <a:xfrm>
            <a:off x="6384520" y="1080655"/>
            <a:ext cx="4288157" cy="2113806"/>
          </a:xfrm>
          <a:prstGeom prst="rect">
            <a:avLst/>
          </a:prstGeom>
          <a:solidFill>
            <a:schemeClr val="bg1">
              <a:alpha val="93442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E798D810-EDC7-02F0-94E6-5E75ABB46B32}"/>
              </a:ext>
            </a:extLst>
          </p:cNvPr>
          <p:cNvSpPr/>
          <p:nvPr/>
        </p:nvSpPr>
        <p:spPr>
          <a:xfrm>
            <a:off x="2026278" y="1252647"/>
            <a:ext cx="3091988" cy="1478678"/>
          </a:xfrm>
          <a:prstGeom prst="rect">
            <a:avLst/>
          </a:prstGeom>
          <a:solidFill>
            <a:schemeClr val="bg1">
              <a:alpha val="93442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E6F548D6-C921-C23F-46CE-5633A323DC3E}"/>
              </a:ext>
            </a:extLst>
          </p:cNvPr>
          <p:cNvSpPr/>
          <p:nvPr/>
        </p:nvSpPr>
        <p:spPr>
          <a:xfrm>
            <a:off x="3265714" y="2731324"/>
            <a:ext cx="2975940" cy="676893"/>
          </a:xfrm>
          <a:prstGeom prst="rect">
            <a:avLst/>
          </a:prstGeom>
          <a:solidFill>
            <a:schemeClr val="bg1">
              <a:alpha val="93442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2A4C9EAC-ABD1-CC50-AF72-193C2D8A7849}"/>
              </a:ext>
            </a:extLst>
          </p:cNvPr>
          <p:cNvSpPr/>
          <p:nvPr/>
        </p:nvSpPr>
        <p:spPr>
          <a:xfrm>
            <a:off x="3265714" y="3408217"/>
            <a:ext cx="1852552" cy="486889"/>
          </a:xfrm>
          <a:prstGeom prst="rect">
            <a:avLst/>
          </a:prstGeom>
          <a:solidFill>
            <a:schemeClr val="bg1">
              <a:alpha val="93442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9D7507D2-7706-2EEB-E03E-07B4496372A7}"/>
              </a:ext>
            </a:extLst>
          </p:cNvPr>
          <p:cNvSpPr/>
          <p:nvPr/>
        </p:nvSpPr>
        <p:spPr>
          <a:xfrm>
            <a:off x="3515095" y="3895106"/>
            <a:ext cx="2726559" cy="676892"/>
          </a:xfrm>
          <a:prstGeom prst="rect">
            <a:avLst/>
          </a:prstGeom>
          <a:solidFill>
            <a:schemeClr val="bg1">
              <a:alpha val="93442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F5EB468E-11AB-23B9-BD77-BCA2749A7114}"/>
              </a:ext>
            </a:extLst>
          </p:cNvPr>
          <p:cNvSpPr/>
          <p:nvPr/>
        </p:nvSpPr>
        <p:spPr>
          <a:xfrm>
            <a:off x="5011387" y="3408217"/>
            <a:ext cx="1230267" cy="486889"/>
          </a:xfrm>
          <a:prstGeom prst="rect">
            <a:avLst/>
          </a:prstGeom>
          <a:solidFill>
            <a:schemeClr val="bg1">
              <a:alpha val="93442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44930435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5A3E369-7412-F04D-0C75-C41E7F8FF77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B50A113-52A3-BEB0-4BB2-5D04C79937F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DE NOVO identification vs COMPARISON to known motifs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4698209-FAC9-9C0B-D45F-DDE7CDFDFFA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9F28562-9D3B-E049-90B5-3EB3B52779B1}" type="slidenum">
              <a:rPr lang="en-US" smtClean="0"/>
              <a:pPr/>
              <a:t>15</a:t>
            </a:fld>
            <a:endParaRPr lang="en-US" b="1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F45EE041-FB91-CE35-0A9D-3FD280C95D6D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/>
        <p:txBody>
          <a:bodyPr/>
          <a:lstStyle/>
          <a:p>
            <a:r>
              <a:rPr lang="en-US" dirty="0">
                <a:hlinkClick r:id="rId2"/>
              </a:rPr>
              <a:t>https://meme-suite.org/meme/</a:t>
            </a:r>
            <a:endParaRPr lang="en-US" dirty="0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98804E84-37BD-4BE3-2A5D-ACF2A401508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591782" y="1288695"/>
            <a:ext cx="5359565" cy="409727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66629556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95B1212-0A22-47BC-1747-04AAF6D97B0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AB0F552-AFDA-90F2-6751-B2739777825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Public motif databases provide extensive knowledge of TFBS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2E954F6-EE5E-0015-B605-7AD6693EB01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9F28562-9D3B-E049-90B5-3EB3B52779B1}" type="slidenum">
              <a:rPr lang="en-US" smtClean="0"/>
              <a:pPr/>
              <a:t>16</a:t>
            </a:fld>
            <a:endParaRPr lang="en-US" b="1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0EB54DDD-9096-E587-ACF0-C149ABDAE006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/>
        <p:txBody>
          <a:bodyPr/>
          <a:lstStyle/>
          <a:p>
            <a:r>
              <a:rPr lang="en-US" dirty="0">
                <a:hlinkClick r:id="rId2"/>
              </a:rPr>
              <a:t>https://jaspar.elixir.no/</a:t>
            </a:r>
            <a:endParaRPr lang="en-US" dirty="0"/>
          </a:p>
          <a:p>
            <a:endParaRPr lang="en-US" dirty="0"/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4AEECC35-4A25-88E9-E093-CEA0E6752C4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828836" y="825243"/>
            <a:ext cx="4493231" cy="540582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23841923"/>
      </p:ext>
    </p:extLst>
  </p:cSld>
  <p:clrMapOvr>
    <a:masterClrMapping/>
  </p:clrMapOvr>
</p:sld>
</file>

<file path=ppt/theme/theme1.xml><?xml version="1.0" encoding="utf-8"?>
<a:theme xmlns:a="http://schemas.openxmlformats.org/drawingml/2006/main" name="PasteurIbens">
  <a:themeElements>
    <a:clrScheme name="Paper">
      <a:dk1>
        <a:sysClr val="windowText" lastClr="000000"/>
      </a:dk1>
      <a:lt1>
        <a:sysClr val="window" lastClr="FFFFFF"/>
      </a:lt1>
      <a:dk2>
        <a:srgbClr val="444D26"/>
      </a:dk2>
      <a:lt2>
        <a:srgbClr val="FEFAC9"/>
      </a:lt2>
      <a:accent1>
        <a:srgbClr val="A5B592"/>
      </a:accent1>
      <a:accent2>
        <a:srgbClr val="F3A447"/>
      </a:accent2>
      <a:accent3>
        <a:srgbClr val="E7BC29"/>
      </a:accent3>
      <a:accent4>
        <a:srgbClr val="D092A7"/>
      </a:accent4>
      <a:accent5>
        <a:srgbClr val="9C85C0"/>
      </a:accent5>
      <a:accent6>
        <a:srgbClr val="809EC2"/>
      </a:accent6>
      <a:hlink>
        <a:srgbClr val="8E58B6"/>
      </a:hlink>
      <a:folHlink>
        <a:srgbClr val="7F6F6F"/>
      </a:folHlink>
    </a:clrScheme>
    <a:fontScheme name="Arial">
      <a:majorFont>
        <a:latin typeface="Arial" panose="020B0604020202020204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ajorFont>
      <a:minorFont>
        <a:latin typeface="Arial" panose="020B0604020202020204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>
        <a:ln w="25400">
          <a:solidFill>
            <a:schemeClr val="tx1"/>
          </a:solidFill>
          <a:tailEnd type="none"/>
        </a:ln>
      </a:spPr>
      <a:bodyPr/>
      <a:lstStyle/>
      <a:style>
        <a:lnRef idx="1">
          <a:schemeClr val="accent1"/>
        </a:lnRef>
        <a:fillRef idx="0">
          <a:schemeClr val="accent1"/>
        </a:fillRef>
        <a:effectRef idx="0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PasteurIbens" id="{082BC117-FEE3-ED4F-B66F-EAD8503ADF60}" vid="{75DD1838-2F74-B64C-8F9C-677C1FFB48A5}"/>
    </a:ext>
  </a:extLst>
</a:theme>
</file>

<file path=ppt/theme/theme2.xml><?xml version="1.0" encoding="utf-8"?>
<a:theme xmlns:a="http://schemas.openxmlformats.org/drawingml/2006/main" name="Physalia">
  <a:themeElements>
    <a:clrScheme name="Paper">
      <a:dk1>
        <a:sysClr val="windowText" lastClr="000000"/>
      </a:dk1>
      <a:lt1>
        <a:sysClr val="window" lastClr="FFFFFF"/>
      </a:lt1>
      <a:dk2>
        <a:srgbClr val="444D26"/>
      </a:dk2>
      <a:lt2>
        <a:srgbClr val="FEFAC9"/>
      </a:lt2>
      <a:accent1>
        <a:srgbClr val="A5B592"/>
      </a:accent1>
      <a:accent2>
        <a:srgbClr val="F3A447"/>
      </a:accent2>
      <a:accent3>
        <a:srgbClr val="E7BC29"/>
      </a:accent3>
      <a:accent4>
        <a:srgbClr val="D092A7"/>
      </a:accent4>
      <a:accent5>
        <a:srgbClr val="9C85C0"/>
      </a:accent5>
      <a:accent6>
        <a:srgbClr val="809EC2"/>
      </a:accent6>
      <a:hlink>
        <a:srgbClr val="8E58B6"/>
      </a:hlink>
      <a:folHlink>
        <a:srgbClr val="7F6F6F"/>
      </a:folHlink>
    </a:clrScheme>
    <a:fontScheme name="Arial">
      <a:majorFont>
        <a:latin typeface="Arial" panose="020B0604020202020204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ajorFont>
      <a:minorFont>
        <a:latin typeface="Arial" panose="020B0604020202020204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>
        <a:ln w="25400">
          <a:solidFill>
            <a:schemeClr val="tx1"/>
          </a:solidFill>
          <a:tailEnd type="none"/>
        </a:ln>
      </a:spPr>
      <a:bodyPr/>
      <a:lstStyle/>
      <a:style>
        <a:lnRef idx="1">
          <a:schemeClr val="accent1"/>
        </a:lnRef>
        <a:fillRef idx="0">
          <a:schemeClr val="accent1"/>
        </a:fillRef>
        <a:effectRef idx="0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Physalia" id="{69934CF8-A18F-7247-8F23-6766B46F796C}" vid="{9CED6D7E-FF7E-C647-8158-BDC011F06FE3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PasteurIbens</Template>
  <TotalTime>978</TotalTime>
  <Words>280</Words>
  <Application>Microsoft Macintosh PowerPoint</Application>
  <PresentationFormat>Widescreen</PresentationFormat>
  <Paragraphs>46</Paragraphs>
  <Slides>16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7</vt:i4>
      </vt:variant>
      <vt:variant>
        <vt:lpstr>Theme</vt:lpstr>
      </vt:variant>
      <vt:variant>
        <vt:i4>2</vt:i4>
      </vt:variant>
      <vt:variant>
        <vt:lpstr>Slide Titles</vt:lpstr>
      </vt:variant>
      <vt:variant>
        <vt:i4>16</vt:i4>
      </vt:variant>
    </vt:vector>
  </HeadingPairs>
  <TitlesOfParts>
    <vt:vector size="25" baseType="lpstr">
      <vt:lpstr>Arial</vt:lpstr>
      <vt:lpstr>Calibri</vt:lpstr>
      <vt:lpstr>Comfortaa</vt:lpstr>
      <vt:lpstr>Courier New</vt:lpstr>
      <vt:lpstr>Menlo</vt:lpstr>
      <vt:lpstr>Open Sans</vt:lpstr>
      <vt:lpstr>Wingdings</vt:lpstr>
      <vt:lpstr>PasteurIbens</vt:lpstr>
      <vt:lpstr>Physalia</vt:lpstr>
      <vt:lpstr>Motif identification from ChIP-seq</vt:lpstr>
      <vt:lpstr>Accessible sites are often regulatory elements</vt:lpstr>
      <vt:lpstr>General transcription machinery is assembled around promoters using sequence affinity</vt:lpstr>
      <vt:lpstr>Transcription factors can be recruited directly to DNA motifs</vt:lpstr>
      <vt:lpstr>TFs can also mediate INDIRECT recruitment of factors to chromatin</vt:lpstr>
      <vt:lpstr>Motifs are important in shaping all biological processes</vt:lpstr>
      <vt:lpstr>Motifs are important in shaping all biological processes</vt:lpstr>
      <vt:lpstr>TF gene expression: an orthogonal approach to estimate TF’s activity</vt:lpstr>
      <vt:lpstr>Finding motifs enriched in sequences extracted from ChIP-seq peaks</vt:lpstr>
      <vt:lpstr>DE NOVO identification vs COMPARISON to known motifs</vt:lpstr>
      <vt:lpstr>DE NOVO identification vs COMPARISON to known motifs</vt:lpstr>
      <vt:lpstr>DE NOVO identification vs COMPARISON to known motifs</vt:lpstr>
      <vt:lpstr>DE NOVO identification vs COMPARISON to known motifs</vt:lpstr>
      <vt:lpstr>DE NOVO identification vs COMPARISON to known motifs</vt:lpstr>
      <vt:lpstr>DE NOVO identification vs COMPARISON to known motifs</vt:lpstr>
      <vt:lpstr>Public motif databases provide extensive knowledge of TFBS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Jacques  SERIZAY</dc:creator>
  <cp:lastModifiedBy>Jacques Serizay</cp:lastModifiedBy>
  <cp:revision>195</cp:revision>
  <dcterms:created xsi:type="dcterms:W3CDTF">2023-06-26T07:22:32Z</dcterms:created>
  <dcterms:modified xsi:type="dcterms:W3CDTF">2026-04-07T08:33:13Z</dcterms:modified>
</cp:coreProperties>
</file>