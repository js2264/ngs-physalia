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59"/>
  </p:notesMasterIdLst>
  <p:sldIdLst>
    <p:sldId id="256" r:id="rId3"/>
    <p:sldId id="336" r:id="rId4"/>
    <p:sldId id="282" r:id="rId5"/>
    <p:sldId id="267" r:id="rId6"/>
    <p:sldId id="277" r:id="rId7"/>
    <p:sldId id="278" r:id="rId8"/>
    <p:sldId id="281" r:id="rId9"/>
    <p:sldId id="279" r:id="rId10"/>
    <p:sldId id="337" r:id="rId11"/>
    <p:sldId id="280" r:id="rId12"/>
    <p:sldId id="271" r:id="rId13"/>
    <p:sldId id="272" r:id="rId14"/>
    <p:sldId id="284" r:id="rId15"/>
    <p:sldId id="283" r:id="rId16"/>
    <p:sldId id="285" r:id="rId17"/>
    <p:sldId id="289" r:id="rId18"/>
    <p:sldId id="290" r:id="rId19"/>
    <p:sldId id="305" r:id="rId20"/>
    <p:sldId id="306" r:id="rId21"/>
    <p:sldId id="309" r:id="rId22"/>
    <p:sldId id="293" r:id="rId23"/>
    <p:sldId id="310" r:id="rId24"/>
    <p:sldId id="297" r:id="rId25"/>
    <p:sldId id="298" r:id="rId26"/>
    <p:sldId id="294" r:id="rId27"/>
    <p:sldId id="308" r:id="rId28"/>
    <p:sldId id="295" r:id="rId29"/>
    <p:sldId id="300" r:id="rId30"/>
    <p:sldId id="301" r:id="rId31"/>
    <p:sldId id="302" r:id="rId32"/>
    <p:sldId id="303" r:id="rId33"/>
    <p:sldId id="313" r:id="rId34"/>
    <p:sldId id="264" r:id="rId35"/>
    <p:sldId id="314" r:id="rId36"/>
    <p:sldId id="315" r:id="rId37"/>
    <p:sldId id="341" r:id="rId38"/>
    <p:sldId id="335" r:id="rId39"/>
    <p:sldId id="316" r:id="rId40"/>
    <p:sldId id="334" r:id="rId41"/>
    <p:sldId id="339" r:id="rId42"/>
    <p:sldId id="340" r:id="rId43"/>
    <p:sldId id="322" r:id="rId44"/>
    <p:sldId id="338" r:id="rId45"/>
    <p:sldId id="328" r:id="rId46"/>
    <p:sldId id="263" r:id="rId47"/>
    <p:sldId id="323" r:id="rId48"/>
    <p:sldId id="324" r:id="rId49"/>
    <p:sldId id="325" r:id="rId50"/>
    <p:sldId id="326" r:id="rId51"/>
    <p:sldId id="291" r:id="rId52"/>
    <p:sldId id="327" r:id="rId53"/>
    <p:sldId id="329" r:id="rId54"/>
    <p:sldId id="330" r:id="rId55"/>
    <p:sldId id="331" r:id="rId56"/>
    <p:sldId id="332" r:id="rId57"/>
    <p:sldId id="286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85"/>
    <p:restoredTop sz="96327"/>
  </p:normalViewPr>
  <p:slideViewPr>
    <p:cSldViewPr snapToGrid="0">
      <p:cViewPr varScale="1">
        <p:scale>
          <a:sx n="124" d="100"/>
          <a:sy n="124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F576-2A69-E84D-9769-16109AFD2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9234" y="1723809"/>
            <a:ext cx="1037353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103E-B176-0942-A9AB-2743C975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2323F-EDB5-0546-80C1-4253EE6B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7609E7-7836-AB4F-B6E0-D901B7EDF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EA93D98-C7BA-5243-88C6-79BEFDEA4D1A}"/>
              </a:ext>
            </a:extLst>
          </p:cNvPr>
          <p:cNvSpPr txBox="1">
            <a:spLocks/>
          </p:cNvSpPr>
          <p:nvPr userDrawn="1"/>
        </p:nvSpPr>
        <p:spPr>
          <a:xfrm>
            <a:off x="1524000" y="4745623"/>
            <a:ext cx="9144000" cy="105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NGS analysis for gene regulation and epigenomics</a:t>
            </a:r>
          </a:p>
          <a:p>
            <a:pPr marL="0" indent="0" algn="ctr">
              <a:buNone/>
            </a:pPr>
            <a:r>
              <a:rPr lang="en-GB" dirty="0" err="1"/>
              <a:t>Physalia</a:t>
            </a:r>
            <a:r>
              <a:rPr lang="en-GB" dirty="0"/>
              <a:t> 2022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31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5E7B-CC56-ED41-820E-089BAEF1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433FA-ADC8-6E42-93DC-70A82A47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91CA7-6FB9-6746-939C-FCB8FF93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0BC7A-7ECD-6C41-90D3-416CB3DE9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6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current.geneontology.org/annotations/sgd.gaf.gz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yulab-smu.top/clusterProfiler-book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Autofit/>
          </a:bodyPr>
          <a:lstStyle/>
          <a:p>
            <a:r>
              <a:rPr lang="en-GB" sz="4800" dirty="0"/>
              <a:t>Gene ontology, gene set over-representation analyses and public databases </a:t>
            </a:r>
            <a:br>
              <a:rPr lang="en-GB" sz="4800" dirty="0"/>
            </a:br>
            <a:r>
              <a:rPr lang="en-GB" sz="4000" b="0" dirty="0"/>
              <a:t>Peeking into functional roles of gene sets</a:t>
            </a:r>
            <a:endParaRPr lang="en-US" sz="2400" b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we need GO analyses?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28E86-AE0A-4224-2868-E65B5A218D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After RNA-seq (or ATAC, ChIP, …), we generally end up with a list of genes (or genomic features with the nearest gene). 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ym typeface="Wingdings" pitchFamily="2" charset="2"/>
              </a:rPr>
              <a:t> We want to investigate the biological relevance of this set of genes. </a:t>
            </a:r>
            <a:endParaRPr lang="en-GB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417504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7D331-AE66-2C34-932A-BFEB3EAC51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An ontology is a </a:t>
            </a:r>
            <a:r>
              <a:rPr lang="en-GB" b="1" u="sng" dirty="0"/>
              <a:t>formal representation</a:t>
            </a:r>
            <a:r>
              <a:rPr lang="en-GB" b="1" dirty="0"/>
              <a:t> </a:t>
            </a:r>
            <a:r>
              <a:rPr lang="en-GB" dirty="0"/>
              <a:t>of a </a:t>
            </a:r>
            <a:r>
              <a:rPr lang="en-GB" b="1" u="sng" dirty="0"/>
              <a:t>body of knowledge</a:t>
            </a:r>
            <a:r>
              <a:rPr lang="en-GB" dirty="0"/>
              <a:t> </a:t>
            </a:r>
            <a:r>
              <a:rPr lang="en-GB" b="1" u="sng" dirty="0"/>
              <a:t>within a given domain</a:t>
            </a:r>
          </a:p>
          <a:p>
            <a:pPr marL="0" indent="0">
              <a:lnSpc>
                <a:spcPct val="150000"/>
              </a:lnSpc>
              <a:buNone/>
            </a:pPr>
            <a:endParaRPr lang="en-GB" b="1" u="sn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249077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8EFDF-5A42-AC94-1F9C-75AE86D37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An ontology term </a:t>
            </a:r>
            <a:r>
              <a:rPr lang="en-GB" dirty="0"/>
              <a:t>primarily</a:t>
            </a:r>
            <a:r>
              <a:rPr lang="en-GB" b="1" dirty="0"/>
              <a:t> </a:t>
            </a:r>
            <a:r>
              <a:rPr lang="en-GB" dirty="0"/>
              <a:t>consists of: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A definition of a concept </a:t>
            </a:r>
          </a:p>
          <a:p>
            <a:pPr lvl="1"/>
            <a:r>
              <a:rPr lang="en-GB" dirty="0"/>
              <a:t>A representation of this concept</a:t>
            </a:r>
          </a:p>
          <a:p>
            <a:pPr lvl="1"/>
            <a:r>
              <a:rPr lang="en-GB" dirty="0"/>
              <a:t>A formal naming of this concept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35916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09C810-AA0D-A849-9284-0E827CD56672}"/>
              </a:ext>
            </a:extLst>
          </p:cNvPr>
          <p:cNvSpPr/>
          <p:nvPr/>
        </p:nvSpPr>
        <p:spPr>
          <a:xfrm>
            <a:off x="5728447" y="1341912"/>
            <a:ext cx="6306670" cy="44941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7605B-8370-3DE2-17F4-A567A2688F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An ontology term </a:t>
            </a:r>
            <a:r>
              <a:rPr lang="en-GB" dirty="0"/>
              <a:t>primarily</a:t>
            </a:r>
            <a:r>
              <a:rPr lang="en-GB" b="1" dirty="0"/>
              <a:t> </a:t>
            </a:r>
            <a:r>
              <a:rPr lang="en-GB" dirty="0"/>
              <a:t>consists of: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A definition of a concept </a:t>
            </a:r>
          </a:p>
          <a:p>
            <a:pPr lvl="1"/>
            <a:r>
              <a:rPr lang="en-GB" dirty="0"/>
              <a:t>A representation of this concept</a:t>
            </a:r>
          </a:p>
          <a:p>
            <a:pPr lvl="1"/>
            <a:r>
              <a:rPr lang="en-GB" dirty="0"/>
              <a:t>A formal naming of this concept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31BA8E-2CCF-C14D-85EC-A77DDF070F74}"/>
              </a:ext>
            </a:extLst>
          </p:cNvPr>
          <p:cNvSpPr/>
          <p:nvPr/>
        </p:nvSpPr>
        <p:spPr>
          <a:xfrm>
            <a:off x="5939117" y="1452115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=== Example term ===</a:t>
            </a:r>
          </a:p>
          <a:p>
            <a:r>
              <a:rPr lang="en-US" sz="1600" dirty="0"/>
              <a:t>:id:         		GO:0000016</a:t>
            </a:r>
          </a:p>
          <a:p>
            <a:r>
              <a:rPr lang="en-US" sz="1600" dirty="0"/>
              <a:t>:name:      	lactase activity</a:t>
            </a:r>
          </a:p>
          <a:p>
            <a:r>
              <a:rPr lang="en-US" sz="1600" dirty="0"/>
              <a:t>:ontology:  	</a:t>
            </a:r>
            <a:r>
              <a:rPr lang="en-US" sz="1600" dirty="0" err="1"/>
              <a:t>molecular_function</a:t>
            </a:r>
            <a:endParaRPr lang="en-US" sz="1600" dirty="0"/>
          </a:p>
          <a:p>
            <a:r>
              <a:rPr lang="en-US" sz="1600" dirty="0"/>
              <a:t>:def:        		"Catalysis of the reaction: lactose + H2O=D-		glucose + D-galactose." [EC:3.2.1.108]</a:t>
            </a:r>
          </a:p>
          <a:p>
            <a:r>
              <a:rPr lang="en-US" sz="1600" dirty="0"/>
              <a:t>:synonym:   	 "lactase-phlorizin hydrolase activity" 			BROAD [EC:3.2.1.108]</a:t>
            </a:r>
          </a:p>
          <a:p>
            <a:r>
              <a:rPr lang="en-US" sz="1600" dirty="0"/>
              <a:t>:synonym:    	"lactose </a:t>
            </a:r>
            <a:r>
              <a:rPr lang="en-US" sz="1600" dirty="0" err="1"/>
              <a:t>galactohydrolase</a:t>
            </a:r>
            <a:r>
              <a:rPr lang="en-US" sz="1600" dirty="0"/>
              <a:t> activity" EXACT 		[EC:3.2.1.108]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EC:3.2.1.108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</a:t>
            </a:r>
            <a:r>
              <a:rPr lang="en-US" sz="1600" dirty="0" err="1"/>
              <a:t>MetaCyc:LACTASE-RXN</a:t>
            </a:r>
            <a:endParaRPr lang="en-US" sz="1600" dirty="0"/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Reactome:20536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is_a</a:t>
            </a:r>
            <a:r>
              <a:rPr lang="en-US" sz="1600" dirty="0"/>
              <a:t>:       		GO:0004553 ! hydrolase activity, 			hydrolyzing O-glycosyl compounds</a:t>
            </a:r>
          </a:p>
        </p:txBody>
      </p:sp>
    </p:spTree>
    <p:extLst>
      <p:ext uri="{BB962C8B-B14F-4D97-AF65-F5344CB8AC3E}">
        <p14:creationId xmlns:p14="http://schemas.microsoft.com/office/powerpoint/2010/main" val="290573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B194C4-4F5F-E647-B44B-95FF35DAAF8C}"/>
              </a:ext>
            </a:extLst>
          </p:cNvPr>
          <p:cNvSpPr/>
          <p:nvPr/>
        </p:nvSpPr>
        <p:spPr>
          <a:xfrm>
            <a:off x="5728447" y="1341912"/>
            <a:ext cx="6306670" cy="44941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57546-7022-D095-9F53-9AAC03F01B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35C8D2-93D3-F347-B4E4-5418F310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An ontology term </a:t>
            </a:r>
            <a:r>
              <a:rPr lang="en-GB" dirty="0"/>
              <a:t>primarily</a:t>
            </a:r>
            <a:r>
              <a:rPr lang="en-GB" b="1" dirty="0"/>
              <a:t> </a:t>
            </a:r>
            <a:r>
              <a:rPr lang="en-GB" dirty="0"/>
              <a:t>consists of: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A definition of a concept </a:t>
            </a:r>
          </a:p>
          <a:p>
            <a:pPr lvl="1"/>
            <a:r>
              <a:rPr lang="en-GB" dirty="0"/>
              <a:t>A representation of this concept</a:t>
            </a:r>
          </a:p>
          <a:p>
            <a:pPr lvl="1"/>
            <a:r>
              <a:rPr lang="en-GB" dirty="0"/>
              <a:t>A formal naming of this concept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31BA8E-2CCF-C14D-85EC-A77DDF070F74}"/>
              </a:ext>
            </a:extLst>
          </p:cNvPr>
          <p:cNvSpPr/>
          <p:nvPr/>
        </p:nvSpPr>
        <p:spPr>
          <a:xfrm>
            <a:off x="5939117" y="1452115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=== Example term ===</a:t>
            </a:r>
          </a:p>
          <a:p>
            <a:r>
              <a:rPr lang="en-US" sz="1600" dirty="0"/>
              <a:t>:id:         		GO:0000016</a:t>
            </a:r>
          </a:p>
          <a:p>
            <a:r>
              <a:rPr lang="en-US" sz="1600" dirty="0"/>
              <a:t>:name:      	lactase activity</a:t>
            </a:r>
          </a:p>
          <a:p>
            <a:r>
              <a:rPr lang="en-US" sz="1600" dirty="0"/>
              <a:t>:ontology:  	</a:t>
            </a:r>
            <a:r>
              <a:rPr lang="en-US" sz="1600" dirty="0" err="1"/>
              <a:t>molecular_function</a:t>
            </a:r>
            <a:endParaRPr lang="en-US" sz="1600" dirty="0"/>
          </a:p>
          <a:p>
            <a:r>
              <a:rPr lang="en-US" sz="1600" dirty="0"/>
              <a:t>:def:        		"Catalysis of the reaction: lactose + H2O=D-		glucose + D-galactose." [EC:3.2.1.108]</a:t>
            </a:r>
          </a:p>
          <a:p>
            <a:r>
              <a:rPr lang="en-US" sz="1600" dirty="0"/>
              <a:t>:synonym:   	 "lactase-phlorizin hydrolase activity" 			BROAD [EC:3.2.1.108]</a:t>
            </a:r>
          </a:p>
          <a:p>
            <a:r>
              <a:rPr lang="en-US" sz="1600" dirty="0"/>
              <a:t>:synonym:    	"lactose </a:t>
            </a:r>
            <a:r>
              <a:rPr lang="en-US" sz="1600" dirty="0" err="1"/>
              <a:t>galactohydrolase</a:t>
            </a:r>
            <a:r>
              <a:rPr lang="en-US" sz="1600" dirty="0"/>
              <a:t> activity" EXACT 		[EC:3.2.1.108]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EC:3.2.1.108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</a:t>
            </a:r>
            <a:r>
              <a:rPr lang="en-US" sz="1600" dirty="0" err="1"/>
              <a:t>MetaCyc:LACTASE-RXN</a:t>
            </a:r>
            <a:endParaRPr lang="en-US" sz="1600" dirty="0"/>
          </a:p>
          <a:p>
            <a:r>
              <a:rPr lang="en-US" sz="1600" dirty="0"/>
              <a:t>:</a:t>
            </a:r>
            <a:r>
              <a:rPr lang="en-US" sz="1600" dirty="0" err="1"/>
              <a:t>xref</a:t>
            </a:r>
            <a:r>
              <a:rPr lang="en-US" sz="1600" dirty="0"/>
              <a:t>:       		Reactome:20536</a:t>
            </a:r>
          </a:p>
          <a:p>
            <a:r>
              <a:rPr lang="en-US" sz="1600" dirty="0"/>
              <a:t>:</a:t>
            </a:r>
            <a:r>
              <a:rPr lang="en-US" sz="1600" dirty="0" err="1"/>
              <a:t>is_a</a:t>
            </a:r>
            <a:r>
              <a:rPr lang="en-US" sz="1600" dirty="0"/>
              <a:t>:       		GO:0004553 ! hydrolase activity, 			hydrolyzing O-glycosyl compounds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EE8ADD-4E36-7E40-B447-73CFF0E7FBD1}"/>
              </a:ext>
            </a:extLst>
          </p:cNvPr>
          <p:cNvCxnSpPr/>
          <p:nvPr/>
        </p:nvCxnSpPr>
        <p:spPr>
          <a:xfrm flipH="1">
            <a:off x="4652682" y="5191987"/>
            <a:ext cx="968189" cy="47064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E4317AB-83A9-594E-9294-8D299632B3BF}"/>
              </a:ext>
            </a:extLst>
          </p:cNvPr>
          <p:cNvSpPr/>
          <p:nvPr/>
        </p:nvSpPr>
        <p:spPr>
          <a:xfrm>
            <a:off x="4018350" y="5662634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4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0852B-5252-644D-B4E9-0AA0591C004C}"/>
              </a:ext>
            </a:extLst>
          </p:cNvPr>
          <p:cNvSpPr/>
          <p:nvPr/>
        </p:nvSpPr>
        <p:spPr>
          <a:xfrm>
            <a:off x="3248785" y="53239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GO:0000016</a:t>
            </a:r>
          </a:p>
        </p:txBody>
      </p:sp>
    </p:spTree>
    <p:extLst>
      <p:ext uri="{BB962C8B-B14F-4D97-AF65-F5344CB8AC3E}">
        <p14:creationId xmlns:p14="http://schemas.microsoft.com/office/powerpoint/2010/main" val="282237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93031-EB4E-0969-F039-FF5B5ED4C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An ontology term </a:t>
            </a:r>
            <a:r>
              <a:rPr lang="en-GB" dirty="0"/>
              <a:t>can be further enriched with additional information: </a:t>
            </a:r>
          </a:p>
          <a:p>
            <a:endParaRPr lang="en-GB" dirty="0"/>
          </a:p>
          <a:p>
            <a:pPr lvl="1"/>
            <a:r>
              <a:rPr lang="en-GB" dirty="0"/>
              <a:t>Elements can be annotated to individual terms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8D0C64C-57E2-0E47-B6C5-3E5636688D98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4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6BEC42-F2BE-3B46-B959-A83DC2F0BCC5}"/>
              </a:ext>
            </a:extLst>
          </p:cNvPr>
          <p:cNvSpPr/>
          <p:nvPr/>
        </p:nvSpPr>
        <p:spPr>
          <a:xfrm>
            <a:off x="8382477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GO:0000022</a:t>
            </a:r>
          </a:p>
        </p:txBody>
      </p:sp>
    </p:spTree>
    <p:extLst>
      <p:ext uri="{BB962C8B-B14F-4D97-AF65-F5344CB8AC3E}">
        <p14:creationId xmlns:p14="http://schemas.microsoft.com/office/powerpoint/2010/main" val="102861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DC79B-8F53-EF22-8533-3C775381EA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81F5F77-3EFE-8846-A9CA-0C7047A3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Ontology terms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0852B-5252-644D-B4E9-0AA0591C004C}"/>
              </a:ext>
            </a:extLst>
          </p:cNvPr>
          <p:cNvSpPr/>
          <p:nvPr/>
        </p:nvSpPr>
        <p:spPr>
          <a:xfrm>
            <a:off x="5208972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937003-40F9-F74E-8A3F-CB52BE6FFE7C}"/>
              </a:ext>
            </a:extLst>
          </p:cNvPr>
          <p:cNvSpPr/>
          <p:nvPr/>
        </p:nvSpPr>
        <p:spPr>
          <a:xfrm>
            <a:off x="6073586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C65CAE-E28A-DC4B-88EB-D8ABDD1A7070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751BD6-0F68-DE4A-8FD7-1EAD2F6B3D2F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48D13C-7932-D842-9255-E618F269FFD4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45AB02-56E5-3040-89B4-146614C55182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6B4F17-C24C-424D-9611-1BD2241A9033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04B18E-4762-F548-B45B-036C6D194075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314312-EB92-4142-B127-8FA11B2B3882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967989-1B26-7B40-B5DD-B4B87BCA364F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74CF9C-D99B-D845-B747-FEE870925B98}"/>
              </a:ext>
            </a:extLst>
          </p:cNvPr>
          <p:cNvSpPr/>
          <p:nvPr/>
        </p:nvSpPr>
        <p:spPr>
          <a:xfrm>
            <a:off x="9653706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C3F4E-2411-DE45-92BE-25734E6E9F26}"/>
              </a:ext>
            </a:extLst>
          </p:cNvPr>
          <p:cNvSpPr/>
          <p:nvPr/>
        </p:nvSpPr>
        <p:spPr>
          <a:xfrm>
            <a:off x="7024324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2842F9-7BD7-7047-BB78-7244C4AAD54C}"/>
              </a:ext>
            </a:extLst>
          </p:cNvPr>
          <p:cNvSpPr/>
          <p:nvPr/>
        </p:nvSpPr>
        <p:spPr>
          <a:xfrm>
            <a:off x="8987595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9669A0-AEF3-EE40-A431-9034F784A3A7}"/>
              </a:ext>
            </a:extLst>
          </p:cNvPr>
          <p:cNvSpPr/>
          <p:nvPr/>
        </p:nvSpPr>
        <p:spPr>
          <a:xfrm>
            <a:off x="60426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D3164D-7F04-D247-A35D-CDEF4F30F19E}"/>
              </a:ext>
            </a:extLst>
          </p:cNvPr>
          <p:cNvSpPr/>
          <p:nvPr/>
        </p:nvSpPr>
        <p:spPr>
          <a:xfrm>
            <a:off x="87858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211D87-A7EB-3F41-B1D5-EF975B1E9D85}"/>
              </a:ext>
            </a:extLst>
          </p:cNvPr>
          <p:cNvSpPr/>
          <p:nvPr/>
        </p:nvSpPr>
        <p:spPr>
          <a:xfrm>
            <a:off x="8382477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E2DE0D-703F-2346-8C96-1E718AB243DA}"/>
              </a:ext>
            </a:extLst>
          </p:cNvPr>
          <p:cNvSpPr/>
          <p:nvPr/>
        </p:nvSpPr>
        <p:spPr>
          <a:xfrm>
            <a:off x="5598935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DB555B-3013-7640-9986-0B4E91EC48E9}"/>
              </a:ext>
            </a:extLst>
          </p:cNvPr>
          <p:cNvSpPr/>
          <p:nvPr/>
        </p:nvSpPr>
        <p:spPr>
          <a:xfrm>
            <a:off x="9744633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GO:0000024</a:t>
            </a:r>
          </a:p>
        </p:txBody>
      </p:sp>
    </p:spTree>
    <p:extLst>
      <p:ext uri="{BB962C8B-B14F-4D97-AF65-F5344CB8AC3E}">
        <p14:creationId xmlns:p14="http://schemas.microsoft.com/office/powerpoint/2010/main" val="237021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FAE48-C63E-ED1E-197E-3D452F29AF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81F5F77-3EFE-8846-A9CA-0C7047A3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Gene Ontology terms </a:t>
            </a:r>
          </a:p>
          <a:p>
            <a:pPr marL="0" indent="0">
              <a:buNone/>
            </a:pPr>
            <a:r>
              <a:rPr lang="en-GB" b="1" dirty="0"/>
              <a:t>+ GO annotations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0852B-5252-644D-B4E9-0AA0591C004C}"/>
              </a:ext>
            </a:extLst>
          </p:cNvPr>
          <p:cNvSpPr/>
          <p:nvPr/>
        </p:nvSpPr>
        <p:spPr>
          <a:xfrm>
            <a:off x="5208972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937003-40F9-F74E-8A3F-CB52BE6FFE7C}"/>
              </a:ext>
            </a:extLst>
          </p:cNvPr>
          <p:cNvSpPr/>
          <p:nvPr/>
        </p:nvSpPr>
        <p:spPr>
          <a:xfrm>
            <a:off x="6073586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C65CAE-E28A-DC4B-88EB-D8ABDD1A7070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B 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751BD6-0F68-DE4A-8FD7-1EAD2F6B3D2F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D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E  F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48D13C-7932-D842-9255-E618F269FFD4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45AB02-56E5-3040-89B4-146614C55182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6B4F17-C24C-424D-9611-1BD2241A9033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04B18E-4762-F548-B45B-036C6D194075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314312-EB92-4142-B127-8FA11B2B3882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967989-1B26-7B40-B5DD-B4B87BCA364F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74CF9C-D99B-D845-B747-FEE870925B98}"/>
              </a:ext>
            </a:extLst>
          </p:cNvPr>
          <p:cNvSpPr/>
          <p:nvPr/>
        </p:nvSpPr>
        <p:spPr>
          <a:xfrm>
            <a:off x="9653706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G  H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I  J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C3F4E-2411-DE45-92BE-25734E6E9F26}"/>
              </a:ext>
            </a:extLst>
          </p:cNvPr>
          <p:cNvSpPr/>
          <p:nvPr/>
        </p:nvSpPr>
        <p:spPr>
          <a:xfrm>
            <a:off x="7024324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2842F9-7BD7-7047-BB78-7244C4AAD54C}"/>
              </a:ext>
            </a:extLst>
          </p:cNvPr>
          <p:cNvSpPr/>
          <p:nvPr/>
        </p:nvSpPr>
        <p:spPr>
          <a:xfrm>
            <a:off x="8987595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9669A0-AEF3-EE40-A431-9034F784A3A7}"/>
              </a:ext>
            </a:extLst>
          </p:cNvPr>
          <p:cNvSpPr/>
          <p:nvPr/>
        </p:nvSpPr>
        <p:spPr>
          <a:xfrm>
            <a:off x="60426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D3164D-7F04-D247-A35D-CDEF4F30F19E}"/>
              </a:ext>
            </a:extLst>
          </p:cNvPr>
          <p:cNvSpPr/>
          <p:nvPr/>
        </p:nvSpPr>
        <p:spPr>
          <a:xfrm>
            <a:off x="87858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211D87-A7EB-3F41-B1D5-EF975B1E9D85}"/>
              </a:ext>
            </a:extLst>
          </p:cNvPr>
          <p:cNvSpPr/>
          <p:nvPr/>
        </p:nvSpPr>
        <p:spPr>
          <a:xfrm>
            <a:off x="8382477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E2DE0D-703F-2346-8C96-1E718AB243DA}"/>
              </a:ext>
            </a:extLst>
          </p:cNvPr>
          <p:cNvSpPr/>
          <p:nvPr/>
        </p:nvSpPr>
        <p:spPr>
          <a:xfrm>
            <a:off x="5598935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DB555B-3013-7640-9986-0B4E91EC48E9}"/>
              </a:ext>
            </a:extLst>
          </p:cNvPr>
          <p:cNvSpPr/>
          <p:nvPr/>
        </p:nvSpPr>
        <p:spPr>
          <a:xfrm>
            <a:off x="9744633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GO:0000024</a:t>
            </a:r>
          </a:p>
        </p:txBody>
      </p:sp>
    </p:spTree>
    <p:extLst>
      <p:ext uri="{BB962C8B-B14F-4D97-AF65-F5344CB8AC3E}">
        <p14:creationId xmlns:p14="http://schemas.microsoft.com/office/powerpoint/2010/main" val="39552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3164D-AD13-8D6D-7067-8050581A7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Gene Ontology terms </a:t>
            </a:r>
          </a:p>
          <a:p>
            <a:pPr marL="0" indent="0">
              <a:buNone/>
            </a:pPr>
            <a:r>
              <a:rPr lang="en-GB" b="1" dirty="0"/>
              <a:t>+ GO annotations</a:t>
            </a:r>
          </a:p>
          <a:p>
            <a:pPr marL="0" indent="0">
              <a:buNone/>
            </a:pPr>
            <a:r>
              <a:rPr lang="en-GB" b="1" dirty="0"/>
              <a:t>+ hierarchy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667E4B-962C-F146-B0DB-5C6A1583A70B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7483A9-4A2C-BD4B-A899-683098D77083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7898774-A128-954B-AC7F-19C1A45F5C7E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749EC5-B88A-7740-8F13-830443B175B5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DA8F8D-F105-9A4C-8053-1905E1AD7D66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973146D-69E4-A247-B8DE-79052B7ED7FF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D8F398-DDC8-504E-BCE9-E27BA27B72BC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538111" cy="10461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826EB1E-965F-EA48-9C9F-6D54DDA87514}"/>
              </a:ext>
            </a:extLst>
          </p:cNvPr>
          <p:cNvSpPr/>
          <p:nvPr/>
        </p:nvSpPr>
        <p:spPr>
          <a:xfrm>
            <a:off x="6073586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56D0DC-C05F-FF4F-844F-3CABFFB984FD}"/>
              </a:ext>
            </a:extLst>
          </p:cNvPr>
          <p:cNvSpPr/>
          <p:nvPr/>
        </p:nvSpPr>
        <p:spPr>
          <a:xfrm>
            <a:off x="7024324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D3B071-F258-1C41-A3C8-379C657A2C88}"/>
              </a:ext>
            </a:extLst>
          </p:cNvPr>
          <p:cNvSpPr/>
          <p:nvPr/>
        </p:nvSpPr>
        <p:spPr>
          <a:xfrm>
            <a:off x="60426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0FF205-DA76-D243-8892-61B5F5189DD7}"/>
              </a:ext>
            </a:extLst>
          </p:cNvPr>
          <p:cNvSpPr/>
          <p:nvPr/>
        </p:nvSpPr>
        <p:spPr>
          <a:xfrm>
            <a:off x="8785889" y="286710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4BCCCC-8EE9-3E4E-907E-40475065C2D7}"/>
              </a:ext>
            </a:extLst>
          </p:cNvPr>
          <p:cNvSpPr/>
          <p:nvPr/>
        </p:nvSpPr>
        <p:spPr>
          <a:xfrm>
            <a:off x="8382477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FCFC00-6E14-CB49-A864-FEA82295EFF6}"/>
              </a:ext>
            </a:extLst>
          </p:cNvPr>
          <p:cNvSpPr/>
          <p:nvPr/>
        </p:nvSpPr>
        <p:spPr>
          <a:xfrm>
            <a:off x="5598935" y="364703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57CDDB-0A16-9745-BE37-4D2629C7F98F}"/>
              </a:ext>
            </a:extLst>
          </p:cNvPr>
          <p:cNvSpPr/>
          <p:nvPr/>
        </p:nvSpPr>
        <p:spPr>
          <a:xfrm>
            <a:off x="9744633" y="4435292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GO:0000024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3999F6A-8E86-F704-BE3A-D1687EA85D97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B 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7119DEE-1E09-E65A-6BE4-7BBB3D367B72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D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E  F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205D52E-25FE-EF1A-EBA8-9D330D5A2E8E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527923-0EA5-BD9F-17C8-3E422C3B0A92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3F6F763-50C3-152F-7403-5C8F6A914397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2D35965-03EB-40E4-ABCF-29905AC5B24B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4108C7A-50EB-A04B-715F-8429D9F48B61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4E3685-ADEE-0643-0766-018A75A250E2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E1BF61-4BBE-DF48-9194-802E29545B5C}"/>
              </a:ext>
            </a:extLst>
          </p:cNvPr>
          <p:cNvSpPr/>
          <p:nvPr/>
        </p:nvSpPr>
        <p:spPr>
          <a:xfrm>
            <a:off x="9653706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G  H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I  J</a:t>
            </a:r>
          </a:p>
        </p:txBody>
      </p:sp>
    </p:spTree>
    <p:extLst>
      <p:ext uri="{BB962C8B-B14F-4D97-AF65-F5344CB8AC3E}">
        <p14:creationId xmlns:p14="http://schemas.microsoft.com/office/powerpoint/2010/main" val="334067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C6837-AAC8-FD83-5380-97A2714C6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</a:t>
            </a:r>
            <a:r>
              <a:rPr lang="en-GB" b="1" dirty="0"/>
              <a:t>Ontology terms </a:t>
            </a:r>
            <a:r>
              <a:rPr lang="en-GB" dirty="0"/>
              <a:t>can contain the same sets of annotations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013ED-680F-724D-B5D9-404A2314ED6C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B 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AD8EC1-0B51-B24B-A978-AA9050A50A34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D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E  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2A7E08-C891-CC4C-9B14-88A84BB3ECAD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57CE77-47CB-E748-BB95-87275419537E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A13759-D5DD-004A-81AA-C764CDAADBAC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4A9324-47FA-8A43-9D66-D5721E78BDD2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73EE6F-4B91-0541-8CB0-D56C5863052E}"/>
              </a:ext>
            </a:extLst>
          </p:cNvPr>
          <p:cNvSpPr/>
          <p:nvPr/>
        </p:nvSpPr>
        <p:spPr>
          <a:xfrm>
            <a:off x="8762467" y="3606445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A3353E-E441-AB49-9CFF-DA167EA14B9C}"/>
              </a:ext>
            </a:extLst>
          </p:cNvPr>
          <p:cNvSpPr/>
          <p:nvPr/>
        </p:nvSpPr>
        <p:spPr>
          <a:xfrm>
            <a:off x="8314859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F86572-FDA8-314D-967F-85077930D6E6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2F42EB-D43C-A44E-8C31-B0FF2E41242F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405C8F-5C3F-4A46-A7CA-8E90C265B033}"/>
              </a:ext>
            </a:extLst>
          </p:cNvPr>
          <p:cNvSpPr/>
          <p:nvPr/>
        </p:nvSpPr>
        <p:spPr>
          <a:xfrm>
            <a:off x="9653706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G  H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I  J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83A940-A33D-F74E-8283-293D49D2D193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6FBE80-C681-534E-9480-17D40EDAE865}"/>
              </a:ext>
            </a:extLst>
          </p:cNvPr>
          <p:cNvCxnSpPr>
            <a:cxnSpLocks/>
          </p:cNvCxnSpPr>
          <p:nvPr/>
        </p:nvCxnSpPr>
        <p:spPr>
          <a:xfrm>
            <a:off x="9180423" y="4135914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A7F5D2-8906-D946-AC30-7BA187854152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F9AD89-7DF6-7F4C-A460-44747C839E15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973CD5-96BC-5843-A9C8-69DACC140035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B62B87-3E70-FC46-9ECE-61A41F62B5C1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26D8C5-7253-C546-B1DC-B0E998314DC6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5B429F-000B-0242-B19F-05AE44F6C364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E6745F-3E13-3446-8EEE-48B1868938EF}"/>
              </a:ext>
            </a:extLst>
          </p:cNvPr>
          <p:cNvCxnSpPr>
            <a:cxnSpLocks/>
          </p:cNvCxnSpPr>
          <p:nvPr/>
        </p:nvCxnSpPr>
        <p:spPr>
          <a:xfrm>
            <a:off x="8290300" y="4087362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7709C9-D363-B04C-A4DA-5787BC2D05FD}"/>
              </a:ext>
            </a:extLst>
          </p:cNvPr>
          <p:cNvCxnSpPr/>
          <p:nvPr/>
        </p:nvCxnSpPr>
        <p:spPr>
          <a:xfrm flipH="1">
            <a:off x="8699032" y="4111638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708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ED740-62C4-B1C7-DFF0-247BFCF3F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our case, the Gene Ontology (GO) describes the </a:t>
            </a:r>
            <a:r>
              <a:rPr lang="en-GB" b="1" u="sng" dirty="0"/>
              <a:t>current state</a:t>
            </a:r>
            <a:r>
              <a:rPr lang="en-GB" b="1" dirty="0"/>
              <a:t> </a:t>
            </a:r>
            <a:r>
              <a:rPr lang="en-GB" dirty="0"/>
              <a:t>of </a:t>
            </a:r>
            <a:r>
              <a:rPr lang="en-GB" u="sng" dirty="0"/>
              <a:t>knowledge of the three main biological domains</a:t>
            </a:r>
          </a:p>
          <a:p>
            <a:endParaRPr lang="en-GB" dirty="0"/>
          </a:p>
          <a:p>
            <a:pPr>
              <a:buFont typeface="Wingdings" pitchFamily="2" charset="2"/>
              <a:buChar char="à"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73BD17-EEC6-5A4F-8317-D4D053AB3E68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B 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914398-14A9-9C48-964E-E2427C9A1C93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D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E  F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B5F033-3B7C-0546-8F97-15075BE54733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1818FC0-5987-754B-9C3C-E7FE9603A3D2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7FEFB3-7026-504E-9FAF-07DFB552E95E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CCF71B1-FD6B-D84F-BC6F-992DDC4F1618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0711CB6-5857-3D44-93CB-1E00FDA50C6F}"/>
              </a:ext>
            </a:extLst>
          </p:cNvPr>
          <p:cNvSpPr/>
          <p:nvPr/>
        </p:nvSpPr>
        <p:spPr>
          <a:xfrm>
            <a:off x="8762467" y="3606445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CAC48A-78EF-3F48-B7B2-EA18573BA9FB}"/>
              </a:ext>
            </a:extLst>
          </p:cNvPr>
          <p:cNvSpPr/>
          <p:nvPr/>
        </p:nvSpPr>
        <p:spPr>
          <a:xfrm>
            <a:off x="8314859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  D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04E3EF-236C-9343-BFAD-8EFF4305FA82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F7E94CF-EE3D-C149-A79E-5B541BE23852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AF1157C-676F-2D40-BD55-BDE792740729}"/>
              </a:ext>
            </a:extLst>
          </p:cNvPr>
          <p:cNvSpPr/>
          <p:nvPr/>
        </p:nvSpPr>
        <p:spPr>
          <a:xfrm>
            <a:off x="9653706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G  H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I  J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997B13-DA55-924F-8E59-E251CBE7A321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944452-9756-6E4E-B93B-CAB864CB921E}"/>
              </a:ext>
            </a:extLst>
          </p:cNvPr>
          <p:cNvCxnSpPr>
            <a:cxnSpLocks/>
          </p:cNvCxnSpPr>
          <p:nvPr/>
        </p:nvCxnSpPr>
        <p:spPr>
          <a:xfrm>
            <a:off x="9180423" y="4135914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3768692-8CB7-2541-97C2-B9AA2E3BE2C0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E06157-7906-184A-8139-BD7B870617AB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5276AC5-F737-6C4A-802A-B23B8ED1F6F6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97C266-2102-9A43-B1E3-3FBF2B8F0A3D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FD7A25-4865-3941-A0B6-1A00F6B2F61A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7C55CC-20C6-DD49-9074-F6A564CD08E3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9D3955-1454-BA40-B46E-9ABBB1BDF7A2}"/>
              </a:ext>
            </a:extLst>
          </p:cNvPr>
          <p:cNvCxnSpPr>
            <a:cxnSpLocks/>
          </p:cNvCxnSpPr>
          <p:nvPr/>
        </p:nvCxnSpPr>
        <p:spPr>
          <a:xfrm>
            <a:off x="8290300" y="4087362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DDE16D0-15A8-9F4B-8B05-094AC865D038}"/>
              </a:ext>
            </a:extLst>
          </p:cNvPr>
          <p:cNvCxnSpPr/>
          <p:nvPr/>
        </p:nvCxnSpPr>
        <p:spPr>
          <a:xfrm flipH="1">
            <a:off x="8699032" y="4111638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6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C55203-8F3D-C7A5-A7E4-5C77F50335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our case, the Gene Ontology (GO) describes the </a:t>
            </a:r>
            <a:r>
              <a:rPr lang="en-GB" b="1" u="sng" dirty="0"/>
              <a:t>current state</a:t>
            </a:r>
            <a:r>
              <a:rPr lang="en-GB" b="1" dirty="0"/>
              <a:t> </a:t>
            </a:r>
            <a:r>
              <a:rPr lang="en-GB" dirty="0"/>
              <a:t>of </a:t>
            </a:r>
            <a:r>
              <a:rPr lang="en-GB" u="sng" dirty="0"/>
              <a:t>knowledge in biology</a:t>
            </a:r>
            <a:endParaRPr lang="en-GB" dirty="0"/>
          </a:p>
          <a:p>
            <a:pPr>
              <a:buFont typeface="Wingdings" pitchFamily="2" charset="2"/>
              <a:buChar char="à"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013ED-680F-724D-B5D9-404A2314ED6C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2A7E08-C891-CC4C-9B14-88A84BB3ECAD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57CE77-47CB-E748-BB95-87275419537E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A13759-D5DD-004A-81AA-C764CDAADBAC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4A9324-47FA-8A43-9D66-D5721E78BDD2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F86572-FDA8-314D-967F-85077930D6E6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2F42EB-D43C-A44E-8C31-B0FF2E41242F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6A041A-B00E-1C40-AE03-8081900F4658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C9ADC7-6CBB-DE4F-B06B-876557227CFC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530FE7-1A2E-3A47-B984-85D4D2192935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D03E2D-561F-6F4D-92E6-196614D62091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3FA831-AFBB-7248-A6B1-C08069D94884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33D77C-8F33-0B49-9DE0-12870063A676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0C463C9-6574-E943-8902-F99CBCBA03A8}"/>
              </a:ext>
            </a:extLst>
          </p:cNvPr>
          <p:cNvSpPr/>
          <p:nvPr/>
        </p:nvSpPr>
        <p:spPr>
          <a:xfrm>
            <a:off x="8796966" y="4859748"/>
            <a:ext cx="13341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Saccharide biosynthetic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005F1A-4429-754C-B611-5BAE07E31C35}"/>
              </a:ext>
            </a:extLst>
          </p:cNvPr>
          <p:cNvSpPr/>
          <p:nvPr/>
        </p:nvSpPr>
        <p:spPr>
          <a:xfrm>
            <a:off x="8694424" y="2748919"/>
            <a:ext cx="1792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Small molecule </a:t>
            </a:r>
            <a:r>
              <a:rPr lang="en-US" sz="1400" dirty="0" err="1"/>
              <a:t>metab</a:t>
            </a:r>
            <a:r>
              <a:rPr lang="en-US" sz="1400" dirty="0"/>
              <a:t>. process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334B46-C86C-484E-AFA9-55A055FBB216}"/>
              </a:ext>
            </a:extLst>
          </p:cNvPr>
          <p:cNvSpPr/>
          <p:nvPr/>
        </p:nvSpPr>
        <p:spPr>
          <a:xfrm>
            <a:off x="7470149" y="1537121"/>
            <a:ext cx="13341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Metabolic process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EA66BA-FB62-9040-A84E-973832C1592B}"/>
              </a:ext>
            </a:extLst>
          </p:cNvPr>
          <p:cNvSpPr/>
          <p:nvPr/>
        </p:nvSpPr>
        <p:spPr>
          <a:xfrm>
            <a:off x="6927825" y="4832855"/>
            <a:ext cx="13341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Hexose biosynthetic process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1EC4A8-8F6F-5E41-8CAE-EB7951981A47}"/>
              </a:ext>
            </a:extLst>
          </p:cNvPr>
          <p:cNvSpPr/>
          <p:nvPr/>
        </p:nvSpPr>
        <p:spPr>
          <a:xfrm>
            <a:off x="5749518" y="2748919"/>
            <a:ext cx="1792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Primary </a:t>
            </a:r>
            <a:r>
              <a:rPr lang="en-US" sz="1400" dirty="0" err="1"/>
              <a:t>metab</a:t>
            </a:r>
            <a:r>
              <a:rPr lang="en-US" sz="1400" dirty="0"/>
              <a:t>. process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EDB627-8015-B844-9312-2BF7CC47C0EC}"/>
              </a:ext>
            </a:extLst>
          </p:cNvPr>
          <p:cNvSpPr/>
          <p:nvPr/>
        </p:nvSpPr>
        <p:spPr>
          <a:xfrm>
            <a:off x="5263321" y="3580231"/>
            <a:ext cx="1792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Monohydrate </a:t>
            </a:r>
            <a:r>
              <a:rPr lang="en-US" sz="1400" dirty="0" err="1"/>
              <a:t>metab</a:t>
            </a:r>
            <a:r>
              <a:rPr lang="en-US" sz="1400" dirty="0"/>
              <a:t>. process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0EEA40F-2E7B-D840-B97C-E64241D9DE73}"/>
              </a:ext>
            </a:extLst>
          </p:cNvPr>
          <p:cNvSpPr/>
          <p:nvPr/>
        </p:nvSpPr>
        <p:spPr>
          <a:xfrm>
            <a:off x="8762467" y="3606445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EAD399-4111-6944-8B8F-27313D931989}"/>
              </a:ext>
            </a:extLst>
          </p:cNvPr>
          <p:cNvSpPr/>
          <p:nvPr/>
        </p:nvSpPr>
        <p:spPr>
          <a:xfrm>
            <a:off x="8314859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A84EE3B-E1C1-8248-9218-700BE45CED18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6B1FAF-3E66-B646-99CE-1C6E97E2DB20}"/>
              </a:ext>
            </a:extLst>
          </p:cNvPr>
          <p:cNvCxnSpPr>
            <a:cxnSpLocks/>
          </p:cNvCxnSpPr>
          <p:nvPr/>
        </p:nvCxnSpPr>
        <p:spPr>
          <a:xfrm>
            <a:off x="9180423" y="4135914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E2D425-26E5-A145-922B-D4A161B27A55}"/>
              </a:ext>
            </a:extLst>
          </p:cNvPr>
          <p:cNvCxnSpPr>
            <a:cxnSpLocks/>
          </p:cNvCxnSpPr>
          <p:nvPr/>
        </p:nvCxnSpPr>
        <p:spPr>
          <a:xfrm>
            <a:off x="8290300" y="4087362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2D8E2E-EA5D-B749-BDC0-7E36FCA2AA74}"/>
              </a:ext>
            </a:extLst>
          </p:cNvPr>
          <p:cNvCxnSpPr/>
          <p:nvPr/>
        </p:nvCxnSpPr>
        <p:spPr>
          <a:xfrm flipH="1">
            <a:off x="8699032" y="4111638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3587A-9E57-D744-8DCD-3B8C1ECBC490}"/>
              </a:ext>
            </a:extLst>
          </p:cNvPr>
          <p:cNvSpPr/>
          <p:nvPr/>
        </p:nvSpPr>
        <p:spPr>
          <a:xfrm>
            <a:off x="8262014" y="3393802"/>
            <a:ext cx="3638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1B29EB-0B71-0840-87C0-952104E36018}"/>
              </a:ext>
            </a:extLst>
          </p:cNvPr>
          <p:cNvSpPr/>
          <p:nvPr/>
        </p:nvSpPr>
        <p:spPr>
          <a:xfrm>
            <a:off x="8855280" y="3729345"/>
            <a:ext cx="36386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Carbohydrate </a:t>
            </a:r>
            <a:r>
              <a:rPr lang="en-US" sz="1400" dirty="0" err="1"/>
              <a:t>metab</a:t>
            </a:r>
            <a:r>
              <a:rPr lang="en-US" sz="1400" dirty="0"/>
              <a:t>. process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834F8E-0C90-BE44-BE7E-CE1E1CA886C1}"/>
              </a:ext>
            </a:extLst>
          </p:cNvPr>
          <p:cNvSpPr/>
          <p:nvPr/>
        </p:nvSpPr>
        <p:spPr>
          <a:xfrm>
            <a:off x="7842225" y="4859748"/>
            <a:ext cx="1334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9751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C92688-1CFF-2743-B419-BD3AC19FA7C4}"/>
              </a:ext>
            </a:extLst>
          </p:cNvPr>
          <p:cNvSpPr/>
          <p:nvPr/>
        </p:nvSpPr>
        <p:spPr>
          <a:xfrm>
            <a:off x="6750425" y="1210235"/>
            <a:ext cx="3052482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F81D8-8015-5F43-8693-4A3BE783E6CE}"/>
              </a:ext>
            </a:extLst>
          </p:cNvPr>
          <p:cNvSpPr/>
          <p:nvPr/>
        </p:nvSpPr>
        <p:spPr>
          <a:xfrm>
            <a:off x="5300958" y="1210235"/>
            <a:ext cx="1382232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8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D3A4D5-D384-4C4A-BCD1-16AA7FA6B74B}"/>
              </a:ext>
            </a:extLst>
          </p:cNvPr>
          <p:cNvSpPr/>
          <p:nvPr/>
        </p:nvSpPr>
        <p:spPr>
          <a:xfrm>
            <a:off x="9870143" y="1210235"/>
            <a:ext cx="1055984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B96B73-9A62-A7BD-A328-C6E8A7B42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 Ontology (GO) is divided in three domains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Tx/>
              <a:buChar char="-"/>
            </a:pPr>
            <a:r>
              <a:rPr lang="en-GB" dirty="0"/>
              <a:t>Biological Processes (BP)</a:t>
            </a:r>
          </a:p>
          <a:p>
            <a:pPr lvl="1">
              <a:buFontTx/>
              <a:buChar char="-"/>
            </a:pPr>
            <a:r>
              <a:rPr lang="en-GB" dirty="0"/>
              <a:t>Cellular Components (CC)</a:t>
            </a:r>
          </a:p>
          <a:p>
            <a:pPr lvl="1">
              <a:buFontTx/>
              <a:buChar char="-"/>
            </a:pPr>
            <a:r>
              <a:rPr lang="en-GB" dirty="0"/>
              <a:t>Molecular Functions (MF)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013ED-680F-724D-B5D9-404A2314ED6C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AD8EC1-0B51-B24B-A978-AA9050A50A34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2A7E08-C891-CC4C-9B14-88A84BB3ECAD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57CE77-47CB-E748-BB95-87275419537E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A13759-D5DD-004A-81AA-C764CDAADBAC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4A9324-47FA-8A43-9D66-D5721E78BDD2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F86572-FDA8-314D-967F-85077930D6E6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2F42EB-D43C-A44E-8C31-B0FF2E41242F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405C8F-5C3F-4A46-A7CA-8E90C265B033}"/>
              </a:ext>
            </a:extLst>
          </p:cNvPr>
          <p:cNvSpPr/>
          <p:nvPr/>
        </p:nvSpPr>
        <p:spPr>
          <a:xfrm>
            <a:off x="9998851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6A041A-B00E-1C40-AE03-8081900F4658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C9ADC7-6CBB-DE4F-B06B-876557227CFC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530FE7-1A2E-3A47-B984-85D4D2192935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D03E2D-561F-6F4D-92E6-196614D62091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3FA831-AFBB-7248-A6B1-C08069D94884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33D77C-8F33-0B49-9DE0-12870063A676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B473B48-EDB4-E64E-8F09-7C32EF74B09A}"/>
              </a:ext>
            </a:extLst>
          </p:cNvPr>
          <p:cNvSpPr/>
          <p:nvPr/>
        </p:nvSpPr>
        <p:spPr>
          <a:xfrm>
            <a:off x="8762467" y="3606445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52C324-3490-D74F-8384-CB7951A3AA1A}"/>
              </a:ext>
            </a:extLst>
          </p:cNvPr>
          <p:cNvSpPr/>
          <p:nvPr/>
        </p:nvSpPr>
        <p:spPr>
          <a:xfrm>
            <a:off x="8314859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3BACFB-4260-6E47-B1EB-0D8CE3F90DBB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3E606E-7E7C-044F-81C2-089E14632871}"/>
              </a:ext>
            </a:extLst>
          </p:cNvPr>
          <p:cNvCxnSpPr>
            <a:cxnSpLocks/>
          </p:cNvCxnSpPr>
          <p:nvPr/>
        </p:nvCxnSpPr>
        <p:spPr>
          <a:xfrm>
            <a:off x="8290300" y="4087362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119F3E-BB2B-9D4C-88C2-28C021BC0D97}"/>
              </a:ext>
            </a:extLst>
          </p:cNvPr>
          <p:cNvCxnSpPr/>
          <p:nvPr/>
        </p:nvCxnSpPr>
        <p:spPr>
          <a:xfrm flipH="1">
            <a:off x="8699032" y="4111638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50A757-FF9A-AA42-A27B-EC34953CB13C}"/>
              </a:ext>
            </a:extLst>
          </p:cNvPr>
          <p:cNvCxnSpPr>
            <a:cxnSpLocks/>
          </p:cNvCxnSpPr>
          <p:nvPr/>
        </p:nvCxnSpPr>
        <p:spPr>
          <a:xfrm>
            <a:off x="9180423" y="4135914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0FE70C-EDEE-7347-8EAC-B9BD04A44B56}"/>
              </a:ext>
            </a:extLst>
          </p:cNvPr>
          <p:cNvSpPr txBox="1"/>
          <p:nvPr/>
        </p:nvSpPr>
        <p:spPr>
          <a:xfrm>
            <a:off x="5211675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Cellular components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DE2B19-3A9E-9D44-9FF4-A5F0C7D3AED6}"/>
              </a:ext>
            </a:extLst>
          </p:cNvPr>
          <p:cNvSpPr txBox="1"/>
          <p:nvPr/>
        </p:nvSpPr>
        <p:spPr>
          <a:xfrm>
            <a:off x="7308492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Biological processes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2CC284-E1B9-D149-89E4-BC9B4081931D}"/>
              </a:ext>
            </a:extLst>
          </p:cNvPr>
          <p:cNvSpPr txBox="1"/>
          <p:nvPr/>
        </p:nvSpPr>
        <p:spPr>
          <a:xfrm>
            <a:off x="9875662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Molecular functions</a:t>
            </a:r>
          </a:p>
        </p:txBody>
      </p:sp>
    </p:spTree>
    <p:extLst>
      <p:ext uri="{BB962C8B-B14F-4D97-AF65-F5344CB8AC3E}">
        <p14:creationId xmlns:p14="http://schemas.microsoft.com/office/powerpoint/2010/main" val="153192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8EBD9-CFF8-B028-B133-43479BEB9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Gene Ontology (GO) is a d</a:t>
            </a:r>
            <a:r>
              <a:rPr lang="en-GB" dirty="0">
                <a:sym typeface="Wingdings" pitchFamily="2" charset="2"/>
              </a:rPr>
              <a:t>ynamic, f</a:t>
            </a:r>
            <a:r>
              <a:rPr lang="en-GB" dirty="0"/>
              <a:t>requently updated database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CB3CCA8-49A7-764A-B0E8-D28E1441106C}"/>
              </a:ext>
            </a:extLst>
          </p:cNvPr>
          <p:cNvSpPr/>
          <p:nvPr/>
        </p:nvSpPr>
        <p:spPr>
          <a:xfrm>
            <a:off x="6750425" y="1210235"/>
            <a:ext cx="3052482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B8ED595-8CD9-BB4E-A268-DB6CE8CF1591}"/>
              </a:ext>
            </a:extLst>
          </p:cNvPr>
          <p:cNvSpPr/>
          <p:nvPr/>
        </p:nvSpPr>
        <p:spPr>
          <a:xfrm>
            <a:off x="5300958" y="1210235"/>
            <a:ext cx="1382232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8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C141A13-0665-714B-8FEA-F4ED7E7CDEF0}"/>
              </a:ext>
            </a:extLst>
          </p:cNvPr>
          <p:cNvSpPr/>
          <p:nvPr/>
        </p:nvSpPr>
        <p:spPr>
          <a:xfrm>
            <a:off x="9870143" y="1210235"/>
            <a:ext cx="1055984" cy="47411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E6844CC-6E01-DD4F-BA35-10481E857A6A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99C6F4B-3B94-1445-A18E-B93EEFBD19FA}"/>
              </a:ext>
            </a:extLst>
          </p:cNvPr>
          <p:cNvSpPr/>
          <p:nvPr/>
        </p:nvSpPr>
        <p:spPr>
          <a:xfrm>
            <a:off x="6095999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727F5B4-2815-AF44-8F7C-753609245CCD}"/>
              </a:ext>
            </a:extLst>
          </p:cNvPr>
          <p:cNvSpPr/>
          <p:nvPr/>
        </p:nvSpPr>
        <p:spPr>
          <a:xfrm>
            <a:off x="7426036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54A0CC8-E5E3-8D48-B599-91FCAB057891}"/>
              </a:ext>
            </a:extLst>
          </p:cNvPr>
          <p:cNvSpPr/>
          <p:nvPr/>
        </p:nvSpPr>
        <p:spPr>
          <a:xfrm>
            <a:off x="8308464" y="28327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F08511C-C274-3347-AC68-617704B6FEF1}"/>
              </a:ext>
            </a:extLst>
          </p:cNvPr>
          <p:cNvSpPr/>
          <p:nvPr/>
        </p:nvSpPr>
        <p:spPr>
          <a:xfrm>
            <a:off x="6984822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B8BFD46-0460-B840-BE97-D5ADCD6FD830}"/>
              </a:ext>
            </a:extLst>
          </p:cNvPr>
          <p:cNvSpPr/>
          <p:nvPr/>
        </p:nvSpPr>
        <p:spPr>
          <a:xfrm>
            <a:off x="7873644" y="3612840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69DA388-9FC9-814A-A200-6485A522A937}"/>
              </a:ext>
            </a:extLst>
          </p:cNvPr>
          <p:cNvSpPr/>
          <p:nvPr/>
        </p:nvSpPr>
        <p:spPr>
          <a:xfrm>
            <a:off x="9216470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B9EFF01-F00B-E64C-B04B-A9E14A26A3CB}"/>
              </a:ext>
            </a:extLst>
          </p:cNvPr>
          <p:cNvSpPr/>
          <p:nvPr/>
        </p:nvSpPr>
        <p:spPr>
          <a:xfrm>
            <a:off x="7432431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10287B9-74FC-B54B-9CE4-98A21BBAF890}"/>
              </a:ext>
            </a:extLst>
          </p:cNvPr>
          <p:cNvSpPr/>
          <p:nvPr/>
        </p:nvSpPr>
        <p:spPr>
          <a:xfrm>
            <a:off x="9998851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C5EA395-07F2-C342-B87E-081CB04EC8D7}"/>
              </a:ext>
            </a:extLst>
          </p:cNvPr>
          <p:cNvCxnSpPr/>
          <p:nvPr/>
        </p:nvCxnSpPr>
        <p:spPr>
          <a:xfrm flipH="1">
            <a:off x="7817000" y="2574151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CAD39E0-1800-7749-B612-C696EDB56E39}"/>
              </a:ext>
            </a:extLst>
          </p:cNvPr>
          <p:cNvCxnSpPr/>
          <p:nvPr/>
        </p:nvCxnSpPr>
        <p:spPr>
          <a:xfrm flipH="1">
            <a:off x="7347662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388EDCB-9F84-AC4A-B02F-72C0B1BF1110}"/>
              </a:ext>
            </a:extLst>
          </p:cNvPr>
          <p:cNvCxnSpPr/>
          <p:nvPr/>
        </p:nvCxnSpPr>
        <p:spPr>
          <a:xfrm flipH="1">
            <a:off x="7808908" y="4119730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28845D4-270D-5E46-A870-C3E4F3237B98}"/>
              </a:ext>
            </a:extLst>
          </p:cNvPr>
          <p:cNvCxnSpPr/>
          <p:nvPr/>
        </p:nvCxnSpPr>
        <p:spPr>
          <a:xfrm flipH="1">
            <a:off x="8253970" y="3334802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C0CFE03-089E-8949-8D78-BCCEBB1A081E}"/>
              </a:ext>
            </a:extLst>
          </p:cNvPr>
          <p:cNvCxnSpPr>
            <a:cxnSpLocks/>
          </p:cNvCxnSpPr>
          <p:nvPr/>
        </p:nvCxnSpPr>
        <p:spPr>
          <a:xfrm>
            <a:off x="8290300" y="2566059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A8FD798-A57A-7843-84F6-1B8ADBEAECBA}"/>
              </a:ext>
            </a:extLst>
          </p:cNvPr>
          <p:cNvCxnSpPr>
            <a:cxnSpLocks/>
          </p:cNvCxnSpPr>
          <p:nvPr/>
        </p:nvCxnSpPr>
        <p:spPr>
          <a:xfrm>
            <a:off x="7845238" y="3326710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29E9F9C3-E47C-134D-8F0C-551E3F43B4FD}"/>
              </a:ext>
            </a:extLst>
          </p:cNvPr>
          <p:cNvSpPr/>
          <p:nvPr/>
        </p:nvSpPr>
        <p:spPr>
          <a:xfrm>
            <a:off x="8762467" y="3606445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77E6C81-8F06-4B4D-A303-F1BDA244450E}"/>
              </a:ext>
            </a:extLst>
          </p:cNvPr>
          <p:cNvSpPr/>
          <p:nvPr/>
        </p:nvSpPr>
        <p:spPr>
          <a:xfrm>
            <a:off x="8314859" y="4380168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065A0D1-2B3E-F542-A44F-D39FB75127F4}"/>
              </a:ext>
            </a:extLst>
          </p:cNvPr>
          <p:cNvCxnSpPr>
            <a:cxnSpLocks/>
          </p:cNvCxnSpPr>
          <p:nvPr/>
        </p:nvCxnSpPr>
        <p:spPr>
          <a:xfrm>
            <a:off x="8743454" y="3310526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7E52D0E-B805-4841-843E-48A4E7051688}"/>
              </a:ext>
            </a:extLst>
          </p:cNvPr>
          <p:cNvCxnSpPr>
            <a:cxnSpLocks/>
          </p:cNvCxnSpPr>
          <p:nvPr/>
        </p:nvCxnSpPr>
        <p:spPr>
          <a:xfrm>
            <a:off x="8290300" y="4087362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269F3B5-EB98-494F-96FC-EAE26238DDFF}"/>
              </a:ext>
            </a:extLst>
          </p:cNvPr>
          <p:cNvCxnSpPr/>
          <p:nvPr/>
        </p:nvCxnSpPr>
        <p:spPr>
          <a:xfrm flipH="1">
            <a:off x="8699032" y="4111638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4167D2E-4540-894B-828E-D09B4006AFE3}"/>
              </a:ext>
            </a:extLst>
          </p:cNvPr>
          <p:cNvCxnSpPr>
            <a:cxnSpLocks/>
          </p:cNvCxnSpPr>
          <p:nvPr/>
        </p:nvCxnSpPr>
        <p:spPr>
          <a:xfrm>
            <a:off x="9180423" y="4135914"/>
            <a:ext cx="105196" cy="2450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B33CB5F-6870-0F4F-B91B-0805F2B51148}"/>
              </a:ext>
            </a:extLst>
          </p:cNvPr>
          <p:cNvSpPr txBox="1"/>
          <p:nvPr/>
        </p:nvSpPr>
        <p:spPr>
          <a:xfrm>
            <a:off x="5211675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Cellular components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4158C0D-BBA4-A74B-848A-DE022B435335}"/>
              </a:ext>
            </a:extLst>
          </p:cNvPr>
          <p:cNvSpPr txBox="1"/>
          <p:nvPr/>
        </p:nvSpPr>
        <p:spPr>
          <a:xfrm>
            <a:off x="7308492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Biological processes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96D77B-8DC9-AD4F-83B0-0D70FBA3F1BA}"/>
              </a:ext>
            </a:extLst>
          </p:cNvPr>
          <p:cNvSpPr txBox="1"/>
          <p:nvPr/>
        </p:nvSpPr>
        <p:spPr>
          <a:xfrm>
            <a:off x="9875662" y="1380822"/>
            <a:ext cx="146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Molecular functions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D9AD31D-EF69-174E-98B8-3D3969CD2B03}"/>
              </a:ext>
            </a:extLst>
          </p:cNvPr>
          <p:cNvSpPr/>
          <p:nvPr/>
        </p:nvSpPr>
        <p:spPr>
          <a:xfrm>
            <a:off x="6939450" y="5207103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905B925-85E5-E94F-956F-93D74AA91735}"/>
              </a:ext>
            </a:extLst>
          </p:cNvPr>
          <p:cNvCxnSpPr/>
          <p:nvPr/>
        </p:nvCxnSpPr>
        <p:spPr>
          <a:xfrm flipH="1">
            <a:off x="7315927" y="4946665"/>
            <a:ext cx="141526" cy="236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EC6872B-F127-604B-89F6-C398641BC96B}"/>
              </a:ext>
            </a:extLst>
          </p:cNvPr>
          <p:cNvSpPr/>
          <p:nvPr/>
        </p:nvSpPr>
        <p:spPr>
          <a:xfrm>
            <a:off x="6854932" y="4404022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0154CFA-5B44-7B45-ACA7-D29D297A5668}"/>
              </a:ext>
            </a:extLst>
          </p:cNvPr>
          <p:cNvCxnSpPr>
            <a:cxnSpLocks/>
          </p:cNvCxnSpPr>
          <p:nvPr/>
        </p:nvCxnSpPr>
        <p:spPr>
          <a:xfrm flipH="1">
            <a:off x="7146254" y="4204448"/>
            <a:ext cx="31920" cy="152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9689D9BF-687F-DC4B-928F-C282DDB9B6EF}"/>
              </a:ext>
            </a:extLst>
          </p:cNvPr>
          <p:cNvSpPr/>
          <p:nvPr/>
        </p:nvSpPr>
        <p:spPr>
          <a:xfrm>
            <a:off x="8166898" y="5167347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B4BE63C-2A4E-0D4B-BE6E-22D5BC56D171}"/>
              </a:ext>
            </a:extLst>
          </p:cNvPr>
          <p:cNvCxnSpPr>
            <a:cxnSpLocks/>
          </p:cNvCxnSpPr>
          <p:nvPr/>
        </p:nvCxnSpPr>
        <p:spPr>
          <a:xfrm flipH="1">
            <a:off x="8458220" y="4967773"/>
            <a:ext cx="31920" cy="152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FD6570F5-D994-A543-8B5F-32003DD33C01}"/>
              </a:ext>
            </a:extLst>
          </p:cNvPr>
          <p:cNvSpPr/>
          <p:nvPr/>
        </p:nvSpPr>
        <p:spPr>
          <a:xfrm>
            <a:off x="9208518" y="2845567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FEB78E2-EF8C-1246-8001-4A42FB893A4D}"/>
              </a:ext>
            </a:extLst>
          </p:cNvPr>
          <p:cNvCxnSpPr>
            <a:cxnSpLocks/>
          </p:cNvCxnSpPr>
          <p:nvPr/>
        </p:nvCxnSpPr>
        <p:spPr>
          <a:xfrm>
            <a:off x="8458220" y="2396933"/>
            <a:ext cx="819447" cy="4494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99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F541291-242F-9647-B319-330E3309293B}"/>
              </a:ext>
            </a:extLst>
          </p:cNvPr>
          <p:cNvSpPr/>
          <p:nvPr/>
        </p:nvSpPr>
        <p:spPr>
          <a:xfrm>
            <a:off x="6423949" y="2974694"/>
            <a:ext cx="3391383" cy="2822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6E114-DEAF-E88D-D608-4E165A94A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4883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IMPORTANT: </a:t>
            </a:r>
          </a:p>
          <a:p>
            <a:pPr>
              <a:lnSpc>
                <a:spcPct val="150000"/>
              </a:lnSpc>
            </a:pPr>
            <a:endParaRPr lang="en-GB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A </a:t>
            </a:r>
            <a:r>
              <a:rPr lang="en-GB" u="sng" dirty="0"/>
              <a:t>GO term</a:t>
            </a:r>
            <a:r>
              <a:rPr lang="en-GB" dirty="0"/>
              <a:t> (e.g. GO:0000017) is different from its </a:t>
            </a:r>
            <a:r>
              <a:rPr lang="en-GB" u="sng" dirty="0"/>
              <a:t>annotations</a:t>
            </a:r>
            <a:r>
              <a:rPr lang="en-GB" dirty="0"/>
              <a:t> (i.e. the association of some genes to this term)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013ED-680F-724D-B5D9-404A2314ED6C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5E5DAC-EB03-A24F-815C-5194D5E5A977}"/>
              </a:ext>
            </a:extLst>
          </p:cNvPr>
          <p:cNvSpPr/>
          <p:nvPr/>
        </p:nvSpPr>
        <p:spPr>
          <a:xfrm>
            <a:off x="7024324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875EC0-04C4-FE42-A1A4-720B0A00A3F5}"/>
              </a:ext>
            </a:extLst>
          </p:cNvPr>
          <p:cNvSpPr/>
          <p:nvPr/>
        </p:nvSpPr>
        <p:spPr>
          <a:xfrm>
            <a:off x="6549762" y="3585910"/>
            <a:ext cx="1119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 term: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AB874A-D2D7-8A4D-A4E2-C6DAA934A93D}"/>
              </a:ext>
            </a:extLst>
          </p:cNvPr>
          <p:cNvSpPr/>
          <p:nvPr/>
        </p:nvSpPr>
        <p:spPr>
          <a:xfrm>
            <a:off x="7755721" y="3585910"/>
            <a:ext cx="1893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Metabolic process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7FC843-0434-564F-B148-A198680A0DB9}"/>
              </a:ext>
            </a:extLst>
          </p:cNvPr>
          <p:cNvSpPr/>
          <p:nvPr/>
        </p:nvSpPr>
        <p:spPr>
          <a:xfrm>
            <a:off x="7430131" y="3075569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GO:0000017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25FB47-1011-7740-A768-57E86C582A95}"/>
              </a:ext>
            </a:extLst>
          </p:cNvPr>
          <p:cNvCxnSpPr/>
          <p:nvPr/>
        </p:nvCxnSpPr>
        <p:spPr>
          <a:xfrm>
            <a:off x="6423949" y="3515405"/>
            <a:ext cx="3391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8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F541291-242F-9647-B319-330E3309293B}"/>
              </a:ext>
            </a:extLst>
          </p:cNvPr>
          <p:cNvSpPr/>
          <p:nvPr/>
        </p:nvSpPr>
        <p:spPr>
          <a:xfrm>
            <a:off x="6423949" y="2974694"/>
            <a:ext cx="3391383" cy="2822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8F7DF-7758-B56B-62A7-B2CFCD3A3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4883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IMPORTANT: </a:t>
            </a:r>
          </a:p>
          <a:p>
            <a:pPr>
              <a:lnSpc>
                <a:spcPct val="150000"/>
              </a:lnSpc>
            </a:pPr>
            <a:endParaRPr lang="en-GB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A </a:t>
            </a:r>
            <a:r>
              <a:rPr lang="en-GB" u="sng" dirty="0"/>
              <a:t>GO term</a:t>
            </a:r>
            <a:r>
              <a:rPr lang="en-GB" dirty="0"/>
              <a:t> (e.g. GO:0000017) is different from its </a:t>
            </a:r>
            <a:r>
              <a:rPr lang="en-GB" u="sng" dirty="0"/>
              <a:t>annotations</a:t>
            </a:r>
            <a:r>
              <a:rPr lang="en-GB" dirty="0"/>
              <a:t> (i.e. the association of some genes to this term)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013ED-680F-724D-B5D9-404A2314ED6C}"/>
              </a:ext>
            </a:extLst>
          </p:cNvPr>
          <p:cNvSpPr/>
          <p:nvPr/>
        </p:nvSpPr>
        <p:spPr>
          <a:xfrm>
            <a:off x="7873645" y="2058999"/>
            <a:ext cx="477449" cy="479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A  B </a:t>
            </a:r>
          </a:p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C00000"/>
                </a:solidFill>
              </a:rPr>
              <a:t>C  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5E5DAC-EB03-A24F-815C-5194D5E5A977}"/>
              </a:ext>
            </a:extLst>
          </p:cNvPr>
          <p:cNvSpPr/>
          <p:nvPr/>
        </p:nvSpPr>
        <p:spPr>
          <a:xfrm>
            <a:off x="7024324" y="165686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GO:0000017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875EC0-04C4-FE42-A1A4-720B0A00A3F5}"/>
              </a:ext>
            </a:extLst>
          </p:cNvPr>
          <p:cNvSpPr/>
          <p:nvPr/>
        </p:nvSpPr>
        <p:spPr>
          <a:xfrm>
            <a:off x="6549762" y="3585910"/>
            <a:ext cx="1119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 term: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96FE8E-32D0-B248-91D6-CCE90E9123CB}"/>
              </a:ext>
            </a:extLst>
          </p:cNvPr>
          <p:cNvSpPr/>
          <p:nvPr/>
        </p:nvSpPr>
        <p:spPr>
          <a:xfrm>
            <a:off x="6549762" y="4319422"/>
            <a:ext cx="1805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 annotations: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AB874A-D2D7-8A4D-A4E2-C6DAA934A93D}"/>
              </a:ext>
            </a:extLst>
          </p:cNvPr>
          <p:cNvSpPr/>
          <p:nvPr/>
        </p:nvSpPr>
        <p:spPr>
          <a:xfrm>
            <a:off x="7755721" y="3585910"/>
            <a:ext cx="1893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Metabolic process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5FE180-DEFD-414B-AAE4-2C736638BE7D}"/>
              </a:ext>
            </a:extLst>
          </p:cNvPr>
          <p:cNvSpPr/>
          <p:nvPr/>
        </p:nvSpPr>
        <p:spPr>
          <a:xfrm>
            <a:off x="8540607" y="4319422"/>
            <a:ext cx="87876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Gene A</a:t>
            </a:r>
          </a:p>
          <a:p>
            <a:r>
              <a:rPr lang="en-US" dirty="0"/>
              <a:t>Gene B</a:t>
            </a:r>
          </a:p>
          <a:p>
            <a:r>
              <a:rPr lang="en-US" dirty="0"/>
              <a:t>Gene C</a:t>
            </a:r>
          </a:p>
          <a:p>
            <a:r>
              <a:rPr lang="en-US" dirty="0"/>
              <a:t>Gene D</a:t>
            </a:r>
          </a:p>
          <a:p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7FC843-0434-564F-B148-A198680A0DB9}"/>
              </a:ext>
            </a:extLst>
          </p:cNvPr>
          <p:cNvSpPr/>
          <p:nvPr/>
        </p:nvSpPr>
        <p:spPr>
          <a:xfrm>
            <a:off x="7430131" y="3075569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GO:0000017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25FB47-1011-7740-A768-57E86C582A95}"/>
              </a:ext>
            </a:extLst>
          </p:cNvPr>
          <p:cNvCxnSpPr/>
          <p:nvPr/>
        </p:nvCxnSpPr>
        <p:spPr>
          <a:xfrm>
            <a:off x="6423949" y="3515405"/>
            <a:ext cx="3391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295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F8A5-E43D-E2AB-3192-3C12C8D8A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IMPORTANT: </a:t>
            </a:r>
          </a:p>
          <a:p>
            <a:pPr>
              <a:lnSpc>
                <a:spcPct val="150000"/>
              </a:lnSpc>
            </a:pPr>
            <a:endParaRPr lang="en-GB" sz="1100" dirty="0"/>
          </a:p>
          <a:p>
            <a:pPr>
              <a:lnSpc>
                <a:spcPct val="150000"/>
              </a:lnSpc>
            </a:pPr>
            <a:r>
              <a:rPr lang="en-GB" b="1" u="sng" dirty="0"/>
              <a:t>GO consortium</a:t>
            </a:r>
            <a:r>
              <a:rPr lang="en-GB" dirty="0"/>
              <a:t> organizes </a:t>
            </a:r>
            <a:r>
              <a:rPr lang="en-GB" b="1" u="sng" dirty="0"/>
              <a:t>GO terms</a:t>
            </a:r>
            <a:r>
              <a:rPr lang="en-GB" dirty="0"/>
              <a:t> and their hierarchy</a:t>
            </a:r>
          </a:p>
          <a:p>
            <a:pPr>
              <a:lnSpc>
                <a:spcPct val="150000"/>
              </a:lnSpc>
            </a:pPr>
            <a:r>
              <a:rPr lang="en-GB" b="1" u="sng" dirty="0"/>
              <a:t>External providers</a:t>
            </a:r>
            <a:r>
              <a:rPr lang="en-GB" dirty="0"/>
              <a:t> manage </a:t>
            </a:r>
            <a:r>
              <a:rPr lang="en-GB" b="1" u="sng" dirty="0"/>
              <a:t>GO term annotations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2734696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BF061-705C-A20F-03BA-4308D97B4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IMPORTANT: </a:t>
            </a:r>
          </a:p>
          <a:p>
            <a:pPr>
              <a:lnSpc>
                <a:spcPct val="150000"/>
              </a:lnSpc>
            </a:pPr>
            <a:endParaRPr lang="en-GB" sz="1100" dirty="0"/>
          </a:p>
          <a:p>
            <a:pPr>
              <a:lnSpc>
                <a:spcPct val="150000"/>
              </a:lnSpc>
            </a:pPr>
            <a:r>
              <a:rPr lang="en-GB" dirty="0"/>
              <a:t>GO consortium organizes GO terms and their hierarchy</a:t>
            </a:r>
          </a:p>
          <a:p>
            <a:pPr>
              <a:lnSpc>
                <a:spcPct val="150000"/>
              </a:lnSpc>
            </a:pPr>
            <a:r>
              <a:rPr lang="en-GB" dirty="0"/>
              <a:t>External providers manage GO term annotations</a:t>
            </a:r>
          </a:p>
          <a:p>
            <a:pPr lvl="1">
              <a:lnSpc>
                <a:spcPct val="150000"/>
              </a:lnSpc>
            </a:pP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/>
              <a:t>Mouse annotations are provided by MGI (Mouse Genome Informatics)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C. elegans annotations are provided by </a:t>
            </a:r>
            <a:r>
              <a:rPr lang="en-GB" dirty="0" err="1"/>
              <a:t>Wormbase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/>
              <a:t>Yeast annotations are provided by SGD (Saccharomyces Genome Database)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856470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Official GO database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F8E6F-A4E2-3704-021D-A44F23FBF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Consortium is the provider of official Gene Ontology.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0EBAE-D8CF-F54A-983A-93DE45D96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678" y="1569989"/>
            <a:ext cx="9212986" cy="44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95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official GO database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6A446-1C77-8525-9DD9-7182D97C4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Versioned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Easy access to entire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OBO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ACBA1-8844-8D45-8DF7-368A6AF3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10" y="1100962"/>
            <a:ext cx="2079692" cy="492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55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official GO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00A20-B82C-A19E-EA5D-61A640031D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OBO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80AFFB-4FD5-664A-828F-83A7BB2A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90" y="2398643"/>
            <a:ext cx="10260924" cy="35527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145E12-36A4-1843-AF56-30FCEF5DF0D5}"/>
              </a:ext>
            </a:extLst>
          </p:cNvPr>
          <p:cNvSpPr/>
          <p:nvPr/>
        </p:nvSpPr>
        <p:spPr>
          <a:xfrm>
            <a:off x="3730640" y="1341912"/>
            <a:ext cx="67487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wget</a:t>
            </a:r>
            <a:r>
              <a:rPr lang="en-US" sz="2800" b="1" dirty="0"/>
              <a:t> http://</a:t>
            </a:r>
            <a:r>
              <a:rPr lang="en-US" sz="2800" b="1" dirty="0" err="1"/>
              <a:t>purl.obolibrary.org</a:t>
            </a:r>
            <a:r>
              <a:rPr lang="en-US" sz="2800" b="1" dirty="0"/>
              <a:t>/obo/</a:t>
            </a:r>
            <a:r>
              <a:rPr lang="en-US" sz="2800" b="1" dirty="0" err="1"/>
              <a:t>go.obo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99904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</a:t>
            </a:r>
            <a:r>
              <a:rPr lang="en-US" b="1" dirty="0"/>
              <a:t>annotations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884E1-9D7B-C9A7-B91D-F02DCA4DE4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 </a:t>
            </a:r>
            <a:r>
              <a:rPr lang="en-US" b="1" u="sng" dirty="0"/>
              <a:t>annotations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Also versioned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 most recent annotations for individual species available at: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http://current.geneontology.org/annotations/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02663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6AABB-33B5-347D-50AA-16F0D212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5677E-3574-844B-9415-DAE8C6DAE6C4}"/>
              </a:ext>
            </a:extLst>
          </p:cNvPr>
          <p:cNvSpPr/>
          <p:nvPr/>
        </p:nvSpPr>
        <p:spPr>
          <a:xfrm>
            <a:off x="620235" y="857738"/>
            <a:ext cx="1328402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Parent                              </a:t>
            </a:r>
            <a:r>
              <a:rPr lang="en-US" sz="1100" dirty="0" err="1">
                <a:latin typeface="Courier" pitchFamily="2" charset="0"/>
              </a:rPr>
              <a:t>goa_dog_rna.gpad.gz</a:t>
            </a:r>
            <a:r>
              <a:rPr lang="en-US" sz="1100" dirty="0">
                <a:latin typeface="Courier" pitchFamily="2" charset="0"/>
              </a:rPr>
              <a:t>                 </a:t>
            </a:r>
            <a:r>
              <a:rPr lang="en-US" sz="1100" dirty="0" err="1">
                <a:latin typeface="Courier" pitchFamily="2" charset="0"/>
              </a:rPr>
              <a:t>goa_chicken_complex.gpad.gz</a:t>
            </a:r>
            <a:r>
              <a:rPr lang="en-US" sz="1100" dirty="0">
                <a:latin typeface="Courier" pitchFamily="2" charset="0"/>
              </a:rPr>
              <a:t>         </a:t>
            </a:r>
            <a:r>
              <a:rPr lang="en-US" sz="1100" dirty="0" err="1">
                <a:latin typeface="Courier" pitchFamily="2" charset="0"/>
              </a:rPr>
              <a:t>mgi.gaf.gz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..                                  </a:t>
            </a:r>
            <a:r>
              <a:rPr lang="en-US" sz="1100" dirty="0" err="1">
                <a:latin typeface="Courier" pitchFamily="2" charset="0"/>
              </a:rPr>
              <a:t>goa_dog_rna.gpi.gz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goa_chicken_complex.gpi.gz</a:t>
            </a:r>
            <a:r>
              <a:rPr lang="en-US" sz="1100" dirty="0">
                <a:latin typeface="Courier" pitchFamily="2" charset="0"/>
              </a:rPr>
              <a:t>          </a:t>
            </a:r>
            <a:r>
              <a:rPr lang="en-US" sz="1100" dirty="0" err="1">
                <a:latin typeface="Courier" pitchFamily="2" charset="0"/>
              </a:rPr>
              <a:t>mgi.gpad.gz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                                </a:t>
            </a:r>
            <a:r>
              <a:rPr lang="en-US" sz="1100" dirty="0" err="1">
                <a:latin typeface="Courier" pitchFamily="2" charset="0"/>
              </a:rPr>
              <a:t>goa_human.gaf.gz</a:t>
            </a:r>
            <a:r>
              <a:rPr lang="en-US" sz="1100" dirty="0">
                <a:latin typeface="Courier" pitchFamily="2" charset="0"/>
              </a:rPr>
              <a:t>                    </a:t>
            </a:r>
            <a:r>
              <a:rPr lang="en-US" sz="1100" dirty="0" err="1">
                <a:latin typeface="Courier" pitchFamily="2" charset="0"/>
              </a:rPr>
              <a:t>goa_chicken_isoform.gaf.gz</a:t>
            </a:r>
            <a:r>
              <a:rPr lang="en-US" sz="1100" dirty="0">
                <a:latin typeface="Courier" pitchFamily="2" charset="0"/>
              </a:rPr>
              <a:t>          </a:t>
            </a:r>
            <a:r>
              <a:rPr lang="en-US" sz="1100" dirty="0" err="1">
                <a:latin typeface="Courier" pitchFamily="2" charset="0"/>
              </a:rPr>
              <a:t>mgi.gpi.gz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                                </a:t>
            </a:r>
            <a:r>
              <a:rPr lang="en-US" sz="1100" dirty="0" err="1">
                <a:latin typeface="Courier" pitchFamily="2" charset="0"/>
              </a:rPr>
              <a:t>goa_human.gpad.gz</a:t>
            </a:r>
            <a:r>
              <a:rPr lang="en-US" sz="1100" dirty="0">
                <a:latin typeface="Courier" pitchFamily="2" charset="0"/>
              </a:rPr>
              <a:t>                   </a:t>
            </a:r>
            <a:r>
              <a:rPr lang="en-US" sz="1100" dirty="0" err="1">
                <a:latin typeface="Courier" pitchFamily="2" charset="0"/>
              </a:rPr>
              <a:t>goa_chicken_isoform.gpad.gz</a:t>
            </a:r>
            <a:r>
              <a:rPr lang="en-US" sz="1100" dirty="0">
                <a:latin typeface="Courier" pitchFamily="2" charset="0"/>
              </a:rPr>
              <a:t>         </a:t>
            </a:r>
            <a:r>
              <a:rPr lang="en-US" sz="1100" dirty="0" err="1">
                <a:latin typeface="Courier" pitchFamily="2" charset="0"/>
              </a:rPr>
              <a:t>pombase.gaf.gz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                                </a:t>
            </a:r>
            <a:r>
              <a:rPr lang="en-US" sz="1100" dirty="0" err="1">
                <a:latin typeface="Courier" pitchFamily="2" charset="0"/>
              </a:rPr>
              <a:t>goa_human.gpi.gz</a:t>
            </a:r>
            <a:r>
              <a:rPr lang="en-US" sz="1100" dirty="0">
                <a:latin typeface="Courier" pitchFamily="2" charset="0"/>
              </a:rPr>
              <a:t>                    </a:t>
            </a:r>
            <a:r>
              <a:rPr lang="en-US" sz="1100" dirty="0" err="1">
                <a:latin typeface="Courier" pitchFamily="2" charset="0"/>
              </a:rPr>
              <a:t>goa_chicken_isoform.gpi.gz</a:t>
            </a:r>
            <a:r>
              <a:rPr lang="en-US" sz="1100" dirty="0">
                <a:latin typeface="Courier" pitchFamily="2" charset="0"/>
              </a:rPr>
              <a:t>          </a:t>
            </a:r>
            <a:r>
              <a:rPr lang="en-US" sz="1100" dirty="0" err="1">
                <a:latin typeface="Courier" pitchFamily="2" charset="0"/>
              </a:rPr>
              <a:t>pombase.gpad.gz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aspgd.gaf.gz</a:t>
            </a:r>
            <a:r>
              <a:rPr lang="en-US" sz="1100" dirty="0">
                <a:latin typeface="Courier" pitchFamily="2" charset="0"/>
              </a:rPr>
              <a:t>                        </a:t>
            </a:r>
            <a:r>
              <a:rPr lang="en-US" sz="1100" dirty="0" err="1">
                <a:latin typeface="Courier" pitchFamily="2" charset="0"/>
              </a:rPr>
              <a:t>goa_human_complex.gaf.gz</a:t>
            </a:r>
            <a:r>
              <a:rPr lang="en-US" sz="1100" dirty="0">
                <a:latin typeface="Courier" pitchFamily="2" charset="0"/>
              </a:rPr>
              <a:t>            </a:t>
            </a:r>
            <a:r>
              <a:rPr lang="en-US" sz="1100" dirty="0" err="1">
                <a:latin typeface="Courier" pitchFamily="2" charset="0"/>
              </a:rPr>
              <a:t>goa_chicken_rna.gaf.gz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pombase.gpi.gz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aspgd.gpad.gz</a:t>
            </a:r>
            <a:r>
              <a:rPr lang="en-US" sz="1100" dirty="0">
                <a:latin typeface="Courier" pitchFamily="2" charset="0"/>
              </a:rPr>
              <a:t>                       </a:t>
            </a:r>
            <a:r>
              <a:rPr lang="en-US" sz="1100" dirty="0" err="1">
                <a:latin typeface="Courier" pitchFamily="2" charset="0"/>
              </a:rPr>
              <a:t>goa_human_complex.gpad.gz</a:t>
            </a:r>
            <a:r>
              <a:rPr lang="en-US" sz="1100" dirty="0">
                <a:latin typeface="Courier" pitchFamily="2" charset="0"/>
              </a:rPr>
              <a:t>           </a:t>
            </a:r>
            <a:r>
              <a:rPr lang="en-US" sz="1100" dirty="0" err="1">
                <a:latin typeface="Courier" pitchFamily="2" charset="0"/>
              </a:rPr>
              <a:t>goa_chicken_rna.gpad.gz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pseudocap.gaf.gz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aspgd.gpi.gz</a:t>
            </a:r>
            <a:r>
              <a:rPr lang="en-US" sz="1100" dirty="0">
                <a:latin typeface="Courier" pitchFamily="2" charset="0"/>
              </a:rPr>
              <a:t>                        </a:t>
            </a:r>
            <a:r>
              <a:rPr lang="en-US" sz="1100" dirty="0" err="1">
                <a:latin typeface="Courier" pitchFamily="2" charset="0"/>
              </a:rPr>
              <a:t>goa_human_complex.gpi.gz</a:t>
            </a:r>
            <a:r>
              <a:rPr lang="en-US" sz="1100" dirty="0">
                <a:latin typeface="Courier" pitchFamily="2" charset="0"/>
              </a:rPr>
              <a:t>            </a:t>
            </a:r>
            <a:r>
              <a:rPr lang="en-US" sz="1100" dirty="0" err="1">
                <a:latin typeface="Courier" pitchFamily="2" charset="0"/>
              </a:rPr>
              <a:t>goa_chicken_rna.gpi.gz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pseudocap.gpad.gz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cgd.gaf.gz</a:t>
            </a:r>
            <a:r>
              <a:rPr lang="en-US" sz="1100" dirty="0">
                <a:latin typeface="Courier" pitchFamily="2" charset="0"/>
              </a:rPr>
              <a:t>                          </a:t>
            </a:r>
            <a:r>
              <a:rPr lang="en-US" sz="1100" dirty="0" err="1">
                <a:latin typeface="Courier" pitchFamily="2" charset="0"/>
              </a:rPr>
              <a:t>goa_human_isoform.gaf.gz</a:t>
            </a:r>
            <a:r>
              <a:rPr lang="en-US" sz="1100" dirty="0">
                <a:latin typeface="Courier" pitchFamily="2" charset="0"/>
              </a:rPr>
              <a:t>            </a:t>
            </a:r>
            <a:r>
              <a:rPr lang="en-US" sz="1100" dirty="0" err="1">
                <a:latin typeface="Courier" pitchFamily="2" charset="0"/>
              </a:rPr>
              <a:t>goa_cow.gaf.gz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pseudocap.gpi.gz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cgd.gpad.gz</a:t>
            </a:r>
            <a:r>
              <a:rPr lang="en-US" sz="1100" dirty="0">
                <a:latin typeface="Courier" pitchFamily="2" charset="0"/>
              </a:rPr>
              <a:t>                         </a:t>
            </a:r>
            <a:r>
              <a:rPr lang="en-US" sz="1100" dirty="0" err="1">
                <a:latin typeface="Courier" pitchFamily="2" charset="0"/>
              </a:rPr>
              <a:t>goa_human_isoform.gpad.gz</a:t>
            </a:r>
            <a:r>
              <a:rPr lang="en-US" sz="1100" dirty="0">
                <a:latin typeface="Courier" pitchFamily="2" charset="0"/>
              </a:rPr>
              <a:t>           </a:t>
            </a:r>
            <a:r>
              <a:rPr lang="en-US" sz="1100" dirty="0" err="1">
                <a:latin typeface="Courier" pitchFamily="2" charset="0"/>
              </a:rPr>
              <a:t>goa_cow.gpad.gz</a:t>
            </a:r>
            <a:r>
              <a:rPr lang="en-US" sz="1100" dirty="0">
                <a:latin typeface="Courier" pitchFamily="2" charset="0"/>
              </a:rPr>
              <a:t>                     </a:t>
            </a:r>
            <a:r>
              <a:rPr lang="en-US" sz="1100" dirty="0" err="1">
                <a:latin typeface="Courier" pitchFamily="2" charset="0"/>
              </a:rPr>
              <a:t>reactome.gaf.gz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cgd.gpi.gz</a:t>
            </a:r>
            <a:r>
              <a:rPr lang="en-US" sz="1100" dirty="0">
                <a:latin typeface="Courier" pitchFamily="2" charset="0"/>
              </a:rPr>
              <a:t>                          </a:t>
            </a:r>
            <a:r>
              <a:rPr lang="en-US" sz="1100" dirty="0" err="1">
                <a:latin typeface="Courier" pitchFamily="2" charset="0"/>
              </a:rPr>
              <a:t>goa_human_isoform.gpi.gz</a:t>
            </a:r>
            <a:r>
              <a:rPr lang="en-US" sz="1100" dirty="0">
                <a:latin typeface="Courier" pitchFamily="2" charset="0"/>
              </a:rPr>
              <a:t>            </a:t>
            </a:r>
            <a:r>
              <a:rPr lang="en-US" sz="1100" dirty="0" err="1">
                <a:latin typeface="Courier" pitchFamily="2" charset="0"/>
              </a:rPr>
              <a:t>goa_cow.gpi.gz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reactome.gpad.gz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dictybase.gaf.gz</a:t>
            </a:r>
            <a:r>
              <a:rPr lang="en-US" sz="1100" dirty="0">
                <a:latin typeface="Courier" pitchFamily="2" charset="0"/>
              </a:rPr>
              <a:t>                    </a:t>
            </a:r>
            <a:r>
              <a:rPr lang="en-US" sz="1100" dirty="0" err="1">
                <a:latin typeface="Courier" pitchFamily="2" charset="0"/>
              </a:rPr>
              <a:t>goa_human_rna.gaf.gz</a:t>
            </a:r>
            <a:r>
              <a:rPr lang="en-US" sz="1100" dirty="0">
                <a:latin typeface="Courier" pitchFamily="2" charset="0"/>
              </a:rPr>
              <a:t>                </a:t>
            </a:r>
            <a:r>
              <a:rPr lang="en-US" sz="1100" dirty="0" err="1">
                <a:latin typeface="Courier" pitchFamily="2" charset="0"/>
              </a:rPr>
              <a:t>goa_cow_complex.gaf.gz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reactome.gpi.gz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dictybase.gpad.gz</a:t>
            </a:r>
            <a:r>
              <a:rPr lang="en-US" sz="1100" dirty="0">
                <a:latin typeface="Courier" pitchFamily="2" charset="0"/>
              </a:rPr>
              <a:t>                   </a:t>
            </a:r>
            <a:r>
              <a:rPr lang="en-US" sz="1100" dirty="0" err="1">
                <a:latin typeface="Courier" pitchFamily="2" charset="0"/>
              </a:rPr>
              <a:t>goa_human_rna.gpad.gz</a:t>
            </a:r>
            <a:r>
              <a:rPr lang="en-US" sz="1100" dirty="0">
                <a:latin typeface="Courier" pitchFamily="2" charset="0"/>
              </a:rPr>
              <a:t>               </a:t>
            </a:r>
            <a:r>
              <a:rPr lang="en-US" sz="1100" dirty="0" err="1">
                <a:latin typeface="Courier" pitchFamily="2" charset="0"/>
              </a:rPr>
              <a:t>goa_cow_complex.gpad.gz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rgd.gaf.gz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dictybase.gpi.gz</a:t>
            </a:r>
            <a:r>
              <a:rPr lang="en-US" sz="1100" dirty="0">
                <a:latin typeface="Courier" pitchFamily="2" charset="0"/>
              </a:rPr>
              <a:t>                    </a:t>
            </a:r>
            <a:r>
              <a:rPr lang="en-US" sz="1100" dirty="0" err="1">
                <a:latin typeface="Courier" pitchFamily="2" charset="0"/>
              </a:rPr>
              <a:t>goa_human_rna.gpi.gz</a:t>
            </a:r>
            <a:r>
              <a:rPr lang="en-US" sz="1100" dirty="0">
                <a:latin typeface="Courier" pitchFamily="2" charset="0"/>
              </a:rPr>
              <a:t>                </a:t>
            </a:r>
            <a:r>
              <a:rPr lang="en-US" sz="1100" dirty="0" err="1">
                <a:latin typeface="Courier" pitchFamily="2" charset="0"/>
              </a:rPr>
              <a:t>goa_cow_complex.gpi.gz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rgd.gpad.gz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ecocyc.gaf.gz</a:t>
            </a:r>
            <a:r>
              <a:rPr lang="en-US" sz="1100" dirty="0">
                <a:latin typeface="Courier" pitchFamily="2" charset="0"/>
              </a:rPr>
              <a:t>                       </a:t>
            </a:r>
            <a:r>
              <a:rPr lang="en-US" sz="1100" dirty="0" err="1">
                <a:latin typeface="Courier" pitchFamily="2" charset="0"/>
              </a:rPr>
              <a:t>goa_pig.gaf.gz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goa_cow_isoform.gaf.gz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rgd.gpi.gz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ecocyc.gpad.gz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goa_pig.gpad.gz</a:t>
            </a:r>
            <a:r>
              <a:rPr lang="en-US" sz="1100" dirty="0">
                <a:latin typeface="Courier" pitchFamily="2" charset="0"/>
              </a:rPr>
              <a:t>                     </a:t>
            </a:r>
            <a:r>
              <a:rPr lang="en-US" sz="1100" dirty="0" err="1">
                <a:latin typeface="Courier" pitchFamily="2" charset="0"/>
              </a:rPr>
              <a:t>goa_cow_isoform.gpad.gz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sgd.gaf.gz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ecocyc.gpi.gz</a:t>
            </a:r>
            <a:r>
              <a:rPr lang="en-US" sz="1100" dirty="0">
                <a:latin typeface="Courier" pitchFamily="2" charset="0"/>
              </a:rPr>
              <a:t>                       </a:t>
            </a:r>
            <a:r>
              <a:rPr lang="en-US" sz="1100" dirty="0" err="1">
                <a:latin typeface="Courier" pitchFamily="2" charset="0"/>
              </a:rPr>
              <a:t>goa_pig.gpi.gz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goa_cow_isoform.gpi.gz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sgd.gpad.gz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fb.gaf.gz</a:t>
            </a:r>
            <a:r>
              <a:rPr lang="en-US" sz="1100" dirty="0">
                <a:latin typeface="Courier" pitchFamily="2" charset="0"/>
              </a:rPr>
              <a:t>                           </a:t>
            </a:r>
            <a:r>
              <a:rPr lang="en-US" sz="1100" dirty="0" err="1">
                <a:latin typeface="Courier" pitchFamily="2" charset="0"/>
              </a:rPr>
              <a:t>goa_pig_complex.gaf.gz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goa_cow_rna.gaf.gz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sgd.gpi.gz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fb.gpad.gz</a:t>
            </a:r>
            <a:r>
              <a:rPr lang="en-US" sz="1100" dirty="0">
                <a:latin typeface="Courier" pitchFamily="2" charset="0"/>
              </a:rPr>
              <a:t>                          </a:t>
            </a:r>
            <a:r>
              <a:rPr lang="en-US" sz="1100" dirty="0" err="1">
                <a:latin typeface="Courier" pitchFamily="2" charset="0"/>
              </a:rPr>
              <a:t>goa_pig_complex.gpad.gz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goa_cow_rna.gpad.gz</a:t>
            </a:r>
            <a:r>
              <a:rPr lang="en-US" sz="1100" dirty="0">
                <a:latin typeface="Courier" pitchFamily="2" charset="0"/>
              </a:rPr>
              <a:t>                 </a:t>
            </a:r>
            <a:r>
              <a:rPr lang="en-US" sz="1100" dirty="0" err="1">
                <a:latin typeface="Courier" pitchFamily="2" charset="0"/>
              </a:rPr>
              <a:t>sgn.gaf.gz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fb.gpi.gz</a:t>
            </a:r>
            <a:r>
              <a:rPr lang="en-US" sz="1100" dirty="0">
                <a:latin typeface="Courier" pitchFamily="2" charset="0"/>
              </a:rPr>
              <a:t>                           </a:t>
            </a:r>
            <a:r>
              <a:rPr lang="en-US" sz="1100" dirty="0" err="1">
                <a:latin typeface="Courier" pitchFamily="2" charset="0"/>
              </a:rPr>
              <a:t>goa_pig_complex.gpi.gz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goa_cow_rna.gpi.gz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sgn.gpad.gz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genedb_lmajor.gaf.gz</a:t>
            </a:r>
            <a:r>
              <a:rPr lang="en-US" sz="1100" dirty="0">
                <a:latin typeface="Courier" pitchFamily="2" charset="0"/>
              </a:rPr>
              <a:t>                </a:t>
            </a:r>
            <a:r>
              <a:rPr lang="en-US" sz="1100" dirty="0" err="1">
                <a:latin typeface="Courier" pitchFamily="2" charset="0"/>
              </a:rPr>
              <a:t>goa_pig_isoform.gaf.gz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goa_dog.gaf.gz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sgn.gpi.gz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genedb_lmajor.gpad.gz</a:t>
            </a:r>
            <a:r>
              <a:rPr lang="en-US" sz="1100" dirty="0">
                <a:latin typeface="Courier" pitchFamily="2" charset="0"/>
              </a:rPr>
              <a:t>               </a:t>
            </a:r>
            <a:r>
              <a:rPr lang="en-US" sz="1100" dirty="0" err="1">
                <a:latin typeface="Courier" pitchFamily="2" charset="0"/>
              </a:rPr>
              <a:t>goa_pig_isoform.gpad.gz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goa_dog.gpad.gz</a:t>
            </a:r>
            <a:r>
              <a:rPr lang="en-US" sz="1100" dirty="0">
                <a:latin typeface="Courier" pitchFamily="2" charset="0"/>
              </a:rPr>
              <a:t>                     </a:t>
            </a:r>
            <a:r>
              <a:rPr lang="en-US" sz="1100" dirty="0" err="1">
                <a:latin typeface="Courier" pitchFamily="2" charset="0"/>
              </a:rPr>
              <a:t>tair.gaf.gz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genedb_lmajor.gpi.gz</a:t>
            </a:r>
            <a:r>
              <a:rPr lang="en-US" sz="1100" dirty="0">
                <a:latin typeface="Courier" pitchFamily="2" charset="0"/>
              </a:rPr>
              <a:t>                </a:t>
            </a:r>
            <a:r>
              <a:rPr lang="en-US" sz="1100" dirty="0" err="1">
                <a:latin typeface="Courier" pitchFamily="2" charset="0"/>
              </a:rPr>
              <a:t>goa_pig_isoform.gpi.gz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goa_dog.gpi.gz</a:t>
            </a:r>
            <a:r>
              <a:rPr lang="en-US" sz="1100" dirty="0">
                <a:latin typeface="Courier" pitchFamily="2" charset="0"/>
              </a:rPr>
              <a:t>                      </a:t>
            </a:r>
            <a:r>
              <a:rPr lang="en-US" sz="1100" dirty="0" err="1">
                <a:latin typeface="Courier" pitchFamily="2" charset="0"/>
              </a:rPr>
              <a:t>tair.gpad.gz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genedb_tbrucei.gaf.gz</a:t>
            </a:r>
            <a:r>
              <a:rPr lang="en-US" sz="1100" dirty="0">
                <a:latin typeface="Courier" pitchFamily="2" charset="0"/>
              </a:rPr>
              <a:t>               </a:t>
            </a:r>
            <a:r>
              <a:rPr lang="en-US" sz="1100" dirty="0" err="1">
                <a:latin typeface="Courier" pitchFamily="2" charset="0"/>
              </a:rPr>
              <a:t>goa_pig_rna.gaf.gz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goa_dog_complex.gaf.gz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tair.gpi.gz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genedb_tbrucei.gpad.gz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goa_pig_rna.gpad.gz</a:t>
            </a:r>
            <a:r>
              <a:rPr lang="en-US" sz="1100" dirty="0">
                <a:latin typeface="Courier" pitchFamily="2" charset="0"/>
              </a:rPr>
              <a:t>                 </a:t>
            </a:r>
            <a:r>
              <a:rPr lang="en-US" sz="1100" dirty="0" err="1">
                <a:latin typeface="Courier" pitchFamily="2" charset="0"/>
              </a:rPr>
              <a:t>goa_dog_complex.gpad.gz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wb.gaf.gz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genedb_tbrucei.gpi.gz</a:t>
            </a:r>
            <a:r>
              <a:rPr lang="en-US" sz="1100" dirty="0">
                <a:latin typeface="Courier" pitchFamily="2" charset="0"/>
              </a:rPr>
              <a:t>               </a:t>
            </a:r>
            <a:r>
              <a:rPr lang="en-US" sz="1100" dirty="0" err="1">
                <a:latin typeface="Courier" pitchFamily="2" charset="0"/>
              </a:rPr>
              <a:t>goa_pig_rna.gpi.gz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goa_dog_complex.gpi.gz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wb.gpad.gz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goa_chicken.gaf.gz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goa_uniprot_all.gaf.gz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goa_dog_isoform.gaf.gz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wb.gpi.gz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goa_chicken.gpad.gz</a:t>
            </a:r>
            <a:r>
              <a:rPr lang="en-US" sz="1100" dirty="0">
                <a:latin typeface="Courier" pitchFamily="2" charset="0"/>
              </a:rPr>
              <a:t>                 </a:t>
            </a:r>
            <a:r>
              <a:rPr lang="en-US" sz="1100" dirty="0" err="1">
                <a:latin typeface="Courier" pitchFamily="2" charset="0"/>
              </a:rPr>
              <a:t>goa_uniprot_all_noiea.gaf.gz</a:t>
            </a:r>
            <a:r>
              <a:rPr lang="en-US" sz="1100" dirty="0">
                <a:latin typeface="Courier" pitchFamily="2" charset="0"/>
              </a:rPr>
              <a:t>        </a:t>
            </a:r>
            <a:r>
              <a:rPr lang="en-US" sz="1100" dirty="0" err="1">
                <a:latin typeface="Courier" pitchFamily="2" charset="0"/>
              </a:rPr>
              <a:t>goa_dog_isoform.gpad.gz</a:t>
            </a:r>
            <a:r>
              <a:rPr lang="en-US" sz="1100" dirty="0">
                <a:latin typeface="Courier" pitchFamily="2" charset="0"/>
              </a:rPr>
              <a:t>             </a:t>
            </a:r>
            <a:r>
              <a:rPr lang="en-US" sz="1100" dirty="0" err="1">
                <a:latin typeface="Courier" pitchFamily="2" charset="0"/>
              </a:rPr>
              <a:t>zfin.gaf.gz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goa_chicken.gpi.gz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goa_uniprot_all_noiea.gpad.gz</a:t>
            </a:r>
            <a:r>
              <a:rPr lang="en-US" sz="1100" dirty="0">
                <a:latin typeface="Courier" pitchFamily="2" charset="0"/>
              </a:rPr>
              <a:t>       </a:t>
            </a:r>
            <a:r>
              <a:rPr lang="en-US" sz="1100" dirty="0" err="1">
                <a:latin typeface="Courier" pitchFamily="2" charset="0"/>
              </a:rPr>
              <a:t>goa_dog_isoform.gpi.gz</a:t>
            </a:r>
            <a:r>
              <a:rPr lang="en-US" sz="1100" dirty="0">
                <a:latin typeface="Courier" pitchFamily="2" charset="0"/>
              </a:rPr>
              <a:t>              </a:t>
            </a:r>
            <a:r>
              <a:rPr lang="en-US" sz="1100" dirty="0" err="1">
                <a:latin typeface="Courier" pitchFamily="2" charset="0"/>
              </a:rPr>
              <a:t>zfin.gpad.gz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 err="1">
                <a:latin typeface="Courier" pitchFamily="2" charset="0"/>
              </a:rPr>
              <a:t>goa_chicken_complex.gaf.gz</a:t>
            </a:r>
            <a:r>
              <a:rPr lang="en-US" sz="1100" dirty="0">
                <a:latin typeface="Courier" pitchFamily="2" charset="0"/>
              </a:rPr>
              <a:t>          </a:t>
            </a:r>
            <a:r>
              <a:rPr lang="en-US" sz="1100" dirty="0" err="1">
                <a:latin typeface="Courier" pitchFamily="2" charset="0"/>
              </a:rPr>
              <a:t>goa_uniprot_all_noiea.gpi.gz</a:t>
            </a:r>
            <a:r>
              <a:rPr lang="en-US" sz="1100" dirty="0">
                <a:latin typeface="Courier" pitchFamily="2" charset="0"/>
              </a:rPr>
              <a:t>        </a:t>
            </a:r>
            <a:r>
              <a:rPr lang="en-US" sz="1100" dirty="0" err="1">
                <a:latin typeface="Courier" pitchFamily="2" charset="0"/>
              </a:rPr>
              <a:t>goa_dog_rna.gaf.gz</a:t>
            </a:r>
            <a:r>
              <a:rPr lang="en-US" sz="1100" dirty="0">
                <a:latin typeface="Courier" pitchFamily="2" charset="0"/>
              </a:rPr>
              <a:t>                  </a:t>
            </a:r>
            <a:r>
              <a:rPr lang="en-US" sz="1100" dirty="0" err="1">
                <a:latin typeface="Courier" pitchFamily="2" charset="0"/>
              </a:rPr>
              <a:t>zfin.gpi.gz</a:t>
            </a:r>
            <a:endParaRPr lang="en-US" sz="11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1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F43CB-540B-E106-131D-93F46DE18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It’s in the name:  </a:t>
            </a:r>
            <a:r>
              <a:rPr lang="en-US" b="1" u="sng" dirty="0"/>
              <a:t>G</a:t>
            </a:r>
            <a:r>
              <a:rPr lang="en-US" dirty="0"/>
              <a:t>O </a:t>
            </a:r>
            <a:r>
              <a:rPr lang="en-US" b="1" u="sng" dirty="0"/>
              <a:t>A</a:t>
            </a:r>
            <a:r>
              <a:rPr lang="en-US" b="1" dirty="0"/>
              <a:t>nnotation</a:t>
            </a:r>
            <a:r>
              <a:rPr lang="en-US" dirty="0"/>
              <a:t> </a:t>
            </a:r>
            <a:r>
              <a:rPr lang="en-US" b="1" u="sng" dirty="0"/>
              <a:t>F</a:t>
            </a:r>
            <a:r>
              <a:rPr lang="en-US" dirty="0"/>
              <a:t>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04706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70C9-2FDC-2F40-D62C-A3F354C6C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format: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610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 GO annotations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444A3-D1C7-3C24-AAA7-3FBBC6FA7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151FA-9DB6-D345-964F-BB1B3BDD4E6B}"/>
              </a:ext>
            </a:extLst>
          </p:cNvPr>
          <p:cNvSpPr txBox="1"/>
          <p:nvPr/>
        </p:nvSpPr>
        <p:spPr>
          <a:xfrm>
            <a:off x="1427393" y="6199012"/>
            <a:ext cx="213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Annotation provider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C4B09-5953-1940-B25E-2835B76DB415}"/>
              </a:ext>
            </a:extLst>
          </p:cNvPr>
          <p:cNvSpPr/>
          <p:nvPr/>
        </p:nvSpPr>
        <p:spPr>
          <a:xfrm>
            <a:off x="2348752" y="4805916"/>
            <a:ext cx="288122" cy="1352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88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 GO annotations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D8298-CA41-6D87-45BC-2F3EFFAE3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151FA-9DB6-D345-964F-BB1B3BDD4E6B}"/>
              </a:ext>
            </a:extLst>
          </p:cNvPr>
          <p:cNvSpPr txBox="1"/>
          <p:nvPr/>
        </p:nvSpPr>
        <p:spPr>
          <a:xfrm>
            <a:off x="2422964" y="6199012"/>
            <a:ext cx="185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DB object symbol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C4B09-5953-1940-B25E-2835B76DB415}"/>
              </a:ext>
            </a:extLst>
          </p:cNvPr>
          <p:cNvSpPr/>
          <p:nvPr/>
        </p:nvSpPr>
        <p:spPr>
          <a:xfrm>
            <a:off x="3184829" y="4805916"/>
            <a:ext cx="327805" cy="1352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57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7B6F-FB09-CA39-337E-9D6FF8A6C3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151FA-9DB6-D345-964F-BB1B3BDD4E6B}"/>
              </a:ext>
            </a:extLst>
          </p:cNvPr>
          <p:cNvSpPr txBox="1"/>
          <p:nvPr/>
        </p:nvSpPr>
        <p:spPr>
          <a:xfrm>
            <a:off x="3290701" y="6199012"/>
            <a:ext cx="100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GO term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C4B09-5953-1940-B25E-2835B76DB415}"/>
              </a:ext>
            </a:extLst>
          </p:cNvPr>
          <p:cNvSpPr/>
          <p:nvPr/>
        </p:nvSpPr>
        <p:spPr>
          <a:xfrm>
            <a:off x="3491487" y="4805916"/>
            <a:ext cx="601011" cy="1352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52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0237B-4C10-562A-D508-D2E80D7A89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151FA-9DB6-D345-964F-BB1B3BDD4E6B}"/>
              </a:ext>
            </a:extLst>
          </p:cNvPr>
          <p:cNvSpPr txBox="1"/>
          <p:nvPr/>
        </p:nvSpPr>
        <p:spPr>
          <a:xfrm>
            <a:off x="3870564" y="6199012"/>
            <a:ext cx="1781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Ref. for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C4B09-5953-1940-B25E-2835B76DB415}"/>
              </a:ext>
            </a:extLst>
          </p:cNvPr>
          <p:cNvSpPr/>
          <p:nvPr/>
        </p:nvSpPr>
        <p:spPr>
          <a:xfrm>
            <a:off x="4071350" y="4805916"/>
            <a:ext cx="801796" cy="1352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09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GO annotations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42C31-152F-FB35-1C9A-C78F1DBE5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2A2DC9-A3E1-C145-B7BC-A1CDB671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GAF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C3BE4-F336-9E43-9508-46ED216AEE31}"/>
              </a:ext>
            </a:extLst>
          </p:cNvPr>
          <p:cNvSpPr/>
          <p:nvPr/>
        </p:nvSpPr>
        <p:spPr>
          <a:xfrm>
            <a:off x="2348753" y="906650"/>
            <a:ext cx="9843247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-version: 2.1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2020-12-09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 by GO Central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 Generated by GOC: 2020-12-08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 source association file: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!Date: 20201207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!From: Saccharomyces Genome Database (SGD)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!URL: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www.yeastgenome.org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!Contact Email: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sgd-helpdesk@lists.stanford.edu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!Funding: NHGRI at US NIH, grant number U41-HG001315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!Header copied from 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paint_sgd_valid.gaf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!Created on Mon Dec 7 11:33:04 2020.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!generated-by: PANTHER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!date-generated: 2020-12-07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!PANTHER version: v.15.0.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!GO version: 2020-11-17.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!=================================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!Documentation about this header can be found here: https://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github.com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geneontology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/go-site/blob/master/docs/</a:t>
            </a:r>
            <a:r>
              <a:rPr lang="en-GB" sz="700" dirty="0" err="1">
                <a:solidFill>
                  <a:srgbClr val="ABB2BF"/>
                </a:solidFill>
                <a:latin typeface="Menlo" panose="020B0609030804020204" pitchFamily="49" charset="0"/>
              </a:rPr>
              <a:t>gaf_validation.md</a:t>
            </a:r>
            <a:endParaRPr lang="en-GB" sz="700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!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GO:0003682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PMID:24508389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GO:0004707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GO:0005516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PMID:27421986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IPI </a:t>
            </a:r>
            <a:r>
              <a:rPr lang="en-GB" sz="700" dirty="0">
                <a:solidFill>
                  <a:srgbClr val="E5C07B"/>
                </a:solidFill>
                <a:latin typeface="Menlo" panose="020B0609030804020204" pitchFamily="49" charset="0"/>
              </a:rPr>
              <a:t>UniProtKB:P06787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F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PMID:10805732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GO:0006468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GO:0006972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GO:0007231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PMID:7681220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GO:0016241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PMID:16874103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IMP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GO:0033262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PMID:23178807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SGD </a:t>
            </a:r>
            <a:r>
              <a:rPr lang="en-GB" sz="700" dirty="0">
                <a:solidFill>
                  <a:srgbClr val="C678DD"/>
                </a:solidFill>
                <a:latin typeface="Menlo" panose="020B0609030804020204" pitchFamily="49" charset="0"/>
              </a:rPr>
              <a:t>S000004103 </a:t>
            </a:r>
            <a:r>
              <a:rPr lang="en-GB" sz="700" dirty="0">
                <a:solidFill>
                  <a:srgbClr val="61AFEF"/>
                </a:solidFill>
                <a:latin typeface="Menlo" panose="020B0609030804020204" pitchFamily="49" charset="0"/>
              </a:rPr>
              <a:t>HOG1 </a:t>
            </a:r>
            <a:r>
              <a:rPr lang="en-GB" sz="700" dirty="0">
                <a:solidFill>
                  <a:srgbClr val="98C379"/>
                </a:solidFill>
                <a:latin typeface="Menlo" panose="020B0609030804020204" pitchFamily="49" charset="0"/>
              </a:rPr>
              <a:t>GO:0045944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PMID:12743037 </a:t>
            </a:r>
            <a:r>
              <a:rPr lang="en-GB" sz="700" dirty="0">
                <a:solidFill>
                  <a:srgbClr val="D19A66"/>
                </a:solidFill>
                <a:latin typeface="Menlo" panose="020B0609030804020204" pitchFamily="49" charset="0"/>
              </a:rPr>
              <a:t>IDA </a:t>
            </a:r>
            <a:r>
              <a:rPr lang="en-GB" sz="700" b="1" dirty="0">
                <a:solidFill>
                  <a:srgbClr val="D19A66"/>
                </a:solidFill>
                <a:latin typeface="Menlo" panose="020B0609030804020204" pitchFamily="49" charset="0"/>
              </a:rPr>
              <a:t>P </a:t>
            </a:r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Mitogen-activated protein kinase involved in osmoregulation YLR113W|SSK3|mitogen-activated protein kinase HOG1 </a:t>
            </a:r>
          </a:p>
          <a:p>
            <a:r>
              <a:rPr lang="en-GB" sz="700" dirty="0">
                <a:solidFill>
                  <a:srgbClr val="ABB2BF"/>
                </a:solidFill>
                <a:latin typeface="Menlo" panose="020B0609030804020204" pitchFamily="49" charset="0"/>
              </a:rPr>
              <a:t>...</a:t>
            </a:r>
            <a:endParaRPr lang="en-GB" sz="7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151FA-9DB6-D345-964F-BB1B3BDD4E6B}"/>
              </a:ext>
            </a:extLst>
          </p:cNvPr>
          <p:cNvSpPr txBox="1"/>
          <p:nvPr/>
        </p:nvSpPr>
        <p:spPr>
          <a:xfrm>
            <a:off x="3452393" y="6127401"/>
            <a:ext cx="1795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 of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C4B09-5953-1940-B25E-2835B76DB415}"/>
              </a:ext>
            </a:extLst>
          </p:cNvPr>
          <p:cNvSpPr/>
          <p:nvPr/>
        </p:nvSpPr>
        <p:spPr>
          <a:xfrm>
            <a:off x="4768301" y="4805916"/>
            <a:ext cx="333382" cy="1352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58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when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27C66-BAD1-43D9-4B9A-E3EE339A0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have a </a:t>
            </a:r>
            <a:r>
              <a:rPr lang="en-US" b="1" u="sng" dirty="0"/>
              <a:t>defined</a:t>
            </a:r>
            <a:r>
              <a:rPr lang="en-US" dirty="0"/>
              <a:t> set of </a:t>
            </a:r>
            <a:r>
              <a:rPr lang="en-US" u="sng" dirty="0"/>
              <a:t>tens</a:t>
            </a:r>
            <a:r>
              <a:rPr lang="en-US" dirty="0"/>
              <a:t> to </a:t>
            </a:r>
            <a:r>
              <a:rPr lang="en-US" u="sng" dirty="0"/>
              <a:t>hundreds</a:t>
            </a:r>
            <a:r>
              <a:rPr lang="en-US" dirty="0"/>
              <a:t> of genes </a:t>
            </a:r>
          </a:p>
          <a:p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Genes significantly over-expressed (e.g. fold-change &gt; 2 and adj. p-value &lt; 0.01) in one condition vs a control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Genes whose promoter is bound by a specific combination of transcription factors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Thousands are probably too many genes…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975523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why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0C441-3DE2-0170-3063-CA5A56A5C9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Essentially, to know whether GO terms are over-enriched in a specific list of genes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get </a:t>
            </a:r>
            <a:r>
              <a:rPr lang="en-US" b="1" u="sng" dirty="0"/>
              <a:t>an</a:t>
            </a:r>
            <a:r>
              <a:rPr lang="en-US" dirty="0"/>
              <a:t> idea of the functional/structural role of your set of genes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bring </a:t>
            </a:r>
            <a:r>
              <a:rPr lang="en-US" b="1" u="sng" dirty="0"/>
              <a:t>a</a:t>
            </a:r>
            <a:r>
              <a:rPr lang="en-US" dirty="0"/>
              <a:t> piece of evidence that your treatment triggers some BP/MF/CC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know how much of the genes involved in a specific BP/MF/CC are present in your set of interest.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1027539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DE9D1-39E8-9CFB-8ABA-D57F11DCE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BEE28B-1717-C446-83AE-A4B2337D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over-represented GO terms in a given set of genes is one of the most common tasks in genomics.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992379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0535C-C956-6939-BA22-2A8DF07D64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over-represented GO terms in a given set of genes is one of the most common tasks in genomics. </a:t>
            </a:r>
          </a:p>
          <a:p>
            <a:endParaRPr lang="en-US" dirty="0"/>
          </a:p>
          <a:p>
            <a:r>
              <a:rPr lang="en-US" dirty="0"/>
              <a:t>It usually relies on a straightforward Fisher test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510192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0535C-C956-6939-BA22-2A8DF07D64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over-represented GO terms in a given set of genes is one of the most common tasks in genomics. </a:t>
            </a:r>
          </a:p>
          <a:p>
            <a:endParaRPr lang="en-US" dirty="0"/>
          </a:p>
          <a:p>
            <a:r>
              <a:rPr lang="en-US" dirty="0"/>
              <a:t>It usually relies on a straightforward Fisher test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C49119-7698-12A8-BC17-FC4BA6C21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476" y="3396109"/>
            <a:ext cx="2794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2369F4-A8F2-5DC0-5AA9-32C5D82F4684}"/>
              </a:ext>
            </a:extLst>
          </p:cNvPr>
          <p:cNvSpPr txBox="1"/>
          <p:nvPr/>
        </p:nvSpPr>
        <p:spPr>
          <a:xfrm>
            <a:off x="7687994" y="3615397"/>
            <a:ext cx="2283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Milk first / Tea first ? </a:t>
            </a:r>
          </a:p>
          <a:p>
            <a:r>
              <a:rPr lang="en-US" dirty="0"/>
              <a:t>Good / bad 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E3A8B54-53D2-E719-A4BE-68766C260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4240"/>
              </p:ext>
            </p:extLst>
          </p:nvPr>
        </p:nvGraphicFramePr>
        <p:xfrm>
          <a:off x="385444" y="2855742"/>
          <a:ext cx="355287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291">
                  <a:extLst>
                    <a:ext uri="{9D8B030D-6E8A-4147-A177-3AD203B41FA5}">
                      <a16:colId xmlns:a16="http://schemas.microsoft.com/office/drawing/2014/main" val="4061875168"/>
                    </a:ext>
                  </a:extLst>
                </a:gridCol>
                <a:gridCol w="1184291">
                  <a:extLst>
                    <a:ext uri="{9D8B030D-6E8A-4147-A177-3AD203B41FA5}">
                      <a16:colId xmlns:a16="http://schemas.microsoft.com/office/drawing/2014/main" val="2979794267"/>
                    </a:ext>
                  </a:extLst>
                </a:gridCol>
                <a:gridCol w="1184291">
                  <a:extLst>
                    <a:ext uri="{9D8B030D-6E8A-4147-A177-3AD203B41FA5}">
                      <a16:colId xmlns:a16="http://schemas.microsoft.com/office/drawing/2014/main" val="1930851528"/>
                    </a:ext>
                  </a:extLst>
                </a:gridCol>
              </a:tblGrid>
              <a:tr h="526801">
                <a:tc>
                  <a:txBody>
                    <a:bodyPr/>
                    <a:lstStyle/>
                    <a:p>
                      <a:r>
                        <a:rPr lang="en-US" dirty="0"/>
                        <a:t>Guy who has drunk a ton of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Milk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 added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758206"/>
                  </a:ext>
                </a:extLst>
              </a:tr>
              <a:tr h="526801">
                <a:tc>
                  <a:txBody>
                    <a:bodyPr/>
                    <a:lstStyle/>
                    <a:p>
                      <a:r>
                        <a:rPr lang="en-US" dirty="0"/>
                        <a:t>Cup is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51811"/>
                  </a:ext>
                </a:extLst>
              </a:tr>
              <a:tr h="526801">
                <a:tc>
                  <a:txBody>
                    <a:bodyPr/>
                    <a:lstStyle/>
                    <a:p>
                      <a:r>
                        <a:rPr lang="en-US" dirty="0"/>
                        <a:t>Cup is 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72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573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051D55-567E-664D-A87D-8916A7829E03}"/>
              </a:ext>
            </a:extLst>
          </p:cNvPr>
          <p:cNvSpPr/>
          <p:nvPr/>
        </p:nvSpPr>
        <p:spPr>
          <a:xfrm>
            <a:off x="3189881" y="3189982"/>
            <a:ext cx="3820886" cy="2371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C8F011-7097-3CE4-173C-1C44462B41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over-represented GO terms in a given set of genes is one of the most common tasks in genomics. </a:t>
            </a:r>
          </a:p>
          <a:p>
            <a:endParaRPr lang="en-US" dirty="0"/>
          </a:p>
          <a:p>
            <a:r>
              <a:rPr lang="en-US" dirty="0"/>
              <a:t>It usually relies on a straightforward Fisher test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6335BA-D69C-6646-98D6-9221F5C5476B}"/>
              </a:ext>
            </a:extLst>
          </p:cNvPr>
          <p:cNvSpPr/>
          <p:nvPr/>
        </p:nvSpPr>
        <p:spPr>
          <a:xfrm>
            <a:off x="3364053" y="3656501"/>
            <a:ext cx="1469571" cy="146957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E6AB1F-72C4-4747-849B-22F73E6C6567}"/>
              </a:ext>
            </a:extLst>
          </p:cNvPr>
          <p:cNvSpPr/>
          <p:nvPr/>
        </p:nvSpPr>
        <p:spPr>
          <a:xfrm>
            <a:off x="4414523" y="3264616"/>
            <a:ext cx="2253344" cy="22533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B9AF8-6ABE-A54D-869D-79FCE26BC2AE}"/>
              </a:ext>
            </a:extLst>
          </p:cNvPr>
          <p:cNvSpPr txBox="1"/>
          <p:nvPr/>
        </p:nvSpPr>
        <p:spPr>
          <a:xfrm>
            <a:off x="3380381" y="4122296"/>
            <a:ext cx="1083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100 genes of interest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D75BA-A119-9745-8BB5-EE920030F804}"/>
              </a:ext>
            </a:extLst>
          </p:cNvPr>
          <p:cNvSpPr txBox="1"/>
          <p:nvPr/>
        </p:nvSpPr>
        <p:spPr>
          <a:xfrm>
            <a:off x="4700274" y="3849176"/>
            <a:ext cx="14260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300 genes annotated with GO:0043534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2FF81D-91D1-2945-8BCF-A269CAA7C7AD}"/>
              </a:ext>
            </a:extLst>
          </p:cNvPr>
          <p:cNvSpPr txBox="1"/>
          <p:nvPr/>
        </p:nvSpPr>
        <p:spPr>
          <a:xfrm>
            <a:off x="7027095" y="3887333"/>
            <a:ext cx="3630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Universe: ~5,000 genes with at least 1 GO annotation </a:t>
            </a:r>
          </a:p>
        </p:txBody>
      </p:sp>
    </p:spTree>
    <p:extLst>
      <p:ext uri="{BB962C8B-B14F-4D97-AF65-F5344CB8AC3E}">
        <p14:creationId xmlns:p14="http://schemas.microsoft.com/office/powerpoint/2010/main" val="2054926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90C88-5D30-E324-92CE-D0A24BEAC2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5DF-2860-2F43-A072-A445E495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over-represented GO terms in a given set of genes is one of the most common tasks in genomics. </a:t>
            </a:r>
          </a:p>
          <a:p>
            <a:endParaRPr lang="en-US" dirty="0"/>
          </a:p>
          <a:p>
            <a:r>
              <a:rPr lang="en-US" dirty="0"/>
              <a:t>It usually relies on a straightforward Fisher test</a:t>
            </a:r>
          </a:p>
          <a:p>
            <a:endParaRPr lang="en-US" dirty="0"/>
          </a:p>
          <a:p>
            <a:r>
              <a:rPr lang="en-US" dirty="0"/>
              <a:t>Think about it in terms of </a:t>
            </a:r>
            <a:r>
              <a:rPr lang="en-US" u="sng" dirty="0"/>
              <a:t>contingency tables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676B-5CA5-954A-998C-829524D0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928007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2AADE-3D79-6CD7-ABD9-ED3179D11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6F532DD-4884-4D4C-ABC1-DBFA2DA16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349140"/>
              </p:ext>
            </p:extLst>
          </p:nvPr>
        </p:nvGraphicFramePr>
        <p:xfrm>
          <a:off x="111124" y="873125"/>
          <a:ext cx="9854796" cy="455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932">
                  <a:extLst>
                    <a:ext uri="{9D8B030D-6E8A-4147-A177-3AD203B41FA5}">
                      <a16:colId xmlns:a16="http://schemas.microsoft.com/office/drawing/2014/main" val="3170001414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2226780899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902903440"/>
                    </a:ext>
                  </a:extLst>
                </a:gridCol>
              </a:tblGrid>
              <a:tr h="1541219">
                <a:tc>
                  <a:txBody>
                    <a:bodyPr/>
                    <a:lstStyle/>
                    <a:p>
                      <a:r>
                        <a:rPr lang="en-US" dirty="0"/>
                        <a:t>UNIVERSE = </a:t>
                      </a:r>
                    </a:p>
                    <a:p>
                      <a:r>
                        <a:rPr lang="en-US" dirty="0"/>
                        <a:t>All Yeast genes annotated in the Biological Processes</a:t>
                      </a:r>
                    </a:p>
                    <a:p>
                      <a:r>
                        <a:rPr lang="en-US" dirty="0"/>
                        <a:t>(5067 genes)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Genes over-expressed </a:t>
                      </a:r>
                    </a:p>
                    <a:p>
                      <a:pPr algn="ctr"/>
                      <a:r>
                        <a:rPr lang="en-US" b="1" i="1" dirty="0"/>
                        <a:t>in an assay</a:t>
                      </a:r>
                    </a:p>
                    <a:p>
                      <a:pPr algn="ctr"/>
                      <a:r>
                        <a:rPr lang="en-US" b="1" i="1" dirty="0"/>
                        <a:t>(152)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over-expressed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an assay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37641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(243)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330290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5067 – 89 – 154 - 63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1901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9CF33-9685-9E4E-B2C0-EC512D360E3D}"/>
              </a:ext>
            </a:extLst>
          </p:cNvPr>
          <p:cNvCxnSpPr/>
          <p:nvPr/>
        </p:nvCxnSpPr>
        <p:spPr>
          <a:xfrm>
            <a:off x="7080031" y="1342210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2939AA-35E3-0141-99F4-C1C8635B290E}"/>
              </a:ext>
            </a:extLst>
          </p:cNvPr>
          <p:cNvCxnSpPr/>
          <p:nvPr/>
        </p:nvCxnSpPr>
        <p:spPr>
          <a:xfrm>
            <a:off x="564276" y="4354175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623BB9-E1C2-1248-8AAB-FF0126CACFE8}"/>
              </a:ext>
            </a:extLst>
          </p:cNvPr>
          <p:cNvSpPr txBox="1"/>
          <p:nvPr/>
        </p:nvSpPr>
        <p:spPr>
          <a:xfrm>
            <a:off x="10040042" y="2851600"/>
            <a:ext cx="2040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itchFamily="2" charset="2"/>
              </a:rPr>
              <a:t> Sum = number of genes in GO:</a:t>
            </a:r>
            <a:r>
              <a:rPr lang="en-GB" sz="1400" dirty="0"/>
              <a:t>0006836</a:t>
            </a:r>
            <a:r>
              <a:rPr lang="en-US" sz="1400" dirty="0">
                <a:sym typeface="Wingdings" pitchFamily="2" charset="2"/>
              </a:rPr>
              <a:t> (243)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5EEBF-0052-0A44-A86B-80D30D83EA43}"/>
              </a:ext>
            </a:extLst>
          </p:cNvPr>
          <p:cNvSpPr txBox="1"/>
          <p:nvPr/>
        </p:nvSpPr>
        <p:spPr>
          <a:xfrm>
            <a:off x="3801438" y="5409896"/>
            <a:ext cx="28060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itchFamily="2" charset="2"/>
              </a:rPr>
              <a:t>↓</a:t>
            </a:r>
          </a:p>
          <a:p>
            <a:r>
              <a:rPr lang="en-US" sz="1400" dirty="0">
                <a:sym typeface="Wingdings" pitchFamily="2" charset="2"/>
              </a:rPr>
              <a:t>Sum = number of genes over-expressed in an assay (152)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F98EF-6DA2-4F48-9683-6CDA50A813C1}"/>
              </a:ext>
            </a:extLst>
          </p:cNvPr>
          <p:cNvSpPr txBox="1"/>
          <p:nvPr/>
        </p:nvSpPr>
        <p:spPr>
          <a:xfrm>
            <a:off x="9584692" y="5559266"/>
            <a:ext cx="2040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itchFamily="2" charset="2"/>
              </a:rPr>
              <a:t>Total sum = number of genes in BP (5067)</a:t>
            </a:r>
            <a:endParaRPr lang="en-US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161298-2832-3043-A3DB-B725CE5E405C}"/>
              </a:ext>
            </a:extLst>
          </p:cNvPr>
          <p:cNvCxnSpPr/>
          <p:nvPr/>
        </p:nvCxnSpPr>
        <p:spPr>
          <a:xfrm>
            <a:off x="10243930" y="3896139"/>
            <a:ext cx="0" cy="143427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09976-243C-A240-B64D-DC063C5C9F94}"/>
              </a:ext>
            </a:extLst>
          </p:cNvPr>
          <p:cNvCxnSpPr>
            <a:cxnSpLocks/>
          </p:cNvCxnSpPr>
          <p:nvPr/>
        </p:nvCxnSpPr>
        <p:spPr>
          <a:xfrm>
            <a:off x="6607441" y="5872025"/>
            <a:ext cx="250466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042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2AADE-3D79-6CD7-ABD9-ED3179D11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6F532DD-4884-4D4C-ABC1-DBFA2DA16D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124" y="873125"/>
          <a:ext cx="9854796" cy="455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932">
                  <a:extLst>
                    <a:ext uri="{9D8B030D-6E8A-4147-A177-3AD203B41FA5}">
                      <a16:colId xmlns:a16="http://schemas.microsoft.com/office/drawing/2014/main" val="3170001414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2226780899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902903440"/>
                    </a:ext>
                  </a:extLst>
                </a:gridCol>
              </a:tblGrid>
              <a:tr h="1541219">
                <a:tc>
                  <a:txBody>
                    <a:bodyPr/>
                    <a:lstStyle/>
                    <a:p>
                      <a:r>
                        <a:rPr lang="en-US" dirty="0"/>
                        <a:t>UNIVERSE = </a:t>
                      </a:r>
                    </a:p>
                    <a:p>
                      <a:r>
                        <a:rPr lang="en-US" dirty="0"/>
                        <a:t>All Yeast genes annotated in the Biological Processes</a:t>
                      </a:r>
                    </a:p>
                    <a:p>
                      <a:r>
                        <a:rPr lang="en-US" dirty="0"/>
                        <a:t>(5067 genes)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Genes over-expressed </a:t>
                      </a:r>
                    </a:p>
                    <a:p>
                      <a:pPr algn="ctr"/>
                      <a:r>
                        <a:rPr lang="en-US" b="1" i="1" dirty="0"/>
                        <a:t>in an assay</a:t>
                      </a:r>
                    </a:p>
                    <a:p>
                      <a:pPr algn="ctr"/>
                      <a:r>
                        <a:rPr lang="en-US" b="1" i="1" dirty="0"/>
                        <a:t>(152)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over-expressed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an assay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37641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(243)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330290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5067 – 89 – 154 - 63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1901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9CF33-9685-9E4E-B2C0-EC512D360E3D}"/>
              </a:ext>
            </a:extLst>
          </p:cNvPr>
          <p:cNvCxnSpPr/>
          <p:nvPr/>
        </p:nvCxnSpPr>
        <p:spPr>
          <a:xfrm>
            <a:off x="7080031" y="1342210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2939AA-35E3-0141-99F4-C1C8635B290E}"/>
              </a:ext>
            </a:extLst>
          </p:cNvPr>
          <p:cNvCxnSpPr/>
          <p:nvPr/>
        </p:nvCxnSpPr>
        <p:spPr>
          <a:xfrm>
            <a:off x="564276" y="4354175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DC8A54-3A07-18D0-1851-C6AA726529D8}"/>
              </a:ext>
            </a:extLst>
          </p:cNvPr>
          <p:cNvSpPr txBox="1"/>
          <p:nvPr/>
        </p:nvSpPr>
        <p:spPr>
          <a:xfrm>
            <a:off x="2700183" y="5498317"/>
            <a:ext cx="877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è"/>
            </a:pPr>
            <a:r>
              <a:rPr lang="en-US" sz="2400" dirty="0">
                <a:sym typeface="Wingdings" pitchFamily="2" charset="2"/>
              </a:rPr>
              <a:t>Now repeat that for the </a:t>
            </a:r>
            <a:r>
              <a:rPr lang="en-GB" sz="2400" dirty="0"/>
              <a:t>44,945 GO terms in the GO database……….</a:t>
            </a:r>
          </a:p>
          <a:p>
            <a:pPr marL="342900" indent="-342900">
              <a:buFont typeface="Wingdings" pitchFamily="2" charset="2"/>
              <a:buChar char="è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4012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2AADE-3D79-6CD7-ABD9-ED3179D11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6F532DD-4884-4D4C-ABC1-DBFA2DA16D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124" y="873125"/>
          <a:ext cx="9854796" cy="455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932">
                  <a:extLst>
                    <a:ext uri="{9D8B030D-6E8A-4147-A177-3AD203B41FA5}">
                      <a16:colId xmlns:a16="http://schemas.microsoft.com/office/drawing/2014/main" val="3170001414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2226780899"/>
                    </a:ext>
                  </a:extLst>
                </a:gridCol>
                <a:gridCol w="3284932">
                  <a:extLst>
                    <a:ext uri="{9D8B030D-6E8A-4147-A177-3AD203B41FA5}">
                      <a16:colId xmlns:a16="http://schemas.microsoft.com/office/drawing/2014/main" val="902903440"/>
                    </a:ext>
                  </a:extLst>
                </a:gridCol>
              </a:tblGrid>
              <a:tr h="1541219">
                <a:tc>
                  <a:txBody>
                    <a:bodyPr/>
                    <a:lstStyle/>
                    <a:p>
                      <a:r>
                        <a:rPr lang="en-US" dirty="0"/>
                        <a:t>UNIVERSE = </a:t>
                      </a:r>
                    </a:p>
                    <a:p>
                      <a:r>
                        <a:rPr lang="en-US" dirty="0"/>
                        <a:t>All Yeast genes annotated in the Biological Processes</a:t>
                      </a:r>
                    </a:p>
                    <a:p>
                      <a:r>
                        <a:rPr lang="en-US" dirty="0"/>
                        <a:t>(5067 genes)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Genes over-expressed </a:t>
                      </a:r>
                    </a:p>
                    <a:p>
                      <a:pPr algn="ctr"/>
                      <a:r>
                        <a:rPr lang="en-US" b="1" i="1" dirty="0"/>
                        <a:t>in an assay</a:t>
                      </a:r>
                    </a:p>
                    <a:p>
                      <a:pPr algn="ctr"/>
                      <a:r>
                        <a:rPr lang="en-US" b="1" i="1" dirty="0"/>
                        <a:t>(152)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over-expressed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an assay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37641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(243)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330290"/>
                  </a:ext>
                </a:extLst>
              </a:tr>
              <a:tr h="1504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Genes annotated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GO:</a:t>
                      </a:r>
                      <a:r>
                        <a:rPr kumimoji="0" lang="en-GB" sz="1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0006836</a:t>
                      </a:r>
                      <a:endPara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5067 – 89 – 154 - 63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1901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9CF33-9685-9E4E-B2C0-EC512D360E3D}"/>
              </a:ext>
            </a:extLst>
          </p:cNvPr>
          <p:cNvCxnSpPr/>
          <p:nvPr/>
        </p:nvCxnSpPr>
        <p:spPr>
          <a:xfrm>
            <a:off x="7080031" y="1342210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2939AA-35E3-0141-99F4-C1C8635B290E}"/>
              </a:ext>
            </a:extLst>
          </p:cNvPr>
          <p:cNvCxnSpPr/>
          <p:nvPr/>
        </p:nvCxnSpPr>
        <p:spPr>
          <a:xfrm>
            <a:off x="564276" y="4354175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DC8A54-3A07-18D0-1851-C6AA726529D8}"/>
              </a:ext>
            </a:extLst>
          </p:cNvPr>
          <p:cNvSpPr txBox="1"/>
          <p:nvPr/>
        </p:nvSpPr>
        <p:spPr>
          <a:xfrm>
            <a:off x="2700183" y="5498317"/>
            <a:ext cx="877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è"/>
            </a:pPr>
            <a:r>
              <a:rPr lang="en-GB" sz="2400" dirty="0"/>
              <a:t>AND DON’T FORGET TO CORRECT FOR MULTIPLE TESTING (because testing 44,945 times is multiple testing…)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14081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134-B19D-2045-85CB-62B931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 </a:t>
            </a:r>
            <a:r>
              <a:rPr lang="en-GB" dirty="0"/>
              <a:t>over-representation</a:t>
            </a:r>
            <a:r>
              <a:rPr lang="en-US" dirty="0"/>
              <a:t> analyses: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A33AF-3C72-15D7-E411-94EAAC605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90BB-18D6-3D4A-A6BC-271B6E7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31197D-7186-2549-BDC9-040827536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Fortunately, there are many tools already out there to efficiently perform these calculations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web-based, some with programmatic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function with a range of “autonomy”. Some need you to download the GO database, the GO annotations, or are doing all the work for you in the background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9CF33-9685-9E4E-B2C0-EC512D360E3D}"/>
              </a:ext>
            </a:extLst>
          </p:cNvPr>
          <p:cNvCxnSpPr/>
          <p:nvPr/>
        </p:nvCxnSpPr>
        <p:spPr>
          <a:xfrm>
            <a:off x="6960759" y="1434677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2939AA-35E3-0141-99F4-C1C8635B290E}"/>
              </a:ext>
            </a:extLst>
          </p:cNvPr>
          <p:cNvCxnSpPr/>
          <p:nvPr/>
        </p:nvCxnSpPr>
        <p:spPr>
          <a:xfrm>
            <a:off x="1447853" y="4230885"/>
            <a:ext cx="25046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1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Programs to run GO </a:t>
            </a:r>
            <a:r>
              <a:rPr lang="en-GB" dirty="0"/>
              <a:t>over-representation</a:t>
            </a:r>
            <a:r>
              <a:rPr lang="en-US" dirty="0"/>
              <a:t> analyses:</a:t>
            </a:r>
            <a:br>
              <a:rPr lang="en-US" dirty="0"/>
            </a:br>
            <a:r>
              <a:rPr lang="en-US" dirty="0" err="1"/>
              <a:t>gProfiler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1AAD1-F250-FAEA-1BF3-EF510B5C56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92FAA3-0126-8245-9DAF-3D6248785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743" y="873125"/>
            <a:ext cx="8157239" cy="48831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2553028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DE3B-211C-D342-A1E0-450FC8D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Programs to run GO </a:t>
            </a:r>
            <a:r>
              <a:rPr lang="en-GB" dirty="0"/>
              <a:t>over-representation</a:t>
            </a:r>
            <a:r>
              <a:rPr lang="en-US" dirty="0"/>
              <a:t> analyses:</a:t>
            </a:r>
            <a:br>
              <a:rPr lang="en-US" dirty="0"/>
            </a:br>
            <a:r>
              <a:rPr lang="en-US" dirty="0" err="1"/>
              <a:t>gProfiler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DCACF-0B9C-76AE-37D2-7751E49B7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A37-38AE-1B45-9395-1139E20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B6DF1C-E980-6A40-ADE4-B033A396F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Also available in R!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Simple, but many optional parameters to optimize your search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0194-F0CC-9545-BA01-FDE2B26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D17E5-9837-754C-B5CD-D22082F8E8D3}"/>
              </a:ext>
            </a:extLst>
          </p:cNvPr>
          <p:cNvSpPr/>
          <p:nvPr/>
        </p:nvSpPr>
        <p:spPr>
          <a:xfrm>
            <a:off x="3789680" y="3756382"/>
            <a:ext cx="4612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gprofiler2</a:t>
            </a:r>
            <a:r>
              <a:rPr lang="en-GB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dirty="0" err="1">
                <a:solidFill>
                  <a:srgbClr val="6EA4EB"/>
                </a:solidFill>
                <a:latin typeface="Menlo" panose="020B0609030804020204" pitchFamily="49" charset="0"/>
              </a:rPr>
              <a:t>gost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geneList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organism </a:t>
            </a:r>
            <a:r>
              <a:rPr lang="en-GB" dirty="0">
                <a:solidFill>
                  <a:srgbClr val="EA00FF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8C379"/>
                </a:solidFill>
                <a:latin typeface="Menlo" panose="020B0609030804020204" pitchFamily="49" charset="0"/>
              </a:rPr>
              <a:t>'</a:t>
            </a:r>
            <a:r>
              <a:rPr lang="en-GB" dirty="0" err="1">
                <a:solidFill>
                  <a:srgbClr val="98C379"/>
                </a:solidFill>
                <a:latin typeface="Menlo" panose="020B0609030804020204" pitchFamily="49" charset="0"/>
              </a:rPr>
              <a:t>scerevisiae</a:t>
            </a:r>
            <a:r>
              <a:rPr lang="en-GB" dirty="0">
                <a:solidFill>
                  <a:srgbClr val="98C379"/>
                </a:solidFill>
                <a:latin typeface="Menlo" panose="020B0609030804020204" pitchFamily="49" charset="0"/>
              </a:rPr>
              <a:t>’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)</a:t>
            </a:r>
            <a:endParaRPr lang="en-GB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26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don’t have a gene </a:t>
            </a:r>
            <a:r>
              <a:rPr lang="en-US" u="sng" dirty="0"/>
              <a:t>set</a:t>
            </a:r>
            <a:r>
              <a:rPr lang="en-US" dirty="0"/>
              <a:t> of interest?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2022E-B390-7D1C-02DC-5CCA0779C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Sometimes, you cannot really decide what is significant or not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don’t like the idea of taking the top 100 genes differently expressed genes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set a threshold for your genes? FC&gt;2? FC&gt;5? ???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828115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Set Enrichment Analysis: cutoff-free functional analysis of ranked lists of genes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F1170-9C7C-C763-3926-29E0CA9DC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GSEA (Gene Set Enrichment Analysis) uses a ranked list of genes as input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3305D5-0F09-FF4B-9F03-C28103DA4176}"/>
              </a:ext>
            </a:extLst>
          </p:cNvPr>
          <p:cNvGrpSpPr/>
          <p:nvPr/>
        </p:nvGrpSpPr>
        <p:grpSpPr>
          <a:xfrm>
            <a:off x="2293841" y="4706799"/>
            <a:ext cx="8487045" cy="1389013"/>
            <a:chOff x="836057" y="4374269"/>
            <a:chExt cx="10746342" cy="17587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26DCC2-E43D-2D4C-86C7-4FF5C5A8D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7738" y="4695432"/>
              <a:ext cx="10124661" cy="83746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B84E9C-38FF-204B-A684-721280D29797}"/>
                </a:ext>
              </a:extLst>
            </p:cNvPr>
            <p:cNvSpPr txBox="1"/>
            <p:nvPr/>
          </p:nvSpPr>
          <p:spPr>
            <a:xfrm>
              <a:off x="3904348" y="5763713"/>
              <a:ext cx="6038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~ 20,000 genes ordered by their fold-change vs. a control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D6D4BF-DDF5-9F4C-BED4-5921B8C21066}"/>
                </a:ext>
              </a:extLst>
            </p:cNvPr>
            <p:cNvCxnSpPr/>
            <p:nvPr/>
          </p:nvCxnSpPr>
          <p:spPr>
            <a:xfrm>
              <a:off x="1630017" y="5630926"/>
              <a:ext cx="984636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3938E0-299F-1C4E-A027-9E28AD9BD173}"/>
                </a:ext>
              </a:extLst>
            </p:cNvPr>
            <p:cNvSpPr txBox="1"/>
            <p:nvPr/>
          </p:nvSpPr>
          <p:spPr>
            <a:xfrm rot="16200000">
              <a:off x="611989" y="4912225"/>
              <a:ext cx="725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Log2(FC)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C288F18-9534-494C-BEE5-B91C2E2EE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4487" y="4597400"/>
              <a:ext cx="0" cy="8612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4D56A51-8225-8349-8344-B0ABF2570A77}"/>
                </a:ext>
              </a:extLst>
            </p:cNvPr>
            <p:cNvCxnSpPr>
              <a:cxnSpLocks/>
            </p:cNvCxnSpPr>
            <p:nvPr/>
          </p:nvCxnSpPr>
          <p:spPr>
            <a:xfrm>
              <a:off x="1376388" y="5103644"/>
              <a:ext cx="1654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36111C-75C2-A640-BAB5-45B77FED9E17}"/>
                </a:ext>
              </a:extLst>
            </p:cNvPr>
            <p:cNvSpPr txBox="1"/>
            <p:nvPr/>
          </p:nvSpPr>
          <p:spPr>
            <a:xfrm>
              <a:off x="1159224" y="4969637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D3C1FCE-E795-9541-86B3-7EF84E5BDF20}"/>
                </a:ext>
              </a:extLst>
            </p:cNvPr>
            <p:cNvCxnSpPr/>
            <p:nvPr/>
          </p:nvCxnSpPr>
          <p:spPr>
            <a:xfrm>
              <a:off x="1630017" y="4374269"/>
              <a:ext cx="98463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F90730D-494A-BC4D-8915-B615E4F5579C}"/>
              </a:ext>
            </a:extLst>
          </p:cNvPr>
          <p:cNvSpPr txBox="1"/>
          <p:nvPr/>
        </p:nvSpPr>
        <p:spPr>
          <a:xfrm rot="18000000">
            <a:off x="2538849" y="4016488"/>
            <a:ext cx="109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gene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D0C037-A3AB-4442-A212-D7CC2AD226C0}"/>
              </a:ext>
            </a:extLst>
          </p:cNvPr>
          <p:cNvSpPr txBox="1"/>
          <p:nvPr/>
        </p:nvSpPr>
        <p:spPr>
          <a:xfrm rot="18000000">
            <a:off x="10324490" y="4016488"/>
            <a:ext cx="1069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gene</a:t>
            </a:r>
          </a:p>
        </p:txBody>
      </p:sp>
    </p:spTree>
    <p:extLst>
      <p:ext uri="{BB962C8B-B14F-4D97-AF65-F5344CB8AC3E}">
        <p14:creationId xmlns:p14="http://schemas.microsoft.com/office/powerpoint/2010/main" val="3856406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Set Enrichment Analysis: cutoff-free functional analysis of ranked lists of genes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7B0D0-21DB-881D-F8DA-3E9F9DA190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Within this list, it flags the genes belonging to a gene set (e.g. genes annotated in “centriole assembly” GO term)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1366B-CCE8-1745-BA4B-A3CC12BED853}"/>
              </a:ext>
            </a:extLst>
          </p:cNvPr>
          <p:cNvGrpSpPr/>
          <p:nvPr/>
        </p:nvGrpSpPr>
        <p:grpSpPr>
          <a:xfrm>
            <a:off x="2293841" y="4614312"/>
            <a:ext cx="8487045" cy="1481500"/>
            <a:chOff x="836057" y="4257162"/>
            <a:chExt cx="10746342" cy="18758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8E2B06-493C-304C-B7D3-4B42044111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318" t="82671" r="4769" b="287"/>
            <a:stretch/>
          </p:blipFill>
          <p:spPr>
            <a:xfrm>
              <a:off x="1630017" y="4257162"/>
              <a:ext cx="9846368" cy="430995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23305D5-0F09-FF4B-9F03-C28103DA4176}"/>
                </a:ext>
              </a:extLst>
            </p:cNvPr>
            <p:cNvGrpSpPr/>
            <p:nvPr/>
          </p:nvGrpSpPr>
          <p:grpSpPr>
            <a:xfrm>
              <a:off x="836057" y="4597400"/>
              <a:ext cx="10746342" cy="1535645"/>
              <a:chOff x="836057" y="4597400"/>
              <a:chExt cx="10746342" cy="153564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426DCC2-E43D-2D4C-86C7-4FF5C5A8D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7738" y="4695432"/>
                <a:ext cx="10124661" cy="83746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B84E9C-38FF-204B-A684-721280D29797}"/>
                  </a:ext>
                </a:extLst>
              </p:cNvPr>
              <p:cNvSpPr txBox="1"/>
              <p:nvPr/>
            </p:nvSpPr>
            <p:spPr>
              <a:xfrm>
                <a:off x="3904348" y="5763713"/>
                <a:ext cx="6038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~ 20,000 genes ordered by their fold-change vs. a control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3D6D4BF-DDF5-9F4C-BED4-5921B8C21066}"/>
                  </a:ext>
                </a:extLst>
              </p:cNvPr>
              <p:cNvCxnSpPr/>
              <p:nvPr/>
            </p:nvCxnSpPr>
            <p:spPr>
              <a:xfrm>
                <a:off x="1630017" y="5630926"/>
                <a:ext cx="984636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3938E0-299F-1C4E-A027-9E28AD9BD173}"/>
                  </a:ext>
                </a:extLst>
              </p:cNvPr>
              <p:cNvSpPr txBox="1"/>
              <p:nvPr/>
            </p:nvSpPr>
            <p:spPr>
              <a:xfrm rot="16200000">
                <a:off x="611989" y="4912225"/>
                <a:ext cx="7251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Log2(FC)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C288F18-9534-494C-BEE5-B91C2E2EE3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4487" y="4597400"/>
                <a:ext cx="0" cy="86124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4D56A51-8225-8349-8344-B0ABF2570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6388" y="5103644"/>
                <a:ext cx="16541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36111C-75C2-A640-BAB5-45B77FED9E17}"/>
                  </a:ext>
                </a:extLst>
              </p:cNvPr>
              <p:cNvSpPr txBox="1"/>
              <p:nvPr/>
            </p:nvSpPr>
            <p:spPr>
              <a:xfrm>
                <a:off x="1159224" y="4969637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0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E705F3-8DF6-054C-BB87-B4BDAF3EE0CB}"/>
              </a:ext>
            </a:extLst>
          </p:cNvPr>
          <p:cNvSpPr txBox="1"/>
          <p:nvPr/>
        </p:nvSpPr>
        <p:spPr>
          <a:xfrm rot="18000000">
            <a:off x="2538849" y="4016488"/>
            <a:ext cx="109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gene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A0491-90E4-A747-9C9B-0B39F8F17B27}"/>
              </a:ext>
            </a:extLst>
          </p:cNvPr>
          <p:cNvSpPr txBox="1"/>
          <p:nvPr/>
        </p:nvSpPr>
        <p:spPr>
          <a:xfrm rot="18000000">
            <a:off x="10324490" y="4016488"/>
            <a:ext cx="1069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gene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32DBA-B0F6-6243-8F51-A06F7A23C3AF}"/>
              </a:ext>
            </a:extLst>
          </p:cNvPr>
          <p:cNvSpPr/>
          <p:nvPr/>
        </p:nvSpPr>
        <p:spPr>
          <a:xfrm>
            <a:off x="10036098" y="4592010"/>
            <a:ext cx="661061" cy="92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9B5AFD-E947-D54C-A822-00C8CEDF3B4F}"/>
              </a:ext>
            </a:extLst>
          </p:cNvPr>
          <p:cNvSpPr/>
          <p:nvPr/>
        </p:nvSpPr>
        <p:spPr>
          <a:xfrm>
            <a:off x="2942432" y="4592011"/>
            <a:ext cx="45719" cy="92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35946B-6320-884B-A0EF-9FF55A5D4886}"/>
              </a:ext>
            </a:extLst>
          </p:cNvPr>
          <p:cNvSpPr/>
          <p:nvPr/>
        </p:nvSpPr>
        <p:spPr>
          <a:xfrm>
            <a:off x="2932272" y="4805371"/>
            <a:ext cx="8233568" cy="92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68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Set Enrichment Analysis: cutoff-free functional analysis of ranked lists of genes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7976B-27FB-59AA-65F9-88435AE64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Based on the distribution of the flagged genes, it computes a “running score” and an “</a:t>
            </a:r>
            <a:r>
              <a:rPr lang="en-US"/>
              <a:t>enrichment score”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1366B-CCE8-1745-BA4B-A3CC12BED853}"/>
              </a:ext>
            </a:extLst>
          </p:cNvPr>
          <p:cNvGrpSpPr/>
          <p:nvPr/>
        </p:nvGrpSpPr>
        <p:grpSpPr>
          <a:xfrm>
            <a:off x="1890790" y="3291840"/>
            <a:ext cx="9275050" cy="2803971"/>
            <a:chOff x="325712" y="2582642"/>
            <a:chExt cx="11744118" cy="355040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8E2B06-493C-304C-B7D3-4B42044111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34" t="16458" r="-228" b="288"/>
            <a:stretch/>
          </p:blipFill>
          <p:spPr>
            <a:xfrm>
              <a:off x="325712" y="2582642"/>
              <a:ext cx="11744118" cy="2105516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23305D5-0F09-FF4B-9F03-C28103DA4176}"/>
                </a:ext>
              </a:extLst>
            </p:cNvPr>
            <p:cNvGrpSpPr/>
            <p:nvPr/>
          </p:nvGrpSpPr>
          <p:grpSpPr>
            <a:xfrm>
              <a:off x="836057" y="4597400"/>
              <a:ext cx="10746342" cy="1535645"/>
              <a:chOff x="836057" y="4597400"/>
              <a:chExt cx="10746342" cy="153564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426DCC2-E43D-2D4C-86C7-4FF5C5A8D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7738" y="4695432"/>
                <a:ext cx="10124661" cy="83746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B84E9C-38FF-204B-A684-721280D29797}"/>
                  </a:ext>
                </a:extLst>
              </p:cNvPr>
              <p:cNvSpPr txBox="1"/>
              <p:nvPr/>
            </p:nvSpPr>
            <p:spPr>
              <a:xfrm>
                <a:off x="3904348" y="5763713"/>
                <a:ext cx="6038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~ 20,000 genes ordered by their fold-change vs. a control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3D6D4BF-DDF5-9F4C-BED4-5921B8C21066}"/>
                  </a:ext>
                </a:extLst>
              </p:cNvPr>
              <p:cNvCxnSpPr/>
              <p:nvPr/>
            </p:nvCxnSpPr>
            <p:spPr>
              <a:xfrm>
                <a:off x="1630017" y="5630926"/>
                <a:ext cx="984636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3938E0-299F-1C4E-A027-9E28AD9BD173}"/>
                  </a:ext>
                </a:extLst>
              </p:cNvPr>
              <p:cNvSpPr txBox="1"/>
              <p:nvPr/>
            </p:nvSpPr>
            <p:spPr>
              <a:xfrm rot="16200000">
                <a:off x="611989" y="4912225"/>
                <a:ext cx="7251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Log2(FC)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C288F18-9534-494C-BEE5-B91C2E2EE3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4487" y="4597400"/>
                <a:ext cx="0" cy="86124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4D56A51-8225-8349-8344-B0ABF2570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6388" y="5103644"/>
                <a:ext cx="16541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36111C-75C2-A640-BAB5-45B77FED9E17}"/>
                  </a:ext>
                </a:extLst>
              </p:cNvPr>
              <p:cNvSpPr txBox="1"/>
              <p:nvPr/>
            </p:nvSpPr>
            <p:spPr>
              <a:xfrm>
                <a:off x="1159224" y="4969637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0</a:t>
                </a: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6A44470-2932-9141-BAEC-7916E4941584}"/>
              </a:ext>
            </a:extLst>
          </p:cNvPr>
          <p:cNvSpPr txBox="1"/>
          <p:nvPr/>
        </p:nvSpPr>
        <p:spPr>
          <a:xfrm>
            <a:off x="5669280" y="3486527"/>
            <a:ext cx="153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7FD20"/>
                </a:solidFill>
              </a:rPr>
              <a:t>Running score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FD408-7065-8543-8593-058D964ACEE9}"/>
              </a:ext>
            </a:extLst>
          </p:cNvPr>
          <p:cNvSpPr txBox="1"/>
          <p:nvPr/>
        </p:nvSpPr>
        <p:spPr>
          <a:xfrm>
            <a:off x="2056366" y="3205771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0.87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B352F6-9676-0644-881E-B21AE06E1233}"/>
              </a:ext>
            </a:extLst>
          </p:cNvPr>
          <p:cNvSpPr txBox="1"/>
          <p:nvPr/>
        </p:nvSpPr>
        <p:spPr>
          <a:xfrm>
            <a:off x="216823" y="3069538"/>
            <a:ext cx="183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Enrichment score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45AE1A-8471-B74F-BC78-6A0671EF1FD6}"/>
              </a:ext>
            </a:extLst>
          </p:cNvPr>
          <p:cNvCxnSpPr>
            <a:cxnSpLocks/>
          </p:cNvCxnSpPr>
          <p:nvPr/>
        </p:nvCxnSpPr>
        <p:spPr>
          <a:xfrm>
            <a:off x="2574287" y="3454400"/>
            <a:ext cx="890273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890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B61E3-BC6E-0F42-8FC6-DF33C8661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90" y="2948247"/>
            <a:ext cx="9275050" cy="1907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Set Enrichment Analysis: cutoff-free functional analysis of ranked lists of genes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07521-0CEC-1C95-7B3B-D1CFC32E71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can also find negative enrichment scores (indicated a depletion of genes of interest in the top of a ranked list)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44470-2932-9141-BAEC-7916E4941584}"/>
              </a:ext>
            </a:extLst>
          </p:cNvPr>
          <p:cNvSpPr txBox="1"/>
          <p:nvPr/>
        </p:nvSpPr>
        <p:spPr>
          <a:xfrm>
            <a:off x="5669280" y="3486527"/>
            <a:ext cx="153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7FD20"/>
                </a:solidFill>
              </a:rPr>
              <a:t>Running score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FD408-7065-8543-8593-058D964ACEE9}"/>
              </a:ext>
            </a:extLst>
          </p:cNvPr>
          <p:cNvSpPr txBox="1"/>
          <p:nvPr/>
        </p:nvSpPr>
        <p:spPr>
          <a:xfrm>
            <a:off x="2031825" y="4551555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-0.7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45AE1A-8471-B74F-BC78-6A0671EF1FD6}"/>
              </a:ext>
            </a:extLst>
          </p:cNvPr>
          <p:cNvCxnSpPr>
            <a:cxnSpLocks/>
          </p:cNvCxnSpPr>
          <p:nvPr/>
        </p:nvCxnSpPr>
        <p:spPr>
          <a:xfrm>
            <a:off x="2574287" y="4673600"/>
            <a:ext cx="7666993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B352F6-9676-0644-881E-B21AE06E1233}"/>
              </a:ext>
            </a:extLst>
          </p:cNvPr>
          <p:cNvSpPr txBox="1"/>
          <p:nvPr/>
        </p:nvSpPr>
        <p:spPr>
          <a:xfrm>
            <a:off x="439662" y="4801535"/>
            <a:ext cx="183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Enrichment score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828418-8276-F04E-A6AA-4182B6C0DE04}"/>
              </a:ext>
            </a:extLst>
          </p:cNvPr>
          <p:cNvGrpSpPr/>
          <p:nvPr/>
        </p:nvGrpSpPr>
        <p:grpSpPr>
          <a:xfrm>
            <a:off x="2293841" y="4883019"/>
            <a:ext cx="8487045" cy="1212793"/>
            <a:chOff x="836057" y="4597400"/>
            <a:chExt cx="10746342" cy="15356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E502FE3-C6CB-6D4B-A2ED-893EE77EF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7738" y="4695432"/>
              <a:ext cx="10124661" cy="83746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D09DE7-05EB-C94F-A638-CC73993AB347}"/>
                </a:ext>
              </a:extLst>
            </p:cNvPr>
            <p:cNvSpPr txBox="1"/>
            <p:nvPr/>
          </p:nvSpPr>
          <p:spPr>
            <a:xfrm>
              <a:off x="3904348" y="5763713"/>
              <a:ext cx="6038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~ 20,000 genes ordered by their fold-change vs. a control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AABFA7D-F075-E349-BB72-78D4F5DB5F0B}"/>
                </a:ext>
              </a:extLst>
            </p:cNvPr>
            <p:cNvCxnSpPr/>
            <p:nvPr/>
          </p:nvCxnSpPr>
          <p:spPr>
            <a:xfrm>
              <a:off x="1630017" y="5630926"/>
              <a:ext cx="984636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E36022-233F-4C42-BEF7-FDD2BCE0E06B}"/>
                </a:ext>
              </a:extLst>
            </p:cNvPr>
            <p:cNvSpPr txBox="1"/>
            <p:nvPr/>
          </p:nvSpPr>
          <p:spPr>
            <a:xfrm rot="16200000">
              <a:off x="611989" y="4912225"/>
              <a:ext cx="725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Log2(FC)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8C7D656-5FA9-0546-8795-04862525A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4487" y="4597400"/>
              <a:ext cx="0" cy="8612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DF6CC91-36AE-C74D-B4C1-AAEB9371549C}"/>
                </a:ext>
              </a:extLst>
            </p:cNvPr>
            <p:cNvCxnSpPr>
              <a:cxnSpLocks/>
            </p:cNvCxnSpPr>
            <p:nvPr/>
          </p:nvCxnSpPr>
          <p:spPr>
            <a:xfrm>
              <a:off x="1376388" y="5103644"/>
              <a:ext cx="1654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3EB63C-107A-B542-BD9B-2FE9AF33691E}"/>
                </a:ext>
              </a:extLst>
            </p:cNvPr>
            <p:cNvSpPr txBox="1"/>
            <p:nvPr/>
          </p:nvSpPr>
          <p:spPr>
            <a:xfrm>
              <a:off x="1159224" y="4969637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979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GSEA?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829E1-5D6E-F5BB-3B99-D259120F73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Original software: in JAVA</a:t>
            </a:r>
          </a:p>
          <a:p>
            <a:pPr lvl="1"/>
            <a:r>
              <a:rPr lang="en-US" sz="1600" dirty="0"/>
              <a:t>I never managed to use it…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32658991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GSEA?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8E3B2-2D07-43F9-726E-BAB2D430C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/>
              <a:t>Original software: in JAVA</a:t>
            </a:r>
          </a:p>
          <a:p>
            <a:pPr lvl="1"/>
            <a:r>
              <a:rPr lang="en-US" sz="1700" dirty="0"/>
              <a:t>I never managed to use it…</a:t>
            </a:r>
          </a:p>
          <a:p>
            <a:pPr lvl="1"/>
            <a:endParaRPr lang="en-US" sz="1600" dirty="0"/>
          </a:p>
          <a:p>
            <a:r>
              <a:rPr lang="en-US" sz="1800" dirty="0"/>
              <a:t>Since then: many programmatic implementations notably in R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 err="1"/>
              <a:t>clusterProfiler</a:t>
            </a:r>
            <a:r>
              <a:rPr lang="en-US" sz="1600" dirty="0"/>
              <a:t> is my personal favorite</a:t>
            </a:r>
          </a:p>
          <a:p>
            <a:pPr lvl="1"/>
            <a:r>
              <a:rPr lang="en-US" sz="1600" dirty="0"/>
              <a:t>Based on </a:t>
            </a:r>
            <a:r>
              <a:rPr lang="en-US" sz="1600" dirty="0" err="1"/>
              <a:t>fgsea</a:t>
            </a:r>
            <a:r>
              <a:rPr lang="en-US" sz="1600" dirty="0"/>
              <a:t>, the original GSEA implementation in R</a:t>
            </a:r>
          </a:p>
          <a:p>
            <a:pPr lvl="1"/>
            <a:r>
              <a:rPr lang="en-US" sz="1600" dirty="0"/>
              <a:t>Very complete and extensive doc</a:t>
            </a:r>
          </a:p>
          <a:p>
            <a:pPr lvl="1"/>
            <a:r>
              <a:rPr lang="en-US" sz="1600" dirty="0"/>
              <a:t>Nice visualization outputs</a:t>
            </a:r>
          </a:p>
          <a:p>
            <a:pPr lvl="1"/>
            <a:r>
              <a:rPr lang="en-US" sz="1600" dirty="0"/>
              <a:t>Well-integrated with GO ecosystem and other databases (disease ontology, </a:t>
            </a:r>
            <a:r>
              <a:rPr lang="en-US" sz="1600" dirty="0" err="1"/>
              <a:t>Reactome</a:t>
            </a:r>
            <a:r>
              <a:rPr lang="en-US" sz="1600" dirty="0"/>
              <a:t>, …)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</p:spTree>
    <p:extLst>
      <p:ext uri="{BB962C8B-B14F-4D97-AF65-F5344CB8AC3E}">
        <p14:creationId xmlns:p14="http://schemas.microsoft.com/office/powerpoint/2010/main" val="786229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clusterProfiler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B2C37-08C0-BB05-82E7-F22577E465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388321" cy="4883277"/>
          </a:xfrm>
        </p:spPr>
        <p:txBody>
          <a:bodyPr>
            <a:normAutofit/>
          </a:bodyPr>
          <a:lstStyle/>
          <a:p>
            <a:r>
              <a:rPr lang="en-US" dirty="0" err="1"/>
              <a:t>clusterProfiler</a:t>
            </a:r>
            <a:r>
              <a:rPr lang="en-US" dirty="0"/>
              <a:t> is a rich set of tools to assess and visualize enrichment of a set of genes of interest compared to different databases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D25917-50C9-F949-9E5C-DF46F8B7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712" y="873760"/>
            <a:ext cx="6366386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435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clusterProfiler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E0369-8FC8-CD59-D8BE-18B4F11F92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162289" cy="4883277"/>
          </a:xfrm>
        </p:spPr>
        <p:txBody>
          <a:bodyPr>
            <a:normAutofit/>
          </a:bodyPr>
          <a:lstStyle/>
          <a:p>
            <a:r>
              <a:rPr lang="en-US" dirty="0" err="1"/>
              <a:t>clusterProfiler</a:t>
            </a:r>
            <a:r>
              <a:rPr lang="en-US" dirty="0"/>
              <a:t> provides multiple </a:t>
            </a:r>
            <a:r>
              <a:rPr lang="en-US" dirty="0" err="1"/>
              <a:t>gse</a:t>
            </a:r>
            <a:r>
              <a:rPr lang="en-US" dirty="0"/>
              <a:t>*() functions, based on the type of gene sets you want to use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516E09-7E55-D348-BF3D-438E41F79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6"/>
          <a:stretch/>
        </p:blipFill>
        <p:spPr>
          <a:xfrm>
            <a:off x="5329899" y="1530964"/>
            <a:ext cx="517610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91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clusterProfiler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3236D-F6E1-EBA3-F125-B705B7583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clusterProfiler</a:t>
            </a:r>
            <a:r>
              <a:rPr lang="en-US" dirty="0"/>
              <a:t> provides multiple </a:t>
            </a:r>
            <a:r>
              <a:rPr lang="en-US" dirty="0" err="1"/>
              <a:t>gse</a:t>
            </a:r>
            <a:r>
              <a:rPr lang="en-US" dirty="0"/>
              <a:t>*() functions, based on the type of gene sets you want to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gseGO</a:t>
            </a:r>
            <a:r>
              <a:rPr lang="en-US" dirty="0"/>
              <a:t>() compares your ranked list of genes to the reference up-to-date GO annotations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DEB273-FBDC-6444-A613-3FB1FC29C0E4}"/>
              </a:ext>
            </a:extLst>
          </p:cNvPr>
          <p:cNvSpPr/>
          <p:nvPr/>
        </p:nvSpPr>
        <p:spPr>
          <a:xfrm>
            <a:off x="3396343" y="331539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clusterProfiler</a:t>
            </a:r>
            <a:r>
              <a:rPr lang="en-GB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dirty="0" err="1">
                <a:solidFill>
                  <a:srgbClr val="6EA4EB"/>
                </a:solidFill>
                <a:latin typeface="Menlo" panose="020B0609030804020204" pitchFamily="49" charset="0"/>
              </a:rPr>
              <a:t>gseGO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rankedGeneLit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keyType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EA00FF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8C379"/>
                </a:solidFill>
                <a:latin typeface="Menlo" panose="020B0609030804020204" pitchFamily="49" charset="0"/>
              </a:rPr>
              <a:t>"ENSEMBL"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OrgDb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EA00FF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org.Sc.sgd.db</a:t>
            </a:r>
            <a:r>
              <a:rPr lang="en-GB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org.Sc.sgd.db</a:t>
            </a:r>
            <a:endParaRPr lang="en-GB" dirty="0">
              <a:solidFill>
                <a:srgbClr val="ABB2BF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)</a:t>
            </a:r>
            <a:endParaRPr lang="en-GB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83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clusterProfiler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80019-0DBA-7017-1D7D-96CB1FAF5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clusterProfiler</a:t>
            </a:r>
            <a:r>
              <a:rPr lang="en-US" dirty="0"/>
              <a:t> provides plotting functions to check the results for a given GO term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Peeking into functional roles of gene sets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C79CD-5EEE-794E-8C2E-5A4C0840D6BB}"/>
              </a:ext>
            </a:extLst>
          </p:cNvPr>
          <p:cNvSpPr/>
          <p:nvPr/>
        </p:nvSpPr>
        <p:spPr>
          <a:xfrm>
            <a:off x="1369732" y="1674674"/>
            <a:ext cx="89777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TERM &lt;- </a:t>
            </a:r>
            <a:r>
              <a:rPr lang="en-GB" dirty="0">
                <a:solidFill>
                  <a:srgbClr val="98C379"/>
                </a:solidFill>
                <a:latin typeface="Menlo" panose="020B0609030804020204" pitchFamily="49" charset="0"/>
              </a:rPr>
              <a:t>“response to osmotic stress”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enrichplot</a:t>
            </a:r>
            <a:r>
              <a:rPr lang="en-GB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dirty="0">
                <a:solidFill>
                  <a:srgbClr val="6EA4EB"/>
                </a:solidFill>
                <a:latin typeface="Menlo" panose="020B0609030804020204" pitchFamily="49" charset="0"/>
              </a:rPr>
              <a:t>gseaplot2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gsea_results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title </a:t>
            </a:r>
            <a:r>
              <a:rPr lang="en-GB" dirty="0">
                <a:solidFill>
                  <a:srgbClr val="EA00FF"/>
                </a:solidFill>
                <a:latin typeface="Menlo" panose="020B0609030804020204" pitchFamily="49" charset="0"/>
              </a:rPr>
              <a:t>=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TERM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ABB2BF"/>
                </a:solidFill>
                <a:latin typeface="Menlo" panose="020B0609030804020204" pitchFamily="49" charset="0"/>
              </a:rPr>
              <a:t>geneSetID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EA00FF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6EA4EB"/>
                </a:solidFill>
                <a:latin typeface="Menlo" panose="020B0609030804020204" pitchFamily="49" charset="0"/>
              </a:rPr>
              <a:t>which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gsea_results</a:t>
            </a:r>
            <a:r>
              <a:rPr lang="en-GB" dirty="0" err="1">
                <a:solidFill>
                  <a:srgbClr val="C678DD"/>
                </a:solidFill>
                <a:latin typeface="Menlo" panose="020B0609030804020204" pitchFamily="49" charset="0"/>
              </a:rPr>
              <a:t>@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result</a:t>
            </a:r>
            <a:r>
              <a:rPr lang="en-GB" dirty="0" err="1">
                <a:solidFill>
                  <a:srgbClr val="C678DD"/>
                </a:solidFill>
                <a:latin typeface="Menlo" panose="020B0609030804020204" pitchFamily="49" charset="0"/>
              </a:rPr>
              <a:t>$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Description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678DD"/>
                </a:solidFill>
                <a:latin typeface="Menlo" panose="020B0609030804020204" pitchFamily="49" charset="0"/>
              </a:rPr>
              <a:t>==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Menlo" panose="020B0609030804020204" pitchFamily="49" charset="0"/>
              </a:rPr>
              <a:t>TERM</a:t>
            </a:r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GB" dirty="0">
                <a:solidFill>
                  <a:srgbClr val="ABB2BF"/>
                </a:solidFill>
                <a:latin typeface="Menlo" panose="020B0609030804020204" pitchFamily="49" charset="0"/>
              </a:rPr>
              <a:t>)</a:t>
            </a:r>
            <a:endParaRPr lang="en-GB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3EA32-5B62-8793-A756-94EF5D133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922" y="3494277"/>
            <a:ext cx="4288156" cy="267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864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16C-0760-004D-866B-1D01BA5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DBE26-3D70-8A49-1BD1-4A8EFA29C3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CC7E-3081-014F-8EAF-B3234CA7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C237-F4D6-8C4D-A6B1-8AEC15E2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Ten Quick Tips for Using the Gene Ontology</a:t>
            </a:r>
            <a:r>
              <a:rPr lang="en-GB" dirty="0"/>
              <a:t>, Blake </a:t>
            </a:r>
            <a:r>
              <a:rPr lang="en-GB" dirty="0" err="1"/>
              <a:t>PLoS</a:t>
            </a:r>
            <a:r>
              <a:rPr lang="en-GB" dirty="0"/>
              <a:t> Comp. Biol. 2013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i="1" dirty="0" err="1"/>
              <a:t>clusterProfiler</a:t>
            </a:r>
            <a:r>
              <a:rPr lang="en-GB" i="1" dirty="0"/>
              <a:t>: universal enrichment tool for functional and comparative study</a:t>
            </a:r>
            <a:r>
              <a:rPr lang="en-GB" dirty="0"/>
              <a:t>, </a:t>
            </a:r>
            <a:r>
              <a:rPr lang="en-GB" dirty="0" err="1"/>
              <a:t>Guangchuang</a:t>
            </a:r>
            <a:r>
              <a:rPr lang="en-GB" dirty="0"/>
              <a:t> Yu (</a:t>
            </a:r>
            <a:r>
              <a:rPr lang="en-GB" dirty="0">
                <a:hlinkClick r:id="rId2"/>
              </a:rPr>
              <a:t>http://yulab-smu.top/clusterProfiler-book/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4778-95FA-6F4E-BDC9-2F5FA9D8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Peeking into functional roles of gene sets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0A2FA-BA21-EE4B-84DC-9BD059414C5C}"/>
              </a:ext>
            </a:extLst>
          </p:cNvPr>
          <p:cNvSpPr/>
          <p:nvPr/>
        </p:nvSpPr>
        <p:spPr>
          <a:xfrm>
            <a:off x="111760" y="1418886"/>
            <a:ext cx="116230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202020"/>
                </a:solidFill>
                <a:latin typeface="Helvetica" pitchFamily="2" charset="0"/>
              </a:rPr>
              <a:t>Tip 1a: Know the Source of the GO Annotations You Use</a:t>
            </a:r>
          </a:p>
          <a:p>
            <a:r>
              <a:rPr lang="en-GB" sz="3200" b="1" dirty="0">
                <a:solidFill>
                  <a:srgbClr val="202020"/>
                </a:solidFill>
                <a:latin typeface="Helvetica" pitchFamily="2" charset="0"/>
              </a:rPr>
              <a:t>Tip 1b: Know the Version of the GO Annotations You Use</a:t>
            </a:r>
          </a:p>
          <a:p>
            <a:endParaRPr lang="en-GB" sz="3200" b="1" dirty="0">
              <a:solidFill>
                <a:srgbClr val="20202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301904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2831</TotalTime>
  <Words>6394</Words>
  <Application>Microsoft Macintosh PowerPoint</Application>
  <PresentationFormat>Widescreen</PresentationFormat>
  <Paragraphs>866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Calibri</vt:lpstr>
      <vt:lpstr>Comfortaa</vt:lpstr>
      <vt:lpstr>Courier</vt:lpstr>
      <vt:lpstr>Courier New</vt:lpstr>
      <vt:lpstr>Helvetica</vt:lpstr>
      <vt:lpstr>Menlo</vt:lpstr>
      <vt:lpstr>Wingdings</vt:lpstr>
      <vt:lpstr>PasteurIbens</vt:lpstr>
      <vt:lpstr>Physalia</vt:lpstr>
      <vt:lpstr>Gene ontology, gene set over-representation analyses and public databases  Peeking into functional roles of gene sets</vt:lpstr>
      <vt:lpstr>Why do we need GO analyses?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GO over-representation analyses: what</vt:lpstr>
      <vt:lpstr>Official GO database</vt:lpstr>
      <vt:lpstr>Downloading official GO database</vt:lpstr>
      <vt:lpstr>Downloading official GO database</vt:lpstr>
      <vt:lpstr>Downloading GO annotations</vt:lpstr>
      <vt:lpstr>Downloading GO annotations</vt:lpstr>
      <vt:lpstr>Downloading GO annotations</vt:lpstr>
      <vt:lpstr>Downloading GO annotations</vt:lpstr>
      <vt:lpstr>Downloading GO annotations</vt:lpstr>
      <vt:lpstr>Downloading GO annotations</vt:lpstr>
      <vt:lpstr>Downloading GO annotations</vt:lpstr>
      <vt:lpstr>Downloading GO annotations</vt:lpstr>
      <vt:lpstr>Downloading GO annotations</vt:lpstr>
      <vt:lpstr>GO over-representation analyses: when</vt:lpstr>
      <vt:lpstr>GO over-representation analyses: why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GO over-representation analyses: how</vt:lpstr>
      <vt:lpstr>Programs to run GO over-representation analyses: gProfiler</vt:lpstr>
      <vt:lpstr>Programs to run GO over-representation analyses: gProfiler</vt:lpstr>
      <vt:lpstr>What if I don’t have a gene set of interest?</vt:lpstr>
      <vt:lpstr>Gene Set Enrichment Analysis: cutoff-free functional analysis of ranked lists of genes</vt:lpstr>
      <vt:lpstr>Gene Set Enrichment Analysis: cutoff-free functional analysis of ranked lists of genes</vt:lpstr>
      <vt:lpstr>Gene Set Enrichment Analysis: cutoff-free functional analysis of ranked lists of genes</vt:lpstr>
      <vt:lpstr>Gene Set Enrichment Analysis: cutoff-free functional analysis of ranked lists of genes</vt:lpstr>
      <vt:lpstr>How to perform GSEA?</vt:lpstr>
      <vt:lpstr>How to perform GSEA?</vt:lpstr>
      <vt:lpstr>clusterProfiler</vt:lpstr>
      <vt:lpstr>clusterProfiler</vt:lpstr>
      <vt:lpstr>clusterProfiler</vt:lpstr>
      <vt:lpstr>clusterProfiler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215</cp:revision>
  <dcterms:created xsi:type="dcterms:W3CDTF">2023-06-26T07:22:32Z</dcterms:created>
  <dcterms:modified xsi:type="dcterms:W3CDTF">2025-04-12T19:22:08Z</dcterms:modified>
</cp:coreProperties>
</file>